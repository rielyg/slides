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32" r:id="rId2"/>
  </p:sldMasterIdLst>
  <p:notesMasterIdLst>
    <p:notesMasterId r:id="rId31"/>
  </p:notesMasterIdLst>
  <p:sldIdLst>
    <p:sldId id="256" r:id="rId3"/>
    <p:sldId id="257" r:id="rId4"/>
    <p:sldId id="289" r:id="rId5"/>
    <p:sldId id="2147481371" r:id="rId6"/>
    <p:sldId id="264" r:id="rId7"/>
    <p:sldId id="258" r:id="rId8"/>
    <p:sldId id="259" r:id="rId9"/>
    <p:sldId id="296" r:id="rId10"/>
    <p:sldId id="266" r:id="rId11"/>
    <p:sldId id="297" r:id="rId12"/>
    <p:sldId id="262" r:id="rId13"/>
    <p:sldId id="2147481372" r:id="rId14"/>
    <p:sldId id="2147481373" r:id="rId15"/>
    <p:sldId id="267" r:id="rId16"/>
    <p:sldId id="2147481366" r:id="rId17"/>
    <p:sldId id="2147481367" r:id="rId18"/>
    <p:sldId id="2147481356" r:id="rId19"/>
    <p:sldId id="2147481376" r:id="rId20"/>
    <p:sldId id="2147481351" r:id="rId21"/>
    <p:sldId id="2147481352" r:id="rId22"/>
    <p:sldId id="2147481353" r:id="rId23"/>
    <p:sldId id="2147481354" r:id="rId24"/>
    <p:sldId id="2147481355" r:id="rId25"/>
    <p:sldId id="2147481375" r:id="rId26"/>
    <p:sldId id="2147481357" r:id="rId27"/>
    <p:sldId id="2147481358" r:id="rId28"/>
    <p:sldId id="2147481360" r:id="rId29"/>
    <p:sldId id="2147481370" r:id="rId3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88">
          <p15:clr>
            <a:srgbClr val="A4A3A4"/>
          </p15:clr>
        </p15:guide>
        <p15:guide id="2" pos="26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9"/>
    <a:srgbClr val="2986E2"/>
    <a:srgbClr val="CCFFCC"/>
    <a:srgbClr val="FFFF66"/>
    <a:srgbClr val="FFFFFF"/>
    <a:srgbClr val="83D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585DBA-553A-5944-9699-B867BFE61817}" v="3" dt="2026-10-17T13:43:52.8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56"/>
  </p:normalViewPr>
  <p:slideViewPr>
    <p:cSldViewPr snapToGrid="0">
      <p:cViewPr varScale="1">
        <p:scale>
          <a:sx n="125" d="100"/>
          <a:sy n="125" d="100"/>
        </p:scale>
        <p:origin x="184" y="464"/>
      </p:cViewPr>
      <p:guideLst>
        <p:guide orient="horz" pos="2688"/>
        <p:guide pos="2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ely, Gregory" userId="8e9f1504-5205-4fae-b223-1d04dd54ed12" providerId="ADAL" clId="{A6BC96D6-E0C6-5092-8102-36282FB211A4}"/>
    <pc:docChg chg="custSel delSld modSld">
      <pc:chgData name="Riely, Gregory" userId="8e9f1504-5205-4fae-b223-1d04dd54ed12" providerId="ADAL" clId="{A6BC96D6-E0C6-5092-8102-36282FB211A4}" dt="2026-10-17T13:47:45.604" v="334" actId="2696"/>
      <pc:docMkLst>
        <pc:docMk/>
      </pc:docMkLst>
      <pc:sldChg chg="modSp mod">
        <pc:chgData name="Riely, Gregory" userId="8e9f1504-5205-4fae-b223-1d04dd54ed12" providerId="ADAL" clId="{A6BC96D6-E0C6-5092-8102-36282FB211A4}" dt="2026-10-17T13:41:34.786" v="189" actId="20577"/>
        <pc:sldMkLst>
          <pc:docMk/>
          <pc:sldMk cId="0" sldId="259"/>
        </pc:sldMkLst>
        <pc:spChg chg="mod">
          <ac:chgData name="Riely, Gregory" userId="8e9f1504-5205-4fae-b223-1d04dd54ed12" providerId="ADAL" clId="{A6BC96D6-E0C6-5092-8102-36282FB211A4}" dt="2026-10-17T13:41:34.786" v="189" actId="20577"/>
          <ac:spMkLst>
            <pc:docMk/>
            <pc:sldMk cId="0" sldId="259"/>
            <ac:spMk id="2" creationId="{00000000-0000-0000-0000-000000000000}"/>
          </ac:spMkLst>
        </pc:spChg>
      </pc:sldChg>
      <pc:sldChg chg="del">
        <pc:chgData name="Riely, Gregory" userId="8e9f1504-5205-4fae-b223-1d04dd54ed12" providerId="ADAL" clId="{A6BC96D6-E0C6-5092-8102-36282FB211A4}" dt="2026-10-17T10:38:04.125" v="187" actId="2696"/>
        <pc:sldMkLst>
          <pc:docMk/>
          <pc:sldMk cId="0" sldId="265"/>
        </pc:sldMkLst>
      </pc:sldChg>
      <pc:sldChg chg="addSp delSp modSp mod">
        <pc:chgData name="Riely, Gregory" userId="8e9f1504-5205-4fae-b223-1d04dd54ed12" providerId="ADAL" clId="{A6BC96D6-E0C6-5092-8102-36282FB211A4}" dt="2026-10-17T13:44:08.297" v="245" actId="1036"/>
        <pc:sldMkLst>
          <pc:docMk/>
          <pc:sldMk cId="0" sldId="2147481356"/>
        </pc:sldMkLst>
        <pc:spChg chg="add mod">
          <ac:chgData name="Riely, Gregory" userId="8e9f1504-5205-4fae-b223-1d04dd54ed12" providerId="ADAL" clId="{A6BC96D6-E0C6-5092-8102-36282FB211A4}" dt="2026-10-17T13:43:17.550" v="229" actId="207"/>
          <ac:spMkLst>
            <pc:docMk/>
            <pc:sldMk cId="0" sldId="2147481356"/>
            <ac:spMk id="4" creationId="{C869B5E5-C0F7-EA7E-77DC-65583560195F}"/>
          </ac:spMkLst>
        </pc:spChg>
        <pc:grpChg chg="del mod">
          <ac:chgData name="Riely, Gregory" userId="8e9f1504-5205-4fae-b223-1d04dd54ed12" providerId="ADAL" clId="{A6BC96D6-E0C6-5092-8102-36282FB211A4}" dt="2026-10-17T13:43:50.896" v="232"/>
          <ac:grpSpMkLst>
            <pc:docMk/>
            <pc:sldMk cId="0" sldId="2147481356"/>
            <ac:grpSpMk id="8" creationId="{BFAB1B61-35FF-A091-64C6-5CED218A5E84}"/>
          </ac:grpSpMkLst>
        </pc:grpChg>
        <pc:grpChg chg="del mod">
          <ac:chgData name="Riely, Gregory" userId="8e9f1504-5205-4fae-b223-1d04dd54ed12" providerId="ADAL" clId="{A6BC96D6-E0C6-5092-8102-36282FB211A4}" dt="2026-10-17T13:43:52.827" v="234"/>
          <ac:grpSpMkLst>
            <pc:docMk/>
            <pc:sldMk cId="0" sldId="2147481356"/>
            <ac:grpSpMk id="9" creationId="{EF78ACBD-427B-525B-1616-B38E076EC16C}"/>
          </ac:grpSpMkLst>
        </pc:grpChg>
        <pc:grpChg chg="del mod">
          <ac:chgData name="Riely, Gregory" userId="8e9f1504-5205-4fae-b223-1d04dd54ed12" providerId="ADAL" clId="{A6BC96D6-E0C6-5092-8102-36282FB211A4}" dt="2026-10-17T13:43:52.827" v="234"/>
          <ac:grpSpMkLst>
            <pc:docMk/>
            <pc:sldMk cId="0" sldId="2147481356"/>
            <ac:grpSpMk id="11" creationId="{B91C97D2-391A-2561-24B6-13D54A9B7F38}"/>
          </ac:grpSpMkLst>
        </pc:grpChg>
        <pc:grpChg chg="mod">
          <ac:chgData name="Riely, Gregory" userId="8e9f1504-5205-4fae-b223-1d04dd54ed12" providerId="ADAL" clId="{A6BC96D6-E0C6-5092-8102-36282FB211A4}" dt="2026-10-17T13:43:52.827" v="234"/>
          <ac:grpSpMkLst>
            <pc:docMk/>
            <pc:sldMk cId="0" sldId="2147481356"/>
            <ac:grpSpMk id="12" creationId="{568FEAF3-639B-22CF-CECA-FC701C9D99A7}"/>
          </ac:grpSpMkLst>
        </pc:grpChg>
        <pc:graphicFrameChg chg="mod">
          <ac:chgData name="Riely, Gregory" userId="8e9f1504-5205-4fae-b223-1d04dd54ed12" providerId="ADAL" clId="{A6BC96D6-E0C6-5092-8102-36282FB211A4}" dt="2026-10-17T13:44:08.297" v="245" actId="1036"/>
          <ac:graphicFrameMkLst>
            <pc:docMk/>
            <pc:sldMk cId="0" sldId="2147481356"/>
            <ac:graphicFrameMk id="3" creationId="{00000000-0000-0000-0000-000000000000}"/>
          </ac:graphicFrameMkLst>
        </pc:graphicFrameChg>
        <pc:inkChg chg="add mod">
          <ac:chgData name="Riely, Gregory" userId="8e9f1504-5205-4fae-b223-1d04dd54ed12" providerId="ADAL" clId="{A6BC96D6-E0C6-5092-8102-36282FB211A4}" dt="2026-10-17T13:43:52.827" v="234"/>
          <ac:inkMkLst>
            <pc:docMk/>
            <pc:sldMk cId="0" sldId="2147481356"/>
            <ac:inkMk id="6" creationId="{89B23710-C04F-BB56-7A77-1FD6F1FBEAB2}"/>
          </ac:inkMkLst>
        </pc:inkChg>
        <pc:inkChg chg="add mod">
          <ac:chgData name="Riely, Gregory" userId="8e9f1504-5205-4fae-b223-1d04dd54ed12" providerId="ADAL" clId="{A6BC96D6-E0C6-5092-8102-36282FB211A4}" dt="2026-10-17T13:43:52.827" v="234"/>
          <ac:inkMkLst>
            <pc:docMk/>
            <pc:sldMk cId="0" sldId="2147481356"/>
            <ac:inkMk id="7" creationId="{1733CDC1-E040-1141-9864-D353DC5793F9}"/>
          </ac:inkMkLst>
        </pc:inkChg>
        <pc:inkChg chg="add mod">
          <ac:chgData name="Riely, Gregory" userId="8e9f1504-5205-4fae-b223-1d04dd54ed12" providerId="ADAL" clId="{A6BC96D6-E0C6-5092-8102-36282FB211A4}" dt="2026-10-17T13:43:52.827" v="234"/>
          <ac:inkMkLst>
            <pc:docMk/>
            <pc:sldMk cId="0" sldId="2147481356"/>
            <ac:inkMk id="10" creationId="{E3FB3103-F12B-3522-B0A9-E9961B2A8DDB}"/>
          </ac:inkMkLst>
        </pc:inkChg>
      </pc:sldChg>
      <pc:sldChg chg="modSp mod">
        <pc:chgData name="Riely, Gregory" userId="8e9f1504-5205-4fae-b223-1d04dd54ed12" providerId="ADAL" clId="{A6BC96D6-E0C6-5092-8102-36282FB211A4}" dt="2026-10-17T10:39:11.839" v="188" actId="20577"/>
        <pc:sldMkLst>
          <pc:docMk/>
          <pc:sldMk cId="2497686448" sldId="2147481357"/>
        </pc:sldMkLst>
        <pc:spChg chg="mod">
          <ac:chgData name="Riely, Gregory" userId="8e9f1504-5205-4fae-b223-1d04dd54ed12" providerId="ADAL" clId="{A6BC96D6-E0C6-5092-8102-36282FB211A4}" dt="2026-10-17T10:39:11.839" v="188" actId="20577"/>
          <ac:spMkLst>
            <pc:docMk/>
            <pc:sldMk cId="2497686448" sldId="2147481357"/>
            <ac:spMk id="2" creationId="{1ECADD61-A10F-7EFD-E765-9184769EB5C8}"/>
          </ac:spMkLst>
        </pc:spChg>
      </pc:sldChg>
      <pc:sldChg chg="modSp mod">
        <pc:chgData name="Riely, Gregory" userId="8e9f1504-5205-4fae-b223-1d04dd54ed12" providerId="ADAL" clId="{A6BC96D6-E0C6-5092-8102-36282FB211A4}" dt="2026-10-17T10:37:38.646" v="153" actId="113"/>
        <pc:sldMkLst>
          <pc:docMk/>
          <pc:sldMk cId="0" sldId="2147481366"/>
        </pc:sldMkLst>
        <pc:spChg chg="mod">
          <ac:chgData name="Riely, Gregory" userId="8e9f1504-5205-4fae-b223-1d04dd54ed12" providerId="ADAL" clId="{A6BC96D6-E0C6-5092-8102-36282FB211A4}" dt="2026-10-17T10:37:38.646" v="153" actId="113"/>
          <ac:spMkLst>
            <pc:docMk/>
            <pc:sldMk cId="0" sldId="2147481366"/>
            <ac:spMk id="2" creationId="{00000000-0000-0000-0000-000000000000}"/>
          </ac:spMkLst>
        </pc:spChg>
      </pc:sldChg>
      <pc:sldChg chg="modSp mod">
        <pc:chgData name="Riely, Gregory" userId="8e9f1504-5205-4fae-b223-1d04dd54ed12" providerId="ADAL" clId="{A6BC96D6-E0C6-5092-8102-36282FB211A4}" dt="2026-10-17T10:37:52.279" v="186" actId="20577"/>
        <pc:sldMkLst>
          <pc:docMk/>
          <pc:sldMk cId="0" sldId="2147481367"/>
        </pc:sldMkLst>
        <pc:spChg chg="mod">
          <ac:chgData name="Riely, Gregory" userId="8e9f1504-5205-4fae-b223-1d04dd54ed12" providerId="ADAL" clId="{A6BC96D6-E0C6-5092-8102-36282FB211A4}" dt="2026-10-17T10:37:52.279" v="186" actId="20577"/>
          <ac:spMkLst>
            <pc:docMk/>
            <pc:sldMk cId="0" sldId="2147481367"/>
            <ac:spMk id="2" creationId="{00000000-0000-0000-0000-000000000000}"/>
          </ac:spMkLst>
        </pc:spChg>
      </pc:sldChg>
      <pc:sldChg chg="del">
        <pc:chgData name="Riely, Gregory" userId="8e9f1504-5205-4fae-b223-1d04dd54ed12" providerId="ADAL" clId="{A6BC96D6-E0C6-5092-8102-36282FB211A4}" dt="2026-10-17T13:47:45.604" v="334" actId="2696"/>
        <pc:sldMkLst>
          <pc:docMk/>
          <pc:sldMk cId="0" sldId="2147481368"/>
        </pc:sldMkLst>
      </pc:sldChg>
      <pc:sldChg chg="modSp mod">
        <pc:chgData name="Riely, Gregory" userId="8e9f1504-5205-4fae-b223-1d04dd54ed12" providerId="ADAL" clId="{A6BC96D6-E0C6-5092-8102-36282FB211A4}" dt="2026-10-17T13:45:29.294" v="272" actId="20577"/>
        <pc:sldMkLst>
          <pc:docMk/>
          <pc:sldMk cId="4185102522" sldId="2147481370"/>
        </pc:sldMkLst>
        <pc:spChg chg="mod">
          <ac:chgData name="Riely, Gregory" userId="8e9f1504-5205-4fae-b223-1d04dd54ed12" providerId="ADAL" clId="{A6BC96D6-E0C6-5092-8102-36282FB211A4}" dt="2026-10-17T13:45:29.294" v="272" actId="20577"/>
          <ac:spMkLst>
            <pc:docMk/>
            <pc:sldMk cId="4185102522" sldId="2147481370"/>
            <ac:spMk id="3" creationId="{1DC7002A-0DB6-13F2-3B3D-D3A74E9F640A}"/>
          </ac:spMkLst>
        </pc:spChg>
      </pc:sldChg>
      <pc:sldChg chg="modSp mod">
        <pc:chgData name="Riely, Gregory" userId="8e9f1504-5205-4fae-b223-1d04dd54ed12" providerId="ADAL" clId="{A6BC96D6-E0C6-5092-8102-36282FB211A4}" dt="2026-10-17T10:30:04.198" v="55" actId="1076"/>
        <pc:sldMkLst>
          <pc:docMk/>
          <pc:sldMk cId="747496503" sldId="2147481371"/>
        </pc:sldMkLst>
        <pc:spChg chg="mod">
          <ac:chgData name="Riely, Gregory" userId="8e9f1504-5205-4fae-b223-1d04dd54ed12" providerId="ADAL" clId="{A6BC96D6-E0C6-5092-8102-36282FB211A4}" dt="2026-10-17T10:30:04.198" v="55" actId="1076"/>
          <ac:spMkLst>
            <pc:docMk/>
            <pc:sldMk cId="747496503" sldId="2147481371"/>
            <ac:spMk id="6" creationId="{85B497E4-54EC-F782-F3E2-E0147FCE6E44}"/>
          </ac:spMkLst>
        </pc:spChg>
      </pc:sldChg>
      <pc:sldChg chg="modSp mod">
        <pc:chgData name="Riely, Gregory" userId="8e9f1504-5205-4fae-b223-1d04dd54ed12" providerId="ADAL" clId="{A6BC96D6-E0C6-5092-8102-36282FB211A4}" dt="2026-10-17T13:47:11.570" v="333" actId="20577"/>
        <pc:sldMkLst>
          <pc:docMk/>
          <pc:sldMk cId="0" sldId="2147481372"/>
        </pc:sldMkLst>
        <pc:spChg chg="mod">
          <ac:chgData name="Riely, Gregory" userId="8e9f1504-5205-4fae-b223-1d04dd54ed12" providerId="ADAL" clId="{A6BC96D6-E0C6-5092-8102-36282FB211A4}" dt="2026-10-17T13:47:11.570" v="333" actId="20577"/>
          <ac:spMkLst>
            <pc:docMk/>
            <pc:sldMk cId="0" sldId="2147481372"/>
            <ac:spMk id="2" creationId="{00000000-0000-0000-0000-000000000000}"/>
          </ac:spMkLst>
        </pc:spChg>
      </pc:sldChg>
      <pc:sldChg chg="modSp mod">
        <pc:chgData name="Riely, Gregory" userId="8e9f1504-5205-4fae-b223-1d04dd54ed12" providerId="ADAL" clId="{A6BC96D6-E0C6-5092-8102-36282FB211A4}" dt="2026-10-17T10:36:41.272" v="105" actId="14100"/>
        <pc:sldMkLst>
          <pc:docMk/>
          <pc:sldMk cId="0" sldId="2147481373"/>
        </pc:sldMkLst>
        <pc:picChg chg="mod modCrop">
          <ac:chgData name="Riely, Gregory" userId="8e9f1504-5205-4fae-b223-1d04dd54ed12" providerId="ADAL" clId="{A6BC96D6-E0C6-5092-8102-36282FB211A4}" dt="2026-10-17T10:36:41.272" v="105" actId="14100"/>
          <ac:picMkLst>
            <pc:docMk/>
            <pc:sldMk cId="0" sldId="2147481373"/>
            <ac:picMk id="3" creationId="{00000000-0000-0000-0000-000000000000}"/>
          </ac:picMkLst>
        </pc:picChg>
      </pc:sldChg>
      <pc:sldChg chg="modSp del mod">
        <pc:chgData name="Riely, Gregory" userId="8e9f1504-5205-4fae-b223-1d04dd54ed12" providerId="ADAL" clId="{A6BC96D6-E0C6-5092-8102-36282FB211A4}" dt="2026-10-17T13:46:19.820" v="273" actId="2696"/>
        <pc:sldMkLst>
          <pc:docMk/>
          <pc:sldMk cId="0" sldId="2147481374"/>
        </pc:sldMkLst>
        <pc:picChg chg="mod modCrop">
          <ac:chgData name="Riely, Gregory" userId="8e9f1504-5205-4fae-b223-1d04dd54ed12" providerId="ADAL" clId="{A6BC96D6-E0C6-5092-8102-36282FB211A4}" dt="2026-10-17T10:36:18.634" v="101" actId="14100"/>
          <ac:picMkLst>
            <pc:docMk/>
            <pc:sldMk cId="0" sldId="2147481374"/>
            <ac:picMk id="3" creationId="{00000000-0000-0000-0000-000000000000}"/>
          </ac:picMkLst>
        </pc:picChg>
      </pc:sldChg>
    </pc:docChg>
  </pc:docChgLst>
  <pc:docChgLst>
    <pc:chgData name="Riely, Gregory" userId="8e9f1504-5205-4fae-b223-1d04dd54ed12" providerId="ADAL" clId="{820F0C39-9049-4EE1-A70C-B4FAF97CB913}"/>
    <pc:docChg chg="custSel addSld delSld modSld sldOrd delMainMaster">
      <pc:chgData name="Riely, Gregory" userId="8e9f1504-5205-4fae-b223-1d04dd54ed12" providerId="ADAL" clId="{820F0C39-9049-4EE1-A70C-B4FAF97CB913}" dt="2026-10-15T17:35:48.993" v="1875" actId="6549"/>
      <pc:docMkLst>
        <pc:docMk/>
      </pc:docMkLst>
      <pc:sldChg chg="modSp mod">
        <pc:chgData name="Riely, Gregory" userId="8e9f1504-5205-4fae-b223-1d04dd54ed12" providerId="ADAL" clId="{820F0C39-9049-4EE1-A70C-B4FAF97CB913}" dt="2026-10-15T15:36:54.449" v="150" actId="20577"/>
        <pc:sldMkLst>
          <pc:docMk/>
          <pc:sldMk cId="0" sldId="256"/>
        </pc:sldMkLst>
        <pc:spChg chg="mod">
          <ac:chgData name="Riely, Gregory" userId="8e9f1504-5205-4fae-b223-1d04dd54ed12" providerId="ADAL" clId="{820F0C39-9049-4EE1-A70C-B4FAF97CB913}" dt="2026-10-15T15:36:54.449" v="150" actId="20577"/>
          <ac:spMkLst>
            <pc:docMk/>
            <pc:sldMk cId="0" sldId="256"/>
            <ac:spMk id="2" creationId="{00000000-0000-0000-0000-000000000000}"/>
          </ac:spMkLst>
        </pc:spChg>
      </pc:sldChg>
      <pc:sldChg chg="delSp modSp add del mod">
        <pc:chgData name="Riely, Gregory" userId="8e9f1504-5205-4fae-b223-1d04dd54ed12" providerId="ADAL" clId="{820F0C39-9049-4EE1-A70C-B4FAF97CB913}" dt="2026-10-15T17:26:07.249" v="1700" actId="113"/>
        <pc:sldMkLst>
          <pc:docMk/>
          <pc:sldMk cId="0" sldId="258"/>
        </pc:sldMkLst>
        <pc:spChg chg="mod">
          <ac:chgData name="Riely, Gregory" userId="8e9f1504-5205-4fae-b223-1d04dd54ed12" providerId="ADAL" clId="{820F0C39-9049-4EE1-A70C-B4FAF97CB913}" dt="2026-10-15T17:26:07.249" v="1700" actId="113"/>
          <ac:spMkLst>
            <pc:docMk/>
            <pc:sldMk cId="0" sldId="258"/>
            <ac:spMk id="2" creationId="{00000000-0000-0000-0000-000000000000}"/>
          </ac:spMkLst>
        </pc:spChg>
        <pc:picChg chg="mod">
          <ac:chgData name="Riely, Gregory" userId="8e9f1504-5205-4fae-b223-1d04dd54ed12" providerId="ADAL" clId="{820F0C39-9049-4EE1-A70C-B4FAF97CB913}" dt="2026-10-15T15:41:40.086" v="520" actId="1036"/>
          <ac:picMkLst>
            <pc:docMk/>
            <pc:sldMk cId="0" sldId="258"/>
            <ac:picMk id="4" creationId="{00000000-0000-0000-0000-000000000000}"/>
          </ac:picMkLst>
        </pc:picChg>
      </pc:sldChg>
      <pc:sldChg chg="addSp delSp modSp add del mod">
        <pc:chgData name="Riely, Gregory" userId="8e9f1504-5205-4fae-b223-1d04dd54ed12" providerId="ADAL" clId="{820F0C39-9049-4EE1-A70C-B4FAF97CB913}" dt="2026-10-15T17:25:48.096" v="1667" actId="113"/>
        <pc:sldMkLst>
          <pc:docMk/>
          <pc:sldMk cId="0" sldId="259"/>
        </pc:sldMkLst>
        <pc:spChg chg="mod">
          <ac:chgData name="Riely, Gregory" userId="8e9f1504-5205-4fae-b223-1d04dd54ed12" providerId="ADAL" clId="{820F0C39-9049-4EE1-A70C-B4FAF97CB913}" dt="2026-10-15T17:25:48.096" v="1667" actId="113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Riely, Gregory" userId="8e9f1504-5205-4fae-b223-1d04dd54ed12" providerId="ADAL" clId="{820F0C39-9049-4EE1-A70C-B4FAF97CB913}" dt="2026-10-15T17:25:01.198" v="1647" actId="164"/>
          <ac:spMkLst>
            <pc:docMk/>
            <pc:sldMk cId="0" sldId="259"/>
            <ac:spMk id="3" creationId="{B6147509-9947-EFC0-649A-E4B88357BF61}"/>
          </ac:spMkLst>
        </pc:spChg>
        <pc:grpChg chg="add mod ord">
          <ac:chgData name="Riely, Gregory" userId="8e9f1504-5205-4fae-b223-1d04dd54ed12" providerId="ADAL" clId="{820F0C39-9049-4EE1-A70C-B4FAF97CB913}" dt="2026-10-15T17:25:06.221" v="1648" actId="167"/>
          <ac:grpSpMkLst>
            <pc:docMk/>
            <pc:sldMk cId="0" sldId="259"/>
            <ac:grpSpMk id="6" creationId="{908E4F7E-1554-E38B-F7EF-12E1A43B9345}"/>
          </ac:grpSpMkLst>
        </pc:grpChg>
        <pc:picChg chg="mod ord">
          <ac:chgData name="Riely, Gregory" userId="8e9f1504-5205-4fae-b223-1d04dd54ed12" providerId="ADAL" clId="{820F0C39-9049-4EE1-A70C-B4FAF97CB913}" dt="2026-10-15T17:25:01.198" v="1647" actId="164"/>
          <ac:picMkLst>
            <pc:docMk/>
            <pc:sldMk cId="0" sldId="259"/>
            <ac:picMk id="4" creationId="{00000000-0000-0000-0000-000000000000}"/>
          </ac:picMkLst>
        </pc:picChg>
      </pc:sldChg>
      <pc:sldChg chg="modSp add del mod">
        <pc:chgData name="Riely, Gregory" userId="8e9f1504-5205-4fae-b223-1d04dd54ed12" providerId="ADAL" clId="{820F0C39-9049-4EE1-A70C-B4FAF97CB913}" dt="2026-10-15T17:33:41.672" v="1839" actId="14100"/>
        <pc:sldMkLst>
          <pc:docMk/>
          <pc:sldMk cId="0" sldId="262"/>
        </pc:sldMkLst>
        <pc:picChg chg="mod modCrop">
          <ac:chgData name="Riely, Gregory" userId="8e9f1504-5205-4fae-b223-1d04dd54ed12" providerId="ADAL" clId="{820F0C39-9049-4EE1-A70C-B4FAF97CB913}" dt="2026-10-15T17:33:27.582" v="1837" actId="14100"/>
          <ac:picMkLst>
            <pc:docMk/>
            <pc:sldMk cId="0" sldId="262"/>
            <ac:picMk id="5" creationId="{00000000-0000-0000-0000-000000000000}"/>
          </ac:picMkLst>
        </pc:picChg>
        <pc:picChg chg="mod modCrop">
          <ac:chgData name="Riely, Gregory" userId="8e9f1504-5205-4fae-b223-1d04dd54ed12" providerId="ADAL" clId="{820F0C39-9049-4EE1-A70C-B4FAF97CB913}" dt="2026-10-15T17:33:41.672" v="1839" actId="14100"/>
          <ac:picMkLst>
            <pc:docMk/>
            <pc:sldMk cId="0" sldId="262"/>
            <ac:picMk id="8" creationId="{00000000-0000-0000-0000-000000000000}"/>
          </ac:picMkLst>
        </pc:picChg>
      </pc:sldChg>
      <pc:sldChg chg="modSp add del mod">
        <pc:chgData name="Riely, Gregory" userId="8e9f1504-5205-4fae-b223-1d04dd54ed12" providerId="ADAL" clId="{820F0C39-9049-4EE1-A70C-B4FAF97CB913}" dt="2026-10-15T15:40:57.652" v="468" actId="20577"/>
        <pc:sldMkLst>
          <pc:docMk/>
          <pc:sldMk cId="0" sldId="264"/>
        </pc:sldMkLst>
        <pc:spChg chg="mod">
          <ac:chgData name="Riely, Gregory" userId="8e9f1504-5205-4fae-b223-1d04dd54ed12" providerId="ADAL" clId="{820F0C39-9049-4EE1-A70C-B4FAF97CB913}" dt="2026-10-15T15:40:57.652" v="468" actId="20577"/>
          <ac:spMkLst>
            <pc:docMk/>
            <pc:sldMk cId="0" sldId="264"/>
            <ac:spMk id="2" creationId="{00000000-0000-0000-0000-000000000000}"/>
          </ac:spMkLst>
        </pc:spChg>
      </pc:sldChg>
      <pc:sldChg chg="modSp add del mod">
        <pc:chgData name="Riely, Gregory" userId="8e9f1504-5205-4fae-b223-1d04dd54ed12" providerId="ADAL" clId="{820F0C39-9049-4EE1-A70C-B4FAF97CB913}" dt="2026-10-15T15:43:40.516" v="669" actId="20577"/>
        <pc:sldMkLst>
          <pc:docMk/>
          <pc:sldMk cId="0" sldId="266"/>
        </pc:sldMkLst>
        <pc:spChg chg="mod">
          <ac:chgData name="Riely, Gregory" userId="8e9f1504-5205-4fae-b223-1d04dd54ed12" providerId="ADAL" clId="{820F0C39-9049-4EE1-A70C-B4FAF97CB913}" dt="2026-10-15T15:43:40.516" v="669" actId="20577"/>
          <ac:spMkLst>
            <pc:docMk/>
            <pc:sldMk cId="0" sldId="266"/>
            <ac:spMk id="2" creationId="{00000000-0000-0000-0000-000000000000}"/>
          </ac:spMkLst>
        </pc:spChg>
      </pc:sldChg>
      <pc:sldChg chg="modSp add del mod">
        <pc:chgData name="Riely, Gregory" userId="8e9f1504-5205-4fae-b223-1d04dd54ed12" providerId="ADAL" clId="{820F0C39-9049-4EE1-A70C-B4FAF97CB913}" dt="2026-10-15T17:34:23.743" v="1843" actId="20577"/>
        <pc:sldMkLst>
          <pc:docMk/>
          <pc:sldMk cId="0" sldId="267"/>
        </pc:sldMkLst>
        <pc:spChg chg="mod">
          <ac:chgData name="Riely, Gregory" userId="8e9f1504-5205-4fae-b223-1d04dd54ed12" providerId="ADAL" clId="{820F0C39-9049-4EE1-A70C-B4FAF97CB913}" dt="2026-10-15T17:34:23.743" v="1843" actId="20577"/>
          <ac:spMkLst>
            <pc:docMk/>
            <pc:sldMk cId="0" sldId="267"/>
            <ac:spMk id="2" creationId="{00000000-0000-0000-0000-000000000000}"/>
          </ac:spMkLst>
        </pc:spChg>
      </pc:sldChg>
      <pc:sldChg chg="delSp modSp mod">
        <pc:chgData name="Riely, Gregory" userId="8e9f1504-5205-4fae-b223-1d04dd54ed12" providerId="ADAL" clId="{820F0C39-9049-4EE1-A70C-B4FAF97CB913}" dt="2026-10-15T15:39:27.352" v="294" actId="20577"/>
        <pc:sldMkLst>
          <pc:docMk/>
          <pc:sldMk cId="0" sldId="289"/>
        </pc:sldMkLst>
        <pc:spChg chg="mod">
          <ac:chgData name="Riely, Gregory" userId="8e9f1504-5205-4fae-b223-1d04dd54ed12" providerId="ADAL" clId="{820F0C39-9049-4EE1-A70C-B4FAF97CB913}" dt="2026-10-15T15:39:27.352" v="294" actId="20577"/>
          <ac:spMkLst>
            <pc:docMk/>
            <pc:sldMk cId="0" sldId="289"/>
            <ac:spMk id="2" creationId="{00000000-0000-0000-0000-000000000000}"/>
          </ac:spMkLst>
        </pc:spChg>
      </pc:sldChg>
      <pc:sldChg chg="modSp mod">
        <pc:chgData name="Riely, Gregory" userId="8e9f1504-5205-4fae-b223-1d04dd54ed12" providerId="ADAL" clId="{820F0C39-9049-4EE1-A70C-B4FAF97CB913}" dt="2026-10-15T15:43:09.367" v="590" actId="20577"/>
        <pc:sldMkLst>
          <pc:docMk/>
          <pc:sldMk cId="0" sldId="296"/>
        </pc:sldMkLst>
        <pc:spChg chg="mod">
          <ac:chgData name="Riely, Gregory" userId="8e9f1504-5205-4fae-b223-1d04dd54ed12" providerId="ADAL" clId="{820F0C39-9049-4EE1-A70C-B4FAF97CB913}" dt="2026-10-15T15:43:09.367" v="590" actId="20577"/>
          <ac:spMkLst>
            <pc:docMk/>
            <pc:sldMk cId="0" sldId="296"/>
            <ac:spMk id="2" creationId="{00000000-0000-0000-0000-000000000000}"/>
          </ac:spMkLst>
        </pc:spChg>
      </pc:sldChg>
      <pc:sldChg chg="delSp modSp mod ord">
        <pc:chgData name="Riely, Gregory" userId="8e9f1504-5205-4fae-b223-1d04dd54ed12" providerId="ADAL" clId="{820F0C39-9049-4EE1-A70C-B4FAF97CB913}" dt="2026-10-15T15:44:28.157" v="676" actId="1076"/>
        <pc:sldMkLst>
          <pc:docMk/>
          <pc:sldMk cId="0" sldId="297"/>
        </pc:sldMkLst>
        <pc:picChg chg="mod">
          <ac:chgData name="Riely, Gregory" userId="8e9f1504-5205-4fae-b223-1d04dd54ed12" providerId="ADAL" clId="{820F0C39-9049-4EE1-A70C-B4FAF97CB913}" dt="2026-10-15T15:44:28.157" v="676" actId="1076"/>
          <ac:picMkLst>
            <pc:docMk/>
            <pc:sldMk cId="0" sldId="297"/>
            <ac:picMk id="4" creationId="{00000000-0000-0000-0000-000000000000}"/>
          </ac:picMkLst>
        </pc:picChg>
      </pc:sldChg>
      <pc:sldChg chg="add">
        <pc:chgData name="Riely, Gregory" userId="8e9f1504-5205-4fae-b223-1d04dd54ed12" providerId="ADAL" clId="{820F0C39-9049-4EE1-A70C-B4FAF97CB913}" dt="2026-10-15T15:51:39.967" v="905"/>
        <pc:sldMkLst>
          <pc:docMk/>
          <pc:sldMk cId="952848462" sldId="2147481351"/>
        </pc:sldMkLst>
      </pc:sldChg>
      <pc:sldChg chg="add">
        <pc:chgData name="Riely, Gregory" userId="8e9f1504-5205-4fae-b223-1d04dd54ed12" providerId="ADAL" clId="{820F0C39-9049-4EE1-A70C-B4FAF97CB913}" dt="2026-10-15T15:51:39.967" v="905"/>
        <pc:sldMkLst>
          <pc:docMk/>
          <pc:sldMk cId="2658240926" sldId="2147481352"/>
        </pc:sldMkLst>
      </pc:sldChg>
      <pc:sldChg chg="add">
        <pc:chgData name="Riely, Gregory" userId="8e9f1504-5205-4fae-b223-1d04dd54ed12" providerId="ADAL" clId="{820F0C39-9049-4EE1-A70C-B4FAF97CB913}" dt="2026-10-15T15:51:39.967" v="905"/>
        <pc:sldMkLst>
          <pc:docMk/>
          <pc:sldMk cId="2458936650" sldId="2147481353"/>
        </pc:sldMkLst>
      </pc:sldChg>
      <pc:sldChg chg="add">
        <pc:chgData name="Riely, Gregory" userId="8e9f1504-5205-4fae-b223-1d04dd54ed12" providerId="ADAL" clId="{820F0C39-9049-4EE1-A70C-B4FAF97CB913}" dt="2026-10-15T15:51:39.967" v="905"/>
        <pc:sldMkLst>
          <pc:docMk/>
          <pc:sldMk cId="1716172836" sldId="2147481354"/>
        </pc:sldMkLst>
      </pc:sldChg>
      <pc:sldChg chg="add">
        <pc:chgData name="Riely, Gregory" userId="8e9f1504-5205-4fae-b223-1d04dd54ed12" providerId="ADAL" clId="{820F0C39-9049-4EE1-A70C-B4FAF97CB913}" dt="2026-10-15T15:51:39.967" v="905"/>
        <pc:sldMkLst>
          <pc:docMk/>
          <pc:sldMk cId="2813834967" sldId="2147481355"/>
        </pc:sldMkLst>
      </pc:sldChg>
      <pc:sldChg chg="delSp modSp mod">
        <pc:chgData name="Riely, Gregory" userId="8e9f1504-5205-4fae-b223-1d04dd54ed12" providerId="ADAL" clId="{820F0C39-9049-4EE1-A70C-B4FAF97CB913}" dt="2026-10-15T17:34:45.814" v="1846" actId="20577"/>
        <pc:sldMkLst>
          <pc:docMk/>
          <pc:sldMk cId="0" sldId="2147481356"/>
        </pc:sldMkLst>
        <pc:spChg chg="mod">
          <ac:chgData name="Riely, Gregory" userId="8e9f1504-5205-4fae-b223-1d04dd54ed12" providerId="ADAL" clId="{820F0C39-9049-4EE1-A70C-B4FAF97CB913}" dt="2026-10-15T15:50:41.405" v="897" actId="20577"/>
          <ac:spMkLst>
            <pc:docMk/>
            <pc:sldMk cId="0" sldId="2147481356"/>
            <ac:spMk id="2" creationId="{00000000-0000-0000-0000-000000000000}"/>
          </ac:spMkLst>
        </pc:spChg>
        <pc:graphicFrameChg chg="mod modGraphic">
          <ac:chgData name="Riely, Gregory" userId="8e9f1504-5205-4fae-b223-1d04dd54ed12" providerId="ADAL" clId="{820F0C39-9049-4EE1-A70C-B4FAF97CB913}" dt="2026-10-15T17:34:45.814" v="1846" actId="20577"/>
          <ac:graphicFrameMkLst>
            <pc:docMk/>
            <pc:sldMk cId="0" sldId="2147481356"/>
            <ac:graphicFrameMk id="3" creationId="{00000000-0000-0000-0000-000000000000}"/>
          </ac:graphicFrameMkLst>
        </pc:graphicFrameChg>
      </pc:sldChg>
      <pc:sldChg chg="add">
        <pc:chgData name="Riely, Gregory" userId="8e9f1504-5205-4fae-b223-1d04dd54ed12" providerId="ADAL" clId="{820F0C39-9049-4EE1-A70C-B4FAF97CB913}" dt="2026-10-14T17:31:10.309" v="125"/>
        <pc:sldMkLst>
          <pc:docMk/>
          <pc:sldMk cId="0" sldId="2147481366"/>
        </pc:sldMkLst>
      </pc:sldChg>
      <pc:sldChg chg="add">
        <pc:chgData name="Riely, Gregory" userId="8e9f1504-5205-4fae-b223-1d04dd54ed12" providerId="ADAL" clId="{820F0C39-9049-4EE1-A70C-B4FAF97CB913}" dt="2026-10-14T17:31:10.309" v="125"/>
        <pc:sldMkLst>
          <pc:docMk/>
          <pc:sldMk cId="0" sldId="2147481367"/>
        </pc:sldMkLst>
      </pc:sldChg>
      <pc:sldChg chg="add">
        <pc:chgData name="Riely, Gregory" userId="8e9f1504-5205-4fae-b223-1d04dd54ed12" providerId="ADAL" clId="{820F0C39-9049-4EE1-A70C-B4FAF97CB913}" dt="2026-10-14T17:31:10.309" v="125"/>
        <pc:sldMkLst>
          <pc:docMk/>
          <pc:sldMk cId="0" sldId="2147481368"/>
        </pc:sldMkLst>
      </pc:sldChg>
      <pc:sldChg chg="addSp modSp new mod ord modClrScheme chgLayout">
        <pc:chgData name="Riely, Gregory" userId="8e9f1504-5205-4fae-b223-1d04dd54ed12" providerId="ADAL" clId="{820F0C39-9049-4EE1-A70C-B4FAF97CB913}" dt="2026-10-15T17:35:48.993" v="1875" actId="6549"/>
        <pc:sldMkLst>
          <pc:docMk/>
          <pc:sldMk cId="4185102522" sldId="2147481370"/>
        </pc:sldMkLst>
        <pc:spChg chg="mod ord">
          <ac:chgData name="Riely, Gregory" userId="8e9f1504-5205-4fae-b223-1d04dd54ed12" providerId="ADAL" clId="{820F0C39-9049-4EE1-A70C-B4FAF97CB913}" dt="2026-10-15T17:00:32.852" v="971" actId="27636"/>
          <ac:spMkLst>
            <pc:docMk/>
            <pc:sldMk cId="4185102522" sldId="2147481370"/>
            <ac:spMk id="2" creationId="{882A205C-8FE1-9FAE-5A4C-A112DAB02004}"/>
          </ac:spMkLst>
        </pc:spChg>
        <pc:spChg chg="add mod ord">
          <ac:chgData name="Riely, Gregory" userId="8e9f1504-5205-4fae-b223-1d04dd54ed12" providerId="ADAL" clId="{820F0C39-9049-4EE1-A70C-B4FAF97CB913}" dt="2026-10-15T17:35:48.993" v="1875" actId="6549"/>
          <ac:spMkLst>
            <pc:docMk/>
            <pc:sldMk cId="4185102522" sldId="2147481370"/>
            <ac:spMk id="3" creationId="{1DC7002A-0DB6-13F2-3B3D-D3A74E9F640A}"/>
          </ac:spMkLst>
        </pc:spChg>
      </pc:sldChg>
      <pc:sldChg chg="addSp modSp add mod">
        <pc:chgData name="Riely, Gregory" userId="8e9f1504-5205-4fae-b223-1d04dd54ed12" providerId="ADAL" clId="{820F0C39-9049-4EE1-A70C-B4FAF97CB913}" dt="2026-10-15T15:40:28.164" v="390" actId="1076"/>
        <pc:sldMkLst>
          <pc:docMk/>
          <pc:sldMk cId="747496503" sldId="2147481371"/>
        </pc:sldMkLst>
        <pc:spChg chg="add mod">
          <ac:chgData name="Riely, Gregory" userId="8e9f1504-5205-4fae-b223-1d04dd54ed12" providerId="ADAL" clId="{820F0C39-9049-4EE1-A70C-B4FAF97CB913}" dt="2026-10-15T15:40:28.164" v="390" actId="1076"/>
          <ac:spMkLst>
            <pc:docMk/>
            <pc:sldMk cId="747496503" sldId="2147481371"/>
            <ac:spMk id="6" creationId="{85B497E4-54EC-F782-F3E2-E0147FCE6E44}"/>
          </ac:spMkLst>
        </pc:spChg>
      </pc:sldChg>
      <pc:sldChg chg="add">
        <pc:chgData name="Riely, Gregory" userId="8e9f1504-5205-4fae-b223-1d04dd54ed12" providerId="ADAL" clId="{820F0C39-9049-4EE1-A70C-B4FAF97CB913}" dt="2026-10-15T15:46:09.627" v="678"/>
        <pc:sldMkLst>
          <pc:docMk/>
          <pc:sldMk cId="0" sldId="2147481372"/>
        </pc:sldMkLst>
      </pc:sldChg>
      <pc:sldChg chg="modSp add mod">
        <pc:chgData name="Riely, Gregory" userId="8e9f1504-5205-4fae-b223-1d04dd54ed12" providerId="ADAL" clId="{820F0C39-9049-4EE1-A70C-B4FAF97CB913}" dt="2026-10-15T15:46:29.237" v="722" actId="20577"/>
        <pc:sldMkLst>
          <pc:docMk/>
          <pc:sldMk cId="0" sldId="2147481373"/>
        </pc:sldMkLst>
        <pc:spChg chg="mod">
          <ac:chgData name="Riely, Gregory" userId="8e9f1504-5205-4fae-b223-1d04dd54ed12" providerId="ADAL" clId="{820F0C39-9049-4EE1-A70C-B4FAF97CB913}" dt="2026-10-15T15:46:29.237" v="722" actId="20577"/>
          <ac:spMkLst>
            <pc:docMk/>
            <pc:sldMk cId="0" sldId="2147481373"/>
            <ac:spMk id="2" creationId="{00000000-0000-0000-0000-000000000000}"/>
          </ac:spMkLst>
        </pc:spChg>
      </pc:sldChg>
      <pc:sldChg chg="addSp delSp modSp add mod">
        <pc:chgData name="Riely, Gregory" userId="8e9f1504-5205-4fae-b223-1d04dd54ed12" providerId="ADAL" clId="{820F0C39-9049-4EE1-A70C-B4FAF97CB913}" dt="2026-10-15T17:31:47.315" v="1835" actId="20577"/>
        <pc:sldMkLst>
          <pc:docMk/>
          <pc:sldMk cId="3679227363" sldId="2147481375"/>
        </pc:sldMkLst>
        <pc:spChg chg="mod">
          <ac:chgData name="Riely, Gregory" userId="8e9f1504-5205-4fae-b223-1d04dd54ed12" providerId="ADAL" clId="{820F0C39-9049-4EE1-A70C-B4FAF97CB913}" dt="2026-10-15T17:31:47.315" v="1835" actId="20577"/>
          <ac:spMkLst>
            <pc:docMk/>
            <pc:sldMk cId="3679227363" sldId="2147481375"/>
            <ac:spMk id="5" creationId="{09797033-B4ED-AE72-81E5-14D5FC4B558C}"/>
          </ac:spMkLst>
        </pc:spChg>
        <pc:spChg chg="mod">
          <ac:chgData name="Riely, Gregory" userId="8e9f1504-5205-4fae-b223-1d04dd54ed12" providerId="ADAL" clId="{820F0C39-9049-4EE1-A70C-B4FAF97CB913}" dt="2026-10-15T15:52:27.062" v="918" actId="1076"/>
          <ac:spMkLst>
            <pc:docMk/>
            <pc:sldMk cId="3679227363" sldId="2147481375"/>
            <ac:spMk id="9" creationId="{AD361563-3E3D-87C3-5565-6081DD776415}"/>
          </ac:spMkLst>
        </pc:spChg>
        <pc:spChg chg="add mod ord">
          <ac:chgData name="Riely, Gregory" userId="8e9f1504-5205-4fae-b223-1d04dd54ed12" providerId="ADAL" clId="{820F0C39-9049-4EE1-A70C-B4FAF97CB913}" dt="2026-10-15T17:31:21.629" v="1813" actId="1076"/>
          <ac:spMkLst>
            <pc:docMk/>
            <pc:sldMk cId="3679227363" sldId="2147481375"/>
            <ac:spMk id="12" creationId="{8FB05C39-A037-5F28-1A75-A253489C6670}"/>
          </ac:spMkLst>
        </pc:spChg>
        <pc:graphicFrameChg chg="mod modGraphic">
          <ac:chgData name="Riely, Gregory" userId="8e9f1504-5205-4fae-b223-1d04dd54ed12" providerId="ADAL" clId="{820F0C39-9049-4EE1-A70C-B4FAF97CB913}" dt="2026-10-15T17:31:04.973" v="1809" actId="14100"/>
          <ac:graphicFrameMkLst>
            <pc:docMk/>
            <pc:sldMk cId="3679227363" sldId="2147481375"/>
            <ac:graphicFrameMk id="3" creationId="{03C46648-3FF1-90A2-D241-FBE668F2E202}"/>
          </ac:graphicFrameMkLst>
        </pc:graphicFrameChg>
        <pc:cxnChg chg="add mod">
          <ac:chgData name="Riely, Gregory" userId="8e9f1504-5205-4fae-b223-1d04dd54ed12" providerId="ADAL" clId="{820F0C39-9049-4EE1-A70C-B4FAF97CB913}" dt="2026-10-15T17:31:18.028" v="1812" actId="1076"/>
          <ac:cxnSpMkLst>
            <pc:docMk/>
            <pc:sldMk cId="3679227363" sldId="2147481375"/>
            <ac:cxnSpMk id="7" creationId="{FFEB07A4-3750-BD91-9146-19955CB9C8D1}"/>
          </ac:cxnSpMkLst>
        </pc:cxnChg>
      </pc:sldChg>
      <pc:sldChg chg="modSp add mod">
        <pc:chgData name="Riely, Gregory" userId="8e9f1504-5205-4fae-b223-1d04dd54ed12" providerId="ADAL" clId="{820F0C39-9049-4EE1-A70C-B4FAF97CB913}" dt="2026-10-15T15:59:34.196" v="966" actId="20577"/>
        <pc:sldMkLst>
          <pc:docMk/>
          <pc:sldMk cId="0" sldId="2147481376"/>
        </pc:sldMkLst>
        <pc:spChg chg="mod">
          <ac:chgData name="Riely, Gregory" userId="8e9f1504-5205-4fae-b223-1d04dd54ed12" providerId="ADAL" clId="{820F0C39-9049-4EE1-A70C-B4FAF97CB913}" dt="2026-10-15T15:59:34.196" v="966" actId="20577"/>
          <ac:spMkLst>
            <pc:docMk/>
            <pc:sldMk cId="0" sldId="2147481376"/>
            <ac:spMk id="2" creationId="{00000000-0000-0000-0000-000000000000}"/>
          </ac:spMkLst>
        </pc:spChg>
      </pc:sldChg>
      <pc:sldMasterChg chg="delSldLayout">
        <pc:chgData name="Riely, Gregory" userId="8e9f1504-5205-4fae-b223-1d04dd54ed12" providerId="ADAL" clId="{820F0C39-9049-4EE1-A70C-B4FAF97CB913}" dt="2026-10-15T15:51:32.182" v="904" actId="2696"/>
        <pc:sldMasterMkLst>
          <pc:docMk/>
          <pc:sldMasterMk cId="2187665815" sldId="2147483648"/>
        </pc:sldMasterMkLst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13:43:48.7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683 239 24575,'-14'0'0,"0"0"0,-2 0 0,-1 0 0,1 0 0,-1 0 0,1 0 0,-1 0 0,-1-3 0,-2-2 0,-4-1 0,-5-2 0,-3 2 0,-4-2 0,2-1 0,4 3 0,2 0 0,6 1 0,6 1 0,4 0 0,6 1 0,1 1 0,-1 0 0,-3-1 0,-7-2 0,-7-3 0,-5-3 0,-2-3 0,3 1 0,6 1 0,7 3 0,5 3 0,4 1 0,1 0 0,-1 0 0,0-2 0,-3-3 0,-1-3 0,-1 0 0,3 0 0,2 7 0,3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13:43:50.3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24575,'0'29'0,"0"4"0,0 9 0,0-5 0,0-5 0,0-13 0,0-8 0,0-3 0,0-1 0,0 1 0,0-1 0,0 2 0,0 3 0,0 2 0,0 0 0,0 0 0,0-1 0,0-1 0,0-4 0,0-6 0,0-8 0,0-2 0,0-2 0,0 3 0,0 3 0,0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7T13:43:52.2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57 24575,'15'0'0,"3"0"0,0 0 0,3 0 0,-2 0 0,0-4 0,0-1 0,-2 0 0,0-1 0,-3 4 0,1 0 0,0 1 0,1-1 0,1 0 0,2-2 0,3-2 0,0 2 0,-2-2 0,-6 2 0,-6 2 0,-3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Franklin Gothic Medium" panose="020B06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Franklin Gothic Medium" panose="020B0603020102020204" pitchFamily="34" charset="0"/>
              </a:defRPr>
            </a:lvl1pPr>
          </a:lstStyle>
          <a:p>
            <a:fld id="{32937634-2079-BD4B-A278-C56327FDE558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Franklin Gothic Medium" panose="020B06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Franklin Gothic Medium" panose="020B0603020102020204" pitchFamily="34" charset="0"/>
              </a:defRPr>
            </a:lvl1pPr>
          </a:lstStyle>
          <a:p>
            <a:fld id="{3339FBE3-7C1E-604C-A973-421AC64550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9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Figure 1. Sample size was reduced from about 204 to 98 patients, so analyses were descriptive with no formal hypothesis testing. Data cutoff 28 October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Figure 2A. In the 23 patients with stable baseline CNS metastases, 6-month CNS PFS was 82% vs 56%, HR not calculated (9 events).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 cutoff June 10, 2024. Investigator-assessed PFS: 7.1 vs 4.8 months, HR 0.58 (95% CI 0.45-0.73).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 cutoff April 12, 2025. Median follow-up 29.7 months overall, 32.7 months in the Asian cohort and 9.2 months in the Western cohort. 47 Western OS events had occurred versus 72 anticipated.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0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2069BF-6E27-4C15-9C19-390D152B58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0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7374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0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2069BF-6E27-4C15-9C19-390D152B58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0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4519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0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2069BF-6E27-4C15-9C19-390D152B58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0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8846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19E12-5DB0-047D-A4AB-32DE3BD5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304F4-B1AC-AFE6-C48F-DFC363F4D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AB6F9-6370-6605-1109-D7A4A0959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74913-F6FC-4536-6F6D-4196DAE2F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0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2069BF-6E27-4C15-9C19-390D152B58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0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9609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Date or Reference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274588" y="4499118"/>
            <a:ext cx="8869412" cy="6443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Franklin Gothic Medium" panose="020B0603020102020204" pitchFamily="34" charset="0"/>
            </a:endParaRPr>
          </a:p>
        </p:txBody>
      </p:sp>
      <p:pic>
        <p:nvPicPr>
          <p:cNvPr id="15" name="Picture 14" descr="MSKCC_super_pos_rgb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736" y="705410"/>
            <a:ext cx="8030529" cy="66459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7675" y="1696850"/>
            <a:ext cx="7772400" cy="110251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solidFill>
                  <a:srgbClr val="005A8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675" y="3518875"/>
            <a:ext cx="6400800" cy="98024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 descr="MSKCC_logo_hor_pos_rgb_150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84" y="427237"/>
            <a:ext cx="1752455" cy="53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623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960" y="66826"/>
            <a:ext cx="8545707" cy="8100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960" y="737288"/>
            <a:ext cx="8545707" cy="388223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3949" y="4767264"/>
            <a:ext cx="28956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75063" y="4767264"/>
            <a:ext cx="2133600" cy="273844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0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960" y="66826"/>
            <a:ext cx="8545707" cy="8100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74516"/>
            <a:ext cx="4038600" cy="3394472"/>
          </a:xfrm>
        </p:spPr>
        <p:txBody>
          <a:bodyPr/>
          <a:lstStyle>
            <a:lvl1pPr>
              <a:defRPr sz="2800" b="0"/>
            </a:lvl1pPr>
            <a:lvl2pPr>
              <a:defRPr sz="24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74516"/>
            <a:ext cx="4038600" cy="3394472"/>
          </a:xfrm>
        </p:spPr>
        <p:txBody>
          <a:bodyPr/>
          <a:lstStyle>
            <a:lvl1pPr>
              <a:defRPr sz="2800" b="0"/>
            </a:lvl1pPr>
            <a:lvl2pPr>
              <a:defRPr sz="24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3949" y="4764915"/>
            <a:ext cx="2895600" cy="273844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75063" y="4767264"/>
            <a:ext cx="2133600" cy="273844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20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960" y="66826"/>
            <a:ext cx="8545707" cy="81000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64979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344801"/>
            <a:ext cx="4040188" cy="2963466"/>
          </a:xfrm>
        </p:spPr>
        <p:txBody>
          <a:bodyPr/>
          <a:lstStyle>
            <a:lvl1pPr>
              <a:defRPr sz="2400" b="0"/>
            </a:lvl1pPr>
            <a:lvl2pPr>
              <a:defRPr sz="2000" b="0"/>
            </a:lvl2pPr>
            <a:lvl3pPr>
              <a:defRPr sz="1800" b="0"/>
            </a:lvl3pPr>
            <a:lvl4pPr>
              <a:defRPr sz="1600" b="0"/>
            </a:lvl4pPr>
            <a:lvl5pPr>
              <a:defRPr sz="16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87998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359809"/>
            <a:ext cx="4041775" cy="2963466"/>
          </a:xfrm>
        </p:spPr>
        <p:txBody>
          <a:bodyPr/>
          <a:lstStyle>
            <a:lvl1pPr>
              <a:defRPr sz="2400" b="0"/>
            </a:lvl1pPr>
            <a:lvl2pPr>
              <a:defRPr sz="2000" b="0"/>
            </a:lvl2pPr>
            <a:lvl3pPr>
              <a:defRPr sz="1800" b="0"/>
            </a:lvl3pPr>
            <a:lvl4pPr>
              <a:defRPr sz="1600" b="0"/>
            </a:lvl4pPr>
            <a:lvl5pPr>
              <a:defRPr sz="16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53949" y="4767264"/>
            <a:ext cx="2895600" cy="273844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75063" y="4767264"/>
            <a:ext cx="2133600" cy="273844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5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MSKCC_logo_hor_s_rev_rgb_15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6" y="301625"/>
            <a:ext cx="2158312" cy="498570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266620" y="4446868"/>
            <a:ext cx="8877380" cy="696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>
                <a:latin typeface="Franklin Gothic Medium" panose="020B0603020102020204" pitchFamily="34" charset="0"/>
              </a:rPr>
              <a:t> </a:t>
            </a:r>
          </a:p>
        </p:txBody>
      </p:sp>
      <p:pic>
        <p:nvPicPr>
          <p:cNvPr id="4" name="Picture 3" descr="MSKCC_super_pos_rgb.pdf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136" y="705406"/>
            <a:ext cx="6062447" cy="666368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94614" y="1963341"/>
            <a:ext cx="7731836" cy="15621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4400">
                <a:solidFill>
                  <a:srgbClr val="005A8E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4470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53949" y="4767264"/>
            <a:ext cx="2895600" cy="273844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75063" y="4767264"/>
            <a:ext cx="2133600" cy="273844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53960" y="66823"/>
            <a:ext cx="8545707" cy="5139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5869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63138"/>
            <a:ext cx="5486400" cy="31013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8"/>
            <a:ext cx="5486400" cy="603647"/>
          </a:xfrm>
        </p:spPr>
        <p:txBody>
          <a:bodyPr/>
          <a:lstStyle>
            <a:lvl1pPr marL="0" indent="0">
              <a:buNone/>
              <a:defRPr sz="14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89218" y="4767264"/>
            <a:ext cx="2460335" cy="273844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75063" y="4767264"/>
            <a:ext cx="2133600" cy="273844"/>
          </a:xfrm>
        </p:spPr>
        <p:txBody>
          <a:bodyPr/>
          <a:lstStyle>
            <a:lvl1pPr algn="ctr">
              <a:defRPr>
                <a:solidFill>
                  <a:srgbClr val="000000"/>
                </a:solidFill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353960" y="66823"/>
            <a:ext cx="8545707" cy="51392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FFFFFF"/>
                </a:solidFill>
                <a:latin typeface="Corbel"/>
                <a:ea typeface="+mj-ea"/>
                <a:cs typeface="Corbel"/>
              </a:defRPr>
            </a:lvl1pPr>
          </a:lstStyle>
          <a:p>
            <a:r>
              <a:rPr lang="en-US" b="0" i="0">
                <a:latin typeface="Franklin Gothic Medium" panose="020B0603020102020204" pitchFamily="34" charset="0"/>
                <a:cs typeface="Arial Narrow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966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53960" y="66823"/>
            <a:ext cx="8545707" cy="5139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 b="0" i="0">
                <a:solidFill>
                  <a:srgbClr val="FFFFFF"/>
                </a:solidFill>
                <a:latin typeface="Franklin Gothic Medium" panose="020B0603020102020204" pitchFamily="34" charset="0"/>
                <a:cs typeface="Franklin Gothic Medium" panose="020B06030201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3675063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MS PGothic" charset="0"/>
                <a:cs typeface="MS PGothic" charset="0"/>
              </a:defRPr>
            </a:lvl1pPr>
          </a:lstStyle>
          <a:p>
            <a:fld id="{6613EAC3-A0C8-2441-AF32-3E9C0E60E8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3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、テキスト、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1014" y="198879"/>
            <a:ext cx="7504235" cy="702469"/>
          </a:xfrm>
        </p:spPr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0" name="テキスト プレースホルダ 9"/>
          <p:cNvSpPr>
            <a:spLocks noGrp="1"/>
          </p:cNvSpPr>
          <p:nvPr>
            <p:ph type="body" sz="quarter" idx="13"/>
          </p:nvPr>
        </p:nvSpPr>
        <p:spPr>
          <a:xfrm>
            <a:off x="345600" y="1115100"/>
            <a:ext cx="8487138" cy="3601800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altLang="ja-JP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4"/>
          </p:nvPr>
        </p:nvSpPr>
        <p:spPr>
          <a:xfrm>
            <a:off x="180975" y="4849421"/>
            <a:ext cx="2916238" cy="203597"/>
          </a:xfrm>
          <a:prstGeom prst="rect">
            <a:avLst/>
          </a:prstGeom>
        </p:spPr>
        <p:txBody>
          <a:bodyPr/>
          <a:lstStyle>
            <a:lvl1pPr eaLnBrk="1" hangingPunct="1">
              <a:spcBef>
                <a:spcPct val="50000"/>
              </a:spcBef>
              <a:defRPr kumimoji="0" sz="1400" b="0" i="0">
                <a:latin typeface="Imago" pitchFamily="2" charset="0"/>
                <a:ea typeface="ＭＳ Ｐゴシック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ja-JP">
                <a:solidFill>
                  <a:prstClr val="black">
                    <a:tint val="75000"/>
                  </a:prstClr>
                </a:solidFill>
              </a:rPr>
              <a:t>AF802 Preclinical update (120605)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5"/>
          </p:nvPr>
        </p:nvSpPr>
        <p:spPr>
          <a:xfrm>
            <a:off x="8464562" y="4806553"/>
            <a:ext cx="538163" cy="261938"/>
          </a:xfrm>
        </p:spPr>
        <p:txBody>
          <a:bodyPr/>
          <a:lstStyle>
            <a:lvl1pPr>
              <a:defRPr kumimoji="0" b="1"/>
            </a:lvl1pPr>
          </a:lstStyle>
          <a:p>
            <a:pPr>
              <a:defRPr/>
            </a:pPr>
            <a:fld id="{71B9D8C1-8ED5-4FF2-84A2-5C6F76A447A1}" type="slidenum">
              <a:rPr lang="en-US" altLang="ja-JP">
                <a:solidFill>
                  <a:prstClr val="black">
                    <a:tint val="75000"/>
                  </a:prstClr>
                </a:solidFill>
                <a:ea typeface="HGｺﾞｼｯｸM"/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  <a:ea typeface="HGｺﾞｼｯｸM"/>
            </a:endParaRPr>
          </a:p>
        </p:txBody>
      </p:sp>
    </p:spTree>
    <p:extLst>
      <p:ext uri="{BB962C8B-B14F-4D97-AF65-F5344CB8AC3E}">
        <p14:creationId xmlns:p14="http://schemas.microsoft.com/office/powerpoint/2010/main" val="54692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540000" y="3099115"/>
            <a:ext cx="8056800" cy="1495513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35000"/>
              <a:buFont typeface="Wingdings" charset="2"/>
              <a:buNone/>
              <a:tabLst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540000" y="1584728"/>
            <a:ext cx="8056800" cy="1421461"/>
          </a:xfrm>
        </p:spPr>
        <p:txBody>
          <a:bodyPr>
            <a:noAutofit/>
          </a:bodyPr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0000" y="413106"/>
            <a:ext cx="5254702" cy="415499"/>
          </a:xfrm>
        </p:spPr>
        <p:txBody>
          <a:bodyPr anchor="b">
            <a:noAutofit/>
          </a:bodyPr>
          <a:lstStyle>
            <a:lvl1pPr>
              <a:defRPr sz="2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540000" y="810001"/>
            <a:ext cx="5254702" cy="366596"/>
          </a:xfrm>
        </p:spPr>
        <p:txBody>
          <a:bodyPr>
            <a:noAutofit/>
          </a:bodyPr>
          <a:lstStyle>
            <a:lvl1pPr marL="0" indent="0">
              <a:buNone/>
              <a:defRPr sz="20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3CF81-11EA-405E-A3EC-9D48E6C9B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6618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1790"/>
            <a:ext cx="8496300" cy="3148552"/>
          </a:xfrm>
        </p:spPr>
        <p:txBody>
          <a:bodyPr/>
          <a:lstStyle>
            <a:lvl1pPr marL="177800" indent="-177800">
              <a:buClr>
                <a:schemeClr val="accent3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1pPr>
            <a:lvl2pPr>
              <a:buClr>
                <a:schemeClr val="accent3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3"/>
              </a:buCl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323848" y="4353814"/>
            <a:ext cx="3833373" cy="402416"/>
          </a:xfrm>
        </p:spPr>
        <p:txBody>
          <a:bodyPr rIns="0" bIns="0" anchor="b"/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  <a:lvl2pPr marL="177800" indent="0">
              <a:buNone/>
              <a:defRPr sz="1200"/>
            </a:lvl2pPr>
            <a:lvl3pPr marL="360362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4242063" y="4353814"/>
            <a:ext cx="3569422" cy="402416"/>
          </a:xfrm>
        </p:spPr>
        <p:txBody>
          <a:bodyPr rIns="0" bIns="0" anchor="b"/>
          <a:lstStyle>
            <a:lvl1pPr marL="0" indent="0" algn="r">
              <a:spcAft>
                <a:spcPts val="0"/>
              </a:spcAft>
              <a:buNone/>
              <a:defRPr sz="800">
                <a:solidFill>
                  <a:schemeClr val="tx1"/>
                </a:solidFill>
              </a:defRPr>
            </a:lvl1pPr>
            <a:lvl2pPr marL="177800" indent="0">
              <a:buNone/>
              <a:defRPr sz="1200"/>
            </a:lvl2pPr>
            <a:lvl3pPr marL="360362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496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-1"/>
            <a:ext cx="9144000" cy="276995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Franklin Gothic Medium" panose="020B0603020102020204" pitchFamily="34" charset="0"/>
              <a:ea typeface="+mj-ea"/>
              <a:cs typeface="+mj-cs"/>
              <a:sym typeface="Helvetic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8770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599E0C4-358C-864A-A449-7A21861776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38716"/>
            <a:ext cx="9144000" cy="524513"/>
          </a:xfrm>
          <a:prstGeom prst="rect">
            <a:avLst/>
          </a:prstGeom>
        </p:spPr>
        <p:txBody>
          <a:bodyPr anchor="ctr"/>
          <a:lstStyle>
            <a:lvl1pPr algn="ctr">
              <a:defRPr sz="3000" b="1">
                <a:solidFill>
                  <a:srgbClr val="075899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312293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l">
              <a:buNone/>
              <a:defRPr sz="1800"/>
            </a:lvl1pPr>
            <a:lvl2pPr marL="342722" indent="0" algn="ctr">
              <a:buNone/>
              <a:defRPr sz="1500"/>
            </a:lvl2pPr>
            <a:lvl3pPr marL="685460" indent="0" algn="ctr">
              <a:buNone/>
              <a:defRPr sz="1400"/>
            </a:lvl3pPr>
            <a:lvl4pPr marL="1028190" indent="0" algn="ctr">
              <a:buNone/>
              <a:defRPr sz="1200"/>
            </a:lvl4pPr>
            <a:lvl5pPr marL="1370920" indent="0" algn="ctr">
              <a:buNone/>
              <a:defRPr sz="1200"/>
            </a:lvl5pPr>
            <a:lvl6pPr marL="1713659" indent="0" algn="ctr">
              <a:buNone/>
              <a:defRPr sz="1200"/>
            </a:lvl6pPr>
            <a:lvl7pPr marL="2056379" indent="0" algn="ctr">
              <a:buNone/>
              <a:defRPr sz="1200"/>
            </a:lvl7pPr>
            <a:lvl8pPr marL="2399100" indent="0" algn="ctr">
              <a:buNone/>
              <a:defRPr sz="1200"/>
            </a:lvl8pPr>
            <a:lvl9pPr marL="274182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0139" y="4709343"/>
            <a:ext cx="287616" cy="273844"/>
          </a:xfrm>
          <a:prstGeom prst="rect">
            <a:avLst/>
          </a:prstGeom>
        </p:spPr>
        <p:txBody>
          <a:bodyPr vert="horz" lIns="68550" tIns="34289" rIns="68550" bIns="34289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Franklin Gothic Medium" panose="020B0603020102020204" pitchFamily="34" charset="0"/>
              </a:defRPr>
            </a:lvl1pPr>
          </a:lstStyle>
          <a:p>
            <a:pPr defTabSz="685460"/>
            <a:fld id="{2FFBAD49-1F68-914B-9DFB-5D552C1A2BEB}" type="slidenum">
              <a:rPr lang="en-US" smtClean="0">
                <a:solidFill>
                  <a:srgbClr val="113468">
                    <a:tint val="75000"/>
                  </a:srgbClr>
                </a:solidFill>
              </a:rPr>
              <a:pPr defTabSz="685460"/>
              <a:t>‹#›</a:t>
            </a:fld>
            <a:endParaRPr lang="en-US">
              <a:solidFill>
                <a:srgbClr val="113468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872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0139" y="4709343"/>
            <a:ext cx="287616" cy="273844"/>
          </a:xfrm>
          <a:prstGeom prst="rect">
            <a:avLst/>
          </a:prstGeom>
        </p:spPr>
        <p:txBody>
          <a:bodyPr vert="horz" lIns="68550" tIns="34289" rIns="68550" bIns="34289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Franklin Gothic Medium" panose="020B0603020102020204" pitchFamily="34" charset="0"/>
              </a:defRPr>
            </a:lvl1pPr>
          </a:lstStyle>
          <a:p>
            <a:pPr defTabSz="685460"/>
            <a:fld id="{2FFBAD49-1F68-914B-9DFB-5D552C1A2BEB}" type="slidenum">
              <a:rPr lang="en-US" smtClean="0">
                <a:solidFill>
                  <a:srgbClr val="113468">
                    <a:tint val="75000"/>
                  </a:srgbClr>
                </a:solidFill>
              </a:rPr>
              <a:pPr defTabSz="685460"/>
              <a:t>‹#›</a:t>
            </a:fld>
            <a:endParaRPr lang="en-US">
              <a:solidFill>
                <a:srgbClr val="113468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616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20"/>
            <a:ext cx="3886200" cy="2971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20"/>
            <a:ext cx="3886200" cy="2971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0139" y="4709343"/>
            <a:ext cx="287616" cy="273844"/>
          </a:xfrm>
          <a:prstGeom prst="rect">
            <a:avLst/>
          </a:prstGeom>
        </p:spPr>
        <p:txBody>
          <a:bodyPr vert="horz" lIns="68550" tIns="34289" rIns="68550" bIns="34289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Franklin Gothic Medium" panose="020B0603020102020204" pitchFamily="34" charset="0"/>
              </a:defRPr>
            </a:lvl1pPr>
          </a:lstStyle>
          <a:p>
            <a:pPr defTabSz="685460"/>
            <a:fld id="{2FFBAD49-1F68-914B-9DFB-5D552C1A2BEB}" type="slidenum">
              <a:rPr lang="en-US" smtClean="0">
                <a:solidFill>
                  <a:srgbClr val="113468">
                    <a:tint val="75000"/>
                  </a:srgbClr>
                </a:solidFill>
              </a:rPr>
              <a:pPr defTabSz="685460"/>
              <a:t>‹#›</a:t>
            </a:fld>
            <a:endParaRPr lang="en-US">
              <a:solidFill>
                <a:srgbClr val="113468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157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0139" y="4709343"/>
            <a:ext cx="287616" cy="273844"/>
          </a:xfrm>
          <a:prstGeom prst="rect">
            <a:avLst/>
          </a:prstGeom>
        </p:spPr>
        <p:txBody>
          <a:bodyPr vert="horz" lIns="68550" tIns="34289" rIns="68550" bIns="34289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Franklin Gothic Medium" panose="020B0603020102020204" pitchFamily="34" charset="0"/>
              </a:defRPr>
            </a:lvl1pPr>
          </a:lstStyle>
          <a:p>
            <a:pPr defTabSz="685460"/>
            <a:fld id="{2FFBAD49-1F68-914B-9DFB-5D552C1A2BEB}" type="slidenum">
              <a:rPr lang="en-US" smtClean="0">
                <a:solidFill>
                  <a:srgbClr val="113468">
                    <a:tint val="75000"/>
                  </a:srgbClr>
                </a:solidFill>
              </a:rPr>
              <a:pPr defTabSz="685460"/>
              <a:t>‹#›</a:t>
            </a:fld>
            <a:endParaRPr lang="en-US">
              <a:solidFill>
                <a:srgbClr val="113468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1486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0139" y="4709343"/>
            <a:ext cx="287616" cy="273844"/>
          </a:xfrm>
          <a:prstGeom prst="rect">
            <a:avLst/>
          </a:prstGeom>
        </p:spPr>
        <p:txBody>
          <a:bodyPr vert="horz" lIns="68550" tIns="34289" rIns="68550" bIns="34289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Franklin Gothic Medium" panose="020B0603020102020204" pitchFamily="34" charset="0"/>
              </a:defRPr>
            </a:lvl1pPr>
          </a:lstStyle>
          <a:p>
            <a:pPr defTabSz="685460"/>
            <a:fld id="{2FFBAD49-1F68-914B-9DFB-5D552C1A2BEB}" type="slidenum">
              <a:rPr lang="en-US" smtClean="0">
                <a:solidFill>
                  <a:srgbClr val="113468">
                    <a:tint val="75000"/>
                  </a:srgbClr>
                </a:solidFill>
              </a:rPr>
              <a:pPr defTabSz="685460"/>
              <a:t>‹#›</a:t>
            </a:fld>
            <a:endParaRPr lang="en-US">
              <a:solidFill>
                <a:srgbClr val="113468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6997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950" y="66823"/>
            <a:ext cx="8545707" cy="81000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64979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344801"/>
            <a:ext cx="4040188" cy="2963466"/>
          </a:xfrm>
        </p:spPr>
        <p:txBody>
          <a:bodyPr/>
          <a:lstStyle>
            <a:lvl1pPr>
              <a:defRPr sz="2400" b="0"/>
            </a:lvl1pPr>
            <a:lvl2pPr>
              <a:defRPr sz="2000" b="0"/>
            </a:lvl2pPr>
            <a:lvl3pPr>
              <a:defRPr sz="1800" b="0"/>
            </a:lvl3pPr>
            <a:lvl4pPr>
              <a:defRPr sz="1600" b="0"/>
            </a:lvl4pPr>
            <a:lvl5pPr>
              <a:defRPr sz="16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879987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359809"/>
            <a:ext cx="4041775" cy="2963466"/>
          </a:xfrm>
        </p:spPr>
        <p:txBody>
          <a:bodyPr/>
          <a:lstStyle>
            <a:lvl1pPr>
              <a:defRPr sz="2400" b="0"/>
            </a:lvl1pPr>
            <a:lvl2pPr>
              <a:defRPr sz="2000" b="0"/>
            </a:lvl2pPr>
            <a:lvl3pPr>
              <a:defRPr sz="1800" b="0"/>
            </a:lvl3pPr>
            <a:lvl4pPr>
              <a:defRPr sz="1600" b="0"/>
            </a:lvl4pPr>
            <a:lvl5pPr>
              <a:defRPr sz="16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53949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000000"/>
                </a:solidFill>
                <a:latin typeface="Franklin Gothic Medium" panose="020B06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75063" y="4767263"/>
            <a:ext cx="2133600" cy="273844"/>
          </a:xfrm>
          <a:prstGeom prst="rect">
            <a:avLst/>
          </a:prstGeom>
        </p:spPr>
        <p:txBody>
          <a:bodyPr/>
          <a:lstStyle>
            <a:lvl1pPr algn="ctr">
              <a:defRPr b="0" i="0">
                <a:solidFill>
                  <a:srgbClr val="000000"/>
                </a:solidFill>
                <a:latin typeface="Franklin Gothic Medium" panose="020B0603020102020204" pitchFamily="34" charset="0"/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99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960" y="1059769"/>
            <a:ext cx="8545707" cy="3534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4056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rgbClr val="000000"/>
                </a:solidFill>
                <a:latin typeface="Franklin Gothic Medium" panose="020B0603020102020204" pitchFamily="34" charset="0"/>
                <a:cs typeface="Franklin Gothic Medium" panose="020B0603020102020204" pitchFamily="34" charset="0"/>
              </a:defRPr>
            </a:lvl1pPr>
          </a:lstStyle>
          <a:p>
            <a:r>
              <a:rPr lang="en-US"/>
              <a:t>Reference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75063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rgbClr val="000000"/>
                </a:solidFill>
                <a:latin typeface="Franklin Gothic Medium" panose="020B0603020102020204" pitchFamily="34" charset="0"/>
                <a:cs typeface="Franklin Gothic Medium" panose="020B0603020102020204" pitchFamily="34" charset="0"/>
              </a:defRPr>
            </a:lvl1pPr>
          </a:lstStyle>
          <a:p>
            <a:fld id="{D9DADDD7-F6DB-DE43-84D3-BDE65D6DBA6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MSKCC_logo_hor_pos_rgb_150.p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0" y="4654529"/>
            <a:ext cx="1219099" cy="375483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353960" y="4594623"/>
            <a:ext cx="8545707" cy="0"/>
          </a:xfrm>
          <a:prstGeom prst="line">
            <a:avLst/>
          </a:prstGeom>
          <a:ln w="28575" cmpd="sng">
            <a:solidFill>
              <a:srgbClr val="F26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348598" y="205978"/>
            <a:ext cx="8551069" cy="853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766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8" r:id="rId5"/>
    <p:sldLayoutId id="2147483655" r:id="rId6"/>
    <p:sldLayoutId id="2147483657" r:id="rId7"/>
    <p:sldLayoutId id="2147483705" r:id="rId8"/>
    <p:sldLayoutId id="2147483725" r:id="rId9"/>
    <p:sldLayoutId id="2147483727" r:id="rId10"/>
    <p:sldLayoutId id="2147483741" r:id="rId11"/>
    <p:sldLayoutId id="2147483743" r:id="rId12"/>
    <p:sldLayoutId id="2147483762" r:id="rId13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5A8E"/>
          </a:solidFill>
          <a:latin typeface="Franklin Gothic Medium" panose="020B0603020102020204" pitchFamily="34" charset="0"/>
          <a:ea typeface="+mj-ea"/>
          <a:cs typeface="Franklin Gothic Medium" panose="020B06030201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chemeClr val="tx1"/>
          </a:solidFill>
          <a:latin typeface="Franklin Gothic Medium" panose="020B0603020102020204" pitchFamily="34" charset="0"/>
          <a:ea typeface="+mn-ea"/>
          <a:cs typeface="Franklin Gothic Medium" panose="020B06030201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Franklin Gothic Medium" panose="020B0603020102020204" pitchFamily="34" charset="0"/>
          <a:ea typeface="+mn-ea"/>
          <a:cs typeface="Franklin Gothic Medium" panose="020B06030201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chemeClr val="tx1"/>
          </a:solidFill>
          <a:latin typeface="Franklin Gothic Medium" panose="020B0603020102020204" pitchFamily="34" charset="0"/>
          <a:ea typeface="+mn-ea"/>
          <a:cs typeface="Franklin Gothic Medium" panose="020B06030201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Franklin Gothic Medium" panose="020B0603020102020204" pitchFamily="34" charset="0"/>
          <a:ea typeface="+mn-ea"/>
          <a:cs typeface="Franklin Gothic Medium" panose="020B06030201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Franklin Gothic Medium" panose="020B0603020102020204" pitchFamily="34" charset="0"/>
          <a:ea typeface="+mn-ea"/>
          <a:cs typeface="Franklin Gothic Medium" panose="020B06030201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SC_1007 AM18 FacultySpeakerSlides_V5.jp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50" tIns="34289" rIns="68550" bIns="3428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20"/>
            <a:ext cx="7886700" cy="2971173"/>
          </a:xfrm>
          <a:prstGeom prst="rect">
            <a:avLst/>
          </a:prstGeom>
        </p:spPr>
        <p:txBody>
          <a:bodyPr vert="horz" lIns="68550" tIns="34289" rIns="68550" bIns="342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22429" y="4886346"/>
            <a:ext cx="138439" cy="284691"/>
          </a:xfrm>
          <a:prstGeom prst="rect">
            <a:avLst/>
          </a:prstGeom>
          <a:noFill/>
        </p:spPr>
        <p:txBody>
          <a:bodyPr wrap="none" lIns="68550" tIns="34289" rIns="68550" bIns="34289" rtlCol="0">
            <a:spAutoFit/>
          </a:bodyPr>
          <a:lstStyle/>
          <a:p>
            <a:pPr defTabSz="685460"/>
            <a:endParaRPr lang="en-US" sz="1400" b="0" i="0">
              <a:solidFill>
                <a:srgbClr val="113468"/>
              </a:solidFill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57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</p:sldLayoutIdLst>
  <p:hf hdr="0" ftr="0" dt="0"/>
  <p:txStyles>
    <p:titleStyle>
      <a:lvl1pPr algn="l" defTabSz="685460" rtl="0" eaLnBrk="1" latinLnBrk="0" hangingPunct="1">
        <a:lnSpc>
          <a:spcPct val="90000"/>
        </a:lnSpc>
        <a:spcBef>
          <a:spcPct val="0"/>
        </a:spcBef>
        <a:buNone/>
        <a:defRPr sz="2900" b="0" i="0" kern="1200" baseline="0">
          <a:solidFill>
            <a:schemeClr val="bg1"/>
          </a:solidFill>
          <a:latin typeface="Franklin Gothic Medium" panose="020B0603020102020204" pitchFamily="34" charset="0"/>
          <a:ea typeface="+mj-ea"/>
          <a:cs typeface="+mj-cs"/>
        </a:defRPr>
      </a:lvl1pPr>
    </p:titleStyle>
    <p:bodyStyle>
      <a:lvl1pPr marL="171370" indent="-171370" algn="l" defTabSz="68546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b="0" i="0" kern="1200">
          <a:solidFill>
            <a:schemeClr val="bg1"/>
          </a:solidFill>
          <a:latin typeface="Franklin Gothic Medium" panose="020B0603020102020204" pitchFamily="34" charset="0"/>
          <a:ea typeface="+mn-ea"/>
          <a:cs typeface="+mn-cs"/>
        </a:defRPr>
      </a:lvl1pPr>
      <a:lvl2pPr marL="514109" indent="-171370" algn="l" defTabSz="68546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b="0" i="0" kern="1200">
          <a:solidFill>
            <a:schemeClr val="bg1"/>
          </a:solidFill>
          <a:latin typeface="Franklin Gothic Medium" panose="020B0603020102020204" pitchFamily="34" charset="0"/>
          <a:ea typeface="+mn-ea"/>
          <a:cs typeface="+mn-cs"/>
        </a:defRPr>
      </a:lvl2pPr>
      <a:lvl3pPr marL="856829" indent="-171370" algn="l" defTabSz="68546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b="0" i="0" kern="1200">
          <a:solidFill>
            <a:schemeClr val="bg1"/>
          </a:solidFill>
          <a:latin typeface="Franklin Gothic Medium" panose="020B0603020102020204" pitchFamily="34" charset="0"/>
          <a:ea typeface="+mn-ea"/>
          <a:cs typeface="+mn-cs"/>
        </a:defRPr>
      </a:lvl3pPr>
      <a:lvl4pPr marL="1199550" indent="-171370" algn="l" defTabSz="68546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b="0" i="0" kern="1200">
          <a:solidFill>
            <a:schemeClr val="bg1"/>
          </a:solidFill>
          <a:latin typeface="Franklin Gothic Medium" panose="020B0603020102020204" pitchFamily="34" charset="0"/>
          <a:ea typeface="+mn-ea"/>
          <a:cs typeface="+mn-cs"/>
        </a:defRPr>
      </a:lvl4pPr>
      <a:lvl5pPr marL="1542272" indent="-171370" algn="l" defTabSz="68546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b="0" i="0" kern="1200">
          <a:solidFill>
            <a:schemeClr val="bg1"/>
          </a:solidFill>
          <a:latin typeface="Franklin Gothic Medium" panose="020B0603020102020204" pitchFamily="34" charset="0"/>
          <a:ea typeface="+mn-ea"/>
          <a:cs typeface="+mn-cs"/>
        </a:defRPr>
      </a:lvl5pPr>
      <a:lvl6pPr marL="1885010" indent="-171370" algn="l" defTabSz="68546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7740" indent="-171370" algn="l" defTabSz="68546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0470" indent="-171370" algn="l" defTabSz="68546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3209" indent="-171370" algn="l" defTabSz="68546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46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722" algn="l" defTabSz="68546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460" algn="l" defTabSz="68546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190" algn="l" defTabSz="68546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0920" algn="l" defTabSz="68546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3659" algn="l" defTabSz="68546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379" algn="l" defTabSz="68546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100" algn="l" defTabSz="68546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1822" algn="l" defTabSz="68546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5" Type="http://schemas.openxmlformats.org/officeDocument/2006/relationships/image" Target="../media/image17.png"/><Relationship Id="rId4" Type="http://schemas.openxmlformats.org/officeDocument/2006/relationships/customXml" Target="../ink/ink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sz="36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EGFR-Mutated Non‑Small Cell Lung Cancer</a:t>
            </a:r>
            <a:br>
              <a:rPr lang="en-US" sz="36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</a:br>
            <a:r>
              <a:rPr lang="en-US" sz="36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second-line and beyond</a:t>
            </a:r>
            <a:endParaRPr sz="3600" b="0" dirty="0">
              <a:solidFill>
                <a:srgbClr val="005A8E"/>
              </a:solidFill>
              <a:latin typeface="Franklin Gothic Medium"/>
              <a:cs typeface="Franklin Gothic Medium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1F1F1F"/>
                </a:solidFill>
                <a:latin typeface="Franklin Gothic Book"/>
                <a:cs typeface="Franklin Gothic Book"/>
              </a:rPr>
              <a:t>Gregory J. Riely, MD, PhD</a:t>
            </a:r>
          </a:p>
          <a:p>
            <a:r>
              <a:rPr sz="1600" b="0">
                <a:solidFill>
                  <a:srgbClr val="1F1F1F"/>
                </a:solidFill>
                <a:latin typeface="Franklin Gothic Book"/>
                <a:cs typeface="Franklin Gothic Book"/>
              </a:rPr>
              <a:t>Memorial Sloan Kettering Cancer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56692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sz="2800" b="0">
                <a:solidFill>
                  <a:srgbClr val="005A8E"/>
                </a:solidFill>
                <a:latin typeface="Franklin Gothic Medium"/>
                <a:cs typeface="Franklin Gothic Medium"/>
              </a:rPr>
              <a:t>Disclosures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" y="905256"/>
            <a:ext cx="8549640" cy="109728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l"/>
            <a:r>
              <a:rPr sz="1800" b="0">
                <a:solidFill>
                  <a:srgbClr val="1F1F1F"/>
                </a:solidFill>
                <a:latin typeface="Franklin Gothic Book"/>
                <a:cs typeface="Franklin Gothic Book"/>
              </a:rPr>
              <a:t>Institutional research support from Mirati, Lilly, Takeda, Merck, Roche, Pfizer, Rain Therapeutics, and Novartis.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What do we do after first line single-agent TKI or combination therapy?</a:t>
            </a:r>
            <a:endParaRPr sz="1800" b="0" dirty="0">
              <a:solidFill>
                <a:srgbClr val="005A8E"/>
              </a:solidFill>
              <a:latin typeface="Franklin Gothic Book"/>
              <a:cs typeface="Franklin Gothic Book"/>
            </a:endParaRPr>
          </a:p>
        </p:txBody>
      </p:sp>
      <p:pic>
        <p:nvPicPr>
          <p:cNvPr id="4" name="Picture 3" descr="s34_Picture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73" y="1088136"/>
            <a:ext cx="5453285" cy="34107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>
                <a:solidFill>
                  <a:srgbClr val="404040"/>
                </a:solidFill>
                <a:latin typeface="Franklin Gothic Book"/>
                <a:cs typeface="Franklin Gothic Book"/>
              </a:rPr>
              <a:t>Planchard et al, NEJM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10909-B479-CD8F-AA98-F39EFA48B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8AEDB-8B81-C85D-1719-BA8912012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What do we do after first line single-agent TKI or combination therapy?</a:t>
            </a:r>
            <a:endParaRPr sz="1800" b="0" dirty="0">
              <a:solidFill>
                <a:srgbClr val="005A8E"/>
              </a:solidFill>
              <a:latin typeface="Franklin Gothic Book"/>
              <a:cs typeface="Franklin Gothic Book"/>
            </a:endParaRPr>
          </a:p>
        </p:txBody>
      </p:sp>
      <p:pic>
        <p:nvPicPr>
          <p:cNvPr id="4" name="Picture 3" descr="s34_Picture2_0.png">
            <a:extLst>
              <a:ext uri="{FF2B5EF4-FFF2-40B4-BE49-F238E27FC236}">
                <a16:creationId xmlns:a16="http://schemas.microsoft.com/office/drawing/2014/main" id="{B8C4E110-6F62-1B27-0C5C-5DE2D9D77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73" y="1088136"/>
            <a:ext cx="5453285" cy="3410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EFA2D0-0344-7FF1-6F7D-040D0AB79927}"/>
              </a:ext>
            </a:extLst>
          </p:cNvPr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>
                <a:solidFill>
                  <a:srgbClr val="404040"/>
                </a:solidFill>
                <a:latin typeface="Franklin Gothic Book"/>
                <a:cs typeface="Franklin Gothic Book"/>
              </a:rPr>
              <a:t>Planchard et al, NEJM 2023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B497E4-54EC-F782-F3E2-E0147FCE6E44}"/>
              </a:ext>
            </a:extLst>
          </p:cNvPr>
          <p:cNvSpPr txBox="1"/>
          <p:nvPr/>
        </p:nvSpPr>
        <p:spPr>
          <a:xfrm>
            <a:off x="6173675" y="1698080"/>
            <a:ext cx="2482852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Franklin Gothic Book" panose="020B0503020102020204" pitchFamily="34" charset="0"/>
              </a:rPr>
              <a:t>Reminder: median time on chemotherapy in combination arm of FLAURA2 was 8 months</a:t>
            </a:r>
          </a:p>
          <a:p>
            <a:pPr algn="ctr"/>
            <a:r>
              <a:rPr lang="en-US" sz="1600" dirty="0">
                <a:latin typeface="Franklin Gothic Book" panose="020B0503020102020204" pitchFamily="34" charset="0"/>
              </a:rPr>
              <a:t>And…</a:t>
            </a:r>
          </a:p>
          <a:p>
            <a:pPr algn="ctr"/>
            <a:r>
              <a:rPr lang="en-US" sz="1600" dirty="0">
                <a:latin typeface="Franklin Gothic Book" panose="020B0503020102020204" pitchFamily="34" charset="0"/>
              </a:rPr>
              <a:t>The other arm hasn’t had chemo</a:t>
            </a:r>
          </a:p>
          <a:p>
            <a:pPr algn="ctr"/>
            <a:endParaRPr lang="en-US" sz="1600" dirty="0">
              <a:latin typeface="Franklin Gothic Book" panose="020B0503020102020204" pitchFamily="34" charset="0"/>
            </a:endParaRPr>
          </a:p>
          <a:p>
            <a:pPr algn="ctr"/>
            <a:r>
              <a:rPr lang="en-US" sz="1600" dirty="0">
                <a:latin typeface="Franklin Gothic Book" panose="020B0503020102020204" pitchFamily="34" charset="0"/>
              </a:rPr>
              <a:t>Mariposa – median </a:t>
            </a:r>
            <a:r>
              <a:rPr lang="en-US" sz="1600" dirty="0" err="1">
                <a:latin typeface="Franklin Gothic Book" panose="020B0503020102020204" pitchFamily="34" charset="0"/>
              </a:rPr>
              <a:t>amivantamab</a:t>
            </a:r>
            <a:r>
              <a:rPr lang="en-US" sz="1600" dirty="0">
                <a:latin typeface="Franklin Gothic Book" panose="020B0503020102020204" pitchFamily="34" charset="0"/>
              </a:rPr>
              <a:t> exposure was 15 months</a:t>
            </a:r>
          </a:p>
        </p:txBody>
      </p:sp>
    </p:spTree>
    <p:extLst>
      <p:ext uri="{BB962C8B-B14F-4D97-AF65-F5344CB8AC3E}">
        <p14:creationId xmlns:p14="http://schemas.microsoft.com/office/powerpoint/2010/main" val="747496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When we think about chemotherapy after TKI, do we continue the TKI? </a:t>
            </a:r>
            <a:r>
              <a:rPr sz="1800" b="0" dirty="0">
                <a:solidFill>
                  <a:srgbClr val="005A8E"/>
                </a:solidFill>
                <a:latin typeface="Franklin Gothic Book"/>
                <a:cs typeface="Franklin Gothic Book"/>
              </a:rPr>
              <a:t>COMPEL, randomized double-blind phase III</a:t>
            </a:r>
          </a:p>
        </p:txBody>
      </p:sp>
      <p:sp>
        <p:nvSpPr>
          <p:cNvPr id="3" name="TextBox 101"/>
          <p:cNvSpPr txBox="1"/>
          <p:nvPr/>
        </p:nvSpPr>
        <p:spPr>
          <a:xfrm>
            <a:off x="377190" y="1062990"/>
            <a:ext cx="3566160" cy="2331720"/>
          </a:xfrm>
          <a:prstGeom prst="rect">
            <a:avLst/>
          </a:prstGeom>
          <a:solidFill>
            <a:srgbClr val="E8E8E8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Advanced NSCLC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EGFR exon 19 deletion or L858R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Non-CNS progression on first-line osimertinib after response or stable disease ≥6 months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Stable CNS metastases allowed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No subsequent therapy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WHO performance status 0 / 1</a:t>
            </a:r>
          </a:p>
        </p:txBody>
      </p:sp>
      <p:cxnSp>
        <p:nvCxnSpPr>
          <p:cNvPr id="4" name="Connector 102"/>
          <p:cNvCxnSpPr/>
          <p:nvPr/>
        </p:nvCxnSpPr>
        <p:spPr>
          <a:xfrm>
            <a:off x="3943350" y="2228850"/>
            <a:ext cx="342900" cy="0"/>
          </a:xfrm>
          <a:prstGeom prst="straightConnector1">
            <a:avLst/>
          </a:prstGeom>
          <a:ln w="14288">
            <a:solidFill>
              <a:srgbClr val="000000"/>
            </a:solidFill>
            <a:tailEnd type="triangle"/>
          </a:ln>
        </p:spPr>
      </p:cxnSp>
      <p:cxnSp>
        <p:nvCxnSpPr>
          <p:cNvPr id="5" name="Connector 103"/>
          <p:cNvCxnSpPr/>
          <p:nvPr/>
        </p:nvCxnSpPr>
        <p:spPr>
          <a:xfrm>
            <a:off x="4286250" y="1697355"/>
            <a:ext cx="0" cy="1062990"/>
          </a:xfrm>
          <a:prstGeom prst="straightConnector1">
            <a:avLst/>
          </a:prstGeom>
          <a:ln w="14288">
            <a:solidFill>
              <a:srgbClr val="000000"/>
            </a:solidFill>
          </a:ln>
        </p:spPr>
      </p:cxnSp>
      <p:cxnSp>
        <p:nvCxnSpPr>
          <p:cNvPr id="6" name="Connector 104"/>
          <p:cNvCxnSpPr/>
          <p:nvPr/>
        </p:nvCxnSpPr>
        <p:spPr>
          <a:xfrm>
            <a:off x="4286250" y="1697355"/>
            <a:ext cx="342900" cy="0"/>
          </a:xfrm>
          <a:prstGeom prst="straightConnector1">
            <a:avLst/>
          </a:prstGeom>
          <a:ln w="14288">
            <a:solidFill>
              <a:srgbClr val="000000"/>
            </a:solidFill>
            <a:tailEnd type="triangle"/>
          </a:ln>
        </p:spPr>
      </p:cxnSp>
      <p:sp>
        <p:nvSpPr>
          <p:cNvPr id="7" name="Arm 105"/>
          <p:cNvSpPr/>
          <p:nvPr/>
        </p:nvSpPr>
        <p:spPr>
          <a:xfrm>
            <a:off x="4629150" y="1268730"/>
            <a:ext cx="3154680" cy="857250"/>
          </a:xfrm>
          <a:prstGeom prst="rect">
            <a:avLst/>
          </a:prstGeom>
          <a:solidFill>
            <a:srgbClr val="FFFFFF">
              <a:lumMod val="95000"/>
            </a:srgbClr>
          </a:solidFill>
          <a:ln w="21431">
            <a:solidFill>
              <a:srgbClr val="156082"/>
            </a:solidFill>
            <a:miter lim="800000"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650" b="1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Osimertinib</a:t>
            </a:r>
            <a:r>
              <a:rPr lang="en-US" sz="165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 +</a:t>
            </a:r>
          </a:p>
          <a:p>
            <a:pPr algn="ctr"/>
            <a:r>
              <a:rPr lang="en-US" sz="1650" b="1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Platinum</a:t>
            </a:r>
            <a:r>
              <a:rPr lang="en-US" sz="165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 + </a:t>
            </a:r>
            <a:r>
              <a:rPr lang="en-US" sz="1650" b="1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Pemetrexed</a:t>
            </a:r>
          </a:p>
          <a:p>
            <a:pPr algn="ctr"/>
            <a:r>
              <a:rPr lang="en-US" sz="165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(n=49)</a:t>
            </a:r>
          </a:p>
        </p:txBody>
      </p:sp>
      <p:cxnSp>
        <p:nvCxnSpPr>
          <p:cNvPr id="8" name="Connector 106"/>
          <p:cNvCxnSpPr/>
          <p:nvPr/>
        </p:nvCxnSpPr>
        <p:spPr>
          <a:xfrm>
            <a:off x="4286250" y="2760345"/>
            <a:ext cx="342900" cy="0"/>
          </a:xfrm>
          <a:prstGeom prst="straightConnector1">
            <a:avLst/>
          </a:prstGeom>
          <a:ln w="14288">
            <a:solidFill>
              <a:srgbClr val="000000"/>
            </a:solidFill>
            <a:tailEnd type="triangle"/>
          </a:ln>
        </p:spPr>
      </p:cxnSp>
      <p:sp>
        <p:nvSpPr>
          <p:cNvPr id="9" name="Arm 107"/>
          <p:cNvSpPr/>
          <p:nvPr/>
        </p:nvSpPr>
        <p:spPr>
          <a:xfrm>
            <a:off x="4629150" y="2331720"/>
            <a:ext cx="3154680" cy="857250"/>
          </a:xfrm>
          <a:prstGeom prst="rect">
            <a:avLst/>
          </a:prstGeom>
          <a:solidFill>
            <a:srgbClr val="156082"/>
          </a:solidFill>
          <a:ln w="21431"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65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Placebo</a:t>
            </a:r>
            <a:r>
              <a:rPr lang="en-US" sz="1650" dirty="0">
                <a:solidFill>
                  <a:prstClr val="white"/>
                </a:solidFill>
                <a:latin typeface="Franklin Gothic Medium" panose="020B0603020102020204" pitchFamily="34" charset="0"/>
              </a:rPr>
              <a:t> +</a:t>
            </a:r>
          </a:p>
          <a:p>
            <a:pPr algn="ctr"/>
            <a:r>
              <a:rPr lang="en-US" sz="165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Platinum</a:t>
            </a:r>
            <a:r>
              <a:rPr lang="en-US" sz="1650" dirty="0">
                <a:solidFill>
                  <a:prstClr val="white"/>
                </a:solidFill>
                <a:latin typeface="Franklin Gothic Medium" panose="020B0603020102020204" pitchFamily="34" charset="0"/>
              </a:rPr>
              <a:t> + </a:t>
            </a:r>
            <a:r>
              <a:rPr lang="en-US" sz="165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Pemetrexed</a:t>
            </a:r>
          </a:p>
          <a:p>
            <a:pPr algn="ctr"/>
            <a:r>
              <a:rPr lang="en-US" sz="1650" dirty="0">
                <a:solidFill>
                  <a:prstClr val="white"/>
                </a:solidFill>
                <a:latin typeface="Franklin Gothic Medium" panose="020B0603020102020204" pitchFamily="34" charset="0"/>
              </a:rPr>
              <a:t>(n=49)</a:t>
            </a:r>
          </a:p>
        </p:txBody>
      </p:sp>
      <p:sp>
        <p:nvSpPr>
          <p:cNvPr id="10" name="TextBox 108"/>
          <p:cNvSpPr txBox="1"/>
          <p:nvPr/>
        </p:nvSpPr>
        <p:spPr>
          <a:xfrm>
            <a:off x="308610" y="3531870"/>
            <a:ext cx="8503920" cy="891540"/>
          </a:xfrm>
          <a:prstGeom prst="rect">
            <a:avLst/>
          </a:prstGeom>
          <a:noFill/>
        </p:spPr>
        <p:txBody>
          <a:bodyPr wrap="square" lIns="72000" tIns="72000" rIns="72000" bIns="72000" rtlCol="0" anchor="t">
            <a:spAutoFit/>
          </a:bodyPr>
          <a:lstStyle/>
          <a:p>
            <a:pPr marL="171446" indent="-171446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Primary endpoint: PFS by investigator assessment</a:t>
            </a:r>
          </a:p>
          <a:p>
            <a:pPr marL="171446" indent="-171446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Secondary endpoints: CNS PFS by baseline CNS metastasis status, non-CNS PFS, overall survival, safety</a:t>
            </a:r>
          </a:p>
        </p:txBody>
      </p:sp>
      <p:sp>
        <p:nvSpPr>
          <p:cNvPr id="11" name="Citation 109"/>
          <p:cNvSpPr txBox="1"/>
          <p:nvPr/>
        </p:nvSpPr>
        <p:spPr>
          <a:xfrm>
            <a:off x="5006340" y="4512564"/>
            <a:ext cx="3840480" cy="342900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10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Peled et al, ESMO Open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lang="en-US" sz="1800" b="1" dirty="0">
                <a:solidFill>
                  <a:srgbClr val="005A8E"/>
                </a:solidFill>
                <a:latin typeface="Franklin Gothic Medium"/>
                <a:cs typeface="Franklin Gothic Medium"/>
              </a:rPr>
              <a:t>Continuation of osimertinib </a:t>
            </a:r>
            <a:r>
              <a:rPr lang="en-US" sz="1800" b="1" dirty="0">
                <a:latin typeface="Franklin Gothic Medium"/>
                <a:cs typeface="Franklin Gothic Medium"/>
              </a:rPr>
              <a:t>associated with improved</a:t>
            </a:r>
            <a:r>
              <a:rPr lang="en-US" sz="1800" b="1" dirty="0">
                <a:solidFill>
                  <a:srgbClr val="005A8E"/>
                </a:solidFill>
                <a:latin typeface="Franklin Gothic Medium"/>
                <a:cs typeface="Franklin Gothic Medium"/>
              </a:rPr>
              <a:t> </a:t>
            </a:r>
            <a:r>
              <a:rPr sz="1800" b="1" dirty="0">
                <a:solidFill>
                  <a:srgbClr val="005A8E"/>
                </a:solidFill>
                <a:latin typeface="Franklin Gothic Medium"/>
                <a:cs typeface="Franklin Gothic Medium"/>
              </a:rPr>
              <a:t>Progression-Free Survival</a:t>
            </a:r>
          </a:p>
          <a:p>
            <a:pPr algn="l"/>
            <a:r>
              <a:rPr sz="1800" b="0" dirty="0">
                <a:solidFill>
                  <a:srgbClr val="005A8E"/>
                </a:solidFill>
                <a:latin typeface="Franklin Gothic Book"/>
                <a:cs typeface="Franklin Gothic Book"/>
              </a:rPr>
              <a:t>Primary endpoint, investigator-assessed, all randomized patients</a:t>
            </a:r>
          </a:p>
        </p:txBody>
      </p:sp>
      <p:pic>
        <p:nvPicPr>
          <p:cNvPr id="4" name="Picture 3" descr="fig1_p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16" y="787670"/>
            <a:ext cx="6425784" cy="36689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>
                <a:solidFill>
                  <a:srgbClr val="404040"/>
                </a:solidFill>
                <a:latin typeface="Franklin Gothic Book"/>
                <a:cs typeface="Franklin Gothic Book"/>
              </a:rPr>
              <a:t>Peled et al, ESMO Open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08E4F7E-1554-E38B-F7EF-12E1A43B9345}"/>
              </a:ext>
            </a:extLst>
          </p:cNvPr>
          <p:cNvGrpSpPr/>
          <p:nvPr/>
        </p:nvGrpSpPr>
        <p:grpSpPr>
          <a:xfrm>
            <a:off x="1886659" y="576072"/>
            <a:ext cx="6209554" cy="3966001"/>
            <a:chOff x="1886659" y="576072"/>
            <a:chExt cx="6209554" cy="3966001"/>
          </a:xfrm>
        </p:grpSpPr>
        <p:pic>
          <p:nvPicPr>
            <p:cNvPr id="4" name="Picture 3" descr="fig2a_cn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6659" y="576072"/>
              <a:ext cx="6209554" cy="3966001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6147509-9947-EFC0-649A-E4B88357BF61}"/>
                </a:ext>
              </a:extLst>
            </p:cNvPr>
            <p:cNvSpPr/>
            <p:nvPr/>
          </p:nvSpPr>
          <p:spPr>
            <a:xfrm>
              <a:off x="1908000" y="648000"/>
              <a:ext cx="244800" cy="3944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r>
              <a:rPr lang="en-US" sz="1800" b="1" dirty="0">
                <a:latin typeface="Franklin Gothic Medium"/>
                <a:cs typeface="Franklin Gothic Medium"/>
              </a:rPr>
              <a:t>Continuation of osimertinib associated with improved CNS Progression-Free Survival</a:t>
            </a:r>
            <a:br>
              <a:rPr lang="en-US" sz="2400" dirty="0">
                <a:latin typeface="Franklin Gothic Medium"/>
                <a:cs typeface="Franklin Gothic Medium"/>
              </a:rPr>
            </a:br>
            <a:r>
              <a:rPr sz="1800" b="0" dirty="0">
                <a:solidFill>
                  <a:srgbClr val="005A8E"/>
                </a:solidFill>
                <a:latin typeface="Franklin Gothic Book"/>
                <a:cs typeface="Franklin Gothic Book"/>
              </a:rPr>
              <a:t>Patients without CNS metastases at baseline (n=75)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>
                <a:solidFill>
                  <a:srgbClr val="404040"/>
                </a:solidFill>
                <a:latin typeface="Franklin Gothic Book"/>
                <a:cs typeface="Franklin Gothic Book"/>
              </a:rPr>
              <a:t>Peled et al, ESMO Open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Amivantamab + Lazertinib After Osimertinib</a:t>
            </a:r>
          </a:p>
          <a:p>
            <a:pPr algn="l"/>
            <a:r>
              <a:rPr sz="1800" b="0" dirty="0">
                <a:solidFill>
                  <a:srgbClr val="005A8E"/>
                </a:solidFill>
                <a:latin typeface="Franklin Gothic Book"/>
                <a:cs typeface="Franklin Gothic Book"/>
              </a:rPr>
              <a:t>CHRYSALIS-2</a:t>
            </a:r>
            <a:r>
              <a:rPr lang="en-US" sz="1800" b="0" dirty="0">
                <a:solidFill>
                  <a:srgbClr val="005A8E"/>
                </a:solidFill>
                <a:latin typeface="Franklin Gothic Book"/>
                <a:cs typeface="Franklin Gothic Book"/>
              </a:rPr>
              <a:t> – modest single–arm data support use</a:t>
            </a:r>
            <a:endParaRPr sz="1800" b="0" dirty="0">
              <a:solidFill>
                <a:srgbClr val="005A8E"/>
              </a:solidFill>
              <a:latin typeface="Franklin Gothic Book"/>
              <a:cs typeface="Franklin Gothic Book"/>
            </a:endParaRPr>
          </a:p>
        </p:txBody>
      </p:sp>
      <p:pic>
        <p:nvPicPr>
          <p:cNvPr id="510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3" t="14325" r="36795" b="43197"/>
          <a:stretch/>
        </p:blipFill>
        <p:spPr bwMode="auto">
          <a:xfrm>
            <a:off x="356616" y="1739199"/>
            <a:ext cx="5347748" cy="215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D3E2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CFCFC"/>
                  </a:outerShdw>
                </a:effectLst>
              </a14:hiddenEffects>
            </a:ext>
          </a:extLst>
        </p:spPr>
      </p:pic>
      <p:pic>
        <p:nvPicPr>
          <p:cNvPr id="5103" name="Picture 2">
            <a:extLst>
              <a:ext uri="{FF2B5EF4-FFF2-40B4-BE49-F238E27FC236}">
                <a16:creationId xmlns:a16="http://schemas.microsoft.com/office/drawing/2014/main" id="{A6E1423D-0617-A344-89C8-AA2EC8A983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8" t="24820" r="67528" b="24873"/>
          <a:stretch/>
        </p:blipFill>
        <p:spPr bwMode="auto">
          <a:xfrm>
            <a:off x="6295742" y="1540664"/>
            <a:ext cx="2610513" cy="255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D3E2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CFCFC"/>
                  </a:outerShdw>
                </a:effectLst>
              </a14:hiddenEffects>
            </a:ext>
          </a:extLst>
        </p:spPr>
      </p:pic>
      <p:sp>
        <p:nvSpPr>
          <p:cNvPr id="5104" name="TextBox 5103"/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>
                <a:solidFill>
                  <a:srgbClr val="404040"/>
                </a:solidFill>
                <a:latin typeface="Franklin Gothic Book"/>
                <a:cs typeface="Franklin Gothic Book"/>
              </a:rPr>
              <a:t>Besse et al, ASCO 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Chemotherapy + Amivantamab +/- </a:t>
            </a:r>
            <a:r>
              <a:rPr lang="en-US" sz="2800" b="0" dirty="0" err="1">
                <a:solidFill>
                  <a:srgbClr val="005A8E"/>
                </a:solidFill>
                <a:latin typeface="Franklin Gothic Medium"/>
                <a:cs typeface="Franklin Gothic Medium"/>
              </a:rPr>
              <a:t>lazertinib</a:t>
            </a:r>
            <a:endParaRPr sz="2800" b="0" dirty="0">
              <a:solidFill>
                <a:srgbClr val="005A8E"/>
              </a:solidFill>
              <a:latin typeface="Franklin Gothic Medium"/>
              <a:cs typeface="Franklin Gothic Medium"/>
            </a:endParaRPr>
          </a:p>
          <a:p>
            <a:pPr algn="l"/>
            <a:r>
              <a:rPr sz="1800" b="0" dirty="0">
                <a:solidFill>
                  <a:srgbClr val="005A8E"/>
                </a:solidFill>
                <a:latin typeface="Franklin Gothic Book"/>
                <a:cs typeface="Franklin Gothic Book"/>
              </a:rPr>
              <a:t>MARIPOSA-2, randomized phase III</a:t>
            </a:r>
          </a:p>
        </p:txBody>
      </p:sp>
      <p:sp>
        <p:nvSpPr>
          <p:cNvPr id="3" name="TextBox 101"/>
          <p:cNvSpPr txBox="1"/>
          <p:nvPr/>
        </p:nvSpPr>
        <p:spPr>
          <a:xfrm>
            <a:off x="377190" y="1165860"/>
            <a:ext cx="3566160" cy="2125980"/>
          </a:xfrm>
          <a:prstGeom prst="rect">
            <a:avLst/>
          </a:prstGeom>
          <a:solidFill>
            <a:srgbClr val="E8E8E8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Locally advanced or metastatic NSCLC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EGFR exon 19 deletion or L858R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Progression on osimertinib as most recent therapy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Stable, asymptomatic brain metastases allowed</a:t>
            </a:r>
          </a:p>
        </p:txBody>
      </p:sp>
      <p:cxnSp>
        <p:nvCxnSpPr>
          <p:cNvPr id="4" name="Connector 102"/>
          <p:cNvCxnSpPr/>
          <p:nvPr/>
        </p:nvCxnSpPr>
        <p:spPr>
          <a:xfrm>
            <a:off x="3943350" y="2228850"/>
            <a:ext cx="342900" cy="0"/>
          </a:xfrm>
          <a:prstGeom prst="straightConnector1">
            <a:avLst/>
          </a:prstGeom>
          <a:ln w="14288">
            <a:solidFill>
              <a:srgbClr val="000000"/>
            </a:solidFill>
          </a:ln>
        </p:spPr>
      </p:cxnSp>
      <p:cxnSp>
        <p:nvCxnSpPr>
          <p:cNvPr id="5" name="Connector 103"/>
          <p:cNvCxnSpPr/>
          <p:nvPr/>
        </p:nvCxnSpPr>
        <p:spPr>
          <a:xfrm>
            <a:off x="4286250" y="1378458"/>
            <a:ext cx="0" cy="1700784"/>
          </a:xfrm>
          <a:prstGeom prst="straightConnector1">
            <a:avLst/>
          </a:prstGeom>
          <a:ln w="14288">
            <a:solidFill>
              <a:srgbClr val="000000"/>
            </a:solidFill>
          </a:ln>
        </p:spPr>
      </p:cxnSp>
      <p:cxnSp>
        <p:nvCxnSpPr>
          <p:cNvPr id="6" name="Connector 104"/>
          <p:cNvCxnSpPr/>
          <p:nvPr/>
        </p:nvCxnSpPr>
        <p:spPr>
          <a:xfrm>
            <a:off x="4286250" y="1378458"/>
            <a:ext cx="342900" cy="0"/>
          </a:xfrm>
          <a:prstGeom prst="straightConnector1">
            <a:avLst/>
          </a:prstGeom>
          <a:ln w="14288">
            <a:solidFill>
              <a:srgbClr val="000000"/>
            </a:solidFill>
            <a:tailEnd type="triangle"/>
          </a:ln>
        </p:spPr>
      </p:cxnSp>
      <p:sp>
        <p:nvSpPr>
          <p:cNvPr id="7" name="Arm 105"/>
          <p:cNvSpPr/>
          <p:nvPr/>
        </p:nvSpPr>
        <p:spPr>
          <a:xfrm>
            <a:off x="4629150" y="1028700"/>
            <a:ext cx="3154680" cy="699516"/>
          </a:xfrm>
          <a:prstGeom prst="rect">
            <a:avLst/>
          </a:prstGeom>
          <a:solidFill>
            <a:srgbClr val="FFFFFF">
              <a:lumMod val="95000"/>
            </a:srgbClr>
          </a:solidFill>
          <a:ln w="21431">
            <a:solidFill>
              <a:srgbClr val="156082"/>
            </a:solidFill>
            <a:miter lim="800000"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350" b="1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Amivantamab</a:t>
            </a:r>
            <a:r>
              <a:rPr lang="en-US" sz="135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 + </a:t>
            </a:r>
            <a:r>
              <a:rPr lang="en-US" sz="1350" b="1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Lazertinib</a:t>
            </a:r>
            <a:r>
              <a:rPr lang="en-US" sz="135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 + </a:t>
            </a:r>
            <a:r>
              <a:rPr lang="en-US" sz="1350" b="1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Carboplatin</a:t>
            </a:r>
            <a:r>
              <a:rPr lang="en-US" sz="135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 + </a:t>
            </a:r>
            <a:r>
              <a:rPr lang="en-US" sz="1350" b="1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Pemetrexed</a:t>
            </a:r>
          </a:p>
          <a:p>
            <a:pPr algn="ctr"/>
            <a:r>
              <a:rPr lang="en-US" sz="135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(n=263)</a:t>
            </a:r>
          </a:p>
        </p:txBody>
      </p:sp>
      <p:cxnSp>
        <p:nvCxnSpPr>
          <p:cNvPr id="8" name="Connector 106"/>
          <p:cNvCxnSpPr/>
          <p:nvPr/>
        </p:nvCxnSpPr>
        <p:spPr>
          <a:xfrm>
            <a:off x="4286250" y="2228850"/>
            <a:ext cx="342900" cy="0"/>
          </a:xfrm>
          <a:prstGeom prst="straightConnector1">
            <a:avLst/>
          </a:prstGeom>
          <a:ln w="14288">
            <a:solidFill>
              <a:srgbClr val="000000"/>
            </a:solidFill>
            <a:tailEnd type="triangle"/>
          </a:ln>
        </p:spPr>
      </p:cxnSp>
      <p:sp>
        <p:nvSpPr>
          <p:cNvPr id="9" name="Arm 107"/>
          <p:cNvSpPr/>
          <p:nvPr/>
        </p:nvSpPr>
        <p:spPr>
          <a:xfrm>
            <a:off x="4629150" y="1879092"/>
            <a:ext cx="3154680" cy="699516"/>
          </a:xfrm>
          <a:prstGeom prst="rect">
            <a:avLst/>
          </a:prstGeom>
          <a:solidFill>
            <a:srgbClr val="E97132">
              <a:lumMod val="75000"/>
            </a:srgbClr>
          </a:solidFill>
          <a:ln w="21431"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35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Amivantamab</a:t>
            </a:r>
            <a:r>
              <a:rPr lang="en-US" sz="1350" dirty="0">
                <a:solidFill>
                  <a:prstClr val="white"/>
                </a:solidFill>
                <a:latin typeface="Franklin Gothic Medium" panose="020B0603020102020204" pitchFamily="34" charset="0"/>
              </a:rPr>
              <a:t> + </a:t>
            </a:r>
            <a:r>
              <a:rPr lang="en-US" sz="135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Carboplatin</a:t>
            </a:r>
            <a:r>
              <a:rPr lang="en-US" sz="1350" dirty="0">
                <a:solidFill>
                  <a:prstClr val="white"/>
                </a:solidFill>
                <a:latin typeface="Franklin Gothic Medium" panose="020B0603020102020204" pitchFamily="34" charset="0"/>
              </a:rPr>
              <a:t> + </a:t>
            </a:r>
            <a:r>
              <a:rPr lang="en-US" sz="135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Pemetrexed</a:t>
            </a:r>
          </a:p>
          <a:p>
            <a:pPr algn="ctr"/>
            <a:r>
              <a:rPr lang="en-US" sz="1350" dirty="0">
                <a:solidFill>
                  <a:prstClr val="white"/>
                </a:solidFill>
                <a:latin typeface="Franklin Gothic Medium" panose="020B0603020102020204" pitchFamily="34" charset="0"/>
              </a:rPr>
              <a:t>(n=131)</a:t>
            </a:r>
          </a:p>
        </p:txBody>
      </p:sp>
      <p:cxnSp>
        <p:nvCxnSpPr>
          <p:cNvPr id="10" name="Connector 108"/>
          <p:cNvCxnSpPr/>
          <p:nvPr/>
        </p:nvCxnSpPr>
        <p:spPr>
          <a:xfrm>
            <a:off x="4286250" y="3079242"/>
            <a:ext cx="342900" cy="0"/>
          </a:xfrm>
          <a:prstGeom prst="straightConnector1">
            <a:avLst/>
          </a:prstGeom>
          <a:ln w="14288">
            <a:solidFill>
              <a:srgbClr val="000000"/>
            </a:solidFill>
            <a:tailEnd type="triangle"/>
          </a:ln>
        </p:spPr>
      </p:cxnSp>
      <p:sp>
        <p:nvSpPr>
          <p:cNvPr id="11" name="Arm 109"/>
          <p:cNvSpPr/>
          <p:nvPr/>
        </p:nvSpPr>
        <p:spPr>
          <a:xfrm>
            <a:off x="4629150" y="2729484"/>
            <a:ext cx="3154680" cy="699516"/>
          </a:xfrm>
          <a:prstGeom prst="rect">
            <a:avLst/>
          </a:prstGeom>
          <a:solidFill>
            <a:srgbClr val="156082"/>
          </a:solidFill>
          <a:ln w="21431"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35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Carboplatin</a:t>
            </a:r>
            <a:r>
              <a:rPr lang="en-US" sz="1350" dirty="0">
                <a:solidFill>
                  <a:prstClr val="white"/>
                </a:solidFill>
                <a:latin typeface="Franklin Gothic Medium" panose="020B0603020102020204" pitchFamily="34" charset="0"/>
              </a:rPr>
              <a:t> + </a:t>
            </a:r>
            <a:r>
              <a:rPr lang="en-US" sz="135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Pemetrexed</a:t>
            </a:r>
          </a:p>
          <a:p>
            <a:pPr algn="ctr"/>
            <a:r>
              <a:rPr lang="en-US" sz="1350" dirty="0">
                <a:solidFill>
                  <a:prstClr val="white"/>
                </a:solidFill>
                <a:latin typeface="Franklin Gothic Medium" panose="020B0603020102020204" pitchFamily="34" charset="0"/>
              </a:rPr>
              <a:t>(n=263)</a:t>
            </a:r>
          </a:p>
        </p:txBody>
      </p:sp>
      <p:sp>
        <p:nvSpPr>
          <p:cNvPr id="12" name="TextBox 110"/>
          <p:cNvSpPr txBox="1"/>
          <p:nvPr/>
        </p:nvSpPr>
        <p:spPr>
          <a:xfrm>
            <a:off x="308610" y="3531870"/>
            <a:ext cx="8503920" cy="891540"/>
          </a:xfrm>
          <a:prstGeom prst="rect">
            <a:avLst/>
          </a:prstGeom>
          <a:noFill/>
        </p:spPr>
        <p:txBody>
          <a:bodyPr wrap="square" lIns="72000" tIns="72000" rIns="72000" bIns="72000" rtlCol="0" anchor="t">
            <a:spAutoFit/>
          </a:bodyPr>
          <a:lstStyle/>
          <a:p>
            <a:pPr marL="171446" indent="-171446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Dual primary endpoints: PFS by blinded independent central review for each amivantamab arm vs chemotherapy</a:t>
            </a:r>
          </a:p>
          <a:p>
            <a:pPr marL="171446" indent="-171446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Secondary endpoints: response rate, duration of response, overall survival, intracranial PFS, safety</a:t>
            </a:r>
          </a:p>
        </p:txBody>
      </p:sp>
      <p:sp>
        <p:nvSpPr>
          <p:cNvPr id="13" name="Citation 111"/>
          <p:cNvSpPr txBox="1"/>
          <p:nvPr/>
        </p:nvSpPr>
        <p:spPr>
          <a:xfrm>
            <a:off x="5006340" y="4512564"/>
            <a:ext cx="3840480" cy="342900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10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Passaro et al, Ann Oncol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sz="2800" b="0">
                <a:solidFill>
                  <a:srgbClr val="005A8E"/>
                </a:solidFill>
                <a:latin typeface="Franklin Gothic Medium"/>
                <a:cs typeface="Franklin Gothic Medium"/>
              </a:rPr>
              <a:t>Amivantamab + Chemotherapy After Osimertinib</a:t>
            </a:r>
          </a:p>
          <a:p>
            <a:pPr algn="l"/>
            <a:r>
              <a:rPr sz="1800" b="0">
                <a:solidFill>
                  <a:srgbClr val="005A8E"/>
                </a:solidFill>
                <a:latin typeface="Franklin Gothic Book"/>
                <a:cs typeface="Franklin Gothic Book"/>
              </a:rPr>
              <a:t>MARIPOSA-2, PFS</a:t>
            </a:r>
          </a:p>
        </p:txBody>
      </p:sp>
      <p:pic>
        <p:nvPicPr>
          <p:cNvPr id="4" name="Picture 3" descr="s42_Picture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16" y="903615"/>
            <a:ext cx="7168896" cy="33362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>
                <a:solidFill>
                  <a:srgbClr val="404040"/>
                </a:solidFill>
                <a:latin typeface="Franklin Gothic Book"/>
                <a:cs typeface="Franklin Gothic Book"/>
              </a:rPr>
              <a:t>Passaro et al, Ann Oncol 2024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sz="2800" b="0">
                <a:solidFill>
                  <a:srgbClr val="005A8E"/>
                </a:solidFill>
                <a:latin typeface="Franklin Gothic Medium"/>
                <a:cs typeface="Franklin Gothic Medium"/>
              </a:rPr>
              <a:t>Intracranial Progression-Free Survival</a:t>
            </a:r>
          </a:p>
          <a:p>
            <a:pPr algn="l"/>
            <a:r>
              <a:rPr sz="1800" b="0">
                <a:solidFill>
                  <a:srgbClr val="005A8E"/>
                </a:solidFill>
                <a:latin typeface="Franklin Gothic Book"/>
                <a:cs typeface="Franklin Gothic Book"/>
              </a:rPr>
              <a:t>MARIPOSA-2, BICR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" y="3950208"/>
            <a:ext cx="8549640" cy="502920"/>
          </a:xfrm>
          <a:prstGeom prst="rect">
            <a:avLst/>
          </a:prstGeom>
          <a:solidFill>
            <a:srgbClr val="F2F2F2"/>
          </a:solidFill>
        </p:spPr>
        <p:txBody>
          <a:bodyPr wrap="square" lIns="128016" tIns="128016" rIns="128016" bIns="128016" anchor="ctr"/>
          <a:lstStyle/>
          <a:p>
            <a:pPr algn="l"/>
            <a:r>
              <a:rPr sz="1600" b="0">
                <a:solidFill>
                  <a:srgbClr val="00457C"/>
                </a:solidFill>
                <a:latin typeface="Franklin Gothic Medium"/>
                <a:cs typeface="Franklin Gothic Medium"/>
              </a:rPr>
              <a:t>Median intracranial PFS 12.5 and 12.8 vs 8.3 months in all randomized patients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" y="1088136"/>
            <a:ext cx="4160520" cy="32004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/>
            <a:r>
              <a:rPr sz="1600" b="0">
                <a:solidFill>
                  <a:srgbClr val="00457C"/>
                </a:solidFill>
                <a:latin typeface="Franklin Gothic Medium"/>
                <a:cs typeface="Franklin Gothic Medium"/>
              </a:rPr>
              <a:t>All randomized patients</a:t>
            </a:r>
          </a:p>
        </p:txBody>
      </p:sp>
      <p:pic>
        <p:nvPicPr>
          <p:cNvPr id="5" name="Picture 4" descr="fig3a.png"/>
          <p:cNvPicPr>
            <a:picLocks noChangeAspect="1"/>
          </p:cNvPicPr>
          <p:nvPr/>
        </p:nvPicPr>
        <p:blipFill>
          <a:blip r:embed="rId2"/>
          <a:srcRect l="11975" b="12493"/>
          <a:stretch>
            <a:fillRect/>
          </a:stretch>
        </p:blipFill>
        <p:spPr>
          <a:xfrm>
            <a:off x="483604" y="1435608"/>
            <a:ext cx="3803756" cy="2148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6616" y="3557015"/>
            <a:ext cx="4160520" cy="30175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/>
            <a:r>
              <a:rPr sz="1400" b="0">
                <a:solidFill>
                  <a:srgbClr val="1F1F1F"/>
                </a:solidFill>
                <a:latin typeface="Franklin Gothic Book"/>
                <a:cs typeface="Franklin Gothic Book"/>
              </a:rPr>
              <a:t>HR 0.55 and 0.58 vs chemotherapy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5736" y="1088136"/>
            <a:ext cx="4160520" cy="32004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/>
            <a:r>
              <a:rPr sz="1600" b="0">
                <a:solidFill>
                  <a:srgbClr val="00457C"/>
                </a:solidFill>
                <a:latin typeface="Franklin Gothic Medium"/>
                <a:cs typeface="Franklin Gothic Medium"/>
              </a:rPr>
              <a:t>Brain metastases, no prior radiotherapy</a:t>
            </a:r>
          </a:p>
        </p:txBody>
      </p:sp>
      <p:pic>
        <p:nvPicPr>
          <p:cNvPr id="8" name="Picture 7" descr="fig3b.png"/>
          <p:cNvPicPr>
            <a:picLocks noChangeAspect="1"/>
          </p:cNvPicPr>
          <p:nvPr/>
        </p:nvPicPr>
        <p:blipFill>
          <a:blip r:embed="rId3"/>
          <a:srcRect l="9686" b="13519"/>
          <a:stretch>
            <a:fillRect/>
          </a:stretch>
        </p:blipFill>
        <p:spPr>
          <a:xfrm>
            <a:off x="4856698" y="1435608"/>
            <a:ext cx="3907578" cy="2029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45736" y="3557016"/>
            <a:ext cx="4160520" cy="301752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ctr"/>
            <a:r>
              <a:rPr sz="1400" b="0">
                <a:solidFill>
                  <a:srgbClr val="1F1F1F"/>
                </a:solidFill>
                <a:latin typeface="Franklin Gothic Book"/>
                <a:cs typeface="Franklin Gothic Book"/>
              </a:rPr>
              <a:t>HR 0.36 and 0.44 vs chemotherapy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>
                <a:solidFill>
                  <a:srgbClr val="404040"/>
                </a:solidFill>
                <a:latin typeface="Franklin Gothic Book"/>
                <a:cs typeface="Franklin Gothic Book"/>
              </a:rPr>
              <a:t>Passaro et al, Ann Oncol 2024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6616" y="109728"/>
            <a:ext cx="8549640" cy="932688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005A8E"/>
                </a:solidFill>
                <a:latin typeface="Franklin Gothic Medium" panose="020B0603020102020204" pitchFamily="34" charset="0"/>
              </a:rPr>
              <a:t>Does adding an immune checkpoint inhibitor help?</a:t>
            </a:r>
          </a:p>
          <a:p>
            <a:r>
              <a:rPr lang="en-US" sz="1800" b="0" dirty="0">
                <a:solidFill>
                  <a:srgbClr val="005A8E"/>
                </a:solidFill>
                <a:latin typeface="Franklin Gothic Book" panose="020B0503020102020204" pitchFamily="34" charset="0"/>
              </a:rPr>
              <a:t>KEYNOTE-789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377190" y="1337310"/>
            <a:ext cx="3566160" cy="2057400"/>
          </a:xfrm>
          <a:prstGeom prst="rect">
            <a:avLst/>
          </a:prstGeom>
          <a:solidFill>
            <a:srgbClr val="E8E8E8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marL="120648" indent="-120648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Stage IV nonsquamous NSCLC</a:t>
            </a:r>
          </a:p>
          <a:p>
            <a:pPr marL="120648" indent="-120648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EGFR exon 19 deletion or L858R</a:t>
            </a:r>
          </a:p>
          <a:p>
            <a:pPr marL="120648" indent="-120648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Progression on EGFR TKI</a:t>
            </a:r>
          </a:p>
          <a:p>
            <a:pPr marL="120648" indent="-120648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Prior osimertinib if T790M positive</a:t>
            </a:r>
          </a:p>
          <a:p>
            <a:pPr marL="120648" indent="-120648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Performance status 0 / 1</a:t>
            </a:r>
          </a:p>
          <a:p>
            <a:pPr marL="120648" indent="-120648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Stable, treated brain metastases</a:t>
            </a:r>
          </a:p>
        </p:txBody>
      </p:sp>
      <p:cxnSp>
        <p:nvCxnSpPr>
          <p:cNvPr id="102" name="Connector 102"/>
          <p:cNvCxnSpPr/>
          <p:nvPr/>
        </p:nvCxnSpPr>
        <p:spPr>
          <a:xfrm>
            <a:off x="3943350" y="2366010"/>
            <a:ext cx="342900" cy="0"/>
          </a:xfrm>
          <a:prstGeom prst="straightConnector1">
            <a:avLst/>
          </a:prstGeom>
          <a:ln w="14287">
            <a:solidFill>
              <a:srgbClr val="000000"/>
            </a:solidFill>
            <a:tailEnd type="triangle"/>
          </a:ln>
        </p:spPr>
      </p:cxnSp>
      <p:cxnSp>
        <p:nvCxnSpPr>
          <p:cNvPr id="103" name="Connector 103"/>
          <p:cNvCxnSpPr/>
          <p:nvPr/>
        </p:nvCxnSpPr>
        <p:spPr>
          <a:xfrm>
            <a:off x="4286250" y="1834515"/>
            <a:ext cx="0" cy="1062990"/>
          </a:xfrm>
          <a:prstGeom prst="straightConnector1">
            <a:avLst/>
          </a:prstGeom>
          <a:ln w="14287">
            <a:solidFill>
              <a:srgbClr val="000000"/>
            </a:solidFill>
          </a:ln>
        </p:spPr>
      </p:cxnSp>
      <p:cxnSp>
        <p:nvCxnSpPr>
          <p:cNvPr id="104" name="Connector 104"/>
          <p:cNvCxnSpPr/>
          <p:nvPr/>
        </p:nvCxnSpPr>
        <p:spPr>
          <a:xfrm>
            <a:off x="4286250" y="1834515"/>
            <a:ext cx="342900" cy="0"/>
          </a:xfrm>
          <a:prstGeom prst="straightConnector1">
            <a:avLst/>
          </a:prstGeom>
          <a:ln w="14287">
            <a:solidFill>
              <a:srgbClr val="000000"/>
            </a:solidFill>
            <a:tailEnd type="triangle"/>
          </a:ln>
        </p:spPr>
      </p:cxnSp>
      <p:sp>
        <p:nvSpPr>
          <p:cNvPr id="105" name="Arm 105"/>
          <p:cNvSpPr/>
          <p:nvPr/>
        </p:nvSpPr>
        <p:spPr>
          <a:xfrm>
            <a:off x="4629150" y="1405890"/>
            <a:ext cx="3154680" cy="857250"/>
          </a:xfrm>
          <a:prstGeom prst="rect">
            <a:avLst/>
          </a:prstGeom>
          <a:solidFill>
            <a:srgbClr val="F2F2F2"/>
          </a:solidFill>
          <a:ln w="21431">
            <a:solidFill>
              <a:srgbClr val="156082"/>
            </a:solidFill>
            <a:miter lim="800000"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Pembrolizumab</a:t>
            </a:r>
            <a:r>
              <a:rPr lang="en-US" sz="15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 +</a:t>
            </a:r>
          </a:p>
          <a:p>
            <a:pPr algn="ctr"/>
            <a:r>
              <a:rPr lang="en-US" sz="1500" b="1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Platinum</a:t>
            </a:r>
            <a:r>
              <a:rPr lang="en-US" sz="15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 + </a:t>
            </a:r>
            <a:r>
              <a:rPr lang="en-US" sz="1500" b="1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Pemetrexed</a:t>
            </a:r>
          </a:p>
          <a:p>
            <a:pPr algn="ctr"/>
            <a:r>
              <a:rPr lang="en-US" sz="15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(n=245)</a:t>
            </a:r>
          </a:p>
        </p:txBody>
      </p:sp>
      <p:cxnSp>
        <p:nvCxnSpPr>
          <p:cNvPr id="106" name="Connector 106"/>
          <p:cNvCxnSpPr/>
          <p:nvPr/>
        </p:nvCxnSpPr>
        <p:spPr>
          <a:xfrm>
            <a:off x="4286250" y="2897505"/>
            <a:ext cx="342900" cy="0"/>
          </a:xfrm>
          <a:prstGeom prst="straightConnector1">
            <a:avLst/>
          </a:prstGeom>
          <a:ln w="14287">
            <a:solidFill>
              <a:srgbClr val="000000"/>
            </a:solidFill>
            <a:tailEnd type="triangle"/>
          </a:ln>
        </p:spPr>
      </p:cxnSp>
      <p:sp>
        <p:nvSpPr>
          <p:cNvPr id="107" name="Arm 107"/>
          <p:cNvSpPr/>
          <p:nvPr/>
        </p:nvSpPr>
        <p:spPr>
          <a:xfrm>
            <a:off x="4629150" y="2468880"/>
            <a:ext cx="3154680" cy="857250"/>
          </a:xfrm>
          <a:prstGeom prst="rect">
            <a:avLst/>
          </a:prstGeom>
          <a:solidFill>
            <a:srgbClr val="156082"/>
          </a:solidFill>
          <a:ln w="21431"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50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Placebo</a:t>
            </a:r>
            <a:r>
              <a:rPr lang="en-US" sz="1500" dirty="0">
                <a:solidFill>
                  <a:prstClr val="white"/>
                </a:solidFill>
                <a:latin typeface="Franklin Gothic Medium" panose="020B0603020102020204" pitchFamily="34" charset="0"/>
              </a:rPr>
              <a:t> +</a:t>
            </a:r>
          </a:p>
          <a:p>
            <a:pPr algn="ctr"/>
            <a:r>
              <a:rPr lang="en-US" sz="150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Platinum</a:t>
            </a:r>
            <a:r>
              <a:rPr lang="en-US" sz="1500" dirty="0">
                <a:solidFill>
                  <a:prstClr val="white"/>
                </a:solidFill>
                <a:latin typeface="Franklin Gothic Medium" panose="020B0603020102020204" pitchFamily="34" charset="0"/>
              </a:rPr>
              <a:t> + </a:t>
            </a:r>
            <a:r>
              <a:rPr lang="en-US" sz="150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Pemetrexed</a:t>
            </a:r>
          </a:p>
          <a:p>
            <a:pPr algn="ctr"/>
            <a:r>
              <a:rPr lang="en-US" sz="1500" dirty="0">
                <a:solidFill>
                  <a:prstClr val="white"/>
                </a:solidFill>
                <a:latin typeface="Franklin Gothic Medium" panose="020B0603020102020204" pitchFamily="34" charset="0"/>
              </a:rPr>
              <a:t>(n=247)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308610" y="3669030"/>
            <a:ext cx="8503920" cy="891540"/>
          </a:xfrm>
          <a:prstGeom prst="rect">
            <a:avLst/>
          </a:prstGeom>
          <a:noFill/>
        </p:spPr>
        <p:txBody>
          <a:bodyPr wrap="square" lIns="72000" tIns="72000" rIns="72000" bIns="72000" rtlCol="0" anchor="t">
            <a:spAutoFit/>
          </a:bodyPr>
          <a:lstStyle/>
          <a:p>
            <a:pPr marL="228594" indent="-228594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Dual primary endpoints: PFS by central review and overall survival</a:t>
            </a:r>
          </a:p>
          <a:p>
            <a:pPr marL="228594" indent="-228594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Secondary endpoints: response rate, duration of response, quality of life, safety</a:t>
            </a:r>
          </a:p>
        </p:txBody>
      </p:sp>
      <p:sp>
        <p:nvSpPr>
          <p:cNvPr id="109" name="Citation 109"/>
          <p:cNvSpPr txBox="1"/>
          <p:nvPr/>
        </p:nvSpPr>
        <p:spPr>
          <a:xfrm>
            <a:off x="5006340" y="4649724"/>
            <a:ext cx="3840480" cy="342900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15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Yang et al, JCO 2024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No Significant Improvement in PFS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 with adding pembrolizumab to chemotherapy </a:t>
            </a:r>
            <a:endParaRPr sz="2800" b="0" dirty="0">
              <a:solidFill>
                <a:srgbClr val="005A8E"/>
              </a:solidFill>
              <a:latin typeface="Franklin Gothic Medium"/>
              <a:cs typeface="Franklin Gothic Medium"/>
            </a:endParaRPr>
          </a:p>
          <a:p>
            <a:pPr algn="l"/>
            <a:r>
              <a:rPr sz="1800" b="0" dirty="0">
                <a:solidFill>
                  <a:srgbClr val="005A8E"/>
                </a:solidFill>
                <a:latin typeface="Franklin Gothic Book"/>
                <a:cs typeface="Franklin Gothic Book"/>
              </a:rPr>
              <a:t>KEYNOTE-789, PFS by central review at second interim analysis</a:t>
            </a:r>
          </a:p>
        </p:txBody>
      </p:sp>
      <p:pic>
        <p:nvPicPr>
          <p:cNvPr id="3" name="Picture 2" descr="pfs.png"/>
          <p:cNvPicPr>
            <a:picLocks noChangeAspect="1"/>
          </p:cNvPicPr>
          <p:nvPr/>
        </p:nvPicPr>
        <p:blipFill>
          <a:blip r:embed="rId2"/>
          <a:srcRect l="8034" b="29922"/>
          <a:stretch>
            <a:fillRect/>
          </a:stretch>
        </p:blipFill>
        <p:spPr>
          <a:xfrm>
            <a:off x="537883" y="1376664"/>
            <a:ext cx="6016614" cy="31236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0456" y="1271016"/>
            <a:ext cx="1955800" cy="1783079"/>
          </a:xfrm>
          <a:prstGeom prst="rect">
            <a:avLst/>
          </a:prstGeom>
          <a:solidFill>
            <a:srgbClr val="FFFFFF"/>
          </a:solidFill>
          <a:ln w="19050">
            <a:solidFill>
              <a:srgbClr val="2986E2"/>
            </a:solidFill>
          </a:ln>
        </p:spPr>
        <p:txBody>
          <a:bodyPr wrap="square" lIns="73152" tIns="73152" rIns="73152" bIns="73152" anchor="ctr"/>
          <a:lstStyle/>
          <a:p>
            <a:pPr algn="ctr"/>
            <a:r>
              <a:rPr sz="1400" b="0">
                <a:solidFill>
                  <a:srgbClr val="1F1F1F"/>
                </a:solidFill>
                <a:latin typeface="Franklin Gothic Medium"/>
                <a:cs typeface="Franklin Gothic Medium"/>
              </a:rPr>
              <a:t>PFS HR 0.80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1F1F1F"/>
                </a:solidFill>
                <a:latin typeface="Franklin Gothic Book"/>
                <a:cs typeface="Franklin Gothic Book"/>
              </a:rPr>
              <a:t>95% CI, 0.65-0.97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1F1F1F"/>
                </a:solidFill>
                <a:latin typeface="Franklin Gothic Book"/>
                <a:cs typeface="Franklin Gothic Book"/>
              </a:rPr>
              <a:t>P = .0122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1F1F1F"/>
                </a:solidFill>
                <a:latin typeface="Franklin Gothic Book"/>
                <a:cs typeface="Franklin Gothic Book"/>
              </a:rPr>
              <a:t>(boundary .0117)</a:t>
            </a:r>
          </a:p>
          <a:p>
            <a:pPr algn="ctr">
              <a:spcBef>
                <a:spcPts val="600"/>
              </a:spcBef>
            </a:pPr>
            <a:endParaRPr sz="1400" b="0">
              <a:solidFill>
                <a:srgbClr val="1F1F1F"/>
              </a:solidFill>
              <a:latin typeface="Franklin Gothic Book"/>
              <a:cs typeface="Franklin Gothic Book"/>
            </a:endParaRP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1F1F1F"/>
                </a:solidFill>
                <a:latin typeface="Franklin Gothic Book"/>
                <a:cs typeface="Franklin Gothic Book"/>
              </a:rPr>
              <a:t>Median 5.6 vs 5.5 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>
                <a:solidFill>
                  <a:srgbClr val="404040"/>
                </a:solidFill>
                <a:latin typeface="Franklin Gothic Book"/>
                <a:cs typeface="Franklin Gothic Book"/>
              </a:rPr>
              <a:t>Yang et al, JCO 2024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Does using a </a:t>
            </a:r>
            <a:r>
              <a:rPr lang="en-US" sz="2800" dirty="0">
                <a:latin typeface="Franklin Gothic Medium"/>
                <a:cs typeface="Franklin Gothic Medium"/>
              </a:rPr>
              <a:t>PD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-1/VEGF bispecific make a difference?</a:t>
            </a:r>
            <a:endParaRPr sz="2800" b="0" dirty="0">
              <a:solidFill>
                <a:srgbClr val="005A8E"/>
              </a:solidFill>
              <a:latin typeface="Franklin Gothic Medium"/>
              <a:cs typeface="Franklin Gothic Medium"/>
            </a:endParaRPr>
          </a:p>
          <a:p>
            <a:pPr algn="l"/>
            <a:r>
              <a:rPr sz="1800" b="0" dirty="0" err="1">
                <a:solidFill>
                  <a:srgbClr val="005A8E"/>
                </a:solidFill>
                <a:latin typeface="Franklin Gothic Book"/>
                <a:cs typeface="Franklin Gothic Book"/>
              </a:rPr>
              <a:t>HARMONi</a:t>
            </a:r>
            <a:r>
              <a:rPr sz="1800" b="0" dirty="0">
                <a:solidFill>
                  <a:srgbClr val="005A8E"/>
                </a:solidFill>
                <a:latin typeface="Franklin Gothic Book"/>
                <a:cs typeface="Franklin Gothic Book"/>
              </a:rPr>
              <a:t>, randomized phase III</a:t>
            </a:r>
          </a:p>
        </p:txBody>
      </p:sp>
      <p:sp>
        <p:nvSpPr>
          <p:cNvPr id="3" name="TextBox 101"/>
          <p:cNvSpPr txBox="1"/>
          <p:nvPr/>
        </p:nvSpPr>
        <p:spPr>
          <a:xfrm>
            <a:off x="617220" y="1337310"/>
            <a:ext cx="3086100" cy="1783080"/>
          </a:xfrm>
          <a:prstGeom prst="rect">
            <a:avLst/>
          </a:prstGeom>
          <a:solidFill>
            <a:srgbClr val="E8E8E8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Stage IIIB-IV nonsquamous NSCLC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EGFR activating mutation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Progression on 3rd generation EGFR TKI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Performance status 0 / 1</a:t>
            </a:r>
          </a:p>
        </p:txBody>
      </p:sp>
      <p:cxnSp>
        <p:nvCxnSpPr>
          <p:cNvPr id="4" name="Connector 102"/>
          <p:cNvCxnSpPr/>
          <p:nvPr/>
        </p:nvCxnSpPr>
        <p:spPr>
          <a:xfrm>
            <a:off x="3703320" y="2228850"/>
            <a:ext cx="582930" cy="0"/>
          </a:xfrm>
          <a:prstGeom prst="straightConnector1">
            <a:avLst/>
          </a:prstGeom>
          <a:ln w="14288">
            <a:solidFill>
              <a:srgbClr val="000000"/>
            </a:solidFill>
            <a:tailEnd type="triangle"/>
          </a:ln>
        </p:spPr>
      </p:cxnSp>
      <p:cxnSp>
        <p:nvCxnSpPr>
          <p:cNvPr id="5" name="Connector 103"/>
          <p:cNvCxnSpPr/>
          <p:nvPr/>
        </p:nvCxnSpPr>
        <p:spPr>
          <a:xfrm>
            <a:off x="4286250" y="1697355"/>
            <a:ext cx="0" cy="1062990"/>
          </a:xfrm>
          <a:prstGeom prst="straightConnector1">
            <a:avLst/>
          </a:prstGeom>
          <a:ln w="14288">
            <a:solidFill>
              <a:srgbClr val="000000"/>
            </a:solidFill>
          </a:ln>
        </p:spPr>
      </p:cxnSp>
      <p:cxnSp>
        <p:nvCxnSpPr>
          <p:cNvPr id="6" name="Connector 104"/>
          <p:cNvCxnSpPr/>
          <p:nvPr/>
        </p:nvCxnSpPr>
        <p:spPr>
          <a:xfrm>
            <a:off x="4286250" y="1697355"/>
            <a:ext cx="342900" cy="0"/>
          </a:xfrm>
          <a:prstGeom prst="straightConnector1">
            <a:avLst/>
          </a:prstGeom>
          <a:ln w="14288">
            <a:solidFill>
              <a:srgbClr val="000000"/>
            </a:solidFill>
            <a:tailEnd type="triangle"/>
          </a:ln>
        </p:spPr>
      </p:cxnSp>
      <p:sp>
        <p:nvSpPr>
          <p:cNvPr id="7" name="Arm 105"/>
          <p:cNvSpPr/>
          <p:nvPr/>
        </p:nvSpPr>
        <p:spPr>
          <a:xfrm>
            <a:off x="4629150" y="1268730"/>
            <a:ext cx="3154680" cy="857250"/>
          </a:xfrm>
          <a:prstGeom prst="rect">
            <a:avLst/>
          </a:prstGeom>
          <a:solidFill>
            <a:srgbClr val="FFFFFF">
              <a:lumMod val="95000"/>
            </a:srgbClr>
          </a:solidFill>
          <a:ln w="21431">
            <a:solidFill>
              <a:srgbClr val="156082"/>
            </a:solidFill>
            <a:miter lim="800000"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Ivonescimab</a:t>
            </a:r>
            <a:r>
              <a:rPr lang="en-US" sz="15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 +</a:t>
            </a:r>
          </a:p>
          <a:p>
            <a:pPr algn="ctr"/>
            <a:r>
              <a:rPr lang="en-US" sz="1500" b="1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Carboplatin</a:t>
            </a:r>
            <a:r>
              <a:rPr lang="en-US" sz="15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 + </a:t>
            </a:r>
            <a:r>
              <a:rPr lang="en-US" sz="1500" b="1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Pemetrexed</a:t>
            </a:r>
          </a:p>
          <a:p>
            <a:pPr algn="ctr"/>
            <a:r>
              <a:rPr lang="en-US" sz="15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(n=219)</a:t>
            </a:r>
          </a:p>
        </p:txBody>
      </p:sp>
      <p:cxnSp>
        <p:nvCxnSpPr>
          <p:cNvPr id="8" name="Connector 106"/>
          <p:cNvCxnSpPr/>
          <p:nvPr/>
        </p:nvCxnSpPr>
        <p:spPr>
          <a:xfrm>
            <a:off x="4286250" y="2760345"/>
            <a:ext cx="342900" cy="0"/>
          </a:xfrm>
          <a:prstGeom prst="straightConnector1">
            <a:avLst/>
          </a:prstGeom>
          <a:ln w="14288">
            <a:solidFill>
              <a:srgbClr val="000000"/>
            </a:solidFill>
            <a:tailEnd type="triangle"/>
          </a:ln>
        </p:spPr>
      </p:cxnSp>
      <p:sp>
        <p:nvSpPr>
          <p:cNvPr id="9" name="Arm 107"/>
          <p:cNvSpPr/>
          <p:nvPr/>
        </p:nvSpPr>
        <p:spPr>
          <a:xfrm>
            <a:off x="4629150" y="2331720"/>
            <a:ext cx="3154680" cy="857250"/>
          </a:xfrm>
          <a:prstGeom prst="rect">
            <a:avLst/>
          </a:prstGeom>
          <a:solidFill>
            <a:srgbClr val="156082"/>
          </a:solidFill>
          <a:ln w="21431"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50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Placebo</a:t>
            </a:r>
            <a:r>
              <a:rPr lang="en-US" sz="1500" dirty="0">
                <a:solidFill>
                  <a:prstClr val="white"/>
                </a:solidFill>
                <a:latin typeface="Franklin Gothic Medium" panose="020B0603020102020204" pitchFamily="34" charset="0"/>
              </a:rPr>
              <a:t> +</a:t>
            </a:r>
          </a:p>
          <a:p>
            <a:pPr algn="ctr"/>
            <a:r>
              <a:rPr lang="en-US" sz="150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Carboplatin</a:t>
            </a:r>
            <a:r>
              <a:rPr lang="en-US" sz="1500" dirty="0">
                <a:solidFill>
                  <a:prstClr val="white"/>
                </a:solidFill>
                <a:latin typeface="Franklin Gothic Medium" panose="020B0603020102020204" pitchFamily="34" charset="0"/>
              </a:rPr>
              <a:t> + </a:t>
            </a:r>
            <a:r>
              <a:rPr lang="en-US" sz="1500" b="1" dirty="0">
                <a:solidFill>
                  <a:prstClr val="white"/>
                </a:solidFill>
                <a:latin typeface="Franklin Gothic Medium" panose="020B0603020102020204" pitchFamily="34" charset="0"/>
              </a:rPr>
              <a:t>Pemetrexed</a:t>
            </a:r>
          </a:p>
          <a:p>
            <a:pPr algn="ctr"/>
            <a:r>
              <a:rPr lang="en-US" sz="1500" dirty="0">
                <a:solidFill>
                  <a:prstClr val="white"/>
                </a:solidFill>
                <a:latin typeface="Franklin Gothic Medium" panose="020B0603020102020204" pitchFamily="34" charset="0"/>
              </a:rPr>
              <a:t>(n=219)</a:t>
            </a:r>
          </a:p>
        </p:txBody>
      </p:sp>
      <p:sp>
        <p:nvSpPr>
          <p:cNvPr id="10" name="TextBox 108"/>
          <p:cNvSpPr txBox="1"/>
          <p:nvPr/>
        </p:nvSpPr>
        <p:spPr>
          <a:xfrm>
            <a:off x="308610" y="3531870"/>
            <a:ext cx="8503920" cy="891540"/>
          </a:xfrm>
          <a:prstGeom prst="rect">
            <a:avLst/>
          </a:prstGeom>
          <a:noFill/>
        </p:spPr>
        <p:txBody>
          <a:bodyPr wrap="square" lIns="72000" tIns="72000" rIns="72000" bIns="72000" rtlCol="0" anchor="t">
            <a:spAutoFit/>
          </a:bodyPr>
          <a:lstStyle/>
          <a:p>
            <a:pPr marL="171446" indent="-171446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Dual primary endpoints: PFS by independent radiology review and overall survival</a:t>
            </a:r>
          </a:p>
          <a:p>
            <a:pPr marL="171446" indent="-171446"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Secondary endpoints: response rate, duration of response, safety, pharmacokinetics</a:t>
            </a:r>
          </a:p>
        </p:txBody>
      </p:sp>
      <p:sp>
        <p:nvSpPr>
          <p:cNvPr id="11" name="Citation 109"/>
          <p:cNvSpPr txBox="1"/>
          <p:nvPr/>
        </p:nvSpPr>
        <p:spPr>
          <a:xfrm>
            <a:off x="5006340" y="4512564"/>
            <a:ext cx="3840480" cy="342900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1000" dirty="0">
                <a:solidFill>
                  <a:srgbClr val="00457C"/>
                </a:solidFill>
                <a:latin typeface="Franklin Gothic Medium" panose="020B0603020102020204" pitchFamily="34" charset="0"/>
              </a:rPr>
              <a:t>Le et al, Lancet Oncol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lang="en-US" sz="2200" b="1" dirty="0" err="1">
                <a:solidFill>
                  <a:srgbClr val="005A8E"/>
                </a:solidFill>
                <a:latin typeface="Franklin Gothic Medium"/>
                <a:cs typeface="Franklin Gothic Medium"/>
              </a:rPr>
              <a:t>Ivonescimab</a:t>
            </a:r>
            <a:r>
              <a:rPr lang="en-US" sz="2200" b="1" dirty="0">
                <a:solidFill>
                  <a:srgbClr val="005A8E"/>
                </a:solidFill>
                <a:latin typeface="Franklin Gothic Medium"/>
                <a:cs typeface="Franklin Gothic Medium"/>
              </a:rPr>
              <a:t> + chemotherapy improves </a:t>
            </a:r>
            <a:r>
              <a:rPr sz="2200" b="1" dirty="0">
                <a:solidFill>
                  <a:srgbClr val="005A8E"/>
                </a:solidFill>
                <a:latin typeface="Franklin Gothic Medium"/>
                <a:cs typeface="Franklin Gothic Medium"/>
              </a:rPr>
              <a:t>Progression-Free Survival</a:t>
            </a:r>
          </a:p>
          <a:p>
            <a:pPr algn="l"/>
            <a:r>
              <a:rPr sz="1400" b="0" dirty="0">
                <a:solidFill>
                  <a:srgbClr val="005A8E"/>
                </a:solidFill>
                <a:latin typeface="Franklin Gothic Book"/>
                <a:cs typeface="Franklin Gothic Book"/>
              </a:rPr>
              <a:t>Primary analysis by independent radiology review (n=345)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" y="3875912"/>
            <a:ext cx="8549640" cy="560070"/>
          </a:xfrm>
          <a:prstGeom prst="rect">
            <a:avLst/>
          </a:prstGeom>
          <a:solidFill>
            <a:srgbClr val="F2F2F2"/>
          </a:solidFill>
        </p:spPr>
        <p:txBody>
          <a:bodyPr wrap="square" lIns="128016" tIns="128016" rIns="128016" bIns="128016" anchor="ctr"/>
          <a:lstStyle/>
          <a:p>
            <a:pPr algn="l"/>
            <a:r>
              <a:rPr sz="1800" b="0">
                <a:solidFill>
                  <a:srgbClr val="00457C"/>
                </a:solidFill>
                <a:latin typeface="Franklin Gothic Medium"/>
                <a:cs typeface="Franklin Gothic Medium"/>
              </a:rPr>
              <a:t>Median PFS 6.8 vs 4.4 months, HR 0.52 (95% CI 0.41-0.66), p&lt;0.0001</a:t>
            </a:r>
          </a:p>
        </p:txBody>
      </p:sp>
      <p:pic>
        <p:nvPicPr>
          <p:cNvPr id="4" name="Picture 3" descr="fig_p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245915"/>
            <a:ext cx="8549640" cy="2363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>
                <a:solidFill>
                  <a:srgbClr val="404040"/>
                </a:solidFill>
                <a:latin typeface="Franklin Gothic Book"/>
                <a:cs typeface="Franklin Gothic Book"/>
              </a:rPr>
              <a:t>Le et al, Lancet Oncol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lang="en-US" sz="2800" b="0" dirty="0" err="1">
                <a:solidFill>
                  <a:srgbClr val="005A8E"/>
                </a:solidFill>
                <a:latin typeface="Franklin Gothic Medium"/>
                <a:cs typeface="Franklin Gothic Medium"/>
              </a:rPr>
              <a:t>Ivonescimab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 does not improve </a:t>
            </a:r>
            <a:r>
              <a:rPr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Overall Survival</a:t>
            </a:r>
          </a:p>
          <a:p>
            <a:pPr algn="l"/>
            <a:r>
              <a:rPr sz="1800" b="0" dirty="0">
                <a:solidFill>
                  <a:srgbClr val="005A8E"/>
                </a:solidFill>
                <a:latin typeface="Franklin Gothic Book"/>
                <a:cs typeface="Franklin Gothic Book"/>
              </a:rPr>
              <a:t>Primary OS analysis, intention-to-treat (n=438)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" y="3875912"/>
            <a:ext cx="8549640" cy="560070"/>
          </a:xfrm>
          <a:prstGeom prst="rect">
            <a:avLst/>
          </a:prstGeom>
          <a:solidFill>
            <a:srgbClr val="F2F2F2"/>
          </a:solidFill>
        </p:spPr>
        <p:txBody>
          <a:bodyPr wrap="square" lIns="128016" tIns="128016" rIns="128016" bIns="128016" anchor="ctr"/>
          <a:lstStyle/>
          <a:p>
            <a:pPr algn="l"/>
            <a:r>
              <a:rPr sz="1800" b="0">
                <a:solidFill>
                  <a:srgbClr val="00457C"/>
                </a:solidFill>
                <a:latin typeface="Franklin Gothic Medium"/>
                <a:cs typeface="Franklin Gothic Medium"/>
              </a:rPr>
              <a:t>Median OS 16.8 vs 14.0 months, HR 0.79 (95% CI 0.62-1.01), p=0.057</a:t>
            </a:r>
          </a:p>
        </p:txBody>
      </p:sp>
      <p:pic>
        <p:nvPicPr>
          <p:cNvPr id="4" name="Picture 3" descr="fig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1209744"/>
            <a:ext cx="8549640" cy="2435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>
                <a:solidFill>
                  <a:srgbClr val="404040"/>
                </a:solidFill>
                <a:latin typeface="Franklin Gothic Book"/>
                <a:cs typeface="Franklin Gothic Book"/>
              </a:rPr>
              <a:t>Le et al, Lancet Oncol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56692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Chemo and combinations in </a:t>
            </a:r>
            <a:r>
              <a:rPr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EGFR-Mutant NSCLC After Osimertinib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522200"/>
              </p:ext>
            </p:extLst>
          </p:nvPr>
        </p:nvGraphicFramePr>
        <p:xfrm>
          <a:off x="257223" y="1405485"/>
          <a:ext cx="7243201" cy="2100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2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14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Trial (regimen)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Exp ORR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Exp PFS,</a:t>
                      </a:r>
                      <a:r>
                        <a:rPr lang="en-US" sz="1600" b="0" dirty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mo</a:t>
                      </a:r>
                      <a:endParaRPr sz="1600" b="0" dirty="0">
                        <a:solidFill>
                          <a:srgbClr val="FFFFFF"/>
                        </a:solidFill>
                        <a:latin typeface="Franklin Gothic Medium"/>
                        <a:cs typeface="Franklin Gothic Medium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PFS HR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MARIPOSA-2 (ami-chemo, n=394)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64%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6.3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0.48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HARMONi (ivo-chemo, n=438)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45%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6.8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0.52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COMPEL (osi-chemo, n=98)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35%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8.4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0.43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Keynote-789 (pembrolizumab, n=492)</a:t>
                      </a:r>
                      <a:endParaRPr sz="1600" b="0" dirty="0">
                        <a:solidFill>
                          <a:srgbClr val="1F1F1F"/>
                        </a:solidFill>
                        <a:latin typeface="Franklin Gothic Medium"/>
                        <a:cs typeface="Franklin Gothic Medium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29%</a:t>
                      </a:r>
                      <a:endParaRPr sz="1600" b="0" dirty="0">
                        <a:solidFill>
                          <a:srgbClr val="1F1F1F"/>
                        </a:solidFill>
                        <a:latin typeface="Franklin Gothic Book"/>
                        <a:cs typeface="Franklin Gothic Book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5.6 </a:t>
                      </a:r>
                      <a:endParaRPr sz="1600" b="0" dirty="0">
                        <a:solidFill>
                          <a:srgbClr val="1F1F1F"/>
                        </a:solidFill>
                        <a:latin typeface="Franklin Gothic Book"/>
                        <a:cs typeface="Franklin Gothic Book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0.80</a:t>
                      </a:r>
                      <a:endParaRPr sz="1600" b="0" dirty="0">
                        <a:solidFill>
                          <a:srgbClr val="1F1F1F"/>
                        </a:solidFill>
                        <a:latin typeface="Franklin Gothic Book"/>
                        <a:cs typeface="Franklin Gothic Book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97266587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>
                <a:solidFill>
                  <a:srgbClr val="404040"/>
                </a:solidFill>
                <a:latin typeface="Franklin Gothic Book"/>
                <a:cs typeface="Franklin Gothic Book"/>
              </a:rPr>
              <a:t>Fang et al, NEJM 2025; Passaro et al, Ann Oncol 2024; Goldman et al, WCLC 2025; Peled et al, ESMO Open 2025; Ahn et al, J Thorac Oncol 2025; Yu et al, JCO 2023; Hong et al, Ann Oncol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9B5E5-C0F7-EA7E-77DC-65583560195F}"/>
              </a:ext>
            </a:extLst>
          </p:cNvPr>
          <p:cNvSpPr txBox="1"/>
          <p:nvPr/>
        </p:nvSpPr>
        <p:spPr>
          <a:xfrm>
            <a:off x="7780870" y="1293725"/>
            <a:ext cx="1013507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Franklin Gothic Book" panose="020B0503020102020204" pitchFamily="34" charset="0"/>
              </a:rPr>
              <a:t>Only FDA-approved option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68FEAF3-639B-22CF-CECA-FC701C9D99A7}"/>
              </a:ext>
            </a:extLst>
          </p:cNvPr>
          <p:cNvGrpSpPr/>
          <p:nvPr/>
        </p:nvGrpSpPr>
        <p:grpSpPr>
          <a:xfrm>
            <a:off x="7539800" y="2092360"/>
            <a:ext cx="250560" cy="128520"/>
            <a:chOff x="7539800" y="2092360"/>
            <a:chExt cx="250560" cy="12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9B23710-C04F-BB56-7A77-1FD6F1FBEAB2}"/>
                    </a:ext>
                  </a:extLst>
                </p14:cNvPr>
                <p14:cNvContentPartPr/>
                <p14:nvPr/>
              </p14:nvContentPartPr>
              <p14:xfrm>
                <a:off x="7544480" y="2101360"/>
                <a:ext cx="245880" cy="86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9B23710-C04F-BB56-7A77-1FD6F1FBEAB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35840" y="2092720"/>
                  <a:ext cx="263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733CDC1-E040-1141-9864-D353DC5793F9}"/>
                    </a:ext>
                  </a:extLst>
                </p14:cNvPr>
                <p14:cNvContentPartPr/>
                <p14:nvPr/>
              </p14:nvContentPartPr>
              <p14:xfrm>
                <a:off x="7539800" y="2101360"/>
                <a:ext cx="360" cy="119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733CDC1-E040-1141-9864-D353DC5793F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31160" y="2092720"/>
                  <a:ext cx="180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3FB3103-F12B-3522-B0A9-E9961B2A8DDB}"/>
                    </a:ext>
                  </a:extLst>
                </p14:cNvPr>
                <p14:cNvContentPartPr/>
                <p14:nvPr/>
              </p14:nvContentPartPr>
              <p14:xfrm>
                <a:off x="7539800" y="2092360"/>
                <a:ext cx="126360" cy="20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3FB3103-F12B-3522-B0A9-E9961B2A8DD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31160" y="2083360"/>
                  <a:ext cx="144000" cy="38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What about </a:t>
            </a:r>
            <a:r>
              <a:rPr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ADCs</a:t>
            </a:r>
            <a:r>
              <a:rPr lang="en-US" sz="2800" b="0" dirty="0">
                <a:solidFill>
                  <a:srgbClr val="005A8E"/>
                </a:solidFill>
                <a:latin typeface="Franklin Gothic Medium"/>
                <a:cs typeface="Franklin Gothic Medium"/>
              </a:rPr>
              <a:t> in EGFR mutant NSCLC?</a:t>
            </a:r>
            <a:endParaRPr sz="2800" b="0" dirty="0">
              <a:solidFill>
                <a:srgbClr val="005A8E"/>
              </a:solidFill>
              <a:latin typeface="Franklin Gothic Medium"/>
              <a:cs typeface="Franklin Gothic Medium"/>
            </a:endParaRPr>
          </a:p>
          <a:p>
            <a:pPr algn="l"/>
            <a:r>
              <a:rPr sz="1800" b="0" dirty="0">
                <a:solidFill>
                  <a:srgbClr val="005A8E"/>
                </a:solidFill>
                <a:latin typeface="Franklin Gothic Book"/>
                <a:cs typeface="Franklin Gothic Book"/>
              </a:rPr>
              <a:t>Trop2, HER3, and EGFR x HER3 targeting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48056" y="1225296"/>
          <a:ext cx="5486399" cy="3148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Sac-TMT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Dato-DXd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HER3-DXd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Iza-bren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Target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Trop2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Trop2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HER3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EGFR x HER3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Antibody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Humanized IgG1 (hRS7)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Humanized IgG1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Fully human IgG1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Tetravalent bispecific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Linker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Pyrimidine-thiol, hydrolyzable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GGFG tetrapeptide, cleavable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GGFG tetrapeptide, cleavable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Tetrapeptide-based, cleavable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Payload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KL610023 (belotecan derivative)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DXd (exatecan derivative)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DXd (exatecan derivative)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Ed-04 (exatecan derivative)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DAR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7.4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4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~8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~8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6903720" y="2423160"/>
            <a:ext cx="0" cy="822960"/>
          </a:xfrm>
          <a:prstGeom prst="line">
            <a:avLst/>
          </a:prstGeom>
          <a:ln w="114300">
            <a:solidFill>
              <a:srgbClr val="298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6400800" y="1783080"/>
            <a:ext cx="502920" cy="640080"/>
          </a:xfrm>
          <a:prstGeom prst="line">
            <a:avLst/>
          </a:prstGeom>
          <a:ln w="114300">
            <a:solidFill>
              <a:srgbClr val="298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903720" y="1783080"/>
            <a:ext cx="502920" cy="640080"/>
          </a:xfrm>
          <a:prstGeom prst="line">
            <a:avLst/>
          </a:prstGeom>
          <a:ln w="114300">
            <a:solidFill>
              <a:srgbClr val="298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03720" y="2788920"/>
            <a:ext cx="384048" cy="0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287768" y="2706624"/>
            <a:ext cx="164592" cy="164592"/>
          </a:xfrm>
          <a:prstGeom prst="ellipse">
            <a:avLst/>
          </a:prstGeom>
          <a:solidFill>
            <a:srgbClr val="F26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H="1">
            <a:off x="6519672" y="3063240"/>
            <a:ext cx="384048" cy="0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355080" y="2980944"/>
            <a:ext cx="164592" cy="164592"/>
          </a:xfrm>
          <a:prstGeom prst="ellipse">
            <a:avLst/>
          </a:prstGeom>
          <a:solidFill>
            <a:srgbClr val="F26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 flipH="1">
            <a:off x="6300216" y="2103120"/>
            <a:ext cx="347472" cy="54864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135624" y="2075688"/>
            <a:ext cx="164592" cy="164592"/>
          </a:xfrm>
          <a:prstGeom prst="ellipse">
            <a:avLst/>
          </a:prstGeom>
          <a:solidFill>
            <a:srgbClr val="F26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7159752" y="2103120"/>
            <a:ext cx="347472" cy="54864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507224" y="2075688"/>
            <a:ext cx="164592" cy="164592"/>
          </a:xfrm>
          <a:prstGeom prst="ellipse">
            <a:avLst/>
          </a:prstGeom>
          <a:solidFill>
            <a:srgbClr val="F26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150876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2986E2"/>
                </a:solidFill>
                <a:latin typeface="Franklin Gothic Medium"/>
              </a:rPr>
              <a:t>Antibody</a:t>
            </a:r>
          </a:p>
          <a:p>
            <a:r>
              <a:rPr sz="1100">
                <a:solidFill>
                  <a:srgbClr val="1F1F1F"/>
                </a:solidFill>
                <a:latin typeface="Franklin Gothic Book"/>
              </a:rPr>
              <a:t>Binds the target antigen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33172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7F7F7F"/>
                </a:solidFill>
                <a:latin typeface="Franklin Gothic Medium"/>
              </a:rPr>
              <a:t>Linker</a:t>
            </a:r>
          </a:p>
          <a:p>
            <a:r>
              <a:rPr sz="1100">
                <a:solidFill>
                  <a:srgbClr val="1F1F1F"/>
                </a:solidFill>
                <a:latin typeface="Franklin Gothic Book"/>
              </a:rPr>
              <a:t>Controls stability and payload 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15468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>
                <a:solidFill>
                  <a:srgbClr val="F26529"/>
                </a:solidFill>
                <a:latin typeface="Franklin Gothic Medium"/>
              </a:rPr>
              <a:t>Payload</a:t>
            </a:r>
          </a:p>
          <a:p>
            <a:r>
              <a:rPr sz="1100">
                <a:solidFill>
                  <a:srgbClr val="1F1F1F"/>
                </a:solidFill>
                <a:latin typeface="Franklin Gothic Book"/>
              </a:rPr>
              <a:t>Topo I inhibitor, crosses membranes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315200" y="1645920"/>
            <a:ext cx="365760" cy="228599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132320" y="2487168"/>
            <a:ext cx="548640" cy="301752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70648" y="2788920"/>
            <a:ext cx="210312" cy="521208"/>
          </a:xfrm>
          <a:prstGeom prst="line">
            <a:avLst/>
          </a:prstGeom>
          <a:ln w="9525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7220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5A8E"/>
                </a:solidFill>
                <a:latin typeface="Franklin Gothic Book"/>
              </a:rPr>
              <a:t>DAR = payload molecules per antibody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9604"/>
            <a:ext cx="9144000" cy="524513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005A8E"/>
                </a:solidFill>
                <a:latin typeface="Franklin Gothic Medium" panose="020B0603020102020204" pitchFamily="34" charset="0"/>
              </a:rPr>
              <a:t>Datopotamab Deruxtecan in EGFR-Mutant NSCLC</a:t>
            </a:r>
            <a:br>
              <a:rPr lang="en-US">
                <a:solidFill>
                  <a:srgbClr val="005A8E"/>
                </a:solidFill>
                <a:latin typeface="Franklin Gothic Medium" panose="020B0603020102020204" pitchFamily="34" charset="0"/>
              </a:rPr>
            </a:br>
            <a:r>
              <a:rPr lang="en-US" sz="2700" b="0">
                <a:solidFill>
                  <a:srgbClr val="005A8E"/>
                </a:solidFill>
              </a:rPr>
              <a:t>Pooled Cohort Supporting FDA Approval</a:t>
            </a:r>
            <a:endParaRPr lang="en-US" b="0">
              <a:solidFill>
                <a:srgbClr val="005A8E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01" name="Box 101"/>
          <p:cNvSpPr/>
          <p:nvPr/>
        </p:nvSpPr>
        <p:spPr>
          <a:xfrm>
            <a:off x="377190" y="1110996"/>
            <a:ext cx="2880360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350">
                <a:solidFill>
                  <a:srgbClr val="00457C"/>
                </a:solidFill>
                <a:latin typeface="Franklin Gothic Medium" panose="020B0603020102020204" pitchFamily="34" charset="0"/>
              </a:rPr>
              <a:t>TROPION-Lung05</a:t>
            </a:r>
          </a:p>
          <a:p>
            <a:pPr algn="ctr"/>
            <a:r>
              <a:rPr lang="en-US" sz="1050">
                <a:solidFill>
                  <a:srgbClr val="00457C"/>
                </a:solidFill>
                <a:latin typeface="Franklin Gothic Medium" panose="020B0603020102020204" pitchFamily="34" charset="0"/>
              </a:rPr>
              <a:t>Phase II, single arm</a:t>
            </a:r>
          </a:p>
          <a:p>
            <a:pPr algn="ctr"/>
            <a:r>
              <a:rPr lang="en-US" sz="1050">
                <a:solidFill>
                  <a:srgbClr val="00457C"/>
                </a:solidFill>
                <a:latin typeface="Franklin Gothic Medium" panose="020B0603020102020204" pitchFamily="34" charset="0"/>
              </a:rPr>
              <a:t>Actionable genomic alterations</a:t>
            </a:r>
          </a:p>
          <a:p>
            <a:pPr algn="ctr"/>
            <a:r>
              <a:rPr lang="en-US" sz="1050">
                <a:solidFill>
                  <a:srgbClr val="00457C"/>
                </a:solidFill>
                <a:latin typeface="Franklin Gothic Medium" panose="020B0603020102020204" pitchFamily="34" charset="0"/>
              </a:rPr>
              <a:t>Dato-DXd (n=137)</a:t>
            </a:r>
          </a:p>
        </p:txBody>
      </p:sp>
      <p:sp>
        <p:nvSpPr>
          <p:cNvPr id="102" name="Box 102"/>
          <p:cNvSpPr/>
          <p:nvPr/>
        </p:nvSpPr>
        <p:spPr>
          <a:xfrm>
            <a:off x="377190" y="2071116"/>
            <a:ext cx="2880360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350">
                <a:solidFill>
                  <a:srgbClr val="00457C"/>
                </a:solidFill>
                <a:latin typeface="Franklin Gothic Medium" panose="020B0603020102020204" pitchFamily="34" charset="0"/>
              </a:rPr>
              <a:t>TROPION-Lung01</a:t>
            </a:r>
          </a:p>
          <a:p>
            <a:pPr algn="ctr"/>
            <a:r>
              <a:rPr lang="en-US" sz="1050">
                <a:solidFill>
                  <a:srgbClr val="00457C"/>
                </a:solidFill>
                <a:latin typeface="Franklin Gothic Medium" panose="020B0603020102020204" pitchFamily="34" charset="0"/>
              </a:rPr>
              <a:t>Phase III, Dato-DXd vs docetaxel</a:t>
            </a:r>
          </a:p>
          <a:p>
            <a:pPr algn="ctr"/>
            <a:r>
              <a:rPr lang="en-US" sz="1050">
                <a:solidFill>
                  <a:srgbClr val="00457C"/>
                </a:solidFill>
                <a:latin typeface="Franklin Gothic Medium" panose="020B0603020102020204" pitchFamily="34" charset="0"/>
              </a:rPr>
              <a:t>With or without genomic alterations</a:t>
            </a:r>
          </a:p>
          <a:p>
            <a:pPr algn="ctr"/>
            <a:r>
              <a:rPr lang="en-US" sz="1050">
                <a:solidFill>
                  <a:srgbClr val="00457C"/>
                </a:solidFill>
                <a:latin typeface="Franklin Gothic Medium" panose="020B0603020102020204" pitchFamily="34" charset="0"/>
              </a:rPr>
              <a:t>Dato-DXd arm (n=297)</a:t>
            </a:r>
          </a:p>
        </p:txBody>
      </p:sp>
      <p:cxnSp>
        <p:nvCxnSpPr>
          <p:cNvPr id="103" name="Connector 103"/>
          <p:cNvCxnSpPr/>
          <p:nvPr/>
        </p:nvCxnSpPr>
        <p:spPr>
          <a:xfrm>
            <a:off x="3257550" y="1522476"/>
            <a:ext cx="4114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</p:cxnSp>
      <p:cxnSp>
        <p:nvCxnSpPr>
          <p:cNvPr id="104" name="Connector 104"/>
          <p:cNvCxnSpPr/>
          <p:nvPr/>
        </p:nvCxnSpPr>
        <p:spPr>
          <a:xfrm>
            <a:off x="3257550" y="2482596"/>
            <a:ext cx="4114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</p:cxnSp>
      <p:sp>
        <p:nvSpPr>
          <p:cNvPr id="105" name="Box 105"/>
          <p:cNvSpPr/>
          <p:nvPr/>
        </p:nvSpPr>
        <p:spPr>
          <a:xfrm>
            <a:off x="3669030" y="1110996"/>
            <a:ext cx="2263140" cy="8229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  <a:miter lim="800000"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125">
                <a:solidFill>
                  <a:srgbClr val="00457C"/>
                </a:solidFill>
                <a:latin typeface="Franklin Gothic Medium" panose="020B0603020102020204" pitchFamily="34" charset="0"/>
              </a:rPr>
              <a:t>EGFR mutant</a:t>
            </a:r>
          </a:p>
          <a:p>
            <a:pPr algn="ctr"/>
            <a:r>
              <a:rPr lang="en-US" sz="1125">
                <a:solidFill>
                  <a:srgbClr val="00457C"/>
                </a:solidFill>
                <a:latin typeface="Franklin Gothic Medium" panose="020B0603020102020204" pitchFamily="34" charset="0"/>
              </a:rPr>
              <a:t>Prior EGFR TKI + platinum</a:t>
            </a:r>
          </a:p>
          <a:p>
            <a:pPr algn="ctr"/>
            <a:r>
              <a:rPr lang="en-US" sz="1125">
                <a:solidFill>
                  <a:srgbClr val="00457C"/>
                </a:solidFill>
                <a:latin typeface="Franklin Gothic Medium" panose="020B0603020102020204" pitchFamily="34" charset="0"/>
              </a:rPr>
              <a:t>(n=77)</a:t>
            </a:r>
          </a:p>
        </p:txBody>
      </p:sp>
      <p:sp>
        <p:nvSpPr>
          <p:cNvPr id="106" name="Box 106"/>
          <p:cNvSpPr/>
          <p:nvPr/>
        </p:nvSpPr>
        <p:spPr>
          <a:xfrm>
            <a:off x="3669030" y="2071116"/>
            <a:ext cx="2263140" cy="8229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  <a:miter lim="800000"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125">
                <a:solidFill>
                  <a:srgbClr val="00457C"/>
                </a:solidFill>
                <a:latin typeface="Franklin Gothic Medium" panose="020B0603020102020204" pitchFamily="34" charset="0"/>
              </a:rPr>
              <a:t>EGFR mutant</a:t>
            </a:r>
          </a:p>
          <a:p>
            <a:pPr algn="ctr"/>
            <a:r>
              <a:rPr lang="en-US" sz="1125">
                <a:solidFill>
                  <a:srgbClr val="00457C"/>
                </a:solidFill>
                <a:latin typeface="Franklin Gothic Medium" panose="020B0603020102020204" pitchFamily="34" charset="0"/>
              </a:rPr>
              <a:t>Prior EGFR TKI + platinum</a:t>
            </a:r>
          </a:p>
          <a:p>
            <a:pPr algn="ctr"/>
            <a:r>
              <a:rPr lang="en-US" sz="1125">
                <a:solidFill>
                  <a:srgbClr val="00457C"/>
                </a:solidFill>
                <a:latin typeface="Franklin Gothic Medium" panose="020B0603020102020204" pitchFamily="34" charset="0"/>
              </a:rPr>
              <a:t>(n=37)</a:t>
            </a:r>
          </a:p>
        </p:txBody>
      </p:sp>
      <p:cxnSp>
        <p:nvCxnSpPr>
          <p:cNvPr id="107" name="Connector 107"/>
          <p:cNvCxnSpPr/>
          <p:nvPr/>
        </p:nvCxnSpPr>
        <p:spPr>
          <a:xfrm>
            <a:off x="5932170" y="1522476"/>
            <a:ext cx="308610" cy="0"/>
          </a:xfrm>
          <a:prstGeom prst="straightConnector1">
            <a:avLst/>
          </a:prstGeom>
          <a:ln w="19050">
            <a:solidFill>
              <a:schemeClr val="tx1"/>
            </a:solidFill>
          </a:ln>
        </p:spPr>
      </p:cxnSp>
      <p:cxnSp>
        <p:nvCxnSpPr>
          <p:cNvPr id="108" name="Connector 108"/>
          <p:cNvCxnSpPr/>
          <p:nvPr/>
        </p:nvCxnSpPr>
        <p:spPr>
          <a:xfrm>
            <a:off x="5932170" y="2482596"/>
            <a:ext cx="308610" cy="0"/>
          </a:xfrm>
          <a:prstGeom prst="straightConnector1">
            <a:avLst/>
          </a:prstGeom>
          <a:ln w="19050">
            <a:solidFill>
              <a:schemeClr val="tx1"/>
            </a:solidFill>
          </a:ln>
        </p:spPr>
      </p:cxnSp>
      <p:cxnSp>
        <p:nvCxnSpPr>
          <p:cNvPr id="109" name="Connector 109"/>
          <p:cNvCxnSpPr/>
          <p:nvPr/>
        </p:nvCxnSpPr>
        <p:spPr>
          <a:xfrm>
            <a:off x="6240780" y="1522476"/>
            <a:ext cx="0" cy="960120"/>
          </a:xfrm>
          <a:prstGeom prst="straightConnector1">
            <a:avLst/>
          </a:prstGeom>
          <a:ln w="19050">
            <a:solidFill>
              <a:schemeClr val="tx1"/>
            </a:solidFill>
          </a:ln>
        </p:spPr>
      </p:cxnSp>
      <p:cxnSp>
        <p:nvCxnSpPr>
          <p:cNvPr id="110" name="Connector 110"/>
          <p:cNvCxnSpPr/>
          <p:nvPr/>
        </p:nvCxnSpPr>
        <p:spPr>
          <a:xfrm>
            <a:off x="6240780" y="2002536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</p:cxnSp>
      <p:sp>
        <p:nvSpPr>
          <p:cNvPr id="111" name="Box 111"/>
          <p:cNvSpPr/>
          <p:nvPr/>
        </p:nvSpPr>
        <p:spPr>
          <a:xfrm>
            <a:off x="6583680" y="1577340"/>
            <a:ext cx="2194560" cy="850392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500">
                <a:solidFill>
                  <a:prstClr val="white"/>
                </a:solidFill>
                <a:latin typeface="Franklin Gothic Medium" panose="020B0603020102020204" pitchFamily="34" charset="0"/>
              </a:rPr>
              <a:t>Pooled cohort</a:t>
            </a:r>
          </a:p>
          <a:p>
            <a:pPr algn="ctr"/>
            <a:r>
              <a:rPr lang="en-US" sz="1200">
                <a:solidFill>
                  <a:prstClr val="white"/>
                </a:solidFill>
                <a:latin typeface="Franklin Gothic Medium" panose="020B0603020102020204" pitchFamily="34" charset="0"/>
              </a:rPr>
              <a:t>Dato-DXd 6 mg/kg q3w</a:t>
            </a:r>
          </a:p>
          <a:p>
            <a:pPr algn="ctr"/>
            <a:r>
              <a:rPr lang="en-US" sz="1500">
                <a:solidFill>
                  <a:prstClr val="white"/>
                </a:solidFill>
                <a:latin typeface="Franklin Gothic Medium" panose="020B0603020102020204" pitchFamily="34" charset="0"/>
              </a:rPr>
              <a:t>(n=114)</a:t>
            </a:r>
          </a:p>
        </p:txBody>
      </p:sp>
      <p:sp>
        <p:nvSpPr>
          <p:cNvPr id="112" name="Box 112"/>
          <p:cNvSpPr/>
          <p:nvPr/>
        </p:nvSpPr>
        <p:spPr>
          <a:xfrm>
            <a:off x="377190" y="3003804"/>
            <a:ext cx="8401050" cy="3566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endParaRPr sz="1350"/>
          </a:p>
        </p:txBody>
      </p:sp>
      <p:sp>
        <p:nvSpPr>
          <p:cNvPr id="114" name="Box 114"/>
          <p:cNvSpPr/>
          <p:nvPr/>
        </p:nvSpPr>
        <p:spPr>
          <a:xfrm>
            <a:off x="377190" y="3003804"/>
            <a:ext cx="2468880" cy="356616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l"/>
            <a:endParaRPr sz="1350"/>
          </a:p>
        </p:txBody>
      </p:sp>
      <p:sp>
        <p:nvSpPr>
          <p:cNvPr id="115" name="Box 115"/>
          <p:cNvSpPr/>
          <p:nvPr/>
        </p:nvSpPr>
        <p:spPr>
          <a:xfrm>
            <a:off x="2846070" y="3003804"/>
            <a:ext cx="1977390" cy="356616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050">
                <a:solidFill>
                  <a:prstClr val="white"/>
                </a:solidFill>
                <a:latin typeface="Franklin Gothic Medium" panose="020B0603020102020204" pitchFamily="34" charset="0"/>
              </a:rPr>
              <a:t>TROPION-Lung05</a:t>
            </a:r>
          </a:p>
          <a:p>
            <a:pPr algn="ctr"/>
            <a:r>
              <a:rPr lang="en-US" sz="1050">
                <a:solidFill>
                  <a:prstClr val="white"/>
                </a:solidFill>
                <a:latin typeface="Franklin Gothic Medium" panose="020B0603020102020204" pitchFamily="34" charset="0"/>
              </a:rPr>
              <a:t>(n=77)</a:t>
            </a:r>
          </a:p>
        </p:txBody>
      </p:sp>
      <p:sp>
        <p:nvSpPr>
          <p:cNvPr id="116" name="Box 116"/>
          <p:cNvSpPr/>
          <p:nvPr/>
        </p:nvSpPr>
        <p:spPr>
          <a:xfrm>
            <a:off x="4823460" y="3003804"/>
            <a:ext cx="1977390" cy="356616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050">
                <a:solidFill>
                  <a:prstClr val="white"/>
                </a:solidFill>
                <a:latin typeface="Franklin Gothic Medium" panose="020B0603020102020204" pitchFamily="34" charset="0"/>
              </a:rPr>
              <a:t>TROPION-Lung01</a:t>
            </a:r>
          </a:p>
          <a:p>
            <a:pPr algn="ctr"/>
            <a:r>
              <a:rPr lang="en-US" sz="1050">
                <a:solidFill>
                  <a:prstClr val="white"/>
                </a:solidFill>
                <a:latin typeface="Franklin Gothic Medium" panose="020B0603020102020204" pitchFamily="34" charset="0"/>
              </a:rPr>
              <a:t>(n=37)</a:t>
            </a:r>
          </a:p>
        </p:txBody>
      </p:sp>
      <p:sp>
        <p:nvSpPr>
          <p:cNvPr id="117" name="Box 117"/>
          <p:cNvSpPr/>
          <p:nvPr/>
        </p:nvSpPr>
        <p:spPr>
          <a:xfrm>
            <a:off x="6800850" y="3003804"/>
            <a:ext cx="1977390" cy="356616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050">
                <a:solidFill>
                  <a:prstClr val="white"/>
                </a:solidFill>
                <a:latin typeface="Franklin Gothic Medium" panose="020B0603020102020204" pitchFamily="34" charset="0"/>
              </a:rPr>
              <a:t>Pooled</a:t>
            </a:r>
          </a:p>
          <a:p>
            <a:pPr algn="ctr"/>
            <a:r>
              <a:rPr lang="en-US" sz="1050">
                <a:solidFill>
                  <a:prstClr val="white"/>
                </a:solidFill>
                <a:latin typeface="Franklin Gothic Medium" panose="020B0603020102020204" pitchFamily="34" charset="0"/>
              </a:rPr>
              <a:t>(n=114)</a:t>
            </a:r>
          </a:p>
        </p:txBody>
      </p:sp>
      <p:sp>
        <p:nvSpPr>
          <p:cNvPr id="118" name="Box 118"/>
          <p:cNvSpPr/>
          <p:nvPr/>
        </p:nvSpPr>
        <p:spPr>
          <a:xfrm>
            <a:off x="377190" y="3360420"/>
            <a:ext cx="2468880" cy="195453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l"/>
            <a:r>
              <a:rPr lang="en-US" sz="1125">
                <a:solidFill>
                  <a:srgbClr val="00457C"/>
                </a:solidFill>
                <a:latin typeface="Franklin Gothic Medium" panose="020B0603020102020204" pitchFamily="34" charset="0"/>
              </a:rPr>
              <a:t>ORR (95% CI)</a:t>
            </a:r>
          </a:p>
        </p:txBody>
      </p:sp>
      <p:sp>
        <p:nvSpPr>
          <p:cNvPr id="119" name="Box 119"/>
          <p:cNvSpPr/>
          <p:nvPr/>
        </p:nvSpPr>
        <p:spPr>
          <a:xfrm>
            <a:off x="2846070" y="3360420"/>
            <a:ext cx="1977390" cy="195453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125">
                <a:solidFill>
                  <a:srgbClr val="00457C"/>
                </a:solidFill>
                <a:latin typeface="Franklin Gothic Medium" panose="020B0603020102020204" pitchFamily="34" charset="0"/>
              </a:rPr>
              <a:t>45% (34, 57)</a:t>
            </a:r>
          </a:p>
        </p:txBody>
      </p:sp>
      <p:sp>
        <p:nvSpPr>
          <p:cNvPr id="120" name="Box 120"/>
          <p:cNvSpPr/>
          <p:nvPr/>
        </p:nvSpPr>
        <p:spPr>
          <a:xfrm>
            <a:off x="4823460" y="3360420"/>
            <a:ext cx="1977390" cy="195453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125">
                <a:solidFill>
                  <a:srgbClr val="00457C"/>
                </a:solidFill>
                <a:latin typeface="Franklin Gothic Medium" panose="020B0603020102020204" pitchFamily="34" charset="0"/>
              </a:rPr>
              <a:t>43% (27, 61)</a:t>
            </a:r>
          </a:p>
        </p:txBody>
      </p:sp>
      <p:sp>
        <p:nvSpPr>
          <p:cNvPr id="121" name="Box 121"/>
          <p:cNvSpPr/>
          <p:nvPr/>
        </p:nvSpPr>
        <p:spPr>
          <a:xfrm>
            <a:off x="6800850" y="3360420"/>
            <a:ext cx="1977390" cy="195453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125">
                <a:solidFill>
                  <a:srgbClr val="00457C"/>
                </a:solidFill>
                <a:latin typeface="Franklin Gothic Medium" panose="020B0603020102020204" pitchFamily="34" charset="0"/>
              </a:rPr>
              <a:t>45% (35, 54)</a:t>
            </a:r>
          </a:p>
        </p:txBody>
      </p:sp>
      <p:cxnSp>
        <p:nvCxnSpPr>
          <p:cNvPr id="122" name="Rule 122"/>
          <p:cNvCxnSpPr/>
          <p:nvPr/>
        </p:nvCxnSpPr>
        <p:spPr>
          <a:xfrm>
            <a:off x="377190" y="3555873"/>
            <a:ext cx="8401050" cy="0"/>
          </a:xfrm>
          <a:prstGeom prst="line">
            <a:avLst/>
          </a:prstGeom>
          <a:ln w="6350">
            <a:solidFill>
              <a:schemeClr val="accent1"/>
            </a:solidFill>
          </a:ln>
        </p:spPr>
      </p:cxnSp>
      <p:cxnSp>
        <p:nvCxnSpPr>
          <p:cNvPr id="132" name="Rule 132"/>
          <p:cNvCxnSpPr/>
          <p:nvPr/>
        </p:nvCxnSpPr>
        <p:spPr>
          <a:xfrm>
            <a:off x="377190" y="3556129"/>
            <a:ext cx="8401050" cy="0"/>
          </a:xfrm>
          <a:prstGeom prst="line">
            <a:avLst/>
          </a:prstGeom>
          <a:ln w="6350">
            <a:solidFill>
              <a:schemeClr val="accent1"/>
            </a:solidFill>
          </a:ln>
        </p:spPr>
      </p:cxnSp>
      <p:sp>
        <p:nvSpPr>
          <p:cNvPr id="133" name="Box 133"/>
          <p:cNvSpPr/>
          <p:nvPr/>
        </p:nvSpPr>
        <p:spPr>
          <a:xfrm>
            <a:off x="377190" y="3556129"/>
            <a:ext cx="2468880" cy="195453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l"/>
            <a:r>
              <a:rPr lang="en-US" sz="1125">
                <a:solidFill>
                  <a:srgbClr val="00457C"/>
                </a:solidFill>
                <a:latin typeface="Franklin Gothic Medium" panose="020B0603020102020204" pitchFamily="34" charset="0"/>
              </a:rPr>
              <a:t>Median DOR, months (95% CI)</a:t>
            </a:r>
          </a:p>
        </p:txBody>
      </p:sp>
      <p:sp>
        <p:nvSpPr>
          <p:cNvPr id="134" name="Box 134"/>
          <p:cNvSpPr/>
          <p:nvPr/>
        </p:nvSpPr>
        <p:spPr>
          <a:xfrm>
            <a:off x="2846070" y="3556129"/>
            <a:ext cx="1977390" cy="195453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125">
                <a:solidFill>
                  <a:srgbClr val="00457C"/>
                </a:solidFill>
                <a:latin typeface="Franklin Gothic Medium" panose="020B0603020102020204" pitchFamily="34" charset="0"/>
              </a:rPr>
              <a:t>6.9 (4.2, 10.2)</a:t>
            </a:r>
          </a:p>
        </p:txBody>
      </p:sp>
      <p:sp>
        <p:nvSpPr>
          <p:cNvPr id="135" name="Box 135"/>
          <p:cNvSpPr/>
          <p:nvPr/>
        </p:nvSpPr>
        <p:spPr>
          <a:xfrm>
            <a:off x="4823460" y="3556129"/>
            <a:ext cx="1977390" cy="195453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125">
                <a:solidFill>
                  <a:srgbClr val="00457C"/>
                </a:solidFill>
                <a:latin typeface="Franklin Gothic Medium" panose="020B0603020102020204" pitchFamily="34" charset="0"/>
              </a:rPr>
              <a:t>6.5 (4.0, 8.4)</a:t>
            </a:r>
          </a:p>
        </p:txBody>
      </p:sp>
      <p:sp>
        <p:nvSpPr>
          <p:cNvPr id="136" name="Box 136"/>
          <p:cNvSpPr/>
          <p:nvPr/>
        </p:nvSpPr>
        <p:spPr>
          <a:xfrm>
            <a:off x="6800850" y="3556129"/>
            <a:ext cx="1977390" cy="195453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125">
                <a:solidFill>
                  <a:srgbClr val="00457C"/>
                </a:solidFill>
                <a:latin typeface="Franklin Gothic Medium" panose="020B0603020102020204" pitchFamily="34" charset="0"/>
              </a:rPr>
              <a:t>6.5 (4.2, 8.4)</a:t>
            </a:r>
          </a:p>
        </p:txBody>
      </p:sp>
      <p:cxnSp>
        <p:nvCxnSpPr>
          <p:cNvPr id="137" name="Rule 137"/>
          <p:cNvCxnSpPr/>
          <p:nvPr/>
        </p:nvCxnSpPr>
        <p:spPr>
          <a:xfrm>
            <a:off x="377190" y="3751582"/>
            <a:ext cx="8401050" cy="0"/>
          </a:xfrm>
          <a:prstGeom prst="line">
            <a:avLst/>
          </a:prstGeom>
          <a:ln w="6350">
            <a:solidFill>
              <a:schemeClr val="accent1"/>
            </a:solidFill>
          </a:ln>
        </p:spPr>
      </p:cxnSp>
      <p:sp>
        <p:nvSpPr>
          <p:cNvPr id="148" name="Box 148"/>
          <p:cNvSpPr/>
          <p:nvPr/>
        </p:nvSpPr>
        <p:spPr>
          <a:xfrm>
            <a:off x="377190" y="4155948"/>
            <a:ext cx="4800600" cy="308610"/>
          </a:xfrm>
          <a:prstGeom prst="rect">
            <a:avLst/>
          </a:prstGeom>
          <a:noFill/>
          <a:ln>
            <a:noFill/>
          </a:ln>
        </p:spPr>
        <p:txBody>
          <a:bodyPr lIns="0" tIns="34290" rIns="0" bIns="34290" rtlCol="0" anchor="b">
            <a:noAutofit/>
          </a:bodyPr>
          <a:lstStyle/>
          <a:p>
            <a:pPr algn="l"/>
            <a:r>
              <a:rPr lang="en-US" sz="900">
                <a:solidFill>
                  <a:srgbClr val="00457C"/>
                </a:solidFill>
                <a:latin typeface="Franklin Gothic Medium" panose="020B0603020102020204" pitchFamily="34" charset="0"/>
              </a:rPr>
              <a:t>ORR and DOR by blinded independent central review per RECIST v1.1.</a:t>
            </a:r>
          </a:p>
          <a:p>
            <a:pPr algn="l"/>
            <a:r>
              <a:rPr lang="en-US" sz="900">
                <a:solidFill>
                  <a:srgbClr val="00457C"/>
                </a:solidFill>
                <a:latin typeface="Franklin Gothic Medium" panose="020B0603020102020204" pitchFamily="34" charset="0"/>
              </a:rPr>
              <a:t>Investigator-assessed ORR in TROPION-Lung05 was 34% (95% CI 23, 45).</a:t>
            </a:r>
          </a:p>
        </p:txBody>
      </p:sp>
      <p:sp>
        <p:nvSpPr>
          <p:cNvPr id="149" name="Citation 149"/>
          <p:cNvSpPr txBox="1"/>
          <p:nvPr/>
        </p:nvSpPr>
        <p:spPr>
          <a:xfrm>
            <a:off x="5006340" y="4649724"/>
            <a:ext cx="3840480" cy="342900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1500">
                <a:solidFill>
                  <a:srgbClr val="00457C"/>
                </a:solidFill>
                <a:latin typeface="Franklin Gothic Medium" panose="020B0603020102020204" pitchFamily="34" charset="0"/>
              </a:rPr>
              <a:t>Dato-DXD USPI, June 2025</a:t>
            </a:r>
          </a:p>
        </p:txBody>
      </p:sp>
    </p:spTree>
    <p:extLst>
      <p:ext uri="{BB962C8B-B14F-4D97-AF65-F5344CB8AC3E}">
        <p14:creationId xmlns:p14="http://schemas.microsoft.com/office/powerpoint/2010/main" val="952848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700">
                <a:solidFill>
                  <a:srgbClr val="005A8E"/>
                </a:solidFill>
              </a:rPr>
              <a:t>Sacituzumab Tirumotecan vs Chemotherapy</a:t>
            </a:r>
          </a:p>
          <a:p>
            <a:r>
              <a:rPr lang="en-US" sz="1800" b="0">
                <a:solidFill>
                  <a:srgbClr val="005A8E"/>
                </a:solidFill>
                <a:latin typeface="Franklin Gothic Book" panose="020B0503020102020204" pitchFamily="34" charset="0"/>
              </a:rPr>
              <a:t>Randomized Trial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17220" y="1371600"/>
            <a:ext cx="3086100" cy="1988820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Advanced nonsquamous NSCLC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EGFR mutation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Progression on EGFR TKI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T790M negative if no prior 3rd generation TKI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Performance status 0 / 1</a:t>
            </a:r>
          </a:p>
        </p:txBody>
      </p:sp>
      <p:cxnSp>
        <p:nvCxnSpPr>
          <p:cNvPr id="102" name="Connector 102"/>
          <p:cNvCxnSpPr/>
          <p:nvPr/>
        </p:nvCxnSpPr>
        <p:spPr>
          <a:xfrm>
            <a:off x="3703320" y="2366010"/>
            <a:ext cx="5829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</p:cxnSp>
      <p:cxnSp>
        <p:nvCxnSpPr>
          <p:cNvPr id="103" name="Connector 103"/>
          <p:cNvCxnSpPr/>
          <p:nvPr/>
        </p:nvCxnSpPr>
        <p:spPr>
          <a:xfrm>
            <a:off x="4286250" y="1834515"/>
            <a:ext cx="0" cy="1062990"/>
          </a:xfrm>
          <a:prstGeom prst="straightConnector1">
            <a:avLst/>
          </a:prstGeom>
          <a:ln w="19050">
            <a:solidFill>
              <a:schemeClr val="tx1"/>
            </a:solidFill>
          </a:ln>
        </p:spPr>
      </p:cxnSp>
      <p:cxnSp>
        <p:nvCxnSpPr>
          <p:cNvPr id="104" name="Connector 104"/>
          <p:cNvCxnSpPr/>
          <p:nvPr/>
        </p:nvCxnSpPr>
        <p:spPr>
          <a:xfrm>
            <a:off x="4286250" y="183451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</p:cxnSp>
      <p:sp>
        <p:nvSpPr>
          <p:cNvPr id="105" name="Arm 105"/>
          <p:cNvSpPr/>
          <p:nvPr/>
        </p:nvSpPr>
        <p:spPr>
          <a:xfrm>
            <a:off x="4629150" y="1405890"/>
            <a:ext cx="315468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  <a:miter lim="800000"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>
                <a:solidFill>
                  <a:srgbClr val="00457C"/>
                </a:solidFill>
                <a:latin typeface="Franklin Gothic Medium" panose="020B0603020102020204" pitchFamily="34" charset="0"/>
              </a:rPr>
              <a:t>Sacituzumab tirumotecan</a:t>
            </a:r>
          </a:p>
          <a:p>
            <a:pPr algn="ctr"/>
            <a:r>
              <a:rPr lang="en-US">
                <a:solidFill>
                  <a:srgbClr val="00457C"/>
                </a:solidFill>
                <a:latin typeface="Franklin Gothic Medium" panose="020B0603020102020204" pitchFamily="34" charset="0"/>
              </a:rPr>
              <a:t>(n=188)</a:t>
            </a:r>
          </a:p>
        </p:txBody>
      </p:sp>
      <p:cxnSp>
        <p:nvCxnSpPr>
          <p:cNvPr id="106" name="Connector 106"/>
          <p:cNvCxnSpPr/>
          <p:nvPr/>
        </p:nvCxnSpPr>
        <p:spPr>
          <a:xfrm>
            <a:off x="4286250" y="289750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</p:cxnSp>
      <p:sp>
        <p:nvSpPr>
          <p:cNvPr id="107" name="Arm 107"/>
          <p:cNvSpPr/>
          <p:nvPr/>
        </p:nvSpPr>
        <p:spPr>
          <a:xfrm>
            <a:off x="4629150" y="2468880"/>
            <a:ext cx="3154680" cy="85725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>
                <a:solidFill>
                  <a:prstClr val="white"/>
                </a:solidFill>
                <a:latin typeface="Franklin Gothic Medium" panose="020B0603020102020204" pitchFamily="34" charset="0"/>
              </a:rPr>
              <a:t>Pemetrexed + Carboplatin or Cisplatin</a:t>
            </a:r>
          </a:p>
          <a:p>
            <a:pPr algn="ctr"/>
            <a:r>
              <a:rPr lang="en-US">
                <a:solidFill>
                  <a:prstClr val="white"/>
                </a:solidFill>
                <a:latin typeface="Franklin Gothic Medium" panose="020B0603020102020204" pitchFamily="34" charset="0"/>
              </a:rPr>
              <a:t>(n=188)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308610" y="3669031"/>
            <a:ext cx="8503920" cy="884070"/>
          </a:xfrm>
          <a:prstGeom prst="rect">
            <a:avLst/>
          </a:prstGeom>
          <a:noFill/>
        </p:spPr>
        <p:txBody>
          <a:bodyPr wrap="square" lIns="72000" tIns="72000" rIns="72000" bIns="72000" rtlCol="0" anchor="t">
            <a:spAutoFit/>
          </a:bodyPr>
          <a:lstStyle/>
          <a:p>
            <a:pPr marL="171446" indent="-171446"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Primary endpoint: PFS by blinded independent review</a:t>
            </a:r>
          </a:p>
          <a:p>
            <a:pPr marL="171446" indent="-171446"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Secondary endpoints: overall survival, investigator-assessed PFS, response rate, disease control rate, duration of response, safety</a:t>
            </a:r>
          </a:p>
        </p:txBody>
      </p:sp>
      <p:sp>
        <p:nvSpPr>
          <p:cNvPr id="109" name="Citation 109"/>
          <p:cNvSpPr txBox="1"/>
          <p:nvPr/>
        </p:nvSpPr>
        <p:spPr>
          <a:xfrm>
            <a:off x="5006340" y="4649724"/>
            <a:ext cx="3840480" cy="342900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1500">
                <a:solidFill>
                  <a:srgbClr val="00457C"/>
                </a:solidFill>
                <a:latin typeface="Franklin Gothic Medium" panose="020B0603020102020204" pitchFamily="34" charset="0"/>
              </a:rPr>
              <a:t>Fang et al, NEJM 2026</a:t>
            </a:r>
          </a:p>
        </p:txBody>
      </p:sp>
    </p:spTree>
    <p:extLst>
      <p:ext uri="{BB962C8B-B14F-4D97-AF65-F5344CB8AC3E}">
        <p14:creationId xmlns:p14="http://schemas.microsoft.com/office/powerpoint/2010/main" val="2658240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sz="2800" b="0">
                <a:solidFill>
                  <a:srgbClr val="005A8E"/>
                </a:solidFill>
                <a:latin typeface="Franklin Gothic Medium"/>
                <a:cs typeface="Franklin Gothic Medium"/>
              </a:rPr>
              <a:t>Sac-TMT Improves Progression-free Survival</a:t>
            </a:r>
          </a:p>
          <a:p>
            <a:pPr algn="l"/>
            <a:r>
              <a:rPr sz="1800" b="0">
                <a:solidFill>
                  <a:srgbClr val="005A8E"/>
                </a:solidFill>
                <a:latin typeface="Franklin Gothic Book"/>
                <a:cs typeface="Franklin Gothic Book"/>
              </a:rPr>
              <a:t>OptiTROP-Lung04, final analysis by BICR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" y="3875912"/>
            <a:ext cx="8549640" cy="560070"/>
          </a:xfrm>
          <a:prstGeom prst="rect">
            <a:avLst/>
          </a:prstGeom>
          <a:solidFill>
            <a:srgbClr val="F2F2F2"/>
          </a:solidFill>
        </p:spPr>
        <p:txBody>
          <a:bodyPr wrap="square" lIns="128016" tIns="128016" rIns="128016" bIns="128016" anchor="ctr"/>
          <a:lstStyle/>
          <a:p>
            <a:pPr algn="l"/>
            <a:r>
              <a:rPr sz="1800" b="0">
                <a:solidFill>
                  <a:srgbClr val="00457C"/>
                </a:solidFill>
                <a:latin typeface="Franklin Gothic Medium"/>
                <a:cs typeface="Franklin Gothic Medium"/>
              </a:rPr>
              <a:t>HR 0.49 (95% CI, 0.39-0.62), median PFS 8.3 vs 4.3 months</a:t>
            </a:r>
          </a:p>
        </p:txBody>
      </p:sp>
      <p:pic>
        <p:nvPicPr>
          <p:cNvPr id="4" name="Picture 3" descr="p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547" y="1088136"/>
            <a:ext cx="6277776" cy="26791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>
                <a:solidFill>
                  <a:srgbClr val="404040"/>
                </a:solidFill>
                <a:latin typeface="Franklin Gothic Book"/>
                <a:cs typeface="Franklin Gothic Book"/>
              </a:rPr>
              <a:t>Fang et al, NEJM 2026</a:t>
            </a:r>
          </a:p>
        </p:txBody>
      </p:sp>
    </p:spTree>
    <p:extLst>
      <p:ext uri="{BB962C8B-B14F-4D97-AF65-F5344CB8AC3E}">
        <p14:creationId xmlns:p14="http://schemas.microsoft.com/office/powerpoint/2010/main" val="2458936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sz="2800" b="0">
                <a:solidFill>
                  <a:srgbClr val="005A8E"/>
                </a:solidFill>
                <a:latin typeface="Franklin Gothic Medium"/>
                <a:cs typeface="Franklin Gothic Medium"/>
              </a:rPr>
              <a:t>Sac-TMT Improves Overall Survival</a:t>
            </a:r>
          </a:p>
          <a:p>
            <a:pPr algn="l"/>
            <a:r>
              <a:rPr sz="1800" b="0">
                <a:solidFill>
                  <a:srgbClr val="005A8E"/>
                </a:solidFill>
                <a:latin typeface="Franklin Gothic Book"/>
                <a:cs typeface="Franklin Gothic Book"/>
              </a:rPr>
              <a:t>OptiTROP-Lung04, preplanned interim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" y="3875912"/>
            <a:ext cx="8549640" cy="560070"/>
          </a:xfrm>
          <a:prstGeom prst="rect">
            <a:avLst/>
          </a:prstGeom>
          <a:solidFill>
            <a:srgbClr val="F2F2F2"/>
          </a:solidFill>
        </p:spPr>
        <p:txBody>
          <a:bodyPr wrap="square" lIns="128016" tIns="128016" rIns="128016" bIns="128016" anchor="ctr"/>
          <a:lstStyle/>
          <a:p>
            <a:pPr algn="l"/>
            <a:r>
              <a:rPr sz="1800" b="0">
                <a:solidFill>
                  <a:srgbClr val="00457C"/>
                </a:solidFill>
                <a:latin typeface="Franklin Gothic Medium"/>
                <a:cs typeface="Franklin Gothic Medium"/>
              </a:rPr>
              <a:t>HR 0.60 (95% CI, 0.44-0.82), two-sided P=0.001</a:t>
            </a:r>
          </a:p>
        </p:txBody>
      </p:sp>
      <p:pic>
        <p:nvPicPr>
          <p:cNvPr id="4" name="Picture 3" descr="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184" y="1088136"/>
            <a:ext cx="6398503" cy="26791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>
                <a:solidFill>
                  <a:srgbClr val="404040"/>
                </a:solidFill>
                <a:latin typeface="Franklin Gothic Book"/>
                <a:cs typeface="Franklin Gothic Book"/>
              </a:rPr>
              <a:t>Fang et al, NEJM 2026</a:t>
            </a:r>
          </a:p>
        </p:txBody>
      </p:sp>
    </p:spTree>
    <p:extLst>
      <p:ext uri="{BB962C8B-B14F-4D97-AF65-F5344CB8AC3E}">
        <p14:creationId xmlns:p14="http://schemas.microsoft.com/office/powerpoint/2010/main" val="1716172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93268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sz="2800" b="0">
                <a:solidFill>
                  <a:srgbClr val="005A8E"/>
                </a:solidFill>
                <a:latin typeface="Franklin Gothic Medium"/>
                <a:cs typeface="Franklin Gothic Medium"/>
              </a:rPr>
              <a:t>Sac-TMT Has a Distinct Toxicity Profile</a:t>
            </a:r>
          </a:p>
          <a:p>
            <a:pPr algn="l"/>
            <a:r>
              <a:rPr sz="1800" b="0">
                <a:solidFill>
                  <a:srgbClr val="005A8E"/>
                </a:solidFill>
                <a:latin typeface="Franklin Gothic Book"/>
                <a:cs typeface="Franklin Gothic Book"/>
              </a:rPr>
              <a:t>Treatment-related adverse events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48056" y="1225296"/>
          <a:ext cx="83667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7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7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Sac-TMT (n=188)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Chemotherapy (n=182)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Grade 3 or higher AE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58.0%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53.8%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Serious treatment-related AE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9.0%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17.6%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Neutropenia, grade ≥3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39.9%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33.0%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Thrombocytopenia, grade ≥3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2.1%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16.5%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Stomatitis, any grade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64.4%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4.9%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56616" y="3891788"/>
            <a:ext cx="8549640" cy="528320"/>
          </a:xfrm>
          <a:prstGeom prst="rect">
            <a:avLst/>
          </a:prstGeom>
          <a:solidFill>
            <a:srgbClr val="F2F2F2"/>
          </a:solidFill>
        </p:spPr>
        <p:txBody>
          <a:bodyPr wrap="square" lIns="128016" tIns="128016" rIns="128016" bIns="128016" anchor="ctr"/>
          <a:lstStyle/>
          <a:p>
            <a:pPr algn="l"/>
            <a:r>
              <a:rPr sz="1600" b="0">
                <a:solidFill>
                  <a:srgbClr val="00457C"/>
                </a:solidFill>
                <a:latin typeface="Franklin Gothic Medium"/>
                <a:cs typeface="Franklin Gothic Medium"/>
              </a:rPr>
              <a:t>Sac-TMT: less serious toxicity, less thrombocytopenia, more stomatitis</a:t>
            </a:r>
            <a:r>
              <a:rPr lang="en-US" sz="1600" b="0">
                <a:solidFill>
                  <a:srgbClr val="00457C"/>
                </a:solidFill>
                <a:latin typeface="Franklin Gothic Medium"/>
                <a:cs typeface="Franklin Gothic Medium"/>
              </a:rPr>
              <a:t> compared with chemo</a:t>
            </a:r>
            <a:endParaRPr sz="1600" b="0">
              <a:solidFill>
                <a:srgbClr val="00457C"/>
              </a:solidFill>
              <a:latin typeface="Franklin Gothic Medium"/>
              <a:cs typeface="Franklin Gothic Medium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>
                <a:solidFill>
                  <a:srgbClr val="404040"/>
                </a:solidFill>
                <a:latin typeface="Franklin Gothic Book"/>
                <a:cs typeface="Franklin Gothic Book"/>
              </a:rPr>
              <a:t>Fang et al, NEJM 2026</a:t>
            </a:r>
          </a:p>
        </p:txBody>
      </p:sp>
    </p:spTree>
    <p:extLst>
      <p:ext uri="{BB962C8B-B14F-4D97-AF65-F5344CB8AC3E}">
        <p14:creationId xmlns:p14="http://schemas.microsoft.com/office/powerpoint/2010/main" val="2813834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A16B1-F978-C8DA-7D3F-1CFAC9EFF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FB05C39-A037-5F28-1A75-A253489C6670}"/>
              </a:ext>
            </a:extLst>
          </p:cNvPr>
          <p:cNvSpPr txBox="1"/>
          <p:nvPr/>
        </p:nvSpPr>
        <p:spPr>
          <a:xfrm>
            <a:off x="7727617" y="2129073"/>
            <a:ext cx="15287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Franklin Gothic Book" panose="020B0503020102020204" pitchFamily="34" charset="0"/>
              </a:rPr>
              <a:t>OS negative, application withdrawn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B5A5E-9126-7B4A-E01C-7D106473F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6" y="109728"/>
            <a:ext cx="8549640" cy="566928"/>
          </a:xfrm>
        </p:spPr>
        <p:txBody>
          <a:bodyPr wrap="square" lIns="45720" rIns="45720" anchor="t">
            <a:noAutofit/>
          </a:bodyPr>
          <a:lstStyle/>
          <a:p>
            <a:pPr algn="l"/>
            <a:r>
              <a:rPr sz="2800" b="0">
                <a:solidFill>
                  <a:srgbClr val="005A8E"/>
                </a:solidFill>
                <a:latin typeface="Franklin Gothic Medium"/>
                <a:cs typeface="Franklin Gothic Medium"/>
              </a:rPr>
              <a:t>EGFR-Mutant NSCLC After Osimertinib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C46648-3FF1-90A2-D241-FBE668F2E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079352"/>
              </p:ext>
            </p:extLst>
          </p:nvPr>
        </p:nvGraphicFramePr>
        <p:xfrm>
          <a:off x="136801" y="729996"/>
          <a:ext cx="7552800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4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5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Trial (regimen)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Exp ORR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Exp PFS,mo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PFS HR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OptiTROP-Lung04 (sac-TMT, n=376)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61%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8.3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0.49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97266587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Dato-</a:t>
                      </a:r>
                      <a:r>
                        <a:rPr sz="1600" b="0" err="1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DXd</a:t>
                      </a:r>
                      <a:r>
                        <a:rPr sz="16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 (EGFRm pool, n=117)†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43%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5.8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N/A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HER3-DXd (HERTHENA-Lung01, n=225)†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30%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5.5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N/A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HER3-DXD (HERTHENA-Lung02, n=586)</a:t>
                      </a:r>
                      <a:endParaRPr sz="1600" b="0" dirty="0">
                        <a:solidFill>
                          <a:srgbClr val="1F1F1F"/>
                        </a:solidFill>
                        <a:latin typeface="Franklin Gothic Medium"/>
                        <a:cs typeface="Franklin Gothic Medium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35%</a:t>
                      </a:r>
                      <a:endParaRPr sz="1600" b="0" dirty="0">
                        <a:solidFill>
                          <a:srgbClr val="1F1F1F"/>
                        </a:solidFill>
                        <a:latin typeface="Franklin Gothic Book"/>
                        <a:cs typeface="Franklin Gothic Book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5.8</a:t>
                      </a:r>
                      <a:endParaRPr sz="1600" b="0" dirty="0">
                        <a:solidFill>
                          <a:srgbClr val="1F1F1F"/>
                        </a:solidFill>
                        <a:latin typeface="Franklin Gothic Book"/>
                        <a:cs typeface="Franklin Gothic Book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0.77</a:t>
                      </a:r>
                      <a:endParaRPr sz="1600" b="0" dirty="0">
                        <a:solidFill>
                          <a:srgbClr val="1F1F1F"/>
                        </a:solidFill>
                        <a:latin typeface="Franklin Gothic Book"/>
                        <a:cs typeface="Franklin Gothic Book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6840989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F1F1F"/>
                          </a:solidFill>
                          <a:latin typeface="Franklin Gothic Medium"/>
                          <a:cs typeface="Franklin Gothic Medium"/>
                        </a:rPr>
                        <a:t>Iza-bren (post-TKI RP2D, n=50)†‡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56%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12.5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F1F1F"/>
                          </a:solidFill>
                          <a:latin typeface="Franklin Gothic Book"/>
                          <a:cs typeface="Franklin Gothic Book"/>
                        </a:rPr>
                        <a:t>N/A</a:t>
                      </a: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408F6CB-53C8-AD3A-7586-93C23E17A2E6}"/>
              </a:ext>
            </a:extLst>
          </p:cNvPr>
          <p:cNvSpPr txBox="1"/>
          <p:nvPr/>
        </p:nvSpPr>
        <p:spPr>
          <a:xfrm>
            <a:off x="448056" y="4139184"/>
            <a:ext cx="8366760" cy="274320"/>
          </a:xfrm>
          <a:prstGeom prst="rect">
            <a:avLst/>
          </a:prstGeom>
          <a:noFill/>
        </p:spPr>
        <p:txBody>
          <a:bodyPr wrap="square" lIns="73152" tIns="73152" rIns="73152" bIns="73152" anchor="t"/>
          <a:lstStyle/>
          <a:p>
            <a:pPr algn="l"/>
            <a:r>
              <a:rPr sz="1200" b="0" dirty="0">
                <a:solidFill>
                  <a:srgbClr val="404040"/>
                </a:solidFill>
                <a:latin typeface="Franklin Gothic Book"/>
                <a:cs typeface="Franklin Gothic Book"/>
              </a:rPr>
              <a:t>†Single-arm, no concurrent control. ‡Chemo-naive, post-TKI subgroup; full RP2D cohort (n=121, mixed prior chemo) showed ORR 49%, PFS 6.9 mo.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97033-B4ED-AE72-81E5-14D5FC4B558C}"/>
              </a:ext>
            </a:extLst>
          </p:cNvPr>
          <p:cNvSpPr txBox="1"/>
          <p:nvPr/>
        </p:nvSpPr>
        <p:spPr>
          <a:xfrm>
            <a:off x="1737360" y="4617720"/>
            <a:ext cx="7168896" cy="27432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r"/>
            <a:r>
              <a:rPr sz="1000" b="0" dirty="0">
                <a:solidFill>
                  <a:srgbClr val="404040"/>
                </a:solidFill>
                <a:latin typeface="Franklin Gothic Book"/>
                <a:cs typeface="Franklin Gothic Book"/>
              </a:rPr>
              <a:t>Fang et al, NEJM 2025; Passaro et al, Ann Oncol 2024; Goldman et al, WCLC 2025; Peled et al, ESMO Open 2025; Ahn et al, J </a:t>
            </a:r>
            <a:r>
              <a:rPr sz="1000" b="0" dirty="0" err="1">
                <a:solidFill>
                  <a:srgbClr val="404040"/>
                </a:solidFill>
                <a:latin typeface="Franklin Gothic Book"/>
                <a:cs typeface="Franklin Gothic Book"/>
              </a:rPr>
              <a:t>Thorac</a:t>
            </a:r>
            <a:r>
              <a:rPr sz="1000" b="0" dirty="0">
                <a:solidFill>
                  <a:srgbClr val="404040"/>
                </a:solidFill>
                <a:latin typeface="Franklin Gothic Book"/>
                <a:cs typeface="Franklin Gothic Book"/>
              </a:rPr>
              <a:t> Oncol 2025; Yu et al, JCO 2023; </a:t>
            </a:r>
            <a:r>
              <a:rPr lang="en-US" sz="1000" b="0" dirty="0">
                <a:solidFill>
                  <a:srgbClr val="404040"/>
                </a:solidFill>
                <a:latin typeface="Franklin Gothic Book"/>
                <a:cs typeface="Franklin Gothic Book"/>
              </a:rPr>
              <a:t>Mok et al, ASCO 2025. </a:t>
            </a:r>
            <a:r>
              <a:rPr sz="1000" b="0" dirty="0">
                <a:solidFill>
                  <a:srgbClr val="404040"/>
                </a:solidFill>
                <a:latin typeface="Franklin Gothic Book"/>
                <a:cs typeface="Franklin Gothic Book"/>
              </a:rPr>
              <a:t>Hong et al, Ann Oncol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361563-3E3D-87C3-5565-6081DD776415}"/>
              </a:ext>
            </a:extLst>
          </p:cNvPr>
          <p:cNvSpPr txBox="1"/>
          <p:nvPr/>
        </p:nvSpPr>
        <p:spPr>
          <a:xfrm>
            <a:off x="2876373" y="3210842"/>
            <a:ext cx="1587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Franklin Gothic Book" panose="020B0503020102020204" pitchFamily="34" charset="0"/>
              </a:rPr>
              <a:t>All TOPO-1 ADCs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EB07A4-3750-BD91-9146-19955CB9C8D1}"/>
              </a:ext>
            </a:extLst>
          </p:cNvPr>
          <p:cNvCxnSpPr>
            <a:cxnSpLocks/>
          </p:cNvCxnSpPr>
          <p:nvPr/>
        </p:nvCxnSpPr>
        <p:spPr>
          <a:xfrm flipH="1">
            <a:off x="7585202" y="2571750"/>
            <a:ext cx="313199" cy="115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227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ADD61-A10F-7EFD-E765-9184769EB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263" y="1974000"/>
            <a:ext cx="8545707" cy="513926"/>
          </a:xfrm>
        </p:spPr>
        <p:txBody>
          <a:bodyPr>
            <a:normAutofit fontScale="90000"/>
          </a:bodyPr>
          <a:lstStyle/>
          <a:p>
            <a:r>
              <a:rPr lang="en-US" dirty="0"/>
              <a:t>Whatever happened to finding targets?</a:t>
            </a:r>
          </a:p>
        </p:txBody>
      </p:sp>
    </p:spTree>
    <p:extLst>
      <p:ext uri="{BB962C8B-B14F-4D97-AF65-F5344CB8AC3E}">
        <p14:creationId xmlns:p14="http://schemas.microsoft.com/office/powerpoint/2010/main" val="2497686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5A8E"/>
                </a:solidFill>
                <a:latin typeface="Franklin Gothic Medium" panose="020B0603020102020204" pitchFamily="34" charset="0"/>
              </a:rPr>
              <a:t>Savolitinib + Osimertinib vs Chemotherapy </a:t>
            </a:r>
            <a:r>
              <a:rPr lang="en-US" u="sng">
                <a:solidFill>
                  <a:srgbClr val="005A8E"/>
                </a:solidFill>
                <a:latin typeface="Franklin Gothic Medium" panose="020B0603020102020204" pitchFamily="34" charset="0"/>
              </a:rPr>
              <a:t>after osimertinib</a:t>
            </a:r>
            <a:endParaRPr lang="en-US">
              <a:solidFill>
                <a:srgbClr val="005A8E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01" name="TextBox 101"/>
          <p:cNvSpPr txBox="1"/>
          <p:nvPr/>
        </p:nvSpPr>
        <p:spPr>
          <a:xfrm>
            <a:off x="377190" y="1627632"/>
            <a:ext cx="3566160" cy="173278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457C"/>
                </a:solidFill>
                <a:latin typeface="Franklin Gothic Medium" panose="020B0603020102020204" pitchFamily="34" charset="0"/>
              </a:rPr>
              <a:t>Advanced NSCLC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457C"/>
                </a:solidFill>
                <a:latin typeface="Franklin Gothic Medium" panose="020B0603020102020204" pitchFamily="34" charset="0"/>
              </a:rPr>
              <a:t>EGFR mutation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457C"/>
                </a:solidFill>
                <a:latin typeface="Franklin Gothic Medium" panose="020B0603020102020204" pitchFamily="34" charset="0"/>
              </a:rPr>
              <a:t>MET overexpression and/or amplification (central IHC / FISH)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457C"/>
                </a:solidFill>
                <a:latin typeface="Franklin Gothic Medium" panose="020B0603020102020204" pitchFamily="34" charset="0"/>
              </a:rPr>
              <a:t>Progression on 1st or 2nd line osimertinib as most recent therapy</a:t>
            </a:r>
          </a:p>
        </p:txBody>
      </p:sp>
      <p:cxnSp>
        <p:nvCxnSpPr>
          <p:cNvPr id="102" name="Connector 102"/>
          <p:cNvCxnSpPr/>
          <p:nvPr/>
        </p:nvCxnSpPr>
        <p:spPr>
          <a:xfrm>
            <a:off x="3943350" y="236601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</p:cxnSp>
      <p:cxnSp>
        <p:nvCxnSpPr>
          <p:cNvPr id="103" name="Connector 103"/>
          <p:cNvCxnSpPr/>
          <p:nvPr/>
        </p:nvCxnSpPr>
        <p:spPr>
          <a:xfrm>
            <a:off x="4286250" y="1834515"/>
            <a:ext cx="0" cy="1062990"/>
          </a:xfrm>
          <a:prstGeom prst="straightConnector1">
            <a:avLst/>
          </a:prstGeom>
          <a:ln w="19050">
            <a:solidFill>
              <a:schemeClr val="tx1"/>
            </a:solidFill>
          </a:ln>
        </p:spPr>
      </p:cxnSp>
      <p:cxnSp>
        <p:nvCxnSpPr>
          <p:cNvPr id="104" name="Connector 104"/>
          <p:cNvCxnSpPr/>
          <p:nvPr/>
        </p:nvCxnSpPr>
        <p:spPr>
          <a:xfrm>
            <a:off x="4286250" y="183451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</p:cxnSp>
      <p:sp>
        <p:nvSpPr>
          <p:cNvPr id="105" name="Arm 105"/>
          <p:cNvSpPr/>
          <p:nvPr/>
        </p:nvSpPr>
        <p:spPr>
          <a:xfrm>
            <a:off x="4629150" y="1405890"/>
            <a:ext cx="315468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  <a:miter lim="800000"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650">
                <a:solidFill>
                  <a:srgbClr val="00457C"/>
                </a:solidFill>
                <a:latin typeface="Franklin Gothic Medium" panose="020B0603020102020204" pitchFamily="34" charset="0"/>
              </a:rPr>
              <a:t>Savolitinib +</a:t>
            </a:r>
          </a:p>
          <a:p>
            <a:pPr algn="ctr"/>
            <a:r>
              <a:rPr lang="en-US" sz="1650">
                <a:solidFill>
                  <a:srgbClr val="00457C"/>
                </a:solidFill>
                <a:latin typeface="Franklin Gothic Medium" panose="020B0603020102020204" pitchFamily="34" charset="0"/>
              </a:rPr>
              <a:t>Osimertinib</a:t>
            </a:r>
          </a:p>
          <a:p>
            <a:pPr algn="ctr"/>
            <a:r>
              <a:rPr lang="en-US" sz="1650">
                <a:solidFill>
                  <a:srgbClr val="00457C"/>
                </a:solidFill>
                <a:latin typeface="Franklin Gothic Medium" panose="020B0603020102020204" pitchFamily="34" charset="0"/>
              </a:rPr>
              <a:t>(n=TBD)</a:t>
            </a:r>
          </a:p>
        </p:txBody>
      </p:sp>
      <p:cxnSp>
        <p:nvCxnSpPr>
          <p:cNvPr id="106" name="Connector 106"/>
          <p:cNvCxnSpPr/>
          <p:nvPr/>
        </p:nvCxnSpPr>
        <p:spPr>
          <a:xfrm>
            <a:off x="4286250" y="289750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</p:cxnSp>
      <p:sp>
        <p:nvSpPr>
          <p:cNvPr id="107" name="Arm 107"/>
          <p:cNvSpPr/>
          <p:nvPr/>
        </p:nvSpPr>
        <p:spPr>
          <a:xfrm>
            <a:off x="4629150" y="2468880"/>
            <a:ext cx="3154680" cy="85725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650">
                <a:solidFill>
                  <a:prstClr val="white"/>
                </a:solidFill>
                <a:latin typeface="Franklin Gothic Medium" panose="020B0603020102020204" pitchFamily="34" charset="0"/>
              </a:rPr>
              <a:t>Carboplatin or Cisplatin +</a:t>
            </a:r>
          </a:p>
          <a:p>
            <a:pPr algn="ctr"/>
            <a:r>
              <a:rPr lang="en-US" sz="1650">
                <a:solidFill>
                  <a:prstClr val="white"/>
                </a:solidFill>
                <a:latin typeface="Franklin Gothic Medium" panose="020B0603020102020204" pitchFamily="34" charset="0"/>
              </a:rPr>
              <a:t>Pemetrexed</a:t>
            </a:r>
          </a:p>
          <a:p>
            <a:pPr algn="ctr"/>
            <a:r>
              <a:rPr lang="en-US" sz="1650">
                <a:solidFill>
                  <a:prstClr val="white"/>
                </a:solidFill>
                <a:latin typeface="Franklin Gothic Medium" panose="020B0603020102020204" pitchFamily="34" charset="0"/>
              </a:rPr>
              <a:t>(n=TBD)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308610" y="3669030"/>
            <a:ext cx="8503920" cy="884070"/>
          </a:xfrm>
          <a:prstGeom prst="rect">
            <a:avLst/>
          </a:prstGeom>
          <a:noFill/>
        </p:spPr>
        <p:txBody>
          <a:bodyPr wrap="square" lIns="72000" tIns="72000" rIns="72000" bIns="72000" rtlCol="0" anchor="t">
            <a:spAutoFit/>
          </a:bodyPr>
          <a:lstStyle/>
          <a:p>
            <a:pPr marL="171446" indent="-171446"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Primary endpoint: PFS by blinded independent central review</a:t>
            </a:r>
          </a:p>
          <a:p>
            <a:pPr marL="171446" indent="-171446"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Secondary endpoints: overall survival, response rate, duration of response, disease control rate, CNS PFS, safety</a:t>
            </a:r>
          </a:p>
        </p:txBody>
      </p:sp>
      <p:sp>
        <p:nvSpPr>
          <p:cNvPr id="109" name="Citation 109"/>
          <p:cNvSpPr txBox="1"/>
          <p:nvPr/>
        </p:nvSpPr>
        <p:spPr>
          <a:xfrm>
            <a:off x="5006340" y="4649724"/>
            <a:ext cx="3840480" cy="342900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1500">
                <a:solidFill>
                  <a:srgbClr val="00457C"/>
                </a:solidFill>
                <a:latin typeface="Franklin Gothic Medium" panose="020B0603020102020204" pitchFamily="34" charset="0"/>
              </a:rPr>
              <a:t>SAFFRON, NCT05261399</a:t>
            </a:r>
          </a:p>
        </p:txBody>
      </p:sp>
    </p:spTree>
    <p:extLst>
      <p:ext uri="{BB962C8B-B14F-4D97-AF65-F5344CB8AC3E}">
        <p14:creationId xmlns:p14="http://schemas.microsoft.com/office/powerpoint/2010/main" val="558046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13036-717C-6B8E-8167-467CA8AB1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72C0-67E7-27F2-86ED-7886645D3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5A8E"/>
                </a:solidFill>
                <a:latin typeface="Franklin Gothic Medium" panose="020B0603020102020204" pitchFamily="34" charset="0"/>
              </a:rPr>
              <a:t>Savolitinib + Osimertinib vs Chemotherapy </a:t>
            </a:r>
            <a:r>
              <a:rPr lang="en-US" u="sng">
                <a:solidFill>
                  <a:srgbClr val="005A8E"/>
                </a:solidFill>
                <a:latin typeface="Franklin Gothic Medium" panose="020B0603020102020204" pitchFamily="34" charset="0"/>
              </a:rPr>
              <a:t>after osimertinib</a:t>
            </a:r>
            <a:endParaRPr lang="en-US">
              <a:solidFill>
                <a:srgbClr val="005A8E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B2989AEC-8941-5ABC-BE37-CB6CA4B68AD4}"/>
              </a:ext>
            </a:extLst>
          </p:cNvPr>
          <p:cNvSpPr txBox="1"/>
          <p:nvPr/>
        </p:nvSpPr>
        <p:spPr>
          <a:xfrm>
            <a:off x="377190" y="1371600"/>
            <a:ext cx="3566160" cy="1988820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Advanced NSCLC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EGFR mutation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MET overexpression and/or amplification (central IHC / FISH)</a:t>
            </a:r>
          </a:p>
          <a:p>
            <a:pPr marL="90486" indent="-90486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Progression on 1st or 2nd line osimertinib as most recent therapy</a:t>
            </a:r>
          </a:p>
        </p:txBody>
      </p:sp>
      <p:cxnSp>
        <p:nvCxnSpPr>
          <p:cNvPr id="102" name="Connector 102">
            <a:extLst>
              <a:ext uri="{FF2B5EF4-FFF2-40B4-BE49-F238E27FC236}">
                <a16:creationId xmlns:a16="http://schemas.microsoft.com/office/drawing/2014/main" id="{F1666C88-EF49-028F-7F78-1FA2FB5C101D}"/>
              </a:ext>
            </a:extLst>
          </p:cNvPr>
          <p:cNvCxnSpPr/>
          <p:nvPr/>
        </p:nvCxnSpPr>
        <p:spPr>
          <a:xfrm>
            <a:off x="3943350" y="2366010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</p:cxnSp>
      <p:cxnSp>
        <p:nvCxnSpPr>
          <p:cNvPr id="103" name="Connector 103">
            <a:extLst>
              <a:ext uri="{FF2B5EF4-FFF2-40B4-BE49-F238E27FC236}">
                <a16:creationId xmlns:a16="http://schemas.microsoft.com/office/drawing/2014/main" id="{C22F5577-FEB9-FCB7-5764-8752AF948C3C}"/>
              </a:ext>
            </a:extLst>
          </p:cNvPr>
          <p:cNvCxnSpPr/>
          <p:nvPr/>
        </p:nvCxnSpPr>
        <p:spPr>
          <a:xfrm>
            <a:off x="4286250" y="1834515"/>
            <a:ext cx="0" cy="1062990"/>
          </a:xfrm>
          <a:prstGeom prst="straightConnector1">
            <a:avLst/>
          </a:prstGeom>
          <a:ln w="19050">
            <a:solidFill>
              <a:schemeClr val="tx1"/>
            </a:solidFill>
          </a:ln>
        </p:spPr>
      </p:cxnSp>
      <p:cxnSp>
        <p:nvCxnSpPr>
          <p:cNvPr id="104" name="Connector 104">
            <a:extLst>
              <a:ext uri="{FF2B5EF4-FFF2-40B4-BE49-F238E27FC236}">
                <a16:creationId xmlns:a16="http://schemas.microsoft.com/office/drawing/2014/main" id="{4DB0123A-E106-3107-CBC5-9794E6357B9E}"/>
              </a:ext>
            </a:extLst>
          </p:cNvPr>
          <p:cNvCxnSpPr/>
          <p:nvPr/>
        </p:nvCxnSpPr>
        <p:spPr>
          <a:xfrm>
            <a:off x="4286250" y="183451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</p:cxnSp>
      <p:sp>
        <p:nvSpPr>
          <p:cNvPr id="105" name="Arm 105">
            <a:extLst>
              <a:ext uri="{FF2B5EF4-FFF2-40B4-BE49-F238E27FC236}">
                <a16:creationId xmlns:a16="http://schemas.microsoft.com/office/drawing/2014/main" id="{8940641E-4349-D4EB-0256-D8A989E39CC2}"/>
              </a:ext>
            </a:extLst>
          </p:cNvPr>
          <p:cNvSpPr/>
          <p:nvPr/>
        </p:nvSpPr>
        <p:spPr>
          <a:xfrm>
            <a:off x="4629150" y="1405890"/>
            <a:ext cx="3154680" cy="8572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1"/>
            </a:solidFill>
            <a:miter lim="800000"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650" b="1">
                <a:solidFill>
                  <a:srgbClr val="00457C"/>
                </a:solidFill>
                <a:latin typeface="Franklin Gothic Medium" panose="020B0603020102020204" pitchFamily="34" charset="0"/>
              </a:rPr>
              <a:t>Savolitinib</a:t>
            </a:r>
            <a:r>
              <a:rPr lang="en-US" sz="1650">
                <a:solidFill>
                  <a:srgbClr val="00457C"/>
                </a:solidFill>
                <a:latin typeface="Franklin Gothic Medium" panose="020B0603020102020204" pitchFamily="34" charset="0"/>
              </a:rPr>
              <a:t> +</a:t>
            </a:r>
          </a:p>
          <a:p>
            <a:pPr algn="ctr"/>
            <a:r>
              <a:rPr lang="en-US" sz="1650" b="1">
                <a:solidFill>
                  <a:srgbClr val="00457C"/>
                </a:solidFill>
                <a:latin typeface="Franklin Gothic Medium" panose="020B0603020102020204" pitchFamily="34" charset="0"/>
              </a:rPr>
              <a:t>Osimertinib</a:t>
            </a:r>
          </a:p>
          <a:p>
            <a:pPr algn="ctr"/>
            <a:r>
              <a:rPr lang="en-US" sz="1650">
                <a:solidFill>
                  <a:srgbClr val="00457C"/>
                </a:solidFill>
                <a:latin typeface="Franklin Gothic Medium" panose="020B0603020102020204" pitchFamily="34" charset="0"/>
              </a:rPr>
              <a:t>(n=TBD)</a:t>
            </a:r>
          </a:p>
        </p:txBody>
      </p:sp>
      <p:cxnSp>
        <p:nvCxnSpPr>
          <p:cNvPr id="106" name="Connector 106">
            <a:extLst>
              <a:ext uri="{FF2B5EF4-FFF2-40B4-BE49-F238E27FC236}">
                <a16:creationId xmlns:a16="http://schemas.microsoft.com/office/drawing/2014/main" id="{D1F5A5B3-53E0-D88F-8B52-DEA25BC2F1E0}"/>
              </a:ext>
            </a:extLst>
          </p:cNvPr>
          <p:cNvCxnSpPr/>
          <p:nvPr/>
        </p:nvCxnSpPr>
        <p:spPr>
          <a:xfrm>
            <a:off x="4286250" y="2897505"/>
            <a:ext cx="3429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</p:cxnSp>
      <p:sp>
        <p:nvSpPr>
          <p:cNvPr id="107" name="Arm 107">
            <a:extLst>
              <a:ext uri="{FF2B5EF4-FFF2-40B4-BE49-F238E27FC236}">
                <a16:creationId xmlns:a16="http://schemas.microsoft.com/office/drawing/2014/main" id="{42041C6F-6EC7-25DE-D599-150BFF2410F5}"/>
              </a:ext>
            </a:extLst>
          </p:cNvPr>
          <p:cNvSpPr/>
          <p:nvPr/>
        </p:nvSpPr>
        <p:spPr>
          <a:xfrm>
            <a:off x="4629150" y="2468880"/>
            <a:ext cx="3154680" cy="85725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txBody>
          <a:bodyPr lIns="68580" tIns="34290" rIns="68580" bIns="34290" rtlCol="0" anchor="ctr">
            <a:noAutofit/>
          </a:bodyPr>
          <a:lstStyle/>
          <a:p>
            <a:pPr algn="ctr"/>
            <a:r>
              <a:rPr lang="en-US" sz="1650" b="1">
                <a:solidFill>
                  <a:prstClr val="white"/>
                </a:solidFill>
                <a:latin typeface="Franklin Gothic Medium" panose="020B0603020102020204" pitchFamily="34" charset="0"/>
              </a:rPr>
              <a:t>Carboplatin</a:t>
            </a:r>
            <a:r>
              <a:rPr lang="en-US" sz="1650">
                <a:solidFill>
                  <a:prstClr val="white"/>
                </a:solidFill>
                <a:latin typeface="Franklin Gothic Medium" panose="020B0603020102020204" pitchFamily="34" charset="0"/>
              </a:rPr>
              <a:t> or </a:t>
            </a:r>
            <a:r>
              <a:rPr lang="en-US" sz="1650" b="1">
                <a:solidFill>
                  <a:prstClr val="white"/>
                </a:solidFill>
                <a:latin typeface="Franklin Gothic Medium" panose="020B0603020102020204" pitchFamily="34" charset="0"/>
              </a:rPr>
              <a:t>Cisplatin</a:t>
            </a:r>
            <a:r>
              <a:rPr lang="en-US" sz="1650">
                <a:solidFill>
                  <a:prstClr val="white"/>
                </a:solidFill>
                <a:latin typeface="Franklin Gothic Medium" panose="020B0603020102020204" pitchFamily="34" charset="0"/>
              </a:rPr>
              <a:t> +</a:t>
            </a:r>
          </a:p>
          <a:p>
            <a:pPr algn="ctr"/>
            <a:r>
              <a:rPr lang="en-US" sz="1650" b="1">
                <a:solidFill>
                  <a:prstClr val="white"/>
                </a:solidFill>
                <a:latin typeface="Franklin Gothic Medium" panose="020B0603020102020204" pitchFamily="34" charset="0"/>
              </a:rPr>
              <a:t>Pemetrexed</a:t>
            </a:r>
          </a:p>
          <a:p>
            <a:pPr algn="ctr"/>
            <a:r>
              <a:rPr lang="en-US" sz="1650">
                <a:solidFill>
                  <a:prstClr val="white"/>
                </a:solidFill>
                <a:latin typeface="Franklin Gothic Medium" panose="020B0603020102020204" pitchFamily="34" charset="0"/>
              </a:rPr>
              <a:t>(n=TBD)</a:t>
            </a:r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FC573DE8-D546-2653-1734-3A73F1101644}"/>
              </a:ext>
            </a:extLst>
          </p:cNvPr>
          <p:cNvSpPr txBox="1"/>
          <p:nvPr/>
        </p:nvSpPr>
        <p:spPr>
          <a:xfrm>
            <a:off x="308610" y="3669030"/>
            <a:ext cx="8503920" cy="884070"/>
          </a:xfrm>
          <a:prstGeom prst="rect">
            <a:avLst/>
          </a:prstGeom>
          <a:noFill/>
        </p:spPr>
        <p:txBody>
          <a:bodyPr wrap="square" lIns="72000" tIns="72000" rIns="72000" bIns="72000" rtlCol="0" anchor="t">
            <a:spAutoFit/>
          </a:bodyPr>
          <a:lstStyle/>
          <a:p>
            <a:pPr marL="171446" indent="-171446"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Primary endpoint: PFS by blinded independent central review</a:t>
            </a:r>
          </a:p>
          <a:p>
            <a:pPr marL="171446" indent="-171446"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00457C"/>
                </a:solidFill>
                <a:latin typeface="Franklin Gothic Medium" panose="020B0603020102020204" pitchFamily="34" charset="0"/>
              </a:rPr>
              <a:t>Secondary endpoints: overall survival, response rate, duration of response, disease control rate, CNS PFS, safety</a:t>
            </a:r>
          </a:p>
        </p:txBody>
      </p:sp>
      <p:sp>
        <p:nvSpPr>
          <p:cNvPr id="109" name="Citation 109">
            <a:extLst>
              <a:ext uri="{FF2B5EF4-FFF2-40B4-BE49-F238E27FC236}">
                <a16:creationId xmlns:a16="http://schemas.microsoft.com/office/drawing/2014/main" id="{FC5D0F46-E3B5-3E27-1C51-F04699ED8C2E}"/>
              </a:ext>
            </a:extLst>
          </p:cNvPr>
          <p:cNvSpPr txBox="1"/>
          <p:nvPr/>
        </p:nvSpPr>
        <p:spPr>
          <a:xfrm>
            <a:off x="5006340" y="4649724"/>
            <a:ext cx="3840480" cy="342900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algn="r"/>
            <a:r>
              <a:rPr lang="en-US" sz="1500">
                <a:solidFill>
                  <a:srgbClr val="00457C"/>
                </a:solidFill>
                <a:latin typeface="Franklin Gothic Medium" panose="020B0603020102020204" pitchFamily="34" charset="0"/>
              </a:rPr>
              <a:t>SAFFRON, NCT05261399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6B929-8084-147F-8E2D-79B1D3B9AC5E}"/>
              </a:ext>
            </a:extLst>
          </p:cNvPr>
          <p:cNvSpPr txBox="1"/>
          <p:nvPr/>
        </p:nvSpPr>
        <p:spPr>
          <a:xfrm>
            <a:off x="1503118" y="3422754"/>
            <a:ext cx="5566264" cy="9541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latin typeface="+mj-lt"/>
              </a:rPr>
              <a:t>Press Release positive, </a:t>
            </a:r>
          </a:p>
          <a:p>
            <a:pPr algn="ctr"/>
            <a:r>
              <a:rPr lang="en-US" sz="2800">
                <a:latin typeface="+mj-lt"/>
              </a:rPr>
              <a:t>to be presented at ESMO 2026</a:t>
            </a:r>
          </a:p>
        </p:txBody>
      </p:sp>
    </p:spTree>
    <p:extLst>
      <p:ext uri="{BB962C8B-B14F-4D97-AF65-F5344CB8AC3E}">
        <p14:creationId xmlns:p14="http://schemas.microsoft.com/office/powerpoint/2010/main" val="2605009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A205C-8FE1-9FAE-5A4C-A112DAB02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7002A-0DB6-13F2-3B3D-D3A74E9F6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initial 3</a:t>
            </a:r>
            <a:r>
              <a:rPr lang="en-US" baseline="30000" dirty="0"/>
              <a:t>rd</a:t>
            </a:r>
            <a:r>
              <a:rPr lang="en-US" dirty="0"/>
              <a:t> Generation EGFR TKI combination therapy, platinum-doublets with or without additional agents have shown efficacy.</a:t>
            </a:r>
          </a:p>
          <a:p>
            <a:r>
              <a:rPr lang="en-US" dirty="0"/>
              <a:t>There are many antibody-drug conjugates currently being studied. The ones most advanced in development all use a similar payload.</a:t>
            </a:r>
          </a:p>
          <a:p>
            <a:r>
              <a:rPr lang="en-US" dirty="0"/>
              <a:t>We look forward to hearing about approaches based on MET overexpression.</a:t>
            </a:r>
          </a:p>
          <a:p>
            <a:endParaRPr lang="en-US" dirty="0"/>
          </a:p>
          <a:p>
            <a:r>
              <a:rPr lang="en-US" dirty="0"/>
              <a:t>Don’t forget about local therapy for localized progressive disease!</a:t>
            </a:r>
          </a:p>
        </p:txBody>
      </p:sp>
    </p:spTree>
    <p:extLst>
      <p:ext uri="{BB962C8B-B14F-4D97-AF65-F5344CB8AC3E}">
        <p14:creationId xmlns:p14="http://schemas.microsoft.com/office/powerpoint/2010/main" val="4185102522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Template 4">
  <a:themeElements>
    <a:clrScheme name="MSK Color Palette">
      <a:dk1>
        <a:sysClr val="windowText" lastClr="000000"/>
      </a:dk1>
      <a:lt1>
        <a:sysClr val="window" lastClr="FFFFFF"/>
      </a:lt1>
      <a:dk2>
        <a:srgbClr val="737373"/>
      </a:dk2>
      <a:lt2>
        <a:srgbClr val="B3B3A6"/>
      </a:lt2>
      <a:accent1>
        <a:srgbClr val="2986E2"/>
      </a:accent1>
      <a:accent2>
        <a:srgbClr val="F26529"/>
      </a:accent2>
      <a:accent3>
        <a:srgbClr val="FFF5BC"/>
      </a:accent3>
      <a:accent4>
        <a:srgbClr val="737373"/>
      </a:accent4>
      <a:accent5>
        <a:srgbClr val="B3B3A6"/>
      </a:accent5>
      <a:accent6>
        <a:srgbClr val="2875B4"/>
      </a:accent6>
      <a:hlink>
        <a:srgbClr val="00BDF2"/>
      </a:hlink>
      <a:folHlink>
        <a:srgbClr val="9BDCFF"/>
      </a:folHlink>
    </a:clrScheme>
    <a:fontScheme name="Module">
      <a:majorFont>
        <a:latin typeface="Franklin Gothic Medium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1600" dirty="0" smtClean="0">
            <a:latin typeface="Franklin Gothic Book" panose="020B05030201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Custom Design">
  <a:themeElements>
    <a:clrScheme name="Annual Meeting 18">
      <a:dk1>
        <a:srgbClr val="113468"/>
      </a:dk1>
      <a:lt1>
        <a:sysClr val="window" lastClr="FFFFFF"/>
      </a:lt1>
      <a:dk2>
        <a:srgbClr val="0076A9"/>
      </a:dk2>
      <a:lt2>
        <a:srgbClr val="E7E6E6"/>
      </a:lt2>
      <a:accent1>
        <a:srgbClr val="008764"/>
      </a:accent1>
      <a:accent2>
        <a:srgbClr val="0076A9"/>
      </a:accent2>
      <a:accent3>
        <a:srgbClr val="00457C"/>
      </a:accent3>
      <a:accent4>
        <a:srgbClr val="39B0FF"/>
      </a:accent4>
      <a:accent5>
        <a:srgbClr val="096F76"/>
      </a:accent5>
      <a:accent6>
        <a:srgbClr val="F2CE47"/>
      </a:accent6>
      <a:hlink>
        <a:srgbClr val="F2CE47"/>
      </a:hlink>
      <a:folHlink>
        <a:srgbClr val="39B0FF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600" dirty="0" smtClean="0">
            <a:solidFill>
              <a:schemeClr val="accent3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</TotalTime>
  <Words>1962</Words>
  <Application>Microsoft Macintosh PowerPoint</Application>
  <PresentationFormat>On-screen Show (16:9)</PresentationFormat>
  <Paragraphs>326</Paragraphs>
  <Slides>28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MS PGothic</vt:lpstr>
      <vt:lpstr>Arial</vt:lpstr>
      <vt:lpstr>Calibri</vt:lpstr>
      <vt:lpstr>Franklin Gothic Book</vt:lpstr>
      <vt:lpstr>Franklin Gothic Medium</vt:lpstr>
      <vt:lpstr>HGｺﾞｼｯｸM</vt:lpstr>
      <vt:lpstr>Imago</vt:lpstr>
      <vt:lpstr>Wingdings</vt:lpstr>
      <vt:lpstr>Slide Template 4</vt:lpstr>
      <vt:lpstr>1_Custom Design</vt:lpstr>
      <vt:lpstr>EGFR-Mutated Non‑Small Cell Lung Cancer second-line and beyond</vt:lpstr>
      <vt:lpstr>Disclosures</vt:lpstr>
      <vt:lpstr>What do we do after first line single-agent TKI or combination therapy?</vt:lpstr>
      <vt:lpstr>What do we do after first line single-agent TKI or combination therapy?</vt:lpstr>
      <vt:lpstr>When we think about chemotherapy after TKI, do we continue the TKI? COMPEL, randomized double-blind phase III</vt:lpstr>
      <vt:lpstr>Continuation of osimertinib associated with improved Progression-Free Survival Primary endpoint, investigator-assessed, all randomized patients</vt:lpstr>
      <vt:lpstr>Continuation of osimertinib associated with improved CNS Progression-Free Survival Patients without CNS metastases at baseline (n=75)</vt:lpstr>
      <vt:lpstr>Amivantamab + Lazertinib After Osimertinib CHRYSALIS-2 – modest single–arm data support use</vt:lpstr>
      <vt:lpstr>Chemotherapy + Amivantamab +/- lazertinib MARIPOSA-2, randomized phase III</vt:lpstr>
      <vt:lpstr>Amivantamab + Chemotherapy After Osimertinib MARIPOSA-2, PFS</vt:lpstr>
      <vt:lpstr>Intracranial Progression-Free Survival MARIPOSA-2, BICR</vt:lpstr>
      <vt:lpstr>PowerPoint Presentation</vt:lpstr>
      <vt:lpstr>No Significant Improvement in PFS with adding pembrolizumab to chemotherapy  KEYNOTE-789, PFS by central review at second interim analysis</vt:lpstr>
      <vt:lpstr>Does using a PD-1/VEGF bispecific make a difference? HARMONi, randomized phase III</vt:lpstr>
      <vt:lpstr>Ivonescimab + chemotherapy improves Progression-Free Survival Primary analysis by independent radiology review (n=345)</vt:lpstr>
      <vt:lpstr>Ivonescimab does not improve Overall Survival Primary OS analysis, intention-to-treat (n=438)</vt:lpstr>
      <vt:lpstr>Chemo and combinations in EGFR-Mutant NSCLC After Osimertinib</vt:lpstr>
      <vt:lpstr>What about ADCs in EGFR mutant NSCLC? Trop2, HER3, and EGFR x HER3 targeting</vt:lpstr>
      <vt:lpstr>Datopotamab Deruxtecan in EGFR-Mutant NSCLC Pooled Cohort Supporting FDA Approval</vt:lpstr>
      <vt:lpstr>Sacituzumab Tirumotecan vs Chemotherapy Randomized Trial</vt:lpstr>
      <vt:lpstr>Sac-TMT Improves Progression-free Survival OptiTROP-Lung04, final analysis by BICR</vt:lpstr>
      <vt:lpstr>Sac-TMT Improves Overall Survival OptiTROP-Lung04, preplanned interim analysis</vt:lpstr>
      <vt:lpstr>Sac-TMT Has a Distinct Toxicity Profile Treatment-related adverse events</vt:lpstr>
      <vt:lpstr>EGFR-Mutant NSCLC After Osimertinib</vt:lpstr>
      <vt:lpstr>Whatever happened to finding targets?</vt:lpstr>
      <vt:lpstr>Savolitinib + Osimertinib vs Chemotherapy after osimertinib</vt:lpstr>
      <vt:lpstr>Savolitinib + Osimertinib vs Chemotherapy after osimertinib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EGFR Mutant NSCLC:  First-line Therapies, And Sequencing Therapy For Patients With Progression</dc:title>
  <dc:creator/>
  <cp:lastModifiedBy>Riely, Gregory</cp:lastModifiedBy>
  <cp:revision>2</cp:revision>
  <dcterms:created xsi:type="dcterms:W3CDTF">2017-02-10T16:37:39Z</dcterms:created>
  <dcterms:modified xsi:type="dcterms:W3CDTF">2026-10-17T13:47:55Z</dcterms:modified>
  <cp:contentStatus/>
</cp:coreProperties>
</file>