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7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charts/chart2.xml" ContentType="application/vnd.openxmlformats-officedocument.drawingml.chart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notesSlides/notesSlide14.xml" ContentType="application/vnd.openxmlformats-officedocument.presentationml.notesSlide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notesSlides/notesSlide15.xml" ContentType="application/vnd.openxmlformats-officedocument.presentationml.notesSlide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tags/tag4.xml" ContentType="application/vnd.openxmlformats-officedocument.presentationml.tags+xml"/>
  <Override PartName="/ppt/notesSlides/notesSlide19.xml" ContentType="application/vnd.openxmlformats-officedocument.presentationml.notesSlide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notesSlides/notesSlide22.xml" ContentType="application/vnd.openxmlformats-officedocument.presentationml.notesSlide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55" r:id="rId5"/>
    <p:sldMasterId id="2147483766" r:id="rId6"/>
    <p:sldMasterId id="2147483886" r:id="rId7"/>
    <p:sldMasterId id="2147483943" r:id="rId8"/>
    <p:sldMasterId id="2147483976" r:id="rId9"/>
  </p:sldMasterIdLst>
  <p:notesMasterIdLst>
    <p:notesMasterId r:id="rId240"/>
  </p:notesMasterIdLst>
  <p:sldIdLst>
    <p:sldId id="256" r:id="rId10"/>
    <p:sldId id="1307" r:id="rId11"/>
    <p:sldId id="2076137833" r:id="rId12"/>
    <p:sldId id="2076137832" r:id="rId13"/>
    <p:sldId id="13630" r:id="rId14"/>
    <p:sldId id="510" r:id="rId15"/>
    <p:sldId id="515" r:id="rId16"/>
    <p:sldId id="397" r:id="rId17"/>
    <p:sldId id="13639" r:id="rId18"/>
    <p:sldId id="13640" r:id="rId19"/>
    <p:sldId id="1309" r:id="rId20"/>
    <p:sldId id="858" r:id="rId21"/>
    <p:sldId id="300" r:id="rId22"/>
    <p:sldId id="1112" r:id="rId23"/>
    <p:sldId id="13641" r:id="rId24"/>
    <p:sldId id="13648" r:id="rId25"/>
    <p:sldId id="1308" r:id="rId26"/>
    <p:sldId id="1310" r:id="rId27"/>
    <p:sldId id="647" r:id="rId28"/>
    <p:sldId id="451" r:id="rId29"/>
    <p:sldId id="516" r:id="rId30"/>
    <p:sldId id="13642" r:id="rId31"/>
    <p:sldId id="517" r:id="rId32"/>
    <p:sldId id="13643" r:id="rId33"/>
    <p:sldId id="453" r:id="rId34"/>
    <p:sldId id="454" r:id="rId35"/>
    <p:sldId id="455" r:id="rId36"/>
    <p:sldId id="310" r:id="rId37"/>
    <p:sldId id="441" r:id="rId38"/>
    <p:sldId id="1056" r:id="rId39"/>
    <p:sldId id="1055" r:id="rId40"/>
    <p:sldId id="1313" r:id="rId41"/>
    <p:sldId id="13646" r:id="rId42"/>
    <p:sldId id="282" r:id="rId43"/>
    <p:sldId id="272" r:id="rId44"/>
    <p:sldId id="456" r:id="rId45"/>
    <p:sldId id="457" r:id="rId46"/>
    <p:sldId id="328" r:id="rId47"/>
    <p:sldId id="458" r:id="rId48"/>
    <p:sldId id="313" r:id="rId49"/>
    <p:sldId id="269" r:id="rId50"/>
    <p:sldId id="270" r:id="rId51"/>
    <p:sldId id="271" r:id="rId52"/>
    <p:sldId id="13647" r:id="rId53"/>
    <p:sldId id="329" r:id="rId54"/>
    <p:sldId id="482" r:id="rId55"/>
    <p:sldId id="483" r:id="rId56"/>
    <p:sldId id="484" r:id="rId57"/>
    <p:sldId id="896" r:id="rId58"/>
    <p:sldId id="909" r:id="rId59"/>
    <p:sldId id="13659" r:id="rId60"/>
    <p:sldId id="1312" r:id="rId61"/>
    <p:sldId id="664" r:id="rId62"/>
    <p:sldId id="663" r:id="rId63"/>
    <p:sldId id="910" r:id="rId64"/>
    <p:sldId id="13678" r:id="rId65"/>
    <p:sldId id="912" r:id="rId66"/>
    <p:sldId id="911" r:id="rId67"/>
    <p:sldId id="913" r:id="rId68"/>
    <p:sldId id="13645" r:id="rId69"/>
    <p:sldId id="1315" r:id="rId70"/>
    <p:sldId id="951" r:id="rId71"/>
    <p:sldId id="954" r:id="rId72"/>
    <p:sldId id="897" r:id="rId73"/>
    <p:sldId id="914" r:id="rId74"/>
    <p:sldId id="1113" r:id="rId75"/>
    <p:sldId id="862" r:id="rId76"/>
    <p:sldId id="13668" r:id="rId77"/>
    <p:sldId id="863" r:id="rId78"/>
    <p:sldId id="13677" r:id="rId79"/>
    <p:sldId id="898" r:id="rId80"/>
    <p:sldId id="899" r:id="rId81"/>
    <p:sldId id="868" r:id="rId82"/>
    <p:sldId id="915" r:id="rId83"/>
    <p:sldId id="916" r:id="rId84"/>
    <p:sldId id="900" r:id="rId85"/>
    <p:sldId id="901" r:id="rId86"/>
    <p:sldId id="893" r:id="rId87"/>
    <p:sldId id="895" r:id="rId88"/>
    <p:sldId id="902" r:id="rId89"/>
    <p:sldId id="450" r:id="rId90"/>
    <p:sldId id="13669" r:id="rId91"/>
    <p:sldId id="650" r:id="rId92"/>
    <p:sldId id="651" r:id="rId93"/>
    <p:sldId id="667" r:id="rId94"/>
    <p:sldId id="668" r:id="rId95"/>
    <p:sldId id="665" r:id="rId96"/>
    <p:sldId id="1054" r:id="rId97"/>
    <p:sldId id="2076137813" r:id="rId98"/>
    <p:sldId id="846" r:id="rId99"/>
    <p:sldId id="847" r:id="rId100"/>
    <p:sldId id="1049" r:id="rId101"/>
    <p:sldId id="1051" r:id="rId102"/>
    <p:sldId id="963" r:id="rId103"/>
    <p:sldId id="1050" r:id="rId104"/>
    <p:sldId id="2076137815" r:id="rId105"/>
    <p:sldId id="1052" r:id="rId106"/>
    <p:sldId id="845" r:id="rId107"/>
    <p:sldId id="670" r:id="rId108"/>
    <p:sldId id="672" r:id="rId109"/>
    <p:sldId id="1302" r:id="rId110"/>
    <p:sldId id="1301" r:id="rId111"/>
    <p:sldId id="683" r:id="rId112"/>
    <p:sldId id="1305" r:id="rId113"/>
    <p:sldId id="1116" r:id="rId114"/>
    <p:sldId id="1117" r:id="rId115"/>
    <p:sldId id="1118" r:id="rId116"/>
    <p:sldId id="1119" r:id="rId117"/>
    <p:sldId id="1120" r:id="rId118"/>
    <p:sldId id="13635" r:id="rId119"/>
    <p:sldId id="1272" r:id="rId120"/>
    <p:sldId id="919" r:id="rId121"/>
    <p:sldId id="13658" r:id="rId122"/>
    <p:sldId id="600" r:id="rId123"/>
    <p:sldId id="1290" r:id="rId124"/>
    <p:sldId id="2076137817" r:id="rId125"/>
    <p:sldId id="13672" r:id="rId126"/>
    <p:sldId id="585" r:id="rId127"/>
    <p:sldId id="586" r:id="rId128"/>
    <p:sldId id="587" r:id="rId129"/>
    <p:sldId id="588" r:id="rId130"/>
    <p:sldId id="589" r:id="rId131"/>
    <p:sldId id="590" r:id="rId132"/>
    <p:sldId id="591" r:id="rId133"/>
    <p:sldId id="592" r:id="rId134"/>
    <p:sldId id="593" r:id="rId135"/>
    <p:sldId id="597" r:id="rId136"/>
    <p:sldId id="904" r:id="rId137"/>
    <p:sldId id="603" r:id="rId138"/>
    <p:sldId id="604" r:id="rId139"/>
    <p:sldId id="605" r:id="rId140"/>
    <p:sldId id="606" r:id="rId141"/>
    <p:sldId id="715" r:id="rId142"/>
    <p:sldId id="716" r:id="rId143"/>
    <p:sldId id="925" r:id="rId144"/>
    <p:sldId id="924" r:id="rId145"/>
    <p:sldId id="2076137818" r:id="rId146"/>
    <p:sldId id="920" r:id="rId147"/>
    <p:sldId id="921" r:id="rId148"/>
    <p:sldId id="1294" r:id="rId149"/>
    <p:sldId id="13652" r:id="rId150"/>
    <p:sldId id="8086" r:id="rId151"/>
    <p:sldId id="8139" r:id="rId152"/>
    <p:sldId id="8140" r:id="rId153"/>
    <p:sldId id="8148" r:id="rId154"/>
    <p:sldId id="8141" r:id="rId155"/>
    <p:sldId id="2076137819" r:id="rId156"/>
    <p:sldId id="8106" r:id="rId157"/>
    <p:sldId id="8084" r:id="rId158"/>
    <p:sldId id="8151" r:id="rId159"/>
    <p:sldId id="13671" r:id="rId160"/>
    <p:sldId id="613" r:id="rId161"/>
    <p:sldId id="957" r:id="rId162"/>
    <p:sldId id="958" r:id="rId163"/>
    <p:sldId id="959" r:id="rId164"/>
    <p:sldId id="1047" r:id="rId165"/>
    <p:sldId id="1306" r:id="rId166"/>
    <p:sldId id="1295" r:id="rId167"/>
    <p:sldId id="615" r:id="rId168"/>
    <p:sldId id="616" r:id="rId169"/>
    <p:sldId id="619" r:id="rId170"/>
    <p:sldId id="797" r:id="rId171"/>
    <p:sldId id="973" r:id="rId172"/>
    <p:sldId id="725" r:id="rId173"/>
    <p:sldId id="726" r:id="rId174"/>
    <p:sldId id="987" r:id="rId175"/>
    <p:sldId id="736" r:id="rId176"/>
    <p:sldId id="740" r:id="rId177"/>
    <p:sldId id="1855" r:id="rId178"/>
    <p:sldId id="258" r:id="rId179"/>
    <p:sldId id="13666" r:id="rId180"/>
    <p:sldId id="835" r:id="rId181"/>
    <p:sldId id="13673" r:id="rId182"/>
    <p:sldId id="1299" r:id="rId183"/>
    <p:sldId id="13657" r:id="rId184"/>
    <p:sldId id="749" r:id="rId185"/>
    <p:sldId id="750" r:id="rId186"/>
    <p:sldId id="13656" r:id="rId187"/>
    <p:sldId id="752" r:id="rId188"/>
    <p:sldId id="2076137811" r:id="rId189"/>
    <p:sldId id="1251" r:id="rId190"/>
    <p:sldId id="13680" r:id="rId191"/>
    <p:sldId id="13674" r:id="rId192"/>
    <p:sldId id="13612" r:id="rId193"/>
    <p:sldId id="13663" r:id="rId194"/>
    <p:sldId id="13675" r:id="rId195"/>
    <p:sldId id="2076137835" r:id="rId196"/>
    <p:sldId id="8013" r:id="rId197"/>
    <p:sldId id="268" r:id="rId198"/>
    <p:sldId id="13655" r:id="rId199"/>
    <p:sldId id="8144" r:id="rId200"/>
    <p:sldId id="13654" r:id="rId201"/>
    <p:sldId id="8145" r:id="rId202"/>
    <p:sldId id="13676" r:id="rId203"/>
    <p:sldId id="8146" r:id="rId204"/>
    <p:sldId id="2076137836" r:id="rId205"/>
    <p:sldId id="705" r:id="rId206"/>
    <p:sldId id="631" r:id="rId207"/>
    <p:sldId id="2076137834" r:id="rId208"/>
    <p:sldId id="2076137808" r:id="rId209"/>
    <p:sldId id="2076137809" r:id="rId210"/>
    <p:sldId id="2076137810" r:id="rId211"/>
    <p:sldId id="2076137812" r:id="rId212"/>
    <p:sldId id="13653" r:id="rId213"/>
    <p:sldId id="13628" r:id="rId214"/>
    <p:sldId id="1059" r:id="rId215"/>
    <p:sldId id="698" r:id="rId216"/>
    <p:sldId id="699" r:id="rId217"/>
    <p:sldId id="700" r:id="rId218"/>
    <p:sldId id="697" r:id="rId219"/>
    <p:sldId id="713" r:id="rId220"/>
    <p:sldId id="799" r:id="rId221"/>
    <p:sldId id="307" r:id="rId222"/>
    <p:sldId id="1298" r:id="rId223"/>
    <p:sldId id="1319" r:id="rId224"/>
    <p:sldId id="2076137820" r:id="rId225"/>
    <p:sldId id="2076137821" r:id="rId226"/>
    <p:sldId id="2076137822" r:id="rId227"/>
    <p:sldId id="2076137823" r:id="rId228"/>
    <p:sldId id="2076137824" r:id="rId229"/>
    <p:sldId id="2076137825" r:id="rId230"/>
    <p:sldId id="2076137826" r:id="rId231"/>
    <p:sldId id="2076137827" r:id="rId232"/>
    <p:sldId id="2076137828" r:id="rId233"/>
    <p:sldId id="1322" r:id="rId234"/>
    <p:sldId id="1323" r:id="rId235"/>
    <p:sldId id="2076137829" r:id="rId236"/>
    <p:sldId id="1324" r:id="rId237"/>
    <p:sldId id="2076137830" r:id="rId238"/>
    <p:sldId id="2076137831" r:id="rId2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FF6"/>
    <a:srgbClr val="66FFCC"/>
    <a:srgbClr val="FF6600"/>
    <a:srgbClr val="FFD653"/>
    <a:srgbClr val="FFEE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768054-30C0-EA42-8FFC-52F68962404C}" v="1" dt="2026-10-24T10:36:47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5"/>
  </p:normalViewPr>
  <p:slideViewPr>
    <p:cSldViewPr snapToGrid="0">
      <p:cViewPr varScale="1">
        <p:scale>
          <a:sx n="109" d="100"/>
          <a:sy n="109" d="100"/>
        </p:scale>
        <p:origin x="82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8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63" Type="http://schemas.openxmlformats.org/officeDocument/2006/relationships/slide" Target="slides/slide54.xml"/><Relationship Id="rId84" Type="http://schemas.openxmlformats.org/officeDocument/2006/relationships/slide" Target="slides/slide75.xml"/><Relationship Id="rId138" Type="http://schemas.openxmlformats.org/officeDocument/2006/relationships/slide" Target="slides/slide129.xml"/><Relationship Id="rId159" Type="http://schemas.openxmlformats.org/officeDocument/2006/relationships/slide" Target="slides/slide150.xml"/><Relationship Id="rId170" Type="http://schemas.openxmlformats.org/officeDocument/2006/relationships/slide" Target="slides/slide161.xml"/><Relationship Id="rId191" Type="http://schemas.openxmlformats.org/officeDocument/2006/relationships/slide" Target="slides/slide182.xml"/><Relationship Id="rId205" Type="http://schemas.openxmlformats.org/officeDocument/2006/relationships/slide" Target="slides/slide196.xml"/><Relationship Id="rId226" Type="http://schemas.openxmlformats.org/officeDocument/2006/relationships/slide" Target="slides/slide217.xml"/><Relationship Id="rId107" Type="http://schemas.openxmlformats.org/officeDocument/2006/relationships/slide" Target="slides/slide98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53" Type="http://schemas.openxmlformats.org/officeDocument/2006/relationships/slide" Target="slides/slide44.xml"/><Relationship Id="rId74" Type="http://schemas.openxmlformats.org/officeDocument/2006/relationships/slide" Target="slides/slide65.xml"/><Relationship Id="rId128" Type="http://schemas.openxmlformats.org/officeDocument/2006/relationships/slide" Target="slides/slide119.xml"/><Relationship Id="rId149" Type="http://schemas.openxmlformats.org/officeDocument/2006/relationships/slide" Target="slides/slide140.xml"/><Relationship Id="rId5" Type="http://schemas.openxmlformats.org/officeDocument/2006/relationships/slideMaster" Target="slideMasters/slideMaster2.xml"/><Relationship Id="rId95" Type="http://schemas.openxmlformats.org/officeDocument/2006/relationships/slide" Target="slides/slide86.xml"/><Relationship Id="rId160" Type="http://schemas.openxmlformats.org/officeDocument/2006/relationships/slide" Target="slides/slide151.xml"/><Relationship Id="rId181" Type="http://schemas.openxmlformats.org/officeDocument/2006/relationships/slide" Target="slides/slide172.xml"/><Relationship Id="rId216" Type="http://schemas.openxmlformats.org/officeDocument/2006/relationships/slide" Target="slides/slide207.xml"/><Relationship Id="rId237" Type="http://schemas.openxmlformats.org/officeDocument/2006/relationships/slide" Target="slides/slide228.xml"/><Relationship Id="rId22" Type="http://schemas.openxmlformats.org/officeDocument/2006/relationships/slide" Target="slides/slide13.xml"/><Relationship Id="rId43" Type="http://schemas.openxmlformats.org/officeDocument/2006/relationships/slide" Target="slides/slide34.xml"/><Relationship Id="rId64" Type="http://schemas.openxmlformats.org/officeDocument/2006/relationships/slide" Target="slides/slide55.xml"/><Relationship Id="rId118" Type="http://schemas.openxmlformats.org/officeDocument/2006/relationships/slide" Target="slides/slide109.xml"/><Relationship Id="rId139" Type="http://schemas.openxmlformats.org/officeDocument/2006/relationships/slide" Target="slides/slide130.xml"/><Relationship Id="rId85" Type="http://schemas.openxmlformats.org/officeDocument/2006/relationships/slide" Target="slides/slide76.xml"/><Relationship Id="rId150" Type="http://schemas.openxmlformats.org/officeDocument/2006/relationships/slide" Target="slides/slide141.xml"/><Relationship Id="rId171" Type="http://schemas.openxmlformats.org/officeDocument/2006/relationships/slide" Target="slides/slide162.xml"/><Relationship Id="rId192" Type="http://schemas.openxmlformats.org/officeDocument/2006/relationships/slide" Target="slides/slide183.xml"/><Relationship Id="rId206" Type="http://schemas.openxmlformats.org/officeDocument/2006/relationships/slide" Target="slides/slide197.xml"/><Relationship Id="rId227" Type="http://schemas.openxmlformats.org/officeDocument/2006/relationships/slide" Target="slides/slide218.xml"/><Relationship Id="rId12" Type="http://schemas.openxmlformats.org/officeDocument/2006/relationships/slide" Target="slides/slide3.xml"/><Relationship Id="rId33" Type="http://schemas.openxmlformats.org/officeDocument/2006/relationships/slide" Target="slides/slide24.xml"/><Relationship Id="rId108" Type="http://schemas.openxmlformats.org/officeDocument/2006/relationships/slide" Target="slides/slide99.xml"/><Relationship Id="rId129" Type="http://schemas.openxmlformats.org/officeDocument/2006/relationships/slide" Target="slides/slide120.xml"/><Relationship Id="rId54" Type="http://schemas.openxmlformats.org/officeDocument/2006/relationships/slide" Target="slides/slide45.xml"/><Relationship Id="rId75" Type="http://schemas.openxmlformats.org/officeDocument/2006/relationships/slide" Target="slides/slide66.xml"/><Relationship Id="rId96" Type="http://schemas.openxmlformats.org/officeDocument/2006/relationships/slide" Target="slides/slide87.xml"/><Relationship Id="rId140" Type="http://schemas.openxmlformats.org/officeDocument/2006/relationships/slide" Target="slides/slide131.xml"/><Relationship Id="rId161" Type="http://schemas.openxmlformats.org/officeDocument/2006/relationships/slide" Target="slides/slide152.xml"/><Relationship Id="rId182" Type="http://schemas.openxmlformats.org/officeDocument/2006/relationships/slide" Target="slides/slide173.xml"/><Relationship Id="rId217" Type="http://schemas.openxmlformats.org/officeDocument/2006/relationships/slide" Target="slides/slide208.xml"/><Relationship Id="rId6" Type="http://schemas.openxmlformats.org/officeDocument/2006/relationships/slideMaster" Target="slideMasters/slideMaster3.xml"/><Relationship Id="rId238" Type="http://schemas.openxmlformats.org/officeDocument/2006/relationships/slide" Target="slides/slide229.xml"/><Relationship Id="rId23" Type="http://schemas.openxmlformats.org/officeDocument/2006/relationships/slide" Target="slides/slide14.xml"/><Relationship Id="rId119" Type="http://schemas.openxmlformats.org/officeDocument/2006/relationships/slide" Target="slides/slide110.xml"/><Relationship Id="rId44" Type="http://schemas.openxmlformats.org/officeDocument/2006/relationships/slide" Target="slides/slide35.xml"/><Relationship Id="rId65" Type="http://schemas.openxmlformats.org/officeDocument/2006/relationships/slide" Target="slides/slide56.xml"/><Relationship Id="rId86" Type="http://schemas.openxmlformats.org/officeDocument/2006/relationships/slide" Target="slides/slide77.xml"/><Relationship Id="rId130" Type="http://schemas.openxmlformats.org/officeDocument/2006/relationships/slide" Target="slides/slide121.xml"/><Relationship Id="rId151" Type="http://schemas.openxmlformats.org/officeDocument/2006/relationships/slide" Target="slides/slide142.xml"/><Relationship Id="rId172" Type="http://schemas.openxmlformats.org/officeDocument/2006/relationships/slide" Target="slides/slide163.xml"/><Relationship Id="rId193" Type="http://schemas.openxmlformats.org/officeDocument/2006/relationships/slide" Target="slides/slide184.xml"/><Relationship Id="rId207" Type="http://schemas.openxmlformats.org/officeDocument/2006/relationships/slide" Target="slides/slide198.xml"/><Relationship Id="rId228" Type="http://schemas.openxmlformats.org/officeDocument/2006/relationships/slide" Target="slides/slide219.xml"/><Relationship Id="rId13" Type="http://schemas.openxmlformats.org/officeDocument/2006/relationships/slide" Target="slides/slide4.xml"/><Relationship Id="rId109" Type="http://schemas.openxmlformats.org/officeDocument/2006/relationships/slide" Target="slides/slide100.xml"/><Relationship Id="rId34" Type="http://schemas.openxmlformats.org/officeDocument/2006/relationships/slide" Target="slides/slide25.xml"/><Relationship Id="rId55" Type="http://schemas.openxmlformats.org/officeDocument/2006/relationships/slide" Target="slides/slide46.xml"/><Relationship Id="rId76" Type="http://schemas.openxmlformats.org/officeDocument/2006/relationships/slide" Target="slides/slide67.xml"/><Relationship Id="rId97" Type="http://schemas.openxmlformats.org/officeDocument/2006/relationships/slide" Target="slides/slide88.xml"/><Relationship Id="rId120" Type="http://schemas.openxmlformats.org/officeDocument/2006/relationships/slide" Target="slides/slide111.xml"/><Relationship Id="rId141" Type="http://schemas.openxmlformats.org/officeDocument/2006/relationships/slide" Target="slides/slide132.xml"/><Relationship Id="rId7" Type="http://schemas.openxmlformats.org/officeDocument/2006/relationships/slideMaster" Target="slideMasters/slideMaster4.xml"/><Relationship Id="rId162" Type="http://schemas.openxmlformats.org/officeDocument/2006/relationships/slide" Target="slides/slide153.xml"/><Relationship Id="rId183" Type="http://schemas.openxmlformats.org/officeDocument/2006/relationships/slide" Target="slides/slide174.xml"/><Relationship Id="rId218" Type="http://schemas.openxmlformats.org/officeDocument/2006/relationships/slide" Target="slides/slide209.xml"/><Relationship Id="rId239" Type="http://schemas.openxmlformats.org/officeDocument/2006/relationships/slide" Target="slides/slide230.xml"/><Relationship Id="rId24" Type="http://schemas.openxmlformats.org/officeDocument/2006/relationships/slide" Target="slides/slide15.xml"/><Relationship Id="rId45" Type="http://schemas.openxmlformats.org/officeDocument/2006/relationships/slide" Target="slides/slide36.xml"/><Relationship Id="rId66" Type="http://schemas.openxmlformats.org/officeDocument/2006/relationships/slide" Target="slides/slide57.xml"/><Relationship Id="rId87" Type="http://schemas.openxmlformats.org/officeDocument/2006/relationships/slide" Target="slides/slide78.xml"/><Relationship Id="rId110" Type="http://schemas.openxmlformats.org/officeDocument/2006/relationships/slide" Target="slides/slide101.xml"/><Relationship Id="rId131" Type="http://schemas.openxmlformats.org/officeDocument/2006/relationships/slide" Target="slides/slide122.xml"/><Relationship Id="rId152" Type="http://schemas.openxmlformats.org/officeDocument/2006/relationships/slide" Target="slides/slide143.xml"/><Relationship Id="rId173" Type="http://schemas.openxmlformats.org/officeDocument/2006/relationships/slide" Target="slides/slide164.xml"/><Relationship Id="rId194" Type="http://schemas.openxmlformats.org/officeDocument/2006/relationships/slide" Target="slides/slide185.xml"/><Relationship Id="rId208" Type="http://schemas.openxmlformats.org/officeDocument/2006/relationships/slide" Target="slides/slide199.xml"/><Relationship Id="rId229" Type="http://schemas.openxmlformats.org/officeDocument/2006/relationships/slide" Target="slides/slide220.xml"/><Relationship Id="rId240" Type="http://schemas.openxmlformats.org/officeDocument/2006/relationships/notesMaster" Target="notesMasters/notesMaster1.xml"/><Relationship Id="rId14" Type="http://schemas.openxmlformats.org/officeDocument/2006/relationships/slide" Target="slides/slide5.xml"/><Relationship Id="rId35" Type="http://schemas.openxmlformats.org/officeDocument/2006/relationships/slide" Target="slides/slide26.xml"/><Relationship Id="rId56" Type="http://schemas.openxmlformats.org/officeDocument/2006/relationships/slide" Target="slides/slide47.xml"/><Relationship Id="rId77" Type="http://schemas.openxmlformats.org/officeDocument/2006/relationships/slide" Target="slides/slide68.xml"/><Relationship Id="rId100" Type="http://schemas.openxmlformats.org/officeDocument/2006/relationships/slide" Target="slides/slide91.xml"/><Relationship Id="rId8" Type="http://schemas.openxmlformats.org/officeDocument/2006/relationships/slideMaster" Target="slideMasters/slideMaster5.xml"/><Relationship Id="rId98" Type="http://schemas.openxmlformats.org/officeDocument/2006/relationships/slide" Target="slides/slide89.xml"/><Relationship Id="rId121" Type="http://schemas.openxmlformats.org/officeDocument/2006/relationships/slide" Target="slides/slide112.xml"/><Relationship Id="rId142" Type="http://schemas.openxmlformats.org/officeDocument/2006/relationships/slide" Target="slides/slide133.xml"/><Relationship Id="rId163" Type="http://schemas.openxmlformats.org/officeDocument/2006/relationships/slide" Target="slides/slide154.xml"/><Relationship Id="rId184" Type="http://schemas.openxmlformats.org/officeDocument/2006/relationships/slide" Target="slides/slide175.xml"/><Relationship Id="rId219" Type="http://schemas.openxmlformats.org/officeDocument/2006/relationships/slide" Target="slides/slide210.xml"/><Relationship Id="rId230" Type="http://schemas.openxmlformats.org/officeDocument/2006/relationships/slide" Target="slides/slide221.xml"/><Relationship Id="rId25" Type="http://schemas.openxmlformats.org/officeDocument/2006/relationships/slide" Target="slides/slide16.xml"/><Relationship Id="rId46" Type="http://schemas.openxmlformats.org/officeDocument/2006/relationships/slide" Target="slides/slide37.xml"/><Relationship Id="rId67" Type="http://schemas.openxmlformats.org/officeDocument/2006/relationships/slide" Target="slides/slide58.xml"/><Relationship Id="rId88" Type="http://schemas.openxmlformats.org/officeDocument/2006/relationships/slide" Target="slides/slide79.xml"/><Relationship Id="rId111" Type="http://schemas.openxmlformats.org/officeDocument/2006/relationships/slide" Target="slides/slide102.xml"/><Relationship Id="rId132" Type="http://schemas.openxmlformats.org/officeDocument/2006/relationships/slide" Target="slides/slide123.xml"/><Relationship Id="rId153" Type="http://schemas.openxmlformats.org/officeDocument/2006/relationships/slide" Target="slides/slide144.xml"/><Relationship Id="rId174" Type="http://schemas.openxmlformats.org/officeDocument/2006/relationships/slide" Target="slides/slide165.xml"/><Relationship Id="rId195" Type="http://schemas.openxmlformats.org/officeDocument/2006/relationships/slide" Target="slides/slide186.xml"/><Relationship Id="rId209" Type="http://schemas.openxmlformats.org/officeDocument/2006/relationships/slide" Target="slides/slide200.xml"/><Relationship Id="rId220" Type="http://schemas.openxmlformats.org/officeDocument/2006/relationships/slide" Target="slides/slide211.xml"/><Relationship Id="rId241" Type="http://schemas.openxmlformats.org/officeDocument/2006/relationships/presProps" Target="presProps.xml"/><Relationship Id="rId15" Type="http://schemas.openxmlformats.org/officeDocument/2006/relationships/slide" Target="slides/slide6.xml"/><Relationship Id="rId36" Type="http://schemas.openxmlformats.org/officeDocument/2006/relationships/slide" Target="slides/slide27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52" Type="http://schemas.openxmlformats.org/officeDocument/2006/relationships/slide" Target="slides/slide43.xml"/><Relationship Id="rId73" Type="http://schemas.openxmlformats.org/officeDocument/2006/relationships/slide" Target="slides/slide64.xml"/><Relationship Id="rId78" Type="http://schemas.openxmlformats.org/officeDocument/2006/relationships/slide" Target="slides/slide69.xml"/><Relationship Id="rId94" Type="http://schemas.openxmlformats.org/officeDocument/2006/relationships/slide" Target="slides/slide85.xml"/><Relationship Id="rId99" Type="http://schemas.openxmlformats.org/officeDocument/2006/relationships/slide" Target="slides/slide90.xml"/><Relationship Id="rId101" Type="http://schemas.openxmlformats.org/officeDocument/2006/relationships/slide" Target="slides/slide92.xml"/><Relationship Id="rId122" Type="http://schemas.openxmlformats.org/officeDocument/2006/relationships/slide" Target="slides/slide113.xml"/><Relationship Id="rId143" Type="http://schemas.openxmlformats.org/officeDocument/2006/relationships/slide" Target="slides/slide134.xml"/><Relationship Id="rId148" Type="http://schemas.openxmlformats.org/officeDocument/2006/relationships/slide" Target="slides/slide139.xml"/><Relationship Id="rId164" Type="http://schemas.openxmlformats.org/officeDocument/2006/relationships/slide" Target="slides/slide155.xml"/><Relationship Id="rId169" Type="http://schemas.openxmlformats.org/officeDocument/2006/relationships/slide" Target="slides/slide160.xml"/><Relationship Id="rId185" Type="http://schemas.openxmlformats.org/officeDocument/2006/relationships/slide" Target="slides/slide17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80" Type="http://schemas.openxmlformats.org/officeDocument/2006/relationships/slide" Target="slides/slide171.xml"/><Relationship Id="rId210" Type="http://schemas.openxmlformats.org/officeDocument/2006/relationships/slide" Target="slides/slide201.xml"/><Relationship Id="rId215" Type="http://schemas.openxmlformats.org/officeDocument/2006/relationships/slide" Target="slides/slide206.xml"/><Relationship Id="rId236" Type="http://schemas.openxmlformats.org/officeDocument/2006/relationships/slide" Target="slides/slide227.xml"/><Relationship Id="rId26" Type="http://schemas.openxmlformats.org/officeDocument/2006/relationships/slide" Target="slides/slide17.xml"/><Relationship Id="rId231" Type="http://schemas.openxmlformats.org/officeDocument/2006/relationships/slide" Target="slides/slide222.xml"/><Relationship Id="rId47" Type="http://schemas.openxmlformats.org/officeDocument/2006/relationships/slide" Target="slides/slide38.xml"/><Relationship Id="rId68" Type="http://schemas.openxmlformats.org/officeDocument/2006/relationships/slide" Target="slides/slide59.xml"/><Relationship Id="rId89" Type="http://schemas.openxmlformats.org/officeDocument/2006/relationships/slide" Target="slides/slide80.xml"/><Relationship Id="rId112" Type="http://schemas.openxmlformats.org/officeDocument/2006/relationships/slide" Target="slides/slide103.xml"/><Relationship Id="rId133" Type="http://schemas.openxmlformats.org/officeDocument/2006/relationships/slide" Target="slides/slide124.xml"/><Relationship Id="rId154" Type="http://schemas.openxmlformats.org/officeDocument/2006/relationships/slide" Target="slides/slide145.xml"/><Relationship Id="rId175" Type="http://schemas.openxmlformats.org/officeDocument/2006/relationships/slide" Target="slides/slide166.xml"/><Relationship Id="rId196" Type="http://schemas.openxmlformats.org/officeDocument/2006/relationships/slide" Target="slides/slide187.xml"/><Relationship Id="rId200" Type="http://schemas.openxmlformats.org/officeDocument/2006/relationships/slide" Target="slides/slide191.xml"/><Relationship Id="rId16" Type="http://schemas.openxmlformats.org/officeDocument/2006/relationships/slide" Target="slides/slide7.xml"/><Relationship Id="rId221" Type="http://schemas.openxmlformats.org/officeDocument/2006/relationships/slide" Target="slides/slide212.xml"/><Relationship Id="rId242" Type="http://schemas.openxmlformats.org/officeDocument/2006/relationships/viewProps" Target="viewProps.xml"/><Relationship Id="rId37" Type="http://schemas.openxmlformats.org/officeDocument/2006/relationships/slide" Target="slides/slide28.xml"/><Relationship Id="rId58" Type="http://schemas.openxmlformats.org/officeDocument/2006/relationships/slide" Target="slides/slide49.xml"/><Relationship Id="rId79" Type="http://schemas.openxmlformats.org/officeDocument/2006/relationships/slide" Target="slides/slide70.xml"/><Relationship Id="rId102" Type="http://schemas.openxmlformats.org/officeDocument/2006/relationships/slide" Target="slides/slide93.xml"/><Relationship Id="rId123" Type="http://schemas.openxmlformats.org/officeDocument/2006/relationships/slide" Target="slides/slide114.xml"/><Relationship Id="rId144" Type="http://schemas.openxmlformats.org/officeDocument/2006/relationships/slide" Target="slides/slide135.xml"/><Relationship Id="rId90" Type="http://schemas.openxmlformats.org/officeDocument/2006/relationships/slide" Target="slides/slide81.xml"/><Relationship Id="rId165" Type="http://schemas.openxmlformats.org/officeDocument/2006/relationships/slide" Target="slides/slide156.xml"/><Relationship Id="rId186" Type="http://schemas.openxmlformats.org/officeDocument/2006/relationships/slide" Target="slides/slide177.xml"/><Relationship Id="rId211" Type="http://schemas.openxmlformats.org/officeDocument/2006/relationships/slide" Target="slides/slide202.xml"/><Relationship Id="rId232" Type="http://schemas.openxmlformats.org/officeDocument/2006/relationships/slide" Target="slides/slide223.xml"/><Relationship Id="rId27" Type="http://schemas.openxmlformats.org/officeDocument/2006/relationships/slide" Target="slides/slide18.xml"/><Relationship Id="rId48" Type="http://schemas.openxmlformats.org/officeDocument/2006/relationships/slide" Target="slides/slide39.xml"/><Relationship Id="rId69" Type="http://schemas.openxmlformats.org/officeDocument/2006/relationships/slide" Target="slides/slide60.xml"/><Relationship Id="rId113" Type="http://schemas.openxmlformats.org/officeDocument/2006/relationships/slide" Target="slides/slide104.xml"/><Relationship Id="rId134" Type="http://schemas.openxmlformats.org/officeDocument/2006/relationships/slide" Target="slides/slide125.xml"/><Relationship Id="rId80" Type="http://schemas.openxmlformats.org/officeDocument/2006/relationships/slide" Target="slides/slide71.xml"/><Relationship Id="rId155" Type="http://schemas.openxmlformats.org/officeDocument/2006/relationships/slide" Target="slides/slide146.xml"/><Relationship Id="rId176" Type="http://schemas.openxmlformats.org/officeDocument/2006/relationships/slide" Target="slides/slide167.xml"/><Relationship Id="rId197" Type="http://schemas.openxmlformats.org/officeDocument/2006/relationships/slide" Target="slides/slide188.xml"/><Relationship Id="rId201" Type="http://schemas.openxmlformats.org/officeDocument/2006/relationships/slide" Target="slides/slide192.xml"/><Relationship Id="rId222" Type="http://schemas.openxmlformats.org/officeDocument/2006/relationships/slide" Target="slides/slide213.xml"/><Relationship Id="rId243" Type="http://schemas.openxmlformats.org/officeDocument/2006/relationships/theme" Target="theme/theme1.xml"/><Relationship Id="rId17" Type="http://schemas.openxmlformats.org/officeDocument/2006/relationships/slide" Target="slides/slide8.xml"/><Relationship Id="rId38" Type="http://schemas.openxmlformats.org/officeDocument/2006/relationships/slide" Target="slides/slide29.xml"/><Relationship Id="rId59" Type="http://schemas.openxmlformats.org/officeDocument/2006/relationships/slide" Target="slides/slide50.xml"/><Relationship Id="rId103" Type="http://schemas.openxmlformats.org/officeDocument/2006/relationships/slide" Target="slides/slide94.xml"/><Relationship Id="rId124" Type="http://schemas.openxmlformats.org/officeDocument/2006/relationships/slide" Target="slides/slide115.xml"/><Relationship Id="rId70" Type="http://schemas.openxmlformats.org/officeDocument/2006/relationships/slide" Target="slides/slide61.xml"/><Relationship Id="rId91" Type="http://schemas.openxmlformats.org/officeDocument/2006/relationships/slide" Target="slides/slide82.xml"/><Relationship Id="rId145" Type="http://schemas.openxmlformats.org/officeDocument/2006/relationships/slide" Target="slides/slide136.xml"/><Relationship Id="rId166" Type="http://schemas.openxmlformats.org/officeDocument/2006/relationships/slide" Target="slides/slide157.xml"/><Relationship Id="rId187" Type="http://schemas.openxmlformats.org/officeDocument/2006/relationships/slide" Target="slides/slide178.xml"/><Relationship Id="rId1" Type="http://schemas.openxmlformats.org/officeDocument/2006/relationships/customXml" Target="../customXml/item1.xml"/><Relationship Id="rId212" Type="http://schemas.openxmlformats.org/officeDocument/2006/relationships/slide" Target="slides/slide203.xml"/><Relationship Id="rId233" Type="http://schemas.openxmlformats.org/officeDocument/2006/relationships/slide" Target="slides/slide224.xml"/><Relationship Id="rId28" Type="http://schemas.openxmlformats.org/officeDocument/2006/relationships/slide" Target="slides/slide19.xml"/><Relationship Id="rId49" Type="http://schemas.openxmlformats.org/officeDocument/2006/relationships/slide" Target="slides/slide40.xml"/><Relationship Id="rId114" Type="http://schemas.openxmlformats.org/officeDocument/2006/relationships/slide" Target="slides/slide105.xml"/><Relationship Id="rId60" Type="http://schemas.openxmlformats.org/officeDocument/2006/relationships/slide" Target="slides/slide51.xml"/><Relationship Id="rId81" Type="http://schemas.openxmlformats.org/officeDocument/2006/relationships/slide" Target="slides/slide72.xml"/><Relationship Id="rId135" Type="http://schemas.openxmlformats.org/officeDocument/2006/relationships/slide" Target="slides/slide126.xml"/><Relationship Id="rId156" Type="http://schemas.openxmlformats.org/officeDocument/2006/relationships/slide" Target="slides/slide147.xml"/><Relationship Id="rId177" Type="http://schemas.openxmlformats.org/officeDocument/2006/relationships/slide" Target="slides/slide168.xml"/><Relationship Id="rId198" Type="http://schemas.openxmlformats.org/officeDocument/2006/relationships/slide" Target="slides/slide189.xml"/><Relationship Id="rId202" Type="http://schemas.openxmlformats.org/officeDocument/2006/relationships/slide" Target="slides/slide193.xml"/><Relationship Id="rId223" Type="http://schemas.openxmlformats.org/officeDocument/2006/relationships/slide" Target="slides/slide214.xml"/><Relationship Id="rId244" Type="http://schemas.openxmlformats.org/officeDocument/2006/relationships/tableStyles" Target="tableStyles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50" Type="http://schemas.openxmlformats.org/officeDocument/2006/relationships/slide" Target="slides/slide41.xml"/><Relationship Id="rId104" Type="http://schemas.openxmlformats.org/officeDocument/2006/relationships/slide" Target="slides/slide95.xml"/><Relationship Id="rId125" Type="http://schemas.openxmlformats.org/officeDocument/2006/relationships/slide" Target="slides/slide116.xml"/><Relationship Id="rId146" Type="http://schemas.openxmlformats.org/officeDocument/2006/relationships/slide" Target="slides/slide137.xml"/><Relationship Id="rId167" Type="http://schemas.openxmlformats.org/officeDocument/2006/relationships/slide" Target="slides/slide158.xml"/><Relationship Id="rId188" Type="http://schemas.openxmlformats.org/officeDocument/2006/relationships/slide" Target="slides/slide179.xml"/><Relationship Id="rId71" Type="http://schemas.openxmlformats.org/officeDocument/2006/relationships/slide" Target="slides/slide62.xml"/><Relationship Id="rId92" Type="http://schemas.openxmlformats.org/officeDocument/2006/relationships/slide" Target="slides/slide83.xml"/><Relationship Id="rId213" Type="http://schemas.openxmlformats.org/officeDocument/2006/relationships/slide" Target="slides/slide204.xml"/><Relationship Id="rId234" Type="http://schemas.openxmlformats.org/officeDocument/2006/relationships/slide" Target="slides/slide225.xml"/><Relationship Id="rId2" Type="http://schemas.openxmlformats.org/officeDocument/2006/relationships/customXml" Target="../customXml/item2.xml"/><Relationship Id="rId29" Type="http://schemas.openxmlformats.org/officeDocument/2006/relationships/slide" Target="slides/slide20.xml"/><Relationship Id="rId40" Type="http://schemas.openxmlformats.org/officeDocument/2006/relationships/slide" Target="slides/slide31.xml"/><Relationship Id="rId115" Type="http://schemas.openxmlformats.org/officeDocument/2006/relationships/slide" Target="slides/slide106.xml"/><Relationship Id="rId136" Type="http://schemas.openxmlformats.org/officeDocument/2006/relationships/slide" Target="slides/slide127.xml"/><Relationship Id="rId157" Type="http://schemas.openxmlformats.org/officeDocument/2006/relationships/slide" Target="slides/slide148.xml"/><Relationship Id="rId178" Type="http://schemas.openxmlformats.org/officeDocument/2006/relationships/slide" Target="slides/slide169.xml"/><Relationship Id="rId61" Type="http://schemas.openxmlformats.org/officeDocument/2006/relationships/slide" Target="slides/slide52.xml"/><Relationship Id="rId82" Type="http://schemas.openxmlformats.org/officeDocument/2006/relationships/slide" Target="slides/slide73.xml"/><Relationship Id="rId199" Type="http://schemas.openxmlformats.org/officeDocument/2006/relationships/slide" Target="slides/slide190.xml"/><Relationship Id="rId203" Type="http://schemas.openxmlformats.org/officeDocument/2006/relationships/slide" Target="slides/slide194.xml"/><Relationship Id="rId19" Type="http://schemas.openxmlformats.org/officeDocument/2006/relationships/slide" Target="slides/slide10.xml"/><Relationship Id="rId224" Type="http://schemas.openxmlformats.org/officeDocument/2006/relationships/slide" Target="slides/slide215.xml"/><Relationship Id="rId245" Type="http://schemas.microsoft.com/office/2016/11/relationships/changesInfo" Target="changesInfos/changesInfo1.xml"/><Relationship Id="rId30" Type="http://schemas.openxmlformats.org/officeDocument/2006/relationships/slide" Target="slides/slide21.xml"/><Relationship Id="rId105" Type="http://schemas.openxmlformats.org/officeDocument/2006/relationships/slide" Target="slides/slide96.xml"/><Relationship Id="rId126" Type="http://schemas.openxmlformats.org/officeDocument/2006/relationships/slide" Target="slides/slide117.xml"/><Relationship Id="rId147" Type="http://schemas.openxmlformats.org/officeDocument/2006/relationships/slide" Target="slides/slide138.xml"/><Relationship Id="rId168" Type="http://schemas.openxmlformats.org/officeDocument/2006/relationships/slide" Target="slides/slide159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93" Type="http://schemas.openxmlformats.org/officeDocument/2006/relationships/slide" Target="slides/slide84.xml"/><Relationship Id="rId189" Type="http://schemas.openxmlformats.org/officeDocument/2006/relationships/slide" Target="slides/slide180.xml"/><Relationship Id="rId3" Type="http://schemas.openxmlformats.org/officeDocument/2006/relationships/customXml" Target="../customXml/item3.xml"/><Relationship Id="rId214" Type="http://schemas.openxmlformats.org/officeDocument/2006/relationships/slide" Target="slides/slide205.xml"/><Relationship Id="rId235" Type="http://schemas.openxmlformats.org/officeDocument/2006/relationships/slide" Target="slides/slide226.xml"/><Relationship Id="rId116" Type="http://schemas.openxmlformats.org/officeDocument/2006/relationships/slide" Target="slides/slide107.xml"/><Relationship Id="rId137" Type="http://schemas.openxmlformats.org/officeDocument/2006/relationships/slide" Target="slides/slide128.xml"/><Relationship Id="rId158" Type="http://schemas.openxmlformats.org/officeDocument/2006/relationships/slide" Target="slides/slide149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62" Type="http://schemas.openxmlformats.org/officeDocument/2006/relationships/slide" Target="slides/slide53.xml"/><Relationship Id="rId83" Type="http://schemas.openxmlformats.org/officeDocument/2006/relationships/slide" Target="slides/slide74.xml"/><Relationship Id="rId179" Type="http://schemas.openxmlformats.org/officeDocument/2006/relationships/slide" Target="slides/slide170.xml"/><Relationship Id="rId190" Type="http://schemas.openxmlformats.org/officeDocument/2006/relationships/slide" Target="slides/slide181.xml"/><Relationship Id="rId204" Type="http://schemas.openxmlformats.org/officeDocument/2006/relationships/slide" Target="slides/slide195.xml"/><Relationship Id="rId225" Type="http://schemas.openxmlformats.org/officeDocument/2006/relationships/slide" Target="slides/slide216.xml"/><Relationship Id="rId246" Type="http://schemas.microsoft.com/office/2015/10/relationships/revisionInfo" Target="revisionInfo.xml"/><Relationship Id="rId106" Type="http://schemas.openxmlformats.org/officeDocument/2006/relationships/slide" Target="slides/slide97.xml"/><Relationship Id="rId127" Type="http://schemas.openxmlformats.org/officeDocument/2006/relationships/slide" Target="slides/slide1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ely, Gregory" userId="8e9f1504-5205-4fae-b223-1d04dd54ed12" providerId="ADAL" clId="{A6BC96D6-E0C6-5092-8102-36282FB211A4}"/>
    <pc:docChg chg="modSld">
      <pc:chgData name="Riely, Gregory" userId="8e9f1504-5205-4fae-b223-1d04dd54ed12" providerId="ADAL" clId="{A6BC96D6-E0C6-5092-8102-36282FB211A4}" dt="2026-10-24T10:36:47.600" v="0" actId="18331"/>
      <pc:docMkLst>
        <pc:docMk/>
      </pc:docMkLst>
      <pc:sldChg chg="modSp">
        <pc:chgData name="Riely, Gregory" userId="8e9f1504-5205-4fae-b223-1d04dd54ed12" providerId="ADAL" clId="{A6BC96D6-E0C6-5092-8102-36282FB211A4}" dt="2026-10-24T10:36:47.600" v="0" actId="18331"/>
        <pc:sldMkLst>
          <pc:docMk/>
          <pc:sldMk cId="2044840805" sldId="2076137833"/>
        </pc:sldMkLst>
        <pc:picChg chg="mod">
          <ac:chgData name="Riely, Gregory" userId="8e9f1504-5205-4fae-b223-1d04dd54ed12" providerId="ADAL" clId="{A6BC96D6-E0C6-5092-8102-36282FB211A4}" dt="2026-10-24T10:36:47.600" v="0" actId="18331"/>
          <ac:picMkLst>
            <pc:docMk/>
            <pc:sldMk cId="2044840805" sldId="2076137833"/>
            <ac:picMk id="5" creationId="{2CA137BE-12FC-83D8-705E-3B7FC3D773A3}"/>
          </ac:picMkLst>
        </pc:picChg>
      </pc:sldChg>
    </pc:docChg>
  </pc:docChgLst>
  <pc:docChgLst>
    <pc:chgData name="Riely, Gregory" userId="8e9f1504-5205-4fae-b223-1d04dd54ed12" providerId="ADAL" clId="{820F0C39-9049-4EE1-A70C-B4FAF97CB913}"/>
    <pc:docChg chg="undo custSel addSld delSld modSld sldOrd">
      <pc:chgData name="Riely, Gregory" userId="8e9f1504-5205-4fae-b223-1d04dd54ed12" providerId="ADAL" clId="{820F0C39-9049-4EE1-A70C-B4FAF97CB913}" dt="2026-10-08T21:32:19.742" v="2070" actId="14100"/>
      <pc:docMkLst>
        <pc:docMk/>
      </pc:docMkLst>
      <pc:sldChg chg="modSp mod">
        <pc:chgData name="Riely, Gregory" userId="8e9f1504-5205-4fae-b223-1d04dd54ed12" providerId="ADAL" clId="{820F0C39-9049-4EE1-A70C-B4FAF97CB913}" dt="2026-10-08T13:25:57.762" v="77" actId="2711"/>
        <pc:sldMkLst>
          <pc:docMk/>
          <pc:sldMk cId="0" sldId="256"/>
        </pc:sldMkLst>
        <pc:spChg chg="mod">
          <ac:chgData name="Riely, Gregory" userId="8e9f1504-5205-4fae-b223-1d04dd54ed12" providerId="ADAL" clId="{820F0C39-9049-4EE1-A70C-B4FAF97CB913}" dt="2026-10-08T13:25:57.762" v="77" actId="2711"/>
          <ac:spMkLst>
            <pc:docMk/>
            <pc:sldMk cId="0" sldId="256"/>
            <ac:spMk id="3" creationId="{00000000-0000-0000-0000-000000000000}"/>
          </ac:spMkLst>
        </pc:spChg>
      </pc:sldChg>
      <pc:sldChg chg="delSp modSp add mod">
        <pc:chgData name="Riely, Gregory" userId="8e9f1504-5205-4fae-b223-1d04dd54ed12" providerId="ADAL" clId="{820F0C39-9049-4EE1-A70C-B4FAF97CB913}" dt="2026-10-08T21:32:19.742" v="2070" actId="14100"/>
        <pc:sldMkLst>
          <pc:docMk/>
          <pc:sldMk cId="0" sldId="258"/>
        </pc:sldMkLst>
        <pc:spChg chg="mod">
          <ac:chgData name="Riely, Gregory" userId="8e9f1504-5205-4fae-b223-1d04dd54ed12" providerId="ADAL" clId="{820F0C39-9049-4EE1-A70C-B4FAF97CB913}" dt="2026-10-08T21:31:28.125" v="2064" actId="20577"/>
          <ac:spMkLst>
            <pc:docMk/>
            <pc:sldMk cId="0" sldId="258"/>
            <ac:spMk id="2" creationId="{00000000-0000-0000-0000-000000000000}"/>
          </ac:spMkLst>
        </pc:spChg>
        <pc:picChg chg="mod modCrop">
          <ac:chgData name="Riely, Gregory" userId="8e9f1504-5205-4fae-b223-1d04dd54ed12" providerId="ADAL" clId="{820F0C39-9049-4EE1-A70C-B4FAF97CB913}" dt="2026-10-08T21:32:19.742" v="2070" actId="14100"/>
          <ac:picMkLst>
            <pc:docMk/>
            <pc:sldMk cId="0" sldId="258"/>
            <ac:picMk id="4" creationId="{00000000-0000-0000-0000-000000000000}"/>
          </ac:picMkLst>
        </pc:picChg>
      </pc:sldChg>
      <pc:sldChg chg="modSp mod">
        <pc:chgData name="Riely, Gregory" userId="8e9f1504-5205-4fae-b223-1d04dd54ed12" providerId="ADAL" clId="{820F0C39-9049-4EE1-A70C-B4FAF97CB913}" dt="2026-10-08T13:33:28.126" v="135" actId="403"/>
        <pc:sldMkLst>
          <pc:docMk/>
          <pc:sldMk cId="3790283646" sldId="272"/>
        </pc:sldMkLst>
        <pc:spChg chg="mod">
          <ac:chgData name="Riely, Gregory" userId="8e9f1504-5205-4fae-b223-1d04dd54ed12" providerId="ADAL" clId="{820F0C39-9049-4EE1-A70C-B4FAF97CB913}" dt="2026-10-08T13:33:28.126" v="135" actId="403"/>
          <ac:spMkLst>
            <pc:docMk/>
            <pc:sldMk cId="3790283646" sldId="272"/>
            <ac:spMk id="2" creationId="{00000000-0000-0000-0000-000000000000}"/>
          </ac:spMkLst>
        </pc:spChg>
      </pc:sldChg>
      <pc:sldChg chg="add">
        <pc:chgData name="Riely, Gregory" userId="8e9f1504-5205-4fae-b223-1d04dd54ed12" providerId="ADAL" clId="{820F0C39-9049-4EE1-A70C-B4FAF97CB913}" dt="2026-10-08T18:31:28.049" v="723"/>
        <pc:sldMkLst>
          <pc:docMk/>
          <pc:sldMk cId="1313906739" sldId="307"/>
        </pc:sldMkLst>
      </pc:sldChg>
      <pc:sldChg chg="addSp delSp modSp mod">
        <pc:chgData name="Riely, Gregory" userId="8e9f1504-5205-4fae-b223-1d04dd54ed12" providerId="ADAL" clId="{820F0C39-9049-4EE1-A70C-B4FAF97CB913}" dt="2026-10-08T13:36:10.646" v="164"/>
        <pc:sldMkLst>
          <pc:docMk/>
          <pc:sldMk cId="1379463591" sldId="310"/>
        </pc:sldMkLst>
        <pc:spChg chg="mod">
          <ac:chgData name="Riely, Gregory" userId="8e9f1504-5205-4fae-b223-1d04dd54ed12" providerId="ADAL" clId="{820F0C39-9049-4EE1-A70C-B4FAF97CB913}" dt="2026-10-08T13:29:00.428" v="108" actId="5793"/>
          <ac:spMkLst>
            <pc:docMk/>
            <pc:sldMk cId="1379463591" sldId="310"/>
            <ac:spMk id="3" creationId="{00000000-0000-0000-0000-000000000000}"/>
          </ac:spMkLst>
        </pc:spChg>
        <pc:grpChg chg="mod">
          <ac:chgData name="Riely, Gregory" userId="8e9f1504-5205-4fae-b223-1d04dd54ed12" providerId="ADAL" clId="{820F0C39-9049-4EE1-A70C-B4FAF97CB913}" dt="2026-10-08T13:35:50.661" v="160"/>
          <ac:grpSpMkLst>
            <pc:docMk/>
            <pc:sldMk cId="1379463591" sldId="310"/>
            <ac:grpSpMk id="7" creationId="{EE95E056-721C-3718-EB87-278BCCA51156}"/>
          </ac:grpSpMkLst>
        </pc:grpChg>
        <pc:inkChg chg="add mod">
          <ac:chgData name="Riely, Gregory" userId="8e9f1504-5205-4fae-b223-1d04dd54ed12" providerId="ADAL" clId="{820F0C39-9049-4EE1-A70C-B4FAF97CB913}" dt="2026-10-08T13:35:50.661" v="160"/>
          <ac:inkMkLst>
            <pc:docMk/>
            <pc:sldMk cId="1379463591" sldId="310"/>
            <ac:inkMk id="4" creationId="{194225B0-AE2D-E3D1-AE9C-A4BAA0D3CB19}"/>
          </ac:inkMkLst>
        </pc:inkChg>
        <pc:inkChg chg="add mod">
          <ac:chgData name="Riely, Gregory" userId="8e9f1504-5205-4fae-b223-1d04dd54ed12" providerId="ADAL" clId="{820F0C39-9049-4EE1-A70C-B4FAF97CB913}" dt="2026-10-08T13:35:50.661" v="160"/>
          <ac:inkMkLst>
            <pc:docMk/>
            <pc:sldMk cId="1379463591" sldId="310"/>
            <ac:inkMk id="5" creationId="{0B4D9F64-D9E6-FB3E-855F-12E4AC0DC092}"/>
          </ac:inkMkLst>
        </pc:inkChg>
        <pc:inkChg chg="add mod">
          <ac:chgData name="Riely, Gregory" userId="8e9f1504-5205-4fae-b223-1d04dd54ed12" providerId="ADAL" clId="{820F0C39-9049-4EE1-A70C-B4FAF97CB913}" dt="2026-10-08T13:35:50.661" v="160"/>
          <ac:inkMkLst>
            <pc:docMk/>
            <pc:sldMk cId="1379463591" sldId="310"/>
            <ac:inkMk id="6" creationId="{25C7ABA0-B980-02EA-818E-FAC56CE1558C}"/>
          </ac:inkMkLst>
        </pc:inkChg>
        <pc:inkChg chg="add">
          <ac:chgData name="Riely, Gregory" userId="8e9f1504-5205-4fae-b223-1d04dd54ed12" providerId="ADAL" clId="{820F0C39-9049-4EE1-A70C-B4FAF97CB913}" dt="2026-10-08T13:35:56.974" v="161" actId="9405"/>
          <ac:inkMkLst>
            <pc:docMk/>
            <pc:sldMk cId="1379463591" sldId="310"/>
            <ac:inkMk id="8" creationId="{FA09309E-3E90-C445-FF79-0BB8EDE9B818}"/>
          </ac:inkMkLst>
        </pc:inkChg>
        <pc:inkChg chg="add">
          <ac:chgData name="Riely, Gregory" userId="8e9f1504-5205-4fae-b223-1d04dd54ed12" providerId="ADAL" clId="{820F0C39-9049-4EE1-A70C-B4FAF97CB913}" dt="2026-10-08T13:36:08.810" v="162" actId="9405"/>
          <ac:inkMkLst>
            <pc:docMk/>
            <pc:sldMk cId="1379463591" sldId="310"/>
            <ac:inkMk id="9" creationId="{9D303FF4-511C-85AC-0D79-7C536D7375FF}"/>
          </ac:inkMkLst>
        </pc:inkChg>
        <pc:inkChg chg="add">
          <ac:chgData name="Riely, Gregory" userId="8e9f1504-5205-4fae-b223-1d04dd54ed12" providerId="ADAL" clId="{820F0C39-9049-4EE1-A70C-B4FAF97CB913}" dt="2026-10-08T13:36:10.646" v="164"/>
          <ac:inkMkLst>
            <pc:docMk/>
            <pc:sldMk cId="1379463591" sldId="310"/>
            <ac:inkMk id="11" creationId="{D8723EA0-E76B-6049-71CE-E2AAE8362AFF}"/>
          </ac:inkMkLst>
        </pc:inkChg>
      </pc:sldChg>
      <pc:sldChg chg="addSp delSp modSp mod">
        <pc:chgData name="Riely, Gregory" userId="8e9f1504-5205-4fae-b223-1d04dd54ed12" providerId="ADAL" clId="{820F0C39-9049-4EE1-A70C-B4FAF97CB913}" dt="2026-10-08T13:34:30.352" v="146" actId="9405"/>
        <pc:sldMkLst>
          <pc:docMk/>
          <pc:sldMk cId="53204528" sldId="313"/>
        </pc:sldMkLst>
        <pc:spChg chg="mod">
          <ac:chgData name="Riely, Gregory" userId="8e9f1504-5205-4fae-b223-1d04dd54ed12" providerId="ADAL" clId="{820F0C39-9049-4EE1-A70C-B4FAF97CB913}" dt="2026-10-08T13:33:47.063" v="139" actId="5793"/>
          <ac:spMkLst>
            <pc:docMk/>
            <pc:sldMk cId="53204528" sldId="313"/>
            <ac:spMk id="3" creationId="{00000000-0000-0000-0000-000000000000}"/>
          </ac:spMkLst>
        </pc:spChg>
        <pc:inkChg chg="add">
          <ac:chgData name="Riely, Gregory" userId="8e9f1504-5205-4fae-b223-1d04dd54ed12" providerId="ADAL" clId="{820F0C39-9049-4EE1-A70C-B4FAF97CB913}" dt="2026-10-08T13:34:04.161" v="141"/>
          <ac:inkMkLst>
            <pc:docMk/>
            <pc:sldMk cId="53204528" sldId="313"/>
            <ac:inkMk id="4" creationId="{ABC3C418-6DFB-5F82-0E4A-D33FB4B05773}"/>
          </ac:inkMkLst>
        </pc:inkChg>
        <pc:inkChg chg="add">
          <ac:chgData name="Riely, Gregory" userId="8e9f1504-5205-4fae-b223-1d04dd54ed12" providerId="ADAL" clId="{820F0C39-9049-4EE1-A70C-B4FAF97CB913}" dt="2026-10-08T13:34:17.559" v="145"/>
          <ac:inkMkLst>
            <pc:docMk/>
            <pc:sldMk cId="53204528" sldId="313"/>
            <ac:inkMk id="7" creationId="{698A580F-0993-30F0-ECBF-68A9260BA80A}"/>
          </ac:inkMkLst>
        </pc:inkChg>
        <pc:inkChg chg="add">
          <ac:chgData name="Riely, Gregory" userId="8e9f1504-5205-4fae-b223-1d04dd54ed12" providerId="ADAL" clId="{820F0C39-9049-4EE1-A70C-B4FAF97CB913}" dt="2026-10-08T13:34:30.352" v="146" actId="9405"/>
          <ac:inkMkLst>
            <pc:docMk/>
            <pc:sldMk cId="53204528" sldId="313"/>
            <ac:inkMk id="8" creationId="{D1D7498B-DA92-CB7E-B4D0-22288E19D9A6}"/>
          </ac:inkMkLst>
        </pc:inkChg>
      </pc:sldChg>
      <pc:sldChg chg="addSp delSp modSp mod">
        <pc:chgData name="Riely, Gregory" userId="8e9f1504-5205-4fae-b223-1d04dd54ed12" providerId="ADAL" clId="{820F0C39-9049-4EE1-A70C-B4FAF97CB913}" dt="2026-10-08T13:32:00.715" v="130" actId="9405"/>
        <pc:sldMkLst>
          <pc:docMk/>
          <pc:sldMk cId="1696941325" sldId="328"/>
        </pc:sldMkLst>
        <pc:spChg chg="mod">
          <ac:chgData name="Riely, Gregory" userId="8e9f1504-5205-4fae-b223-1d04dd54ed12" providerId="ADAL" clId="{820F0C39-9049-4EE1-A70C-B4FAF97CB913}" dt="2026-10-08T13:31:11.370" v="121" actId="115"/>
          <ac:spMkLst>
            <pc:docMk/>
            <pc:sldMk cId="1696941325" sldId="328"/>
            <ac:spMk id="3" creationId="{00000000-0000-0000-0000-000000000000}"/>
          </ac:spMkLst>
        </pc:spChg>
        <pc:inkChg chg="add">
          <ac:chgData name="Riely, Gregory" userId="8e9f1504-5205-4fae-b223-1d04dd54ed12" providerId="ADAL" clId="{820F0C39-9049-4EE1-A70C-B4FAF97CB913}" dt="2026-10-08T13:31:47.362" v="126" actId="9405"/>
          <ac:inkMkLst>
            <pc:docMk/>
            <pc:sldMk cId="1696941325" sldId="328"/>
            <ac:inkMk id="6" creationId="{F83541B9-BE9B-B1FB-2C50-E62B27EAB6DD}"/>
          </ac:inkMkLst>
        </pc:inkChg>
        <pc:inkChg chg="add">
          <ac:chgData name="Riely, Gregory" userId="8e9f1504-5205-4fae-b223-1d04dd54ed12" providerId="ADAL" clId="{820F0C39-9049-4EE1-A70C-B4FAF97CB913}" dt="2026-10-08T13:31:58.647" v="129" actId="9405"/>
          <ac:inkMkLst>
            <pc:docMk/>
            <pc:sldMk cId="1696941325" sldId="328"/>
            <ac:inkMk id="8" creationId="{1250EED7-B5F9-DAD0-DF57-609AB2869A5A}"/>
          </ac:inkMkLst>
        </pc:inkChg>
        <pc:inkChg chg="add">
          <ac:chgData name="Riely, Gregory" userId="8e9f1504-5205-4fae-b223-1d04dd54ed12" providerId="ADAL" clId="{820F0C39-9049-4EE1-A70C-B4FAF97CB913}" dt="2026-10-08T13:32:00.715" v="130" actId="9405"/>
          <ac:inkMkLst>
            <pc:docMk/>
            <pc:sldMk cId="1696941325" sldId="328"/>
            <ac:inkMk id="9" creationId="{37F67DBA-EFED-9D97-674A-6E8C4EC34C56}"/>
          </ac:inkMkLst>
        </pc:inkChg>
      </pc:sldChg>
      <pc:sldChg chg="addSp modSp mod">
        <pc:chgData name="Riely, Gregory" userId="8e9f1504-5205-4fae-b223-1d04dd54ed12" providerId="ADAL" clId="{820F0C39-9049-4EE1-A70C-B4FAF97CB913}" dt="2026-10-08T18:35:34.024" v="749" actId="9405"/>
        <pc:sldMkLst>
          <pc:docMk/>
          <pc:sldMk cId="4153180090" sldId="329"/>
        </pc:sldMkLst>
        <pc:spChg chg="mod">
          <ac:chgData name="Riely, Gregory" userId="8e9f1504-5205-4fae-b223-1d04dd54ed12" providerId="ADAL" clId="{820F0C39-9049-4EE1-A70C-B4FAF97CB913}" dt="2026-10-08T18:35:26.804" v="748" actId="115"/>
          <ac:spMkLst>
            <pc:docMk/>
            <pc:sldMk cId="4153180090" sldId="329"/>
            <ac:spMk id="3" creationId="{00000000-0000-0000-0000-000000000000}"/>
          </ac:spMkLst>
        </pc:spChg>
        <pc:inkChg chg="add">
          <ac:chgData name="Riely, Gregory" userId="8e9f1504-5205-4fae-b223-1d04dd54ed12" providerId="ADAL" clId="{820F0C39-9049-4EE1-A70C-B4FAF97CB913}" dt="2026-10-08T18:35:34.024" v="749" actId="9405"/>
          <ac:inkMkLst>
            <pc:docMk/>
            <pc:sldMk cId="4153180090" sldId="329"/>
            <ac:inkMk id="2" creationId="{4AD5EA0A-F408-9BBD-42E7-995998DDAA87}"/>
          </ac:inkMkLst>
        </pc:inkChg>
      </pc:sldChg>
      <pc:sldChg chg="addSp modSp mod">
        <pc:chgData name="Riely, Gregory" userId="8e9f1504-5205-4fae-b223-1d04dd54ed12" providerId="ADAL" clId="{820F0C39-9049-4EE1-A70C-B4FAF97CB913}" dt="2026-10-08T20:49:11.990" v="839"/>
        <pc:sldMkLst>
          <pc:docMk/>
          <pc:sldMk cId="0" sldId="450"/>
        </pc:sldMkLst>
        <pc:spChg chg="mod">
          <ac:chgData name="Riely, Gregory" userId="8e9f1504-5205-4fae-b223-1d04dd54ed12" providerId="ADAL" clId="{820F0C39-9049-4EE1-A70C-B4FAF97CB913}" dt="2026-10-08T13:27:09.088" v="81" actId="27636"/>
          <ac:spMkLst>
            <pc:docMk/>
            <pc:sldMk cId="0" sldId="450"/>
            <ac:spMk id="3" creationId="{00000000-0000-0000-0000-000000000000}"/>
          </ac:spMkLst>
        </pc:spChg>
        <pc:grpChg chg="mod">
          <ac:chgData name="Riely, Gregory" userId="8e9f1504-5205-4fae-b223-1d04dd54ed12" providerId="ADAL" clId="{820F0C39-9049-4EE1-A70C-B4FAF97CB913}" dt="2026-10-08T20:49:11.990" v="839"/>
          <ac:grpSpMkLst>
            <pc:docMk/>
            <pc:sldMk cId="0" sldId="450"/>
            <ac:grpSpMk id="6" creationId="{6ECFABA4-2F5F-EE35-5541-CEBBB85CCB0E}"/>
          </ac:grpSpMkLst>
        </pc:grpChg>
        <pc:inkChg chg="add mod">
          <ac:chgData name="Riely, Gregory" userId="8e9f1504-5205-4fae-b223-1d04dd54ed12" providerId="ADAL" clId="{820F0C39-9049-4EE1-A70C-B4FAF97CB913}" dt="2026-10-08T20:49:11.990" v="839"/>
          <ac:inkMkLst>
            <pc:docMk/>
            <pc:sldMk cId="0" sldId="450"/>
            <ac:inkMk id="2" creationId="{CA473CAF-CB7D-402D-B81B-1FC9DBD6CD21}"/>
          </ac:inkMkLst>
        </pc:inkChg>
        <pc:inkChg chg="add mod">
          <ac:chgData name="Riely, Gregory" userId="8e9f1504-5205-4fae-b223-1d04dd54ed12" providerId="ADAL" clId="{820F0C39-9049-4EE1-A70C-B4FAF97CB913}" dt="2026-10-08T20:49:11.990" v="839"/>
          <ac:inkMkLst>
            <pc:docMk/>
            <pc:sldMk cId="0" sldId="450"/>
            <ac:inkMk id="4" creationId="{A5631CD0-087A-276F-6F97-3B0D72CECD74}"/>
          </ac:inkMkLst>
        </pc:inkChg>
        <pc:inkChg chg="add mod">
          <ac:chgData name="Riely, Gregory" userId="8e9f1504-5205-4fae-b223-1d04dd54ed12" providerId="ADAL" clId="{820F0C39-9049-4EE1-A70C-B4FAF97CB913}" dt="2026-10-08T20:49:11.990" v="839"/>
          <ac:inkMkLst>
            <pc:docMk/>
            <pc:sldMk cId="0" sldId="450"/>
            <ac:inkMk id="5" creationId="{26664921-2932-0F41-3F65-0287CF1AA2C4}"/>
          </ac:inkMkLst>
        </pc:inkChg>
      </pc:sldChg>
      <pc:sldChg chg="modSp mod">
        <pc:chgData name="Riely, Gregory" userId="8e9f1504-5205-4fae-b223-1d04dd54ed12" providerId="ADAL" clId="{820F0C39-9049-4EE1-A70C-B4FAF97CB913}" dt="2026-10-08T13:28:35.521" v="102" actId="403"/>
        <pc:sldMkLst>
          <pc:docMk/>
          <pc:sldMk cId="2997086102" sldId="453"/>
        </pc:sldMkLst>
        <pc:spChg chg="mod">
          <ac:chgData name="Riely, Gregory" userId="8e9f1504-5205-4fae-b223-1d04dd54ed12" providerId="ADAL" clId="{820F0C39-9049-4EE1-A70C-B4FAF97CB913}" dt="2026-10-08T13:28:35.521" v="102" actId="403"/>
          <ac:spMkLst>
            <pc:docMk/>
            <pc:sldMk cId="2997086102" sldId="453"/>
            <ac:spMk id="1617922" creationId="{00000000-0000-0000-0000-000000000000}"/>
          </ac:spMkLst>
        </pc:spChg>
      </pc:sldChg>
      <pc:sldChg chg="modSp mod">
        <pc:chgData name="Riely, Gregory" userId="8e9f1504-5205-4fae-b223-1d04dd54ed12" providerId="ADAL" clId="{820F0C39-9049-4EE1-A70C-B4FAF97CB913}" dt="2026-10-08T13:28:47.824" v="106" actId="404"/>
        <pc:sldMkLst>
          <pc:docMk/>
          <pc:sldMk cId="1355601838" sldId="454"/>
        </pc:sldMkLst>
        <pc:spChg chg="mod">
          <ac:chgData name="Riely, Gregory" userId="8e9f1504-5205-4fae-b223-1d04dd54ed12" providerId="ADAL" clId="{820F0C39-9049-4EE1-A70C-B4FAF97CB913}" dt="2026-10-08T13:28:47.824" v="106" actId="404"/>
          <ac:spMkLst>
            <pc:docMk/>
            <pc:sldMk cId="1355601838" sldId="454"/>
            <ac:spMk id="1617922" creationId="{00000000-0000-0000-0000-000000000000}"/>
          </ac:spMkLst>
        </pc:spChg>
      </pc:sldChg>
      <pc:sldChg chg="addSp delSp modSp mod">
        <pc:chgData name="Riely, Gregory" userId="8e9f1504-5205-4fae-b223-1d04dd54ed12" providerId="ADAL" clId="{820F0C39-9049-4EE1-A70C-B4FAF97CB913}" dt="2026-10-08T13:34:39.660" v="147" actId="9405"/>
        <pc:sldMkLst>
          <pc:docMk/>
          <pc:sldMk cId="1026952349" sldId="455"/>
        </pc:sldMkLst>
        <pc:spChg chg="mod">
          <ac:chgData name="Riely, Gregory" userId="8e9f1504-5205-4fae-b223-1d04dd54ed12" providerId="ADAL" clId="{820F0C39-9049-4EE1-A70C-B4FAF97CB913}" dt="2026-10-08T13:32:29.596" v="131" actId="115"/>
          <ac:spMkLst>
            <pc:docMk/>
            <pc:sldMk cId="1026952349" sldId="455"/>
            <ac:spMk id="3" creationId="{00000000-0000-0000-0000-000000000000}"/>
          </ac:spMkLst>
        </pc:spChg>
        <pc:inkChg chg="add mod">
          <ac:chgData name="Riely, Gregory" userId="8e9f1504-5205-4fae-b223-1d04dd54ed12" providerId="ADAL" clId="{820F0C39-9049-4EE1-A70C-B4FAF97CB913}" dt="2026-10-08T13:33:00.531" v="134"/>
          <ac:inkMkLst>
            <pc:docMk/>
            <pc:sldMk cId="1026952349" sldId="455"/>
            <ac:inkMk id="5" creationId="{B8D3BDAF-6EF8-8CC4-04A5-6FE02A8B7FDB}"/>
          </ac:inkMkLst>
        </pc:inkChg>
        <pc:inkChg chg="add">
          <ac:chgData name="Riely, Gregory" userId="8e9f1504-5205-4fae-b223-1d04dd54ed12" providerId="ADAL" clId="{820F0C39-9049-4EE1-A70C-B4FAF97CB913}" dt="2026-10-08T13:34:39.660" v="147" actId="9405"/>
          <ac:inkMkLst>
            <pc:docMk/>
            <pc:sldMk cId="1026952349" sldId="455"/>
            <ac:inkMk id="6" creationId="{CF3066BA-FA47-48FD-3A49-263591F7F67F}"/>
          </ac:inkMkLst>
        </pc:inkChg>
      </pc:sldChg>
      <pc:sldChg chg="modSp mod">
        <pc:chgData name="Riely, Gregory" userId="8e9f1504-5205-4fae-b223-1d04dd54ed12" providerId="ADAL" clId="{820F0C39-9049-4EE1-A70C-B4FAF97CB913}" dt="2026-10-08T13:30:43.357" v="118" actId="403"/>
        <pc:sldMkLst>
          <pc:docMk/>
          <pc:sldMk cId="2045512469" sldId="456"/>
        </pc:sldMkLst>
        <pc:spChg chg="mod">
          <ac:chgData name="Riely, Gregory" userId="8e9f1504-5205-4fae-b223-1d04dd54ed12" providerId="ADAL" clId="{820F0C39-9049-4EE1-A70C-B4FAF97CB913}" dt="2026-10-08T13:30:43.357" v="118" actId="403"/>
          <ac:spMkLst>
            <pc:docMk/>
            <pc:sldMk cId="2045512469" sldId="456"/>
            <ac:spMk id="2" creationId="{00000000-0000-0000-0000-000000000000}"/>
          </ac:spMkLst>
        </pc:spChg>
      </pc:sldChg>
      <pc:sldChg chg="modSp mod">
        <pc:chgData name="Riely, Gregory" userId="8e9f1504-5205-4fae-b223-1d04dd54ed12" providerId="ADAL" clId="{820F0C39-9049-4EE1-A70C-B4FAF97CB913}" dt="2026-10-08T13:30:55.290" v="119" actId="403"/>
        <pc:sldMkLst>
          <pc:docMk/>
          <pc:sldMk cId="618456300" sldId="457"/>
        </pc:sldMkLst>
        <pc:spChg chg="mod">
          <ac:chgData name="Riely, Gregory" userId="8e9f1504-5205-4fae-b223-1d04dd54ed12" providerId="ADAL" clId="{820F0C39-9049-4EE1-A70C-B4FAF97CB913}" dt="2026-10-08T13:30:55.290" v="119" actId="403"/>
          <ac:spMkLst>
            <pc:docMk/>
            <pc:sldMk cId="618456300" sldId="457"/>
            <ac:spMk id="1027" creationId="{00000000-0000-0000-0000-000000000000}"/>
          </ac:spMkLst>
        </pc:spChg>
      </pc:sldChg>
      <pc:sldChg chg="modSp mod">
        <pc:chgData name="Riely, Gregory" userId="8e9f1504-5205-4fae-b223-1d04dd54ed12" providerId="ADAL" clId="{820F0C39-9049-4EE1-A70C-B4FAF97CB913}" dt="2026-10-08T13:33:42.454" v="138" actId="403"/>
        <pc:sldMkLst>
          <pc:docMk/>
          <pc:sldMk cId="1834661749" sldId="458"/>
        </pc:sldMkLst>
        <pc:spChg chg="mod">
          <ac:chgData name="Riely, Gregory" userId="8e9f1504-5205-4fae-b223-1d04dd54ed12" providerId="ADAL" clId="{820F0C39-9049-4EE1-A70C-B4FAF97CB913}" dt="2026-10-08T13:33:42.454" v="138" actId="403"/>
          <ac:spMkLst>
            <pc:docMk/>
            <pc:sldMk cId="1834661749" sldId="458"/>
            <ac:spMk id="2" creationId="{00000000-0000-0000-0000-000000000000}"/>
          </ac:spMkLst>
        </pc:spChg>
      </pc:sldChg>
      <pc:sldChg chg="addSp mod">
        <pc:chgData name="Riely, Gregory" userId="8e9f1504-5205-4fae-b223-1d04dd54ed12" providerId="ADAL" clId="{820F0C39-9049-4EE1-A70C-B4FAF97CB913}" dt="2026-10-08T19:15:27.613" v="752" actId="9405"/>
        <pc:sldMkLst>
          <pc:docMk/>
          <pc:sldMk cId="855744636" sldId="482"/>
        </pc:sldMkLst>
        <pc:inkChg chg="add">
          <ac:chgData name="Riely, Gregory" userId="8e9f1504-5205-4fae-b223-1d04dd54ed12" providerId="ADAL" clId="{820F0C39-9049-4EE1-A70C-B4FAF97CB913}" dt="2026-10-08T18:35:52.928" v="751" actId="9405"/>
          <ac:inkMkLst>
            <pc:docMk/>
            <pc:sldMk cId="855744636" sldId="482"/>
            <ac:inkMk id="2" creationId="{4008E655-5609-91D8-56A1-9E400A6CE4E6}"/>
          </ac:inkMkLst>
        </pc:inkChg>
        <pc:inkChg chg="add">
          <ac:chgData name="Riely, Gregory" userId="8e9f1504-5205-4fae-b223-1d04dd54ed12" providerId="ADAL" clId="{820F0C39-9049-4EE1-A70C-B4FAF97CB913}" dt="2026-10-08T19:15:27.613" v="752" actId="9405"/>
          <ac:inkMkLst>
            <pc:docMk/>
            <pc:sldMk cId="855744636" sldId="482"/>
            <ac:inkMk id="4" creationId="{1E87FEDA-D1BF-BAF2-2DB1-30819D7E71EF}"/>
          </ac:inkMkLst>
        </pc:inkChg>
      </pc:sldChg>
      <pc:sldChg chg="addSp modSp mod">
        <pc:chgData name="Riely, Gregory" userId="8e9f1504-5205-4fae-b223-1d04dd54ed12" providerId="ADAL" clId="{820F0C39-9049-4EE1-A70C-B4FAF97CB913}" dt="2026-10-08T19:15:47.594" v="756"/>
        <pc:sldMkLst>
          <pc:docMk/>
          <pc:sldMk cId="989757327" sldId="483"/>
        </pc:sldMkLst>
        <pc:grpChg chg="mod">
          <ac:chgData name="Riely, Gregory" userId="8e9f1504-5205-4fae-b223-1d04dd54ed12" providerId="ADAL" clId="{820F0C39-9049-4EE1-A70C-B4FAF97CB913}" dt="2026-10-08T19:15:47.594" v="756"/>
          <ac:grpSpMkLst>
            <pc:docMk/>
            <pc:sldMk cId="989757327" sldId="483"/>
            <ac:grpSpMk id="9" creationId="{E91C8397-5350-CECB-689F-9AAAC4BCACC8}"/>
          </ac:grpSpMkLst>
        </pc:grpChg>
        <pc:inkChg chg="add mod">
          <ac:chgData name="Riely, Gregory" userId="8e9f1504-5205-4fae-b223-1d04dd54ed12" providerId="ADAL" clId="{820F0C39-9049-4EE1-A70C-B4FAF97CB913}" dt="2026-10-08T19:15:47.594" v="756"/>
          <ac:inkMkLst>
            <pc:docMk/>
            <pc:sldMk cId="989757327" sldId="483"/>
            <ac:inkMk id="3" creationId="{CC558F4B-18F6-D653-DA20-960B3589004D}"/>
          </ac:inkMkLst>
        </pc:inkChg>
        <pc:inkChg chg="add mod">
          <ac:chgData name="Riely, Gregory" userId="8e9f1504-5205-4fae-b223-1d04dd54ed12" providerId="ADAL" clId="{820F0C39-9049-4EE1-A70C-B4FAF97CB913}" dt="2026-10-08T19:15:47.594" v="756"/>
          <ac:inkMkLst>
            <pc:docMk/>
            <pc:sldMk cId="989757327" sldId="483"/>
            <ac:inkMk id="7" creationId="{A69C1653-1128-698A-45C0-159792FD0194}"/>
          </ac:inkMkLst>
        </pc:inkChg>
        <pc:inkChg chg="add mod">
          <ac:chgData name="Riely, Gregory" userId="8e9f1504-5205-4fae-b223-1d04dd54ed12" providerId="ADAL" clId="{820F0C39-9049-4EE1-A70C-B4FAF97CB913}" dt="2026-10-08T19:15:47.594" v="756"/>
          <ac:inkMkLst>
            <pc:docMk/>
            <pc:sldMk cId="989757327" sldId="483"/>
            <ac:inkMk id="8" creationId="{A6BBBC01-2C24-4F13-A000-4BA0C21C571D}"/>
          </ac:inkMkLst>
        </pc:inkChg>
      </pc:sldChg>
      <pc:sldChg chg="addSp modSp mod">
        <pc:chgData name="Riely, Gregory" userId="8e9f1504-5205-4fae-b223-1d04dd54ed12" providerId="ADAL" clId="{820F0C39-9049-4EE1-A70C-B4FAF97CB913}" dt="2026-10-08T19:16:11.633" v="760" actId="9405"/>
        <pc:sldMkLst>
          <pc:docMk/>
          <pc:sldMk cId="469329702" sldId="484"/>
        </pc:sldMkLst>
        <pc:spChg chg="mod">
          <ac:chgData name="Riely, Gregory" userId="8e9f1504-5205-4fae-b223-1d04dd54ed12" providerId="ADAL" clId="{820F0C39-9049-4EE1-A70C-B4FAF97CB913}" dt="2026-10-08T19:16:01.648" v="759" actId="115"/>
          <ac:spMkLst>
            <pc:docMk/>
            <pc:sldMk cId="469329702" sldId="484"/>
            <ac:spMk id="3" creationId="{00000000-0000-0000-0000-000000000000}"/>
          </ac:spMkLst>
        </pc:spChg>
        <pc:inkChg chg="add">
          <ac:chgData name="Riely, Gregory" userId="8e9f1504-5205-4fae-b223-1d04dd54ed12" providerId="ADAL" clId="{820F0C39-9049-4EE1-A70C-B4FAF97CB913}" dt="2026-10-08T19:16:11.633" v="760" actId="9405"/>
          <ac:inkMkLst>
            <pc:docMk/>
            <pc:sldMk cId="469329702" sldId="484"/>
            <ac:inkMk id="2" creationId="{B52E319E-9259-8B99-39F4-55C86A0D3F18}"/>
          </ac:inkMkLst>
        </pc:inkChg>
      </pc:sldChg>
      <pc:sldChg chg="modSp mod">
        <pc:chgData name="Riely, Gregory" userId="8e9f1504-5205-4fae-b223-1d04dd54ed12" providerId="ADAL" clId="{820F0C39-9049-4EE1-A70C-B4FAF97CB913}" dt="2026-10-07T17:57:25.183" v="2" actId="20577"/>
        <pc:sldMkLst>
          <pc:docMk/>
          <pc:sldMk cId="2559937870" sldId="510"/>
        </pc:sldMkLst>
        <pc:spChg chg="mod">
          <ac:chgData name="Riely, Gregory" userId="8e9f1504-5205-4fae-b223-1d04dd54ed12" providerId="ADAL" clId="{820F0C39-9049-4EE1-A70C-B4FAF97CB913}" dt="2026-10-07T17:57:25.183" v="2" actId="20577"/>
          <ac:spMkLst>
            <pc:docMk/>
            <pc:sldMk cId="2559937870" sldId="510"/>
            <ac:spMk id="5" creationId="{4BCAC62F-D412-BC69-1300-419EFDBD891C}"/>
          </ac:spMkLst>
        </pc:spChg>
      </pc:sldChg>
      <pc:sldChg chg="modSp mod">
        <pc:chgData name="Riely, Gregory" userId="8e9f1504-5205-4fae-b223-1d04dd54ed12" providerId="ADAL" clId="{820F0C39-9049-4EE1-A70C-B4FAF97CB913}" dt="2026-10-08T21:01:15.141" v="1129" actId="403"/>
        <pc:sldMkLst>
          <pc:docMk/>
          <pc:sldMk cId="1497606862" sldId="586"/>
        </pc:sldMkLst>
        <pc:spChg chg="mod">
          <ac:chgData name="Riely, Gregory" userId="8e9f1504-5205-4fae-b223-1d04dd54ed12" providerId="ADAL" clId="{820F0C39-9049-4EE1-A70C-B4FAF97CB913}" dt="2026-10-08T21:01:15.141" v="1129" actId="403"/>
          <ac:spMkLst>
            <pc:docMk/>
            <pc:sldMk cId="1497606862" sldId="586"/>
            <ac:spMk id="54274" creationId="{00000000-0000-0000-0000-000000000000}"/>
          </ac:spMkLst>
        </pc:spChg>
      </pc:sldChg>
      <pc:sldChg chg="modSp mod">
        <pc:chgData name="Riely, Gregory" userId="8e9f1504-5205-4fae-b223-1d04dd54ed12" providerId="ADAL" clId="{820F0C39-9049-4EE1-A70C-B4FAF97CB913}" dt="2026-10-08T21:01:59.261" v="1134" actId="113"/>
        <pc:sldMkLst>
          <pc:docMk/>
          <pc:sldMk cId="1871831822" sldId="600"/>
        </pc:sldMkLst>
        <pc:spChg chg="mod">
          <ac:chgData name="Riely, Gregory" userId="8e9f1504-5205-4fae-b223-1d04dd54ed12" providerId="ADAL" clId="{820F0C39-9049-4EE1-A70C-B4FAF97CB913}" dt="2026-10-08T21:01:59.261" v="1134" actId="113"/>
          <ac:spMkLst>
            <pc:docMk/>
            <pc:sldMk cId="1871831822" sldId="600"/>
            <ac:spMk id="2" creationId="{00000000-0000-0000-0000-000000000000}"/>
          </ac:spMkLst>
        </pc:spChg>
      </pc:sldChg>
      <pc:sldChg chg="modSp mod">
        <pc:chgData name="Riely, Gregory" userId="8e9f1504-5205-4fae-b223-1d04dd54ed12" providerId="ADAL" clId="{820F0C39-9049-4EE1-A70C-B4FAF97CB913}" dt="2026-10-08T21:02:49.937" v="1150" actId="20577"/>
        <pc:sldMkLst>
          <pc:docMk/>
          <pc:sldMk cId="961438603" sldId="603"/>
        </pc:sldMkLst>
        <pc:spChg chg="mod">
          <ac:chgData name="Riely, Gregory" userId="8e9f1504-5205-4fae-b223-1d04dd54ed12" providerId="ADAL" clId="{820F0C39-9049-4EE1-A70C-B4FAF97CB913}" dt="2026-10-08T21:02:49.937" v="1150" actId="20577"/>
          <ac:spMkLst>
            <pc:docMk/>
            <pc:sldMk cId="961438603" sldId="603"/>
            <ac:spMk id="2" creationId="{00000000-0000-0000-0000-000000000000}"/>
          </ac:spMkLst>
        </pc:spChg>
      </pc:sldChg>
      <pc:sldChg chg="modSp mod">
        <pc:chgData name="Riely, Gregory" userId="8e9f1504-5205-4fae-b223-1d04dd54ed12" providerId="ADAL" clId="{820F0C39-9049-4EE1-A70C-B4FAF97CB913}" dt="2026-10-08T21:03:05.336" v="1164" actId="1036"/>
        <pc:sldMkLst>
          <pc:docMk/>
          <pc:sldMk cId="2677387310" sldId="604"/>
        </pc:sldMkLst>
        <pc:spChg chg="mod">
          <ac:chgData name="Riely, Gregory" userId="8e9f1504-5205-4fae-b223-1d04dd54ed12" providerId="ADAL" clId="{820F0C39-9049-4EE1-A70C-B4FAF97CB913}" dt="2026-10-08T21:02:59.939" v="1152" actId="403"/>
          <ac:spMkLst>
            <pc:docMk/>
            <pc:sldMk cId="2677387310" sldId="604"/>
            <ac:spMk id="2" creationId="{00000000-0000-0000-0000-000000000000}"/>
          </ac:spMkLst>
        </pc:spChg>
        <pc:spChg chg="mod">
          <ac:chgData name="Riely, Gregory" userId="8e9f1504-5205-4fae-b223-1d04dd54ed12" providerId="ADAL" clId="{820F0C39-9049-4EE1-A70C-B4FAF97CB913}" dt="2026-10-08T21:03:05.336" v="1164" actId="1036"/>
          <ac:spMkLst>
            <pc:docMk/>
            <pc:sldMk cId="2677387310" sldId="604"/>
            <ac:spMk id="5" creationId="{00000000-0000-0000-0000-000000000000}"/>
          </ac:spMkLst>
        </pc:spChg>
        <pc:cxnChg chg="mod">
          <ac:chgData name="Riely, Gregory" userId="8e9f1504-5205-4fae-b223-1d04dd54ed12" providerId="ADAL" clId="{820F0C39-9049-4EE1-A70C-B4FAF97CB913}" dt="2026-10-08T21:03:05.336" v="1164" actId="1036"/>
          <ac:cxnSpMkLst>
            <pc:docMk/>
            <pc:sldMk cId="2677387310" sldId="604"/>
            <ac:cxnSpMk id="7" creationId="{00000000-0000-0000-0000-000000000000}"/>
          </ac:cxnSpMkLst>
        </pc:cxnChg>
      </pc:sldChg>
      <pc:sldChg chg="modSp mod">
        <pc:chgData name="Riely, Gregory" userId="8e9f1504-5205-4fae-b223-1d04dd54ed12" providerId="ADAL" clId="{820F0C39-9049-4EE1-A70C-B4FAF97CB913}" dt="2026-10-08T21:08:14.470" v="1358" actId="5793"/>
        <pc:sldMkLst>
          <pc:docMk/>
          <pc:sldMk cId="335826093" sldId="613"/>
        </pc:sldMkLst>
        <pc:spChg chg="mod">
          <ac:chgData name="Riely, Gregory" userId="8e9f1504-5205-4fae-b223-1d04dd54ed12" providerId="ADAL" clId="{820F0C39-9049-4EE1-A70C-B4FAF97CB913}" dt="2026-10-08T21:08:14.470" v="1358" actId="5793"/>
          <ac:spMkLst>
            <pc:docMk/>
            <pc:sldMk cId="335826093" sldId="613"/>
            <ac:spMk id="2" creationId="{00000000-0000-0000-0000-000000000000}"/>
          </ac:spMkLst>
        </pc:spChg>
        <pc:spChg chg="mod">
          <ac:chgData name="Riely, Gregory" userId="8e9f1504-5205-4fae-b223-1d04dd54ed12" providerId="ADAL" clId="{820F0C39-9049-4EE1-A70C-B4FAF97CB913}" dt="2026-10-08T21:08:08.085" v="1342" actId="1076"/>
          <ac:spMkLst>
            <pc:docMk/>
            <pc:sldMk cId="335826093" sldId="613"/>
            <ac:spMk id="3" creationId="{00000000-0000-0000-0000-000000000000}"/>
          </ac:spMkLst>
        </pc:spChg>
        <pc:spChg chg="mod">
          <ac:chgData name="Riely, Gregory" userId="8e9f1504-5205-4fae-b223-1d04dd54ed12" providerId="ADAL" clId="{820F0C39-9049-4EE1-A70C-B4FAF97CB913}" dt="2026-10-08T21:08:03.892" v="1341" actId="1076"/>
          <ac:spMkLst>
            <pc:docMk/>
            <pc:sldMk cId="335826093" sldId="613"/>
            <ac:spMk id="4" creationId="{801FEE5F-49C2-333A-FBD7-678EAD8287CF}"/>
          </ac:spMkLst>
        </pc:spChg>
      </pc:sldChg>
      <pc:sldChg chg="addSp delSp modSp mod">
        <pc:chgData name="Riely, Gregory" userId="8e9f1504-5205-4fae-b223-1d04dd54ed12" providerId="ADAL" clId="{820F0C39-9049-4EE1-A70C-B4FAF97CB913}" dt="2026-10-08T13:35:25.669" v="154"/>
        <pc:sldMkLst>
          <pc:docMk/>
          <pc:sldMk cId="3892799467" sldId="647"/>
        </pc:sldMkLst>
        <pc:spChg chg="mod">
          <ac:chgData name="Riely, Gregory" userId="8e9f1504-5205-4fae-b223-1d04dd54ed12" providerId="ADAL" clId="{820F0C39-9049-4EE1-A70C-B4FAF97CB913}" dt="2026-10-08T13:28:01.166" v="95" actId="5793"/>
          <ac:spMkLst>
            <pc:docMk/>
            <pc:sldMk cId="3892799467" sldId="647"/>
            <ac:spMk id="3" creationId="{00000000-0000-0000-0000-000000000000}"/>
          </ac:spMkLst>
        </pc:spChg>
        <pc:inkChg chg="add del">
          <ac:chgData name="Riely, Gregory" userId="8e9f1504-5205-4fae-b223-1d04dd54ed12" providerId="ADAL" clId="{820F0C39-9049-4EE1-A70C-B4FAF97CB913}" dt="2026-10-08T13:35:25.669" v="154"/>
          <ac:inkMkLst>
            <pc:docMk/>
            <pc:sldMk cId="3892799467" sldId="647"/>
            <ac:inkMk id="5" creationId="{C1B67423-6F0B-9BD6-B9B0-C9BBC21A8B83}"/>
          </ac:inkMkLst>
        </pc:inkChg>
      </pc:sldChg>
      <pc:sldChg chg="addSp modSp mod">
        <pc:chgData name="Riely, Gregory" userId="8e9f1504-5205-4fae-b223-1d04dd54ed12" providerId="ADAL" clId="{820F0C39-9049-4EE1-A70C-B4FAF97CB913}" dt="2026-10-08T20:51:56.897" v="874" actId="9405"/>
        <pc:sldMkLst>
          <pc:docMk/>
          <pc:sldMk cId="0" sldId="665"/>
        </pc:sldMkLst>
        <pc:spChg chg="mod">
          <ac:chgData name="Riely, Gregory" userId="8e9f1504-5205-4fae-b223-1d04dd54ed12" providerId="ADAL" clId="{820F0C39-9049-4EE1-A70C-B4FAF97CB913}" dt="2026-10-08T20:51:43.040" v="865" actId="113"/>
          <ac:spMkLst>
            <pc:docMk/>
            <pc:sldMk cId="0" sldId="665"/>
            <ac:spMk id="3" creationId="{00000000-0000-0000-0000-000000000000}"/>
          </ac:spMkLst>
        </pc:spChg>
        <pc:inkChg chg="add">
          <ac:chgData name="Riely, Gregory" userId="8e9f1504-5205-4fae-b223-1d04dd54ed12" providerId="ADAL" clId="{820F0C39-9049-4EE1-A70C-B4FAF97CB913}" dt="2026-10-08T20:51:47.753" v="866" actId="9405"/>
          <ac:inkMkLst>
            <pc:docMk/>
            <pc:sldMk cId="0" sldId="665"/>
            <ac:inkMk id="2" creationId="{FE8FD8DB-40E8-1318-2482-AEDBF2A0BC2F}"/>
          </ac:inkMkLst>
        </pc:inkChg>
        <pc:inkChg chg="add">
          <ac:chgData name="Riely, Gregory" userId="8e9f1504-5205-4fae-b223-1d04dd54ed12" providerId="ADAL" clId="{820F0C39-9049-4EE1-A70C-B4FAF97CB913}" dt="2026-10-08T20:51:48.931" v="867" actId="9405"/>
          <ac:inkMkLst>
            <pc:docMk/>
            <pc:sldMk cId="0" sldId="665"/>
            <ac:inkMk id="5" creationId="{5F32B989-0FED-8FB0-7082-F95F9C3366FD}"/>
          </ac:inkMkLst>
        </pc:inkChg>
        <pc:inkChg chg="add">
          <ac:chgData name="Riely, Gregory" userId="8e9f1504-5205-4fae-b223-1d04dd54ed12" providerId="ADAL" clId="{820F0C39-9049-4EE1-A70C-B4FAF97CB913}" dt="2026-10-08T20:51:49.859" v="868" actId="9405"/>
          <ac:inkMkLst>
            <pc:docMk/>
            <pc:sldMk cId="0" sldId="665"/>
            <ac:inkMk id="6" creationId="{E6A79CD0-1831-8497-5EFD-8F957C4881CA}"/>
          </ac:inkMkLst>
        </pc:inkChg>
        <pc:inkChg chg="add">
          <ac:chgData name="Riely, Gregory" userId="8e9f1504-5205-4fae-b223-1d04dd54ed12" providerId="ADAL" clId="{820F0C39-9049-4EE1-A70C-B4FAF97CB913}" dt="2026-10-08T20:51:50.819" v="869" actId="9405"/>
          <ac:inkMkLst>
            <pc:docMk/>
            <pc:sldMk cId="0" sldId="665"/>
            <ac:inkMk id="7" creationId="{E044B727-2AA4-8DAB-35B6-4B02460E26BA}"/>
          </ac:inkMkLst>
        </pc:inkChg>
        <pc:inkChg chg="add">
          <ac:chgData name="Riely, Gregory" userId="8e9f1504-5205-4fae-b223-1d04dd54ed12" providerId="ADAL" clId="{820F0C39-9049-4EE1-A70C-B4FAF97CB913}" dt="2026-10-08T20:51:52.033" v="870" actId="9405"/>
          <ac:inkMkLst>
            <pc:docMk/>
            <pc:sldMk cId="0" sldId="665"/>
            <ac:inkMk id="8" creationId="{C002890B-E5E5-E355-329E-D3E259C7879E}"/>
          </ac:inkMkLst>
        </pc:inkChg>
        <pc:inkChg chg="add">
          <ac:chgData name="Riely, Gregory" userId="8e9f1504-5205-4fae-b223-1d04dd54ed12" providerId="ADAL" clId="{820F0C39-9049-4EE1-A70C-B4FAF97CB913}" dt="2026-10-08T20:51:53.020" v="871" actId="9405"/>
          <ac:inkMkLst>
            <pc:docMk/>
            <pc:sldMk cId="0" sldId="665"/>
            <ac:inkMk id="9" creationId="{785B2CB6-766F-5AB0-4DFE-425C9A2C1F9F}"/>
          </ac:inkMkLst>
        </pc:inkChg>
        <pc:inkChg chg="add">
          <ac:chgData name="Riely, Gregory" userId="8e9f1504-5205-4fae-b223-1d04dd54ed12" providerId="ADAL" clId="{820F0C39-9049-4EE1-A70C-B4FAF97CB913}" dt="2026-10-08T20:51:54.002" v="872" actId="9405"/>
          <ac:inkMkLst>
            <pc:docMk/>
            <pc:sldMk cId="0" sldId="665"/>
            <ac:inkMk id="10" creationId="{C063A653-047A-74A7-458F-44A319E4DCC3}"/>
          </ac:inkMkLst>
        </pc:inkChg>
        <pc:inkChg chg="add">
          <ac:chgData name="Riely, Gregory" userId="8e9f1504-5205-4fae-b223-1d04dd54ed12" providerId="ADAL" clId="{820F0C39-9049-4EE1-A70C-B4FAF97CB913}" dt="2026-10-08T20:51:55.701" v="873" actId="9405"/>
          <ac:inkMkLst>
            <pc:docMk/>
            <pc:sldMk cId="0" sldId="665"/>
            <ac:inkMk id="11" creationId="{DB367D8C-31C5-A292-BA4D-B4B37A7A8651}"/>
          </ac:inkMkLst>
        </pc:inkChg>
        <pc:inkChg chg="add">
          <ac:chgData name="Riely, Gregory" userId="8e9f1504-5205-4fae-b223-1d04dd54ed12" providerId="ADAL" clId="{820F0C39-9049-4EE1-A70C-B4FAF97CB913}" dt="2026-10-08T20:51:56.897" v="874" actId="9405"/>
          <ac:inkMkLst>
            <pc:docMk/>
            <pc:sldMk cId="0" sldId="665"/>
            <ac:inkMk id="12" creationId="{CA698A12-6ED3-59C5-996B-84BF75970726}"/>
          </ac:inkMkLst>
        </pc:inkChg>
      </pc:sldChg>
      <pc:sldChg chg="addSp delSp modSp mod">
        <pc:chgData name="Riely, Gregory" userId="8e9f1504-5205-4fae-b223-1d04dd54ed12" providerId="ADAL" clId="{820F0C39-9049-4EE1-A70C-B4FAF97CB913}" dt="2026-10-08T20:50:41.196" v="853" actId="9405"/>
        <pc:sldMkLst>
          <pc:docMk/>
          <pc:sldMk cId="4043208647" sldId="667"/>
        </pc:sldMkLst>
        <pc:inkChg chg="add del">
          <ac:chgData name="Riely, Gregory" userId="8e9f1504-5205-4fae-b223-1d04dd54ed12" providerId="ADAL" clId="{820F0C39-9049-4EE1-A70C-B4FAF97CB913}" dt="2026-10-08T20:50:01.407" v="846"/>
          <ac:inkMkLst>
            <pc:docMk/>
            <pc:sldMk cId="4043208647" sldId="667"/>
            <ac:inkMk id="4" creationId="{0613C9CD-06A1-76B5-3AB8-5D04221881ED}"/>
          </ac:inkMkLst>
        </pc:inkChg>
        <pc:inkChg chg="add">
          <ac:chgData name="Riely, Gregory" userId="8e9f1504-5205-4fae-b223-1d04dd54ed12" providerId="ADAL" clId="{820F0C39-9049-4EE1-A70C-B4FAF97CB913}" dt="2026-10-08T20:50:22.712" v="851" actId="9405"/>
          <ac:inkMkLst>
            <pc:docMk/>
            <pc:sldMk cId="4043208647" sldId="667"/>
            <ac:inkMk id="9" creationId="{2F6BF234-25CB-1008-EB74-7D3EA8839F92}"/>
          </ac:inkMkLst>
        </pc:inkChg>
        <pc:inkChg chg="add">
          <ac:chgData name="Riely, Gregory" userId="8e9f1504-5205-4fae-b223-1d04dd54ed12" providerId="ADAL" clId="{820F0C39-9049-4EE1-A70C-B4FAF97CB913}" dt="2026-10-08T20:50:36.049" v="852" actId="9405"/>
          <ac:inkMkLst>
            <pc:docMk/>
            <pc:sldMk cId="4043208647" sldId="667"/>
            <ac:inkMk id="10" creationId="{9DABE6EB-686D-9012-4667-0019CD865D49}"/>
          </ac:inkMkLst>
        </pc:inkChg>
        <pc:inkChg chg="add">
          <ac:chgData name="Riely, Gregory" userId="8e9f1504-5205-4fae-b223-1d04dd54ed12" providerId="ADAL" clId="{820F0C39-9049-4EE1-A70C-B4FAF97CB913}" dt="2026-10-08T20:50:41.196" v="853" actId="9405"/>
          <ac:inkMkLst>
            <pc:docMk/>
            <pc:sldMk cId="4043208647" sldId="667"/>
            <ac:inkMk id="11" creationId="{B5E7A139-FD27-7F9A-DB58-9129BF149B1D}"/>
          </ac:inkMkLst>
        </pc:inkChg>
      </pc:sldChg>
      <pc:sldChg chg="addSp delSp mod">
        <pc:chgData name="Riely, Gregory" userId="8e9f1504-5205-4fae-b223-1d04dd54ed12" providerId="ADAL" clId="{820F0C39-9049-4EE1-A70C-B4FAF97CB913}" dt="2026-10-08T20:51:27.891" v="863"/>
        <pc:sldMkLst>
          <pc:docMk/>
          <pc:sldMk cId="3651513372" sldId="668"/>
        </pc:sldMkLst>
        <pc:inkChg chg="add">
          <ac:chgData name="Riely, Gregory" userId="8e9f1504-5205-4fae-b223-1d04dd54ed12" providerId="ADAL" clId="{820F0C39-9049-4EE1-A70C-B4FAF97CB913}" dt="2026-10-08T20:50:57.845" v="854" actId="9405"/>
          <ac:inkMkLst>
            <pc:docMk/>
            <pc:sldMk cId="3651513372" sldId="668"/>
            <ac:inkMk id="3" creationId="{AABCE15A-3094-EE9A-1C4A-2D08A2F2C08F}"/>
          </ac:inkMkLst>
        </pc:inkChg>
        <pc:inkChg chg="add">
          <ac:chgData name="Riely, Gregory" userId="8e9f1504-5205-4fae-b223-1d04dd54ed12" providerId="ADAL" clId="{820F0C39-9049-4EE1-A70C-B4FAF97CB913}" dt="2026-10-08T20:51:02.520" v="856"/>
          <ac:inkMkLst>
            <pc:docMk/>
            <pc:sldMk cId="3651513372" sldId="668"/>
            <ac:inkMk id="7" creationId="{62C01746-B04B-61CE-9797-18FFF122B7E2}"/>
          </ac:inkMkLst>
        </pc:inkChg>
        <pc:inkChg chg="add">
          <ac:chgData name="Riely, Gregory" userId="8e9f1504-5205-4fae-b223-1d04dd54ed12" providerId="ADAL" clId="{820F0C39-9049-4EE1-A70C-B4FAF97CB913}" dt="2026-10-08T20:51:10.544" v="858"/>
          <ac:inkMkLst>
            <pc:docMk/>
            <pc:sldMk cId="3651513372" sldId="668"/>
            <ac:inkMk id="9" creationId="{D2BD0B36-142C-7BC3-8AAC-0EEB517DDE79}"/>
          </ac:inkMkLst>
        </pc:inkChg>
        <pc:inkChg chg="add del">
          <ac:chgData name="Riely, Gregory" userId="8e9f1504-5205-4fae-b223-1d04dd54ed12" providerId="ADAL" clId="{820F0C39-9049-4EE1-A70C-B4FAF97CB913}" dt="2026-10-08T20:51:27.891" v="863"/>
          <ac:inkMkLst>
            <pc:docMk/>
            <pc:sldMk cId="3651513372" sldId="668"/>
            <ac:inkMk id="11" creationId="{3F5FDE99-ECE7-F721-3BE9-CF2EA98E552B}"/>
          </ac:inkMkLst>
        </pc:inkChg>
      </pc:sldChg>
      <pc:sldChg chg="modSp mod">
        <pc:chgData name="Riely, Gregory" userId="8e9f1504-5205-4fae-b223-1d04dd54ed12" providerId="ADAL" clId="{820F0C39-9049-4EE1-A70C-B4FAF97CB913}" dt="2026-10-08T20:56:24.481" v="940" actId="403"/>
        <pc:sldMkLst>
          <pc:docMk/>
          <pc:sldMk cId="0" sldId="672"/>
        </pc:sldMkLst>
        <pc:spChg chg="mod">
          <ac:chgData name="Riely, Gregory" userId="8e9f1504-5205-4fae-b223-1d04dd54ed12" providerId="ADAL" clId="{820F0C39-9049-4EE1-A70C-B4FAF97CB913}" dt="2026-10-08T20:56:24.481" v="940" actId="403"/>
          <ac:spMkLst>
            <pc:docMk/>
            <pc:sldMk cId="0" sldId="672"/>
            <ac:spMk id="5121" creationId="{00000000-0000-0000-0000-000000000000}"/>
          </ac:spMkLst>
        </pc:spChg>
      </pc:sldChg>
      <pc:sldChg chg="modSp mod">
        <pc:chgData name="Riely, Gregory" userId="8e9f1504-5205-4fae-b223-1d04dd54ed12" providerId="ADAL" clId="{820F0C39-9049-4EE1-A70C-B4FAF97CB913}" dt="2026-10-08T18:29:40.470" v="716" actId="20577"/>
        <pc:sldMkLst>
          <pc:docMk/>
          <pc:sldMk cId="1165231691" sldId="697"/>
        </pc:sldMkLst>
        <pc:spChg chg="mod">
          <ac:chgData name="Riely, Gregory" userId="8e9f1504-5205-4fae-b223-1d04dd54ed12" providerId="ADAL" clId="{820F0C39-9049-4EE1-A70C-B4FAF97CB913}" dt="2026-10-08T18:29:40.470" v="716" actId="20577"/>
          <ac:spMkLst>
            <pc:docMk/>
            <pc:sldMk cId="1165231691" sldId="697"/>
            <ac:spMk id="3" creationId="{00000000-0000-0000-0000-000000000000}"/>
          </ac:spMkLst>
        </pc:spChg>
        <pc:spChg chg="mod">
          <ac:chgData name="Riely, Gregory" userId="8e9f1504-5205-4fae-b223-1d04dd54ed12" providerId="ADAL" clId="{820F0C39-9049-4EE1-A70C-B4FAF97CB913}" dt="2026-10-08T18:29:14.272" v="676" actId="20577"/>
          <ac:spMkLst>
            <pc:docMk/>
            <pc:sldMk cId="1165231691" sldId="697"/>
            <ac:spMk id="4" creationId="{2F5191E4-B9BF-317E-4CC2-4B48F057D5CD}"/>
          </ac:spMkLst>
        </pc:spChg>
      </pc:sldChg>
      <pc:sldChg chg="modSp mod">
        <pc:chgData name="Riely, Gregory" userId="8e9f1504-5205-4fae-b223-1d04dd54ed12" providerId="ADAL" clId="{820F0C39-9049-4EE1-A70C-B4FAF97CB913}" dt="2026-10-08T18:13:36.069" v="640" actId="1076"/>
        <pc:sldMkLst>
          <pc:docMk/>
          <pc:sldMk cId="4276905156" sldId="698"/>
        </pc:sldMkLst>
        <pc:picChg chg="mod">
          <ac:chgData name="Riely, Gregory" userId="8e9f1504-5205-4fae-b223-1d04dd54ed12" providerId="ADAL" clId="{820F0C39-9049-4EE1-A70C-B4FAF97CB913}" dt="2026-10-08T18:13:36.069" v="640" actId="1076"/>
          <ac:picMkLst>
            <pc:docMk/>
            <pc:sldMk cId="4276905156" sldId="698"/>
            <ac:picMk id="6" creationId="{00000000-0000-0000-0000-000000000000}"/>
          </ac:picMkLst>
        </pc:picChg>
      </pc:sldChg>
      <pc:sldChg chg="modSp mod">
        <pc:chgData name="Riely, Gregory" userId="8e9f1504-5205-4fae-b223-1d04dd54ed12" providerId="ADAL" clId="{820F0C39-9049-4EE1-A70C-B4FAF97CB913}" dt="2026-10-08T18:14:24.469" v="656" actId="20577"/>
        <pc:sldMkLst>
          <pc:docMk/>
          <pc:sldMk cId="997636510" sldId="700"/>
        </pc:sldMkLst>
        <pc:spChg chg="mod">
          <ac:chgData name="Riely, Gregory" userId="8e9f1504-5205-4fae-b223-1d04dd54ed12" providerId="ADAL" clId="{820F0C39-9049-4EE1-A70C-B4FAF97CB913}" dt="2026-10-08T18:14:24.469" v="656" actId="20577"/>
          <ac:spMkLst>
            <pc:docMk/>
            <pc:sldMk cId="997636510" sldId="700"/>
            <ac:spMk id="2" creationId="{00000000-0000-0000-0000-000000000000}"/>
          </ac:spMkLst>
        </pc:spChg>
      </pc:sldChg>
      <pc:sldChg chg="modSp mod">
        <pc:chgData name="Riely, Gregory" userId="8e9f1504-5205-4fae-b223-1d04dd54ed12" providerId="ADAL" clId="{820F0C39-9049-4EE1-A70C-B4FAF97CB913}" dt="2026-10-08T18:11:47.424" v="633" actId="404"/>
        <pc:sldMkLst>
          <pc:docMk/>
          <pc:sldMk cId="140031255" sldId="705"/>
        </pc:sldMkLst>
        <pc:graphicFrameChg chg="modGraphic">
          <ac:chgData name="Riely, Gregory" userId="8e9f1504-5205-4fae-b223-1d04dd54ed12" providerId="ADAL" clId="{820F0C39-9049-4EE1-A70C-B4FAF97CB913}" dt="2026-10-08T18:11:47.424" v="633" actId="404"/>
          <ac:graphicFrameMkLst>
            <pc:docMk/>
            <pc:sldMk cId="140031255" sldId="705"/>
            <ac:graphicFrameMk id="5" creationId="{00000000-0000-0000-0000-000000000000}"/>
          </ac:graphicFrameMkLst>
        </pc:graphicFrameChg>
      </pc:sldChg>
      <pc:sldChg chg="addSp delSp modSp mod">
        <pc:chgData name="Riely, Gregory" userId="8e9f1504-5205-4fae-b223-1d04dd54ed12" providerId="ADAL" clId="{820F0C39-9049-4EE1-A70C-B4FAF97CB913}" dt="2026-10-08T21:23:27.841" v="1924" actId="9405"/>
        <pc:sldMkLst>
          <pc:docMk/>
          <pc:sldMk cId="3845318616" sldId="713"/>
        </pc:sldMkLst>
        <pc:spChg chg="mod">
          <ac:chgData name="Riely, Gregory" userId="8e9f1504-5205-4fae-b223-1d04dd54ed12" providerId="ADAL" clId="{820F0C39-9049-4EE1-A70C-B4FAF97CB913}" dt="2026-10-08T18:29:50.338" v="717" actId="115"/>
          <ac:spMkLst>
            <pc:docMk/>
            <pc:sldMk cId="3845318616" sldId="713"/>
            <ac:spMk id="3" creationId="{00000000-0000-0000-0000-000000000000}"/>
          </ac:spMkLst>
        </pc:spChg>
        <pc:inkChg chg="add">
          <ac:chgData name="Riely, Gregory" userId="8e9f1504-5205-4fae-b223-1d04dd54ed12" providerId="ADAL" clId="{820F0C39-9049-4EE1-A70C-B4FAF97CB913}" dt="2026-10-08T21:23:25.358" v="1923" actId="9405"/>
          <ac:inkMkLst>
            <pc:docMk/>
            <pc:sldMk cId="3845318616" sldId="713"/>
            <ac:inkMk id="7" creationId="{F5776FDC-4940-55A1-B00E-ED41BD738B32}"/>
          </ac:inkMkLst>
        </pc:inkChg>
        <pc:inkChg chg="add">
          <ac:chgData name="Riely, Gregory" userId="8e9f1504-5205-4fae-b223-1d04dd54ed12" providerId="ADAL" clId="{820F0C39-9049-4EE1-A70C-B4FAF97CB913}" dt="2026-10-08T21:23:27.841" v="1924" actId="9405"/>
          <ac:inkMkLst>
            <pc:docMk/>
            <pc:sldMk cId="3845318616" sldId="713"/>
            <ac:inkMk id="8" creationId="{47DC68E6-342B-7A37-9647-ACC065328C0F}"/>
          </ac:inkMkLst>
        </pc:inkChg>
      </pc:sldChg>
      <pc:sldChg chg="addSp delSp mod">
        <pc:chgData name="Riely, Gregory" userId="8e9f1504-5205-4fae-b223-1d04dd54ed12" providerId="ADAL" clId="{820F0C39-9049-4EE1-A70C-B4FAF97CB913}" dt="2026-10-08T21:03:53.140" v="1169"/>
        <pc:sldMkLst>
          <pc:docMk/>
          <pc:sldMk cId="3498532438" sldId="715"/>
        </pc:sldMkLst>
        <pc:inkChg chg="add">
          <ac:chgData name="Riely, Gregory" userId="8e9f1504-5205-4fae-b223-1d04dd54ed12" providerId="ADAL" clId="{820F0C39-9049-4EE1-A70C-B4FAF97CB913}" dt="2026-10-08T21:03:36.810" v="1165" actId="9405"/>
          <ac:inkMkLst>
            <pc:docMk/>
            <pc:sldMk cId="3498532438" sldId="715"/>
            <ac:inkMk id="2" creationId="{75962AB3-6D7C-51E4-5411-5AC83B6EA8C0}"/>
          </ac:inkMkLst>
        </pc:inkChg>
        <pc:inkChg chg="add">
          <ac:chgData name="Riely, Gregory" userId="8e9f1504-5205-4fae-b223-1d04dd54ed12" providerId="ADAL" clId="{820F0C39-9049-4EE1-A70C-B4FAF97CB913}" dt="2026-10-08T21:03:40.076" v="1166" actId="9405"/>
          <ac:inkMkLst>
            <pc:docMk/>
            <pc:sldMk cId="3498532438" sldId="715"/>
            <ac:inkMk id="3" creationId="{761D38B3-B27A-BCFF-49B1-2D7DF1B1C8B6}"/>
          </ac:inkMkLst>
        </pc:inkChg>
        <pc:inkChg chg="add del">
          <ac:chgData name="Riely, Gregory" userId="8e9f1504-5205-4fae-b223-1d04dd54ed12" providerId="ADAL" clId="{820F0C39-9049-4EE1-A70C-B4FAF97CB913}" dt="2026-10-08T21:03:53.140" v="1169"/>
          <ac:inkMkLst>
            <pc:docMk/>
            <pc:sldMk cId="3498532438" sldId="715"/>
            <ac:inkMk id="4" creationId="{3D7F0BFE-4697-0074-C341-1EE1D31FC1E2}"/>
          </ac:inkMkLst>
        </pc:inkChg>
      </pc:sldChg>
      <pc:sldChg chg="addSp modSp mod">
        <pc:chgData name="Riely, Gregory" userId="8e9f1504-5205-4fae-b223-1d04dd54ed12" providerId="ADAL" clId="{820F0C39-9049-4EE1-A70C-B4FAF97CB913}" dt="2026-10-08T20:52:48.872" v="891" actId="1076"/>
        <pc:sldMkLst>
          <pc:docMk/>
          <pc:sldMk cId="3361650230" sldId="846"/>
        </pc:sldMkLst>
        <pc:spChg chg="mod">
          <ac:chgData name="Riely, Gregory" userId="8e9f1504-5205-4fae-b223-1d04dd54ed12" providerId="ADAL" clId="{820F0C39-9049-4EE1-A70C-B4FAF97CB913}" dt="2026-10-08T20:52:48.872" v="891" actId="1076"/>
          <ac:spMkLst>
            <pc:docMk/>
            <pc:sldMk cId="3361650230" sldId="846"/>
            <ac:spMk id="2" creationId="{00000000-0000-0000-0000-000000000000}"/>
          </ac:spMkLst>
        </pc:spChg>
        <pc:inkChg chg="add">
          <ac:chgData name="Riely, Gregory" userId="8e9f1504-5205-4fae-b223-1d04dd54ed12" providerId="ADAL" clId="{820F0C39-9049-4EE1-A70C-B4FAF97CB913}" dt="2026-10-08T20:52:37.860" v="886" actId="9405"/>
          <ac:inkMkLst>
            <pc:docMk/>
            <pc:sldMk cId="3361650230" sldId="846"/>
            <ac:inkMk id="3" creationId="{A83E0E6F-6889-C100-E7BF-A04E494B965E}"/>
          </ac:inkMkLst>
        </pc:inkChg>
      </pc:sldChg>
      <pc:sldChg chg="modSp mod">
        <pc:chgData name="Riely, Gregory" userId="8e9f1504-5205-4fae-b223-1d04dd54ed12" providerId="ADAL" clId="{820F0C39-9049-4EE1-A70C-B4FAF97CB913}" dt="2026-10-08T20:53:56.814" v="926" actId="1076"/>
        <pc:sldMkLst>
          <pc:docMk/>
          <pc:sldMk cId="3461341217" sldId="847"/>
        </pc:sldMkLst>
        <pc:spChg chg="mod">
          <ac:chgData name="Riely, Gregory" userId="8e9f1504-5205-4fae-b223-1d04dd54ed12" providerId="ADAL" clId="{820F0C39-9049-4EE1-A70C-B4FAF97CB913}" dt="2026-10-08T20:53:01.044" v="893" actId="403"/>
          <ac:spMkLst>
            <pc:docMk/>
            <pc:sldMk cId="3461341217" sldId="847"/>
            <ac:spMk id="2" creationId="{00000000-0000-0000-0000-000000000000}"/>
          </ac:spMkLst>
        </pc:spChg>
        <pc:spChg chg="mod">
          <ac:chgData name="Riely, Gregory" userId="8e9f1504-5205-4fae-b223-1d04dd54ed12" providerId="ADAL" clId="{820F0C39-9049-4EE1-A70C-B4FAF97CB913}" dt="2026-10-08T20:53:56.814" v="926" actId="1076"/>
          <ac:spMkLst>
            <pc:docMk/>
            <pc:sldMk cId="3461341217" sldId="847"/>
            <ac:spMk id="5" creationId="{00000000-0000-0000-0000-000000000000}"/>
          </ac:spMkLst>
        </pc:spChg>
        <pc:spChg chg="mod">
          <ac:chgData name="Riely, Gregory" userId="8e9f1504-5205-4fae-b223-1d04dd54ed12" providerId="ADAL" clId="{820F0C39-9049-4EE1-A70C-B4FAF97CB913}" dt="2026-10-08T20:53:37.104" v="900" actId="14100"/>
          <ac:spMkLst>
            <pc:docMk/>
            <pc:sldMk cId="3461341217" sldId="847"/>
            <ac:spMk id="27" creationId="{00000000-0000-0000-0000-000000000000}"/>
          </ac:spMkLst>
        </pc:spChg>
        <pc:spChg chg="mod">
          <ac:chgData name="Riely, Gregory" userId="8e9f1504-5205-4fae-b223-1d04dd54ed12" providerId="ADAL" clId="{820F0C39-9049-4EE1-A70C-B4FAF97CB913}" dt="2026-10-08T20:53:37.104" v="900" actId="14100"/>
          <ac:spMkLst>
            <pc:docMk/>
            <pc:sldMk cId="3461341217" sldId="847"/>
            <ac:spMk id="28" creationId="{00000000-0000-0000-0000-000000000000}"/>
          </ac:spMkLst>
        </pc:spChg>
        <pc:spChg chg="mod">
          <ac:chgData name="Riely, Gregory" userId="8e9f1504-5205-4fae-b223-1d04dd54ed12" providerId="ADAL" clId="{820F0C39-9049-4EE1-A70C-B4FAF97CB913}" dt="2026-10-08T20:53:37.104" v="900" actId="14100"/>
          <ac:spMkLst>
            <pc:docMk/>
            <pc:sldMk cId="3461341217" sldId="847"/>
            <ac:spMk id="29" creationId="{00000000-0000-0000-0000-000000000000}"/>
          </ac:spMkLst>
        </pc:spChg>
        <pc:spChg chg="mod">
          <ac:chgData name="Riely, Gregory" userId="8e9f1504-5205-4fae-b223-1d04dd54ed12" providerId="ADAL" clId="{820F0C39-9049-4EE1-A70C-B4FAF97CB913}" dt="2026-10-08T20:53:45.693" v="923" actId="1037"/>
          <ac:spMkLst>
            <pc:docMk/>
            <pc:sldMk cId="3461341217" sldId="847"/>
            <ac:spMk id="33" creationId="{00000000-0000-0000-0000-000000000000}"/>
          </ac:spMkLst>
        </pc:spChg>
        <pc:spChg chg="mod">
          <ac:chgData name="Riely, Gregory" userId="8e9f1504-5205-4fae-b223-1d04dd54ed12" providerId="ADAL" clId="{820F0C39-9049-4EE1-A70C-B4FAF97CB913}" dt="2026-10-08T20:53:45.693" v="923" actId="1037"/>
          <ac:spMkLst>
            <pc:docMk/>
            <pc:sldMk cId="3461341217" sldId="847"/>
            <ac:spMk id="34" creationId="{00000000-0000-0000-0000-000000000000}"/>
          </ac:spMkLst>
        </pc:spChg>
        <pc:cxnChg chg="mod">
          <ac:chgData name="Riely, Gregory" userId="8e9f1504-5205-4fae-b223-1d04dd54ed12" providerId="ADAL" clId="{820F0C39-9049-4EE1-A70C-B4FAF97CB913}" dt="2026-10-08T20:53:37.104" v="900" actId="14100"/>
          <ac:cxnSpMkLst>
            <pc:docMk/>
            <pc:sldMk cId="3461341217" sldId="847"/>
            <ac:cxnSpMk id="30" creationId="{00000000-0000-0000-0000-000000000000}"/>
          </ac:cxnSpMkLst>
        </pc:cxnChg>
        <pc:cxnChg chg="mod">
          <ac:chgData name="Riely, Gregory" userId="8e9f1504-5205-4fae-b223-1d04dd54ed12" providerId="ADAL" clId="{820F0C39-9049-4EE1-A70C-B4FAF97CB913}" dt="2026-10-08T20:53:37.104" v="900" actId="14100"/>
          <ac:cxnSpMkLst>
            <pc:docMk/>
            <pc:sldMk cId="3461341217" sldId="847"/>
            <ac:cxnSpMk id="31" creationId="{00000000-0000-0000-0000-000000000000}"/>
          </ac:cxnSpMkLst>
        </pc:cxnChg>
      </pc:sldChg>
      <pc:sldChg chg="delSp modSp mod">
        <pc:chgData name="Riely, Gregory" userId="8e9f1504-5205-4fae-b223-1d04dd54ed12" providerId="ADAL" clId="{820F0C39-9049-4EE1-A70C-B4FAF97CB913}" dt="2026-10-08T20:16:40.196" v="826" actId="14100"/>
        <pc:sldMkLst>
          <pc:docMk/>
          <pc:sldMk cId="1365326536" sldId="868"/>
        </pc:sldMkLst>
        <pc:spChg chg="mod topLvl">
          <ac:chgData name="Riely, Gregory" userId="8e9f1504-5205-4fae-b223-1d04dd54ed12" providerId="ADAL" clId="{820F0C39-9049-4EE1-A70C-B4FAF97CB913}" dt="2026-10-08T20:16:08.550" v="787" actId="12"/>
          <ac:spMkLst>
            <pc:docMk/>
            <pc:sldMk cId="1365326536" sldId="868"/>
            <ac:spMk id="52" creationId="{EAD5154C-CDF5-4EAD-B8FC-2F6852363AC5}"/>
          </ac:spMkLst>
        </pc:spChg>
        <pc:spChg chg="mod topLvl">
          <ac:chgData name="Riely, Gregory" userId="8e9f1504-5205-4fae-b223-1d04dd54ed12" providerId="ADAL" clId="{820F0C39-9049-4EE1-A70C-B4FAF97CB913}" dt="2026-10-08T20:15:55.246" v="784" actId="403"/>
          <ac:spMkLst>
            <pc:docMk/>
            <pc:sldMk cId="1365326536" sldId="868"/>
            <ac:spMk id="54" creationId="{0F42F0B5-9A3C-4375-B355-BF7A54076E3D}"/>
          </ac:spMkLst>
        </pc:spChg>
        <pc:spChg chg="mod topLvl">
          <ac:chgData name="Riely, Gregory" userId="8e9f1504-5205-4fae-b223-1d04dd54ed12" providerId="ADAL" clId="{820F0C39-9049-4EE1-A70C-B4FAF97CB913}" dt="2026-10-08T20:16:24.419" v="809" actId="14100"/>
          <ac:spMkLst>
            <pc:docMk/>
            <pc:sldMk cId="1365326536" sldId="868"/>
            <ac:spMk id="55" creationId="{2B333A77-2AF5-4F60-B30E-0B5377E8EADA}"/>
          </ac:spMkLst>
        </pc:spChg>
        <pc:spChg chg="mod topLvl">
          <ac:chgData name="Riely, Gregory" userId="8e9f1504-5205-4fae-b223-1d04dd54ed12" providerId="ADAL" clId="{820F0C39-9049-4EE1-A70C-B4FAF97CB913}" dt="2026-10-08T20:16:37.168" v="825" actId="14100"/>
          <ac:spMkLst>
            <pc:docMk/>
            <pc:sldMk cId="1365326536" sldId="868"/>
            <ac:spMk id="56" creationId="{66EFD5C3-1A0B-4CC0-A415-0393A3F1463D}"/>
          </ac:spMkLst>
        </pc:spChg>
        <pc:spChg chg="mod topLvl">
          <ac:chgData name="Riely, Gregory" userId="8e9f1504-5205-4fae-b223-1d04dd54ed12" providerId="ADAL" clId="{820F0C39-9049-4EE1-A70C-B4FAF97CB913}" dt="2026-10-08T20:16:27.115" v="810" actId="14100"/>
          <ac:spMkLst>
            <pc:docMk/>
            <pc:sldMk cId="1365326536" sldId="868"/>
            <ac:spMk id="59" creationId="{CBFF09E3-BDD4-4514-864B-54460C53DBCB}"/>
          </ac:spMkLst>
        </pc:spChg>
        <pc:spChg chg="mod topLvl">
          <ac:chgData name="Riely, Gregory" userId="8e9f1504-5205-4fae-b223-1d04dd54ed12" providerId="ADAL" clId="{820F0C39-9049-4EE1-A70C-B4FAF97CB913}" dt="2026-10-08T20:16:40.196" v="826" actId="14100"/>
          <ac:spMkLst>
            <pc:docMk/>
            <pc:sldMk cId="1365326536" sldId="868"/>
            <ac:spMk id="60" creationId="{F207C4F0-B2CB-48C5-8C1A-B8A6685C67F5}"/>
          </ac:spMkLst>
        </pc:spChg>
        <pc:cxnChg chg="mod topLvl">
          <ac:chgData name="Riely, Gregory" userId="8e9f1504-5205-4fae-b223-1d04dd54ed12" providerId="ADAL" clId="{820F0C39-9049-4EE1-A70C-B4FAF97CB913}" dt="2026-10-08T20:15:34.891" v="778" actId="165"/>
          <ac:cxnSpMkLst>
            <pc:docMk/>
            <pc:sldMk cId="1365326536" sldId="868"/>
            <ac:cxnSpMk id="42" creationId="{30B7F26E-6E87-47AC-83DC-948D8D5B3377}"/>
          </ac:cxnSpMkLst>
        </pc:cxnChg>
        <pc:cxnChg chg="mod">
          <ac:chgData name="Riely, Gregory" userId="8e9f1504-5205-4fae-b223-1d04dd54ed12" providerId="ADAL" clId="{820F0C39-9049-4EE1-A70C-B4FAF97CB913}" dt="2026-10-08T20:16:27.115" v="810" actId="14100"/>
          <ac:cxnSpMkLst>
            <pc:docMk/>
            <pc:sldMk cId="1365326536" sldId="868"/>
            <ac:cxnSpMk id="44" creationId="{3B0BE174-8FD3-4E3F-ADB1-41912ACC1A52}"/>
          </ac:cxnSpMkLst>
        </pc:cxnChg>
        <pc:cxnChg chg="mod">
          <ac:chgData name="Riely, Gregory" userId="8e9f1504-5205-4fae-b223-1d04dd54ed12" providerId="ADAL" clId="{820F0C39-9049-4EE1-A70C-B4FAF97CB913}" dt="2026-10-08T20:16:24.419" v="809" actId="14100"/>
          <ac:cxnSpMkLst>
            <pc:docMk/>
            <pc:sldMk cId="1365326536" sldId="868"/>
            <ac:cxnSpMk id="50" creationId="{2A516321-122C-400F-AD34-F2973B249490}"/>
          </ac:cxnSpMkLst>
        </pc:cxnChg>
        <pc:cxnChg chg="mod topLvl">
          <ac:chgData name="Riely, Gregory" userId="8e9f1504-5205-4fae-b223-1d04dd54ed12" providerId="ADAL" clId="{820F0C39-9049-4EE1-A70C-B4FAF97CB913}" dt="2026-10-08T20:16:37.168" v="825" actId="14100"/>
          <ac:cxnSpMkLst>
            <pc:docMk/>
            <pc:sldMk cId="1365326536" sldId="868"/>
            <ac:cxnSpMk id="57" creationId="{D508232C-1A5B-458B-B09D-6E68E2225AF4}"/>
          </ac:cxnSpMkLst>
        </pc:cxnChg>
        <pc:cxnChg chg="mod">
          <ac:chgData name="Riely, Gregory" userId="8e9f1504-5205-4fae-b223-1d04dd54ed12" providerId="ADAL" clId="{820F0C39-9049-4EE1-A70C-B4FAF97CB913}" dt="2026-10-08T20:16:40.196" v="826" actId="14100"/>
          <ac:cxnSpMkLst>
            <pc:docMk/>
            <pc:sldMk cId="1365326536" sldId="868"/>
            <ac:cxnSpMk id="61" creationId="{70F1CB5D-1B2E-4496-8F3E-908428987485}"/>
          </ac:cxnSpMkLst>
        </pc:cxnChg>
      </pc:sldChg>
      <pc:sldChg chg="addSp delSp mod">
        <pc:chgData name="Riely, Gregory" userId="8e9f1504-5205-4fae-b223-1d04dd54ed12" providerId="ADAL" clId="{820F0C39-9049-4EE1-A70C-B4FAF97CB913}" dt="2026-10-08T20:13:30.176" v="775"/>
        <pc:sldMkLst>
          <pc:docMk/>
          <pc:sldMk cId="1964736018" sldId="897"/>
        </pc:sldMkLst>
        <pc:inkChg chg="add">
          <ac:chgData name="Riely, Gregory" userId="8e9f1504-5205-4fae-b223-1d04dd54ed12" providerId="ADAL" clId="{820F0C39-9049-4EE1-A70C-B4FAF97CB913}" dt="2026-10-08T20:13:20.161" v="771" actId="9405"/>
          <ac:inkMkLst>
            <pc:docMk/>
            <pc:sldMk cId="1964736018" sldId="897"/>
            <ac:inkMk id="2" creationId="{FDDD5B40-1D48-4F88-3384-8F75B9F1EE44}"/>
          </ac:inkMkLst>
        </pc:inkChg>
        <pc:inkChg chg="add">
          <ac:chgData name="Riely, Gregory" userId="8e9f1504-5205-4fae-b223-1d04dd54ed12" providerId="ADAL" clId="{820F0C39-9049-4EE1-A70C-B4FAF97CB913}" dt="2026-10-08T20:13:23.991" v="773"/>
          <ac:inkMkLst>
            <pc:docMk/>
            <pc:sldMk cId="1964736018" sldId="897"/>
            <ac:inkMk id="5" creationId="{237EFF12-1092-A5D1-2386-00642DF700A8}"/>
          </ac:inkMkLst>
        </pc:inkChg>
        <pc:inkChg chg="add">
          <ac:chgData name="Riely, Gregory" userId="8e9f1504-5205-4fae-b223-1d04dd54ed12" providerId="ADAL" clId="{820F0C39-9049-4EE1-A70C-B4FAF97CB913}" dt="2026-10-08T20:13:30.176" v="775"/>
          <ac:inkMkLst>
            <pc:docMk/>
            <pc:sldMk cId="1964736018" sldId="897"/>
            <ac:inkMk id="7" creationId="{D9BF8CEC-E65E-60DA-822D-864374752AC4}"/>
          </ac:inkMkLst>
        </pc:inkChg>
      </pc:sldChg>
      <pc:sldChg chg="addSp modSp mod">
        <pc:chgData name="Riely, Gregory" userId="8e9f1504-5205-4fae-b223-1d04dd54ed12" providerId="ADAL" clId="{820F0C39-9049-4EE1-A70C-B4FAF97CB913}" dt="2026-10-08T20:13:02.390" v="770" actId="9405"/>
        <pc:sldMkLst>
          <pc:docMk/>
          <pc:sldMk cId="825149326" sldId="898"/>
        </pc:sldMkLst>
        <pc:spChg chg="mod">
          <ac:chgData name="Riely, Gregory" userId="8e9f1504-5205-4fae-b223-1d04dd54ed12" providerId="ADAL" clId="{820F0C39-9049-4EE1-A70C-B4FAF97CB913}" dt="2026-10-08T20:12:50.073" v="769" actId="115"/>
          <ac:spMkLst>
            <pc:docMk/>
            <pc:sldMk cId="825149326" sldId="898"/>
            <ac:spMk id="3" creationId="{00000000-0000-0000-0000-000000000000}"/>
          </ac:spMkLst>
        </pc:spChg>
        <pc:inkChg chg="add">
          <ac:chgData name="Riely, Gregory" userId="8e9f1504-5205-4fae-b223-1d04dd54ed12" providerId="ADAL" clId="{820F0C39-9049-4EE1-A70C-B4FAF97CB913}" dt="2026-10-08T20:13:02.390" v="770" actId="9405"/>
          <ac:inkMkLst>
            <pc:docMk/>
            <pc:sldMk cId="825149326" sldId="898"/>
            <ac:inkMk id="2" creationId="{11C6D531-8791-0EAF-7211-9409F64750E9}"/>
          </ac:inkMkLst>
        </pc:inkChg>
      </pc:sldChg>
      <pc:sldChg chg="addSp mod">
        <pc:chgData name="Riely, Gregory" userId="8e9f1504-5205-4fae-b223-1d04dd54ed12" providerId="ADAL" clId="{820F0C39-9049-4EE1-A70C-B4FAF97CB913}" dt="2026-10-08T20:14:45.047" v="777" actId="9405"/>
        <pc:sldMkLst>
          <pc:docMk/>
          <pc:sldMk cId="2032841895" sldId="899"/>
        </pc:sldMkLst>
        <pc:inkChg chg="add">
          <ac:chgData name="Riely, Gregory" userId="8e9f1504-5205-4fae-b223-1d04dd54ed12" providerId="ADAL" clId="{820F0C39-9049-4EE1-A70C-B4FAF97CB913}" dt="2026-10-08T20:14:45.047" v="777" actId="9405"/>
          <ac:inkMkLst>
            <pc:docMk/>
            <pc:sldMk cId="2032841895" sldId="899"/>
            <ac:inkMk id="2" creationId="{E1DE407D-3ECC-3EA1-7F72-5550B51AD253}"/>
          </ac:inkMkLst>
        </pc:inkChg>
      </pc:sldChg>
      <pc:sldChg chg="addSp modSp mod">
        <pc:chgData name="Riely, Gregory" userId="8e9f1504-5205-4fae-b223-1d04dd54ed12" providerId="ADAL" clId="{820F0C39-9049-4EE1-A70C-B4FAF97CB913}" dt="2026-10-08T20:47:53.362" v="828" actId="9405"/>
        <pc:sldMkLst>
          <pc:docMk/>
          <pc:sldMk cId="2495962399" sldId="900"/>
        </pc:sldMkLst>
        <pc:spChg chg="mod">
          <ac:chgData name="Riely, Gregory" userId="8e9f1504-5205-4fae-b223-1d04dd54ed12" providerId="ADAL" clId="{820F0C39-9049-4EE1-A70C-B4FAF97CB913}" dt="2026-10-08T20:47:44.001" v="827" actId="115"/>
          <ac:spMkLst>
            <pc:docMk/>
            <pc:sldMk cId="2495962399" sldId="900"/>
            <ac:spMk id="3" creationId="{00000000-0000-0000-0000-000000000000}"/>
          </ac:spMkLst>
        </pc:spChg>
        <pc:inkChg chg="add">
          <ac:chgData name="Riely, Gregory" userId="8e9f1504-5205-4fae-b223-1d04dd54ed12" providerId="ADAL" clId="{820F0C39-9049-4EE1-A70C-B4FAF97CB913}" dt="2026-10-08T20:47:53.362" v="828" actId="9405"/>
          <ac:inkMkLst>
            <pc:docMk/>
            <pc:sldMk cId="2495962399" sldId="900"/>
            <ac:inkMk id="2" creationId="{A6BB9B3E-EF59-5712-1DCB-2CCAE4AB03D0}"/>
          </ac:inkMkLst>
        </pc:inkChg>
      </pc:sldChg>
      <pc:sldChg chg="addSp mod">
        <pc:chgData name="Riely, Gregory" userId="8e9f1504-5205-4fae-b223-1d04dd54ed12" providerId="ADAL" clId="{820F0C39-9049-4EE1-A70C-B4FAF97CB913}" dt="2026-10-08T20:48:24.783" v="831" actId="9405"/>
        <pc:sldMkLst>
          <pc:docMk/>
          <pc:sldMk cId="586998325" sldId="901"/>
        </pc:sldMkLst>
        <pc:inkChg chg="add">
          <ac:chgData name="Riely, Gregory" userId="8e9f1504-5205-4fae-b223-1d04dd54ed12" providerId="ADAL" clId="{820F0C39-9049-4EE1-A70C-B4FAF97CB913}" dt="2026-10-08T20:48:10.593" v="829" actId="9405"/>
          <ac:inkMkLst>
            <pc:docMk/>
            <pc:sldMk cId="586998325" sldId="901"/>
            <ac:inkMk id="2" creationId="{7352F011-9CBD-1C38-BF4D-F08A5CEBD75A}"/>
          </ac:inkMkLst>
        </pc:inkChg>
        <pc:inkChg chg="add">
          <ac:chgData name="Riely, Gregory" userId="8e9f1504-5205-4fae-b223-1d04dd54ed12" providerId="ADAL" clId="{820F0C39-9049-4EE1-A70C-B4FAF97CB913}" dt="2026-10-08T20:48:13.889" v="830" actId="9405"/>
          <ac:inkMkLst>
            <pc:docMk/>
            <pc:sldMk cId="586998325" sldId="901"/>
            <ac:inkMk id="4" creationId="{3E0AA5CB-6BCE-5D1A-3E70-5D569397D12A}"/>
          </ac:inkMkLst>
        </pc:inkChg>
        <pc:inkChg chg="add">
          <ac:chgData name="Riely, Gregory" userId="8e9f1504-5205-4fae-b223-1d04dd54ed12" providerId="ADAL" clId="{820F0C39-9049-4EE1-A70C-B4FAF97CB913}" dt="2026-10-08T20:48:24.783" v="831" actId="9405"/>
          <ac:inkMkLst>
            <pc:docMk/>
            <pc:sldMk cId="586998325" sldId="901"/>
            <ac:inkMk id="5" creationId="{28914833-667D-A078-4E13-62F39A1F510E}"/>
          </ac:inkMkLst>
        </pc:inkChg>
      </pc:sldChg>
      <pc:sldChg chg="addSp modSp mod">
        <pc:chgData name="Riely, Gregory" userId="8e9f1504-5205-4fae-b223-1d04dd54ed12" providerId="ADAL" clId="{820F0C39-9049-4EE1-A70C-B4FAF97CB913}" dt="2026-10-08T20:48:57.973" v="835" actId="9405"/>
        <pc:sldMkLst>
          <pc:docMk/>
          <pc:sldMk cId="1918315684" sldId="902"/>
        </pc:sldMkLst>
        <pc:spChg chg="mod">
          <ac:chgData name="Riely, Gregory" userId="8e9f1504-5205-4fae-b223-1d04dd54ed12" providerId="ADAL" clId="{820F0C39-9049-4EE1-A70C-B4FAF97CB913}" dt="2026-10-08T20:48:45.005" v="833" actId="113"/>
          <ac:spMkLst>
            <pc:docMk/>
            <pc:sldMk cId="1918315684" sldId="902"/>
            <ac:spMk id="3" creationId="{00000000-0000-0000-0000-000000000000}"/>
          </ac:spMkLst>
        </pc:spChg>
        <pc:inkChg chg="add">
          <ac:chgData name="Riely, Gregory" userId="8e9f1504-5205-4fae-b223-1d04dd54ed12" providerId="ADAL" clId="{820F0C39-9049-4EE1-A70C-B4FAF97CB913}" dt="2026-10-08T20:48:55.921" v="834" actId="9405"/>
          <ac:inkMkLst>
            <pc:docMk/>
            <pc:sldMk cId="1918315684" sldId="902"/>
            <ac:inkMk id="2" creationId="{EED55472-8A94-79BE-7FC2-16693A7EE7FB}"/>
          </ac:inkMkLst>
        </pc:inkChg>
        <pc:inkChg chg="add">
          <ac:chgData name="Riely, Gregory" userId="8e9f1504-5205-4fae-b223-1d04dd54ed12" providerId="ADAL" clId="{820F0C39-9049-4EE1-A70C-B4FAF97CB913}" dt="2026-10-08T20:48:57.973" v="835" actId="9405"/>
          <ac:inkMkLst>
            <pc:docMk/>
            <pc:sldMk cId="1918315684" sldId="902"/>
            <ac:inkMk id="5" creationId="{8952552F-1B7A-9A17-2744-EA33E57D8E63}"/>
          </ac:inkMkLst>
        </pc:inkChg>
      </pc:sldChg>
      <pc:sldChg chg="addSp delSp modSp mod">
        <pc:chgData name="Riely, Gregory" userId="8e9f1504-5205-4fae-b223-1d04dd54ed12" providerId="ADAL" clId="{820F0C39-9049-4EE1-A70C-B4FAF97CB913}" dt="2026-10-08T21:02:30.158" v="1138"/>
        <pc:sldMkLst>
          <pc:docMk/>
          <pc:sldMk cId="2614491205" sldId="904"/>
        </pc:sldMkLst>
        <pc:spChg chg="mod">
          <ac:chgData name="Riely, Gregory" userId="8e9f1504-5205-4fae-b223-1d04dd54ed12" providerId="ADAL" clId="{820F0C39-9049-4EE1-A70C-B4FAF97CB913}" dt="2026-10-08T21:02:17.008" v="1135" actId="113"/>
          <ac:spMkLst>
            <pc:docMk/>
            <pc:sldMk cId="2614491205" sldId="904"/>
            <ac:spMk id="7" creationId="{F337698A-5F32-4CA6-84C2-64BBA2335D7A}"/>
          </ac:spMkLst>
        </pc:spChg>
        <pc:inkChg chg="add">
          <ac:chgData name="Riely, Gregory" userId="8e9f1504-5205-4fae-b223-1d04dd54ed12" providerId="ADAL" clId="{820F0C39-9049-4EE1-A70C-B4FAF97CB913}" dt="2026-10-08T21:02:25.100" v="1136" actId="9405"/>
          <ac:inkMkLst>
            <pc:docMk/>
            <pc:sldMk cId="2614491205" sldId="904"/>
            <ac:inkMk id="3" creationId="{D07073FF-6CC4-4377-A48F-F199F7AEF1ED}"/>
          </ac:inkMkLst>
        </pc:inkChg>
        <pc:inkChg chg="add">
          <ac:chgData name="Riely, Gregory" userId="8e9f1504-5205-4fae-b223-1d04dd54ed12" providerId="ADAL" clId="{820F0C39-9049-4EE1-A70C-B4FAF97CB913}" dt="2026-10-08T21:02:30.158" v="1138"/>
          <ac:inkMkLst>
            <pc:docMk/>
            <pc:sldMk cId="2614491205" sldId="904"/>
            <ac:inkMk id="6" creationId="{D09E8498-33FC-BF3B-9B89-DD5857D3F300}"/>
          </ac:inkMkLst>
        </pc:inkChg>
      </pc:sldChg>
      <pc:sldChg chg="modSp mod">
        <pc:chgData name="Riely, Gregory" userId="8e9f1504-5205-4fae-b223-1d04dd54ed12" providerId="ADAL" clId="{820F0C39-9049-4EE1-A70C-B4FAF97CB913}" dt="2026-10-07T18:01:40.050" v="5" actId="732"/>
        <pc:sldMkLst>
          <pc:docMk/>
          <pc:sldMk cId="228361048" sldId="913"/>
        </pc:sldMkLst>
        <pc:picChg chg="mod modCrop">
          <ac:chgData name="Riely, Gregory" userId="8e9f1504-5205-4fae-b223-1d04dd54ed12" providerId="ADAL" clId="{820F0C39-9049-4EE1-A70C-B4FAF97CB913}" dt="2026-10-07T18:01:40.050" v="5" actId="732"/>
          <ac:picMkLst>
            <pc:docMk/>
            <pc:sldMk cId="228361048" sldId="913"/>
            <ac:picMk id="8" creationId="{647D5008-6608-49CC-8A7B-67F4804A8EE7}"/>
          </ac:picMkLst>
        </pc:picChg>
      </pc:sldChg>
      <pc:sldChg chg="modSp mod">
        <pc:chgData name="Riely, Gregory" userId="8e9f1504-5205-4fae-b223-1d04dd54ed12" providerId="ADAL" clId="{820F0C39-9049-4EE1-A70C-B4FAF97CB913}" dt="2026-10-08T20:10:51.064" v="767" actId="403"/>
        <pc:sldMkLst>
          <pc:docMk/>
          <pc:sldMk cId="3055228541" sldId="914"/>
        </pc:sldMkLst>
        <pc:spChg chg="mod">
          <ac:chgData name="Riely, Gregory" userId="8e9f1504-5205-4fae-b223-1d04dd54ed12" providerId="ADAL" clId="{820F0C39-9049-4EE1-A70C-B4FAF97CB913}" dt="2026-10-08T20:10:51.064" v="767" actId="403"/>
          <ac:spMkLst>
            <pc:docMk/>
            <pc:sldMk cId="3055228541" sldId="914"/>
            <ac:spMk id="2" creationId="{286C2B58-8FB1-48B6-8204-5A203AE77213}"/>
          </ac:spMkLst>
        </pc:spChg>
      </pc:sldChg>
      <pc:sldChg chg="modSp mod">
        <pc:chgData name="Riely, Gregory" userId="8e9f1504-5205-4fae-b223-1d04dd54ed12" providerId="ADAL" clId="{820F0C39-9049-4EE1-A70C-B4FAF97CB913}" dt="2026-10-08T21:00:39.187" v="1127" actId="403"/>
        <pc:sldMkLst>
          <pc:docMk/>
          <pc:sldMk cId="2425234981" sldId="919"/>
        </pc:sldMkLst>
        <pc:spChg chg="mod">
          <ac:chgData name="Riely, Gregory" userId="8e9f1504-5205-4fae-b223-1d04dd54ed12" providerId="ADAL" clId="{820F0C39-9049-4EE1-A70C-B4FAF97CB913}" dt="2026-10-08T21:00:39.187" v="1127" actId="403"/>
          <ac:spMkLst>
            <pc:docMk/>
            <pc:sldMk cId="2425234981" sldId="919"/>
            <ac:spMk id="2" creationId="{7EAD3243-8804-420F-8E9B-91E78BC6673D}"/>
          </ac:spMkLst>
        </pc:spChg>
        <pc:spChg chg="mod">
          <ac:chgData name="Riely, Gregory" userId="8e9f1504-5205-4fae-b223-1d04dd54ed12" providerId="ADAL" clId="{820F0C39-9049-4EE1-A70C-B4FAF97CB913}" dt="2026-10-08T21:00:34.092" v="1124" actId="20577"/>
          <ac:spMkLst>
            <pc:docMk/>
            <pc:sldMk cId="2425234981" sldId="919"/>
            <ac:spMk id="3" creationId="{0778DF21-FDEB-478B-866C-304DD01299B1}"/>
          </ac:spMkLst>
        </pc:spChg>
      </pc:sldChg>
      <pc:sldChg chg="modSp mod">
        <pc:chgData name="Riely, Gregory" userId="8e9f1504-5205-4fae-b223-1d04dd54ed12" providerId="ADAL" clId="{820F0C39-9049-4EE1-A70C-B4FAF97CB913}" dt="2026-10-08T21:04:43.926" v="1219" actId="20577"/>
        <pc:sldMkLst>
          <pc:docMk/>
          <pc:sldMk cId="3014906808" sldId="925"/>
        </pc:sldMkLst>
        <pc:spChg chg="mod">
          <ac:chgData name="Riely, Gregory" userId="8e9f1504-5205-4fae-b223-1d04dd54ed12" providerId="ADAL" clId="{820F0C39-9049-4EE1-A70C-B4FAF97CB913}" dt="2026-10-08T21:04:43.926" v="1219" actId="20577"/>
          <ac:spMkLst>
            <pc:docMk/>
            <pc:sldMk cId="3014906808" sldId="925"/>
            <ac:spMk id="7" creationId="{CEA1B6AD-EAD8-4906-EC38-EB0E4F383AC6}"/>
          </ac:spMkLst>
        </pc:spChg>
      </pc:sldChg>
      <pc:sldChg chg="addSp modSp mod">
        <pc:chgData name="Riely, Gregory" userId="8e9f1504-5205-4fae-b223-1d04dd54ed12" providerId="ADAL" clId="{820F0C39-9049-4EE1-A70C-B4FAF97CB913}" dt="2026-10-08T20:55:22.172" v="935" actId="20577"/>
        <pc:sldMkLst>
          <pc:docMk/>
          <pc:sldMk cId="1937046339" sldId="1051"/>
        </pc:sldMkLst>
        <pc:spChg chg="mod">
          <ac:chgData name="Riely, Gregory" userId="8e9f1504-5205-4fae-b223-1d04dd54ed12" providerId="ADAL" clId="{820F0C39-9049-4EE1-A70C-B4FAF97CB913}" dt="2026-10-08T20:55:22.172" v="935" actId="20577"/>
          <ac:spMkLst>
            <pc:docMk/>
            <pc:sldMk cId="1937046339" sldId="1051"/>
            <ac:spMk id="3" creationId="{B2D1CAF0-BD2D-3145-A2E1-24B474B2CBBD}"/>
          </ac:spMkLst>
        </pc:spChg>
        <pc:inkChg chg="add">
          <ac:chgData name="Riely, Gregory" userId="8e9f1504-5205-4fae-b223-1d04dd54ed12" providerId="ADAL" clId="{820F0C39-9049-4EE1-A70C-B4FAF97CB913}" dt="2026-10-08T20:54:24.137" v="927" actId="9405"/>
          <ac:inkMkLst>
            <pc:docMk/>
            <pc:sldMk cId="1937046339" sldId="1051"/>
            <ac:inkMk id="5" creationId="{8BEE2FC6-A772-B2DA-7C97-38A08100D864}"/>
          </ac:inkMkLst>
        </pc:inkChg>
        <pc:inkChg chg="add">
          <ac:chgData name="Riely, Gregory" userId="8e9f1504-5205-4fae-b223-1d04dd54ed12" providerId="ADAL" clId="{820F0C39-9049-4EE1-A70C-B4FAF97CB913}" dt="2026-10-08T20:54:27.887" v="928" actId="9405"/>
          <ac:inkMkLst>
            <pc:docMk/>
            <pc:sldMk cId="1937046339" sldId="1051"/>
            <ac:inkMk id="6" creationId="{57BA8047-BEC5-5D83-0C27-24EDAAC9B81D}"/>
          </ac:inkMkLst>
        </pc:inkChg>
      </pc:sldChg>
      <pc:sldChg chg="modSp mod">
        <pc:chgData name="Riely, Gregory" userId="8e9f1504-5205-4fae-b223-1d04dd54ed12" providerId="ADAL" clId="{820F0C39-9049-4EE1-A70C-B4FAF97CB913}" dt="2026-10-08T20:56:08.133" v="939" actId="403"/>
        <pc:sldMkLst>
          <pc:docMk/>
          <pc:sldMk cId="60836748" sldId="1052"/>
        </pc:sldMkLst>
        <pc:spChg chg="mod">
          <ac:chgData name="Riely, Gregory" userId="8e9f1504-5205-4fae-b223-1d04dd54ed12" providerId="ADAL" clId="{820F0C39-9049-4EE1-A70C-B4FAF97CB913}" dt="2026-10-08T20:56:08.133" v="939" actId="403"/>
          <ac:spMkLst>
            <pc:docMk/>
            <pc:sldMk cId="60836748" sldId="1052"/>
            <ac:spMk id="2" creationId="{6A06F977-68C1-1743-98BA-C3216410DA91}"/>
          </ac:spMkLst>
        </pc:spChg>
        <pc:spChg chg="mod">
          <ac:chgData name="Riely, Gregory" userId="8e9f1504-5205-4fae-b223-1d04dd54ed12" providerId="ADAL" clId="{820F0C39-9049-4EE1-A70C-B4FAF97CB913}" dt="2026-10-08T20:56:00.018" v="938" actId="13926"/>
          <ac:spMkLst>
            <pc:docMk/>
            <pc:sldMk cId="60836748" sldId="1052"/>
            <ac:spMk id="6" creationId="{0F79D3D7-66DF-9D40-85E2-720EC8C3B09C}"/>
          </ac:spMkLst>
        </pc:spChg>
      </pc:sldChg>
      <pc:sldChg chg="addSp delSp modSp mod">
        <pc:chgData name="Riely, Gregory" userId="8e9f1504-5205-4fae-b223-1d04dd54ed12" providerId="ADAL" clId="{820F0C39-9049-4EE1-A70C-B4FAF97CB913}" dt="2026-10-08T20:52:16.841" v="883"/>
        <pc:sldMkLst>
          <pc:docMk/>
          <pc:sldMk cId="354029782" sldId="1054"/>
        </pc:sldMkLst>
        <pc:grpChg chg="mod">
          <ac:chgData name="Riely, Gregory" userId="8e9f1504-5205-4fae-b223-1d04dd54ed12" providerId="ADAL" clId="{820F0C39-9049-4EE1-A70C-B4FAF97CB913}" dt="2026-10-08T20:52:12.993" v="878"/>
          <ac:grpSpMkLst>
            <pc:docMk/>
            <pc:sldMk cId="354029782" sldId="1054"/>
            <ac:grpSpMk id="7" creationId="{CD16FCF6-BEEB-9BD1-DF7B-19D3263175C0}"/>
          </ac:grpSpMkLst>
        </pc:grpChg>
        <pc:grpChg chg="mod">
          <ac:chgData name="Riely, Gregory" userId="8e9f1504-5205-4fae-b223-1d04dd54ed12" providerId="ADAL" clId="{820F0C39-9049-4EE1-A70C-B4FAF97CB913}" dt="2026-10-08T20:52:16.841" v="883"/>
          <ac:grpSpMkLst>
            <pc:docMk/>
            <pc:sldMk cId="354029782" sldId="1054"/>
            <ac:grpSpMk id="12" creationId="{2FA7E146-F8E8-1C7E-3C4C-76F519FC38C0}"/>
          </ac:grpSpMkLst>
        </pc:grpChg>
        <pc:inkChg chg="add mod">
          <ac:chgData name="Riely, Gregory" userId="8e9f1504-5205-4fae-b223-1d04dd54ed12" providerId="ADAL" clId="{820F0C39-9049-4EE1-A70C-B4FAF97CB913}" dt="2026-10-08T20:52:12.993" v="878"/>
          <ac:inkMkLst>
            <pc:docMk/>
            <pc:sldMk cId="354029782" sldId="1054"/>
            <ac:inkMk id="4" creationId="{D3C17453-B635-5A58-85C4-93EF0402C91A}"/>
          </ac:inkMkLst>
        </pc:inkChg>
        <pc:inkChg chg="add mod">
          <ac:chgData name="Riely, Gregory" userId="8e9f1504-5205-4fae-b223-1d04dd54ed12" providerId="ADAL" clId="{820F0C39-9049-4EE1-A70C-B4FAF97CB913}" dt="2026-10-08T20:52:12.993" v="878"/>
          <ac:inkMkLst>
            <pc:docMk/>
            <pc:sldMk cId="354029782" sldId="1054"/>
            <ac:inkMk id="5" creationId="{79354615-E2AA-0B88-6CF3-3E4A440676CE}"/>
          </ac:inkMkLst>
        </pc:inkChg>
        <pc:inkChg chg="add mod">
          <ac:chgData name="Riely, Gregory" userId="8e9f1504-5205-4fae-b223-1d04dd54ed12" providerId="ADAL" clId="{820F0C39-9049-4EE1-A70C-B4FAF97CB913}" dt="2026-10-08T20:52:12.993" v="878"/>
          <ac:inkMkLst>
            <pc:docMk/>
            <pc:sldMk cId="354029782" sldId="1054"/>
            <ac:inkMk id="6" creationId="{C50BA47F-CE6E-C97E-A94E-FF6B8CFBA10B}"/>
          </ac:inkMkLst>
        </pc:inkChg>
        <pc:inkChg chg="add mod">
          <ac:chgData name="Riely, Gregory" userId="8e9f1504-5205-4fae-b223-1d04dd54ed12" providerId="ADAL" clId="{820F0C39-9049-4EE1-A70C-B4FAF97CB913}" dt="2026-10-08T20:52:16.841" v="883"/>
          <ac:inkMkLst>
            <pc:docMk/>
            <pc:sldMk cId="354029782" sldId="1054"/>
            <ac:inkMk id="8" creationId="{B0142A57-154B-ADB9-6B80-FC3143276DD0}"/>
          </ac:inkMkLst>
        </pc:inkChg>
        <pc:inkChg chg="add mod">
          <ac:chgData name="Riely, Gregory" userId="8e9f1504-5205-4fae-b223-1d04dd54ed12" providerId="ADAL" clId="{820F0C39-9049-4EE1-A70C-B4FAF97CB913}" dt="2026-10-08T20:52:16.841" v="883"/>
          <ac:inkMkLst>
            <pc:docMk/>
            <pc:sldMk cId="354029782" sldId="1054"/>
            <ac:inkMk id="9" creationId="{D36A3355-A69C-4D9E-18A1-2D06B0FFE9EA}"/>
          </ac:inkMkLst>
        </pc:inkChg>
        <pc:inkChg chg="add mod">
          <ac:chgData name="Riely, Gregory" userId="8e9f1504-5205-4fae-b223-1d04dd54ed12" providerId="ADAL" clId="{820F0C39-9049-4EE1-A70C-B4FAF97CB913}" dt="2026-10-08T20:52:16.841" v="883"/>
          <ac:inkMkLst>
            <pc:docMk/>
            <pc:sldMk cId="354029782" sldId="1054"/>
            <ac:inkMk id="11" creationId="{04A61B23-4A19-EA18-616D-81459CD9D4D6}"/>
          </ac:inkMkLst>
        </pc:inkChg>
      </pc:sldChg>
      <pc:sldChg chg="addSp delSp modSp mod">
        <pc:chgData name="Riely, Gregory" userId="8e9f1504-5205-4fae-b223-1d04dd54ed12" providerId="ADAL" clId="{820F0C39-9049-4EE1-A70C-B4FAF97CB913}" dt="2026-10-08T18:34:38.120" v="747" actId="9405"/>
        <pc:sldMkLst>
          <pc:docMk/>
          <pc:sldMk cId="3158111598" sldId="1056"/>
        </pc:sldMkLst>
        <pc:spChg chg="mod">
          <ac:chgData name="Riely, Gregory" userId="8e9f1504-5205-4fae-b223-1d04dd54ed12" providerId="ADAL" clId="{820F0C39-9049-4EE1-A70C-B4FAF97CB913}" dt="2026-10-08T13:29:29.467" v="110" actId="113"/>
          <ac:spMkLst>
            <pc:docMk/>
            <pc:sldMk cId="3158111598" sldId="1056"/>
            <ac:spMk id="9222" creationId="{00000000-0000-0000-0000-000000000000}"/>
          </ac:spMkLst>
        </pc:spChg>
        <pc:spChg chg="mod">
          <ac:chgData name="Riely, Gregory" userId="8e9f1504-5205-4fae-b223-1d04dd54ed12" providerId="ADAL" clId="{820F0C39-9049-4EE1-A70C-B4FAF97CB913}" dt="2026-10-08T13:29:32.160" v="111" actId="113"/>
          <ac:spMkLst>
            <pc:docMk/>
            <pc:sldMk cId="3158111598" sldId="1056"/>
            <ac:spMk id="9223" creationId="{00000000-0000-0000-0000-000000000000}"/>
          </ac:spMkLst>
        </pc:spChg>
        <pc:inkChg chg="add">
          <ac:chgData name="Riely, Gregory" userId="8e9f1504-5205-4fae-b223-1d04dd54ed12" providerId="ADAL" clId="{820F0C39-9049-4EE1-A70C-B4FAF97CB913}" dt="2026-10-08T18:34:29.287" v="739"/>
          <ac:inkMkLst>
            <pc:docMk/>
            <pc:sldMk cId="3158111598" sldId="1056"/>
            <ac:inkMk id="3" creationId="{CF5DA7D1-3452-9053-31B4-FCD82A10BFB4}"/>
          </ac:inkMkLst>
        </pc:inkChg>
        <pc:inkChg chg="add mod">
          <ac:chgData name="Riely, Gregory" userId="8e9f1504-5205-4fae-b223-1d04dd54ed12" providerId="ADAL" clId="{820F0C39-9049-4EE1-A70C-B4FAF97CB913}" dt="2026-10-08T18:34:33.449" v="744"/>
          <ac:inkMkLst>
            <pc:docMk/>
            <pc:sldMk cId="3158111598" sldId="1056"/>
            <ac:inkMk id="4" creationId="{1F019F8C-0C24-E2B4-77F7-6DA002520C3D}"/>
          </ac:inkMkLst>
        </pc:inkChg>
        <pc:inkChg chg="add">
          <ac:chgData name="Riely, Gregory" userId="8e9f1504-5205-4fae-b223-1d04dd54ed12" providerId="ADAL" clId="{820F0C39-9049-4EE1-A70C-B4FAF97CB913}" dt="2026-10-08T18:34:38.120" v="747" actId="9405"/>
          <ac:inkMkLst>
            <pc:docMk/>
            <pc:sldMk cId="3158111598" sldId="1056"/>
            <ac:inkMk id="8" creationId="{D204CBEE-6195-6FE4-7FCA-73B06FA9C622}"/>
          </ac:inkMkLst>
        </pc:inkChg>
      </pc:sldChg>
      <pc:sldChg chg="modSp mod">
        <pc:chgData name="Riely, Gregory" userId="8e9f1504-5205-4fae-b223-1d04dd54ed12" providerId="ADAL" clId="{820F0C39-9049-4EE1-A70C-B4FAF97CB913}" dt="2026-10-08T18:13:27.377" v="639" actId="20577"/>
        <pc:sldMkLst>
          <pc:docMk/>
          <pc:sldMk cId="413223910" sldId="1059"/>
        </pc:sldMkLst>
        <pc:spChg chg="mod">
          <ac:chgData name="Riely, Gregory" userId="8e9f1504-5205-4fae-b223-1d04dd54ed12" providerId="ADAL" clId="{820F0C39-9049-4EE1-A70C-B4FAF97CB913}" dt="2026-10-08T18:13:27.377" v="639" actId="20577"/>
          <ac:spMkLst>
            <pc:docMk/>
            <pc:sldMk cId="413223910" sldId="1059"/>
            <ac:spMk id="3" creationId="{0A0EA0AD-49FA-A040-9AE2-5BC9F605297B}"/>
          </ac:spMkLst>
        </pc:spChg>
      </pc:sldChg>
      <pc:sldChg chg="modSp mod">
        <pc:chgData name="Riely, Gregory" userId="8e9f1504-5205-4fae-b223-1d04dd54ed12" providerId="ADAL" clId="{820F0C39-9049-4EE1-A70C-B4FAF97CB913}" dt="2026-10-08T20:13:54.156" v="776" actId="403"/>
        <pc:sldMkLst>
          <pc:docMk/>
          <pc:sldMk cId="3780635821" sldId="1113"/>
        </pc:sldMkLst>
        <pc:spChg chg="mod">
          <ac:chgData name="Riely, Gregory" userId="8e9f1504-5205-4fae-b223-1d04dd54ed12" providerId="ADAL" clId="{820F0C39-9049-4EE1-A70C-B4FAF97CB913}" dt="2026-10-08T20:13:54.156" v="776" actId="403"/>
          <ac:spMkLst>
            <pc:docMk/>
            <pc:sldMk cId="3780635821" sldId="1113"/>
            <ac:spMk id="23" creationId="{72D1E704-21A2-42FC-8526-FD875C14D642}"/>
          </ac:spMkLst>
        </pc:spChg>
      </pc:sldChg>
      <pc:sldChg chg="modSp mod">
        <pc:chgData name="Riely, Gregory" userId="8e9f1504-5205-4fae-b223-1d04dd54ed12" providerId="ADAL" clId="{820F0C39-9049-4EE1-A70C-B4FAF97CB913}" dt="2026-10-08T21:09:44.878" v="1366" actId="1076"/>
        <pc:sldMkLst>
          <pc:docMk/>
          <pc:sldMk cId="604934591" sldId="1295"/>
        </pc:sldMkLst>
        <pc:spChg chg="mod">
          <ac:chgData name="Riely, Gregory" userId="8e9f1504-5205-4fae-b223-1d04dd54ed12" providerId="ADAL" clId="{820F0C39-9049-4EE1-A70C-B4FAF97CB913}" dt="2026-10-08T21:09:44.878" v="1366" actId="1076"/>
          <ac:spMkLst>
            <pc:docMk/>
            <pc:sldMk cId="604934591" sldId="1295"/>
            <ac:spMk id="5" creationId="{32024FFC-B86F-E7AB-AC5E-4D67486853BC}"/>
          </ac:spMkLst>
        </pc:spChg>
      </pc:sldChg>
      <pc:sldChg chg="modSp mod">
        <pc:chgData name="Riely, Gregory" userId="8e9f1504-5205-4fae-b223-1d04dd54ed12" providerId="ADAL" clId="{820F0C39-9049-4EE1-A70C-B4FAF97CB913}" dt="2026-10-08T20:56:54.662" v="949" actId="20577"/>
        <pc:sldMkLst>
          <pc:docMk/>
          <pc:sldMk cId="2069031704" sldId="1301"/>
        </pc:sldMkLst>
        <pc:spChg chg="mod">
          <ac:chgData name="Riely, Gregory" userId="8e9f1504-5205-4fae-b223-1d04dd54ed12" providerId="ADAL" clId="{820F0C39-9049-4EE1-A70C-B4FAF97CB913}" dt="2026-10-08T20:56:54.662" v="949" actId="20577"/>
          <ac:spMkLst>
            <pc:docMk/>
            <pc:sldMk cId="2069031704" sldId="1301"/>
            <ac:spMk id="2" creationId="{C07D1FD3-30A7-9A47-B1EA-63E331434A8E}"/>
          </ac:spMkLst>
        </pc:spChg>
      </pc:sldChg>
      <pc:sldChg chg="modSp mod">
        <pc:chgData name="Riely, Gregory" userId="8e9f1504-5205-4fae-b223-1d04dd54ed12" providerId="ADAL" clId="{820F0C39-9049-4EE1-A70C-B4FAF97CB913}" dt="2026-10-08T20:56:35.770" v="944" actId="20577"/>
        <pc:sldMkLst>
          <pc:docMk/>
          <pc:sldMk cId="3379724797" sldId="1302"/>
        </pc:sldMkLst>
        <pc:spChg chg="mod">
          <ac:chgData name="Riely, Gregory" userId="8e9f1504-5205-4fae-b223-1d04dd54ed12" providerId="ADAL" clId="{820F0C39-9049-4EE1-A70C-B4FAF97CB913}" dt="2026-10-08T20:56:35.770" v="944" actId="20577"/>
          <ac:spMkLst>
            <pc:docMk/>
            <pc:sldMk cId="3379724797" sldId="1302"/>
            <ac:spMk id="4" creationId="{3009A020-8741-A14B-B24C-8EE2A15508C8}"/>
          </ac:spMkLst>
        </pc:spChg>
      </pc:sldChg>
      <pc:sldChg chg="modSp mod">
        <pc:chgData name="Riely, Gregory" userId="8e9f1504-5205-4fae-b223-1d04dd54ed12" providerId="ADAL" clId="{820F0C39-9049-4EE1-A70C-B4FAF97CB913}" dt="2026-10-08T21:09:28.979" v="1365" actId="404"/>
        <pc:sldMkLst>
          <pc:docMk/>
          <pc:sldMk cId="660952548" sldId="1306"/>
        </pc:sldMkLst>
        <pc:spChg chg="mod">
          <ac:chgData name="Riely, Gregory" userId="8e9f1504-5205-4fae-b223-1d04dd54ed12" providerId="ADAL" clId="{820F0C39-9049-4EE1-A70C-B4FAF97CB913}" dt="2026-10-08T21:09:28.979" v="1365" actId="404"/>
          <ac:spMkLst>
            <pc:docMk/>
            <pc:sldMk cId="660952548" sldId="1306"/>
            <ac:spMk id="2" creationId="{88198C70-63C5-EF4C-B3C3-C05E13ABC1D8}"/>
          </ac:spMkLst>
        </pc:spChg>
        <pc:spChg chg="mod">
          <ac:chgData name="Riely, Gregory" userId="8e9f1504-5205-4fae-b223-1d04dd54ed12" providerId="ADAL" clId="{820F0C39-9049-4EE1-A70C-B4FAF97CB913}" dt="2026-10-08T21:09:15.807" v="1360" actId="21"/>
          <ac:spMkLst>
            <pc:docMk/>
            <pc:sldMk cId="660952548" sldId="1306"/>
            <ac:spMk id="3" creationId="{CD51F77D-AF26-B141-AD6A-137CCE8AAAB3}"/>
          </ac:spMkLst>
        </pc:spChg>
      </pc:sldChg>
      <pc:sldChg chg="addSp modSp mod">
        <pc:chgData name="Riely, Gregory" userId="8e9f1504-5205-4fae-b223-1d04dd54ed12" providerId="ADAL" clId="{820F0C39-9049-4EE1-A70C-B4FAF97CB913}" dt="2026-10-08T13:39:39.662" v="169" actId="403"/>
        <pc:sldMkLst>
          <pc:docMk/>
          <pc:sldMk cId="4217927534" sldId="1307"/>
        </pc:sldMkLst>
        <pc:spChg chg="mod">
          <ac:chgData name="Riely, Gregory" userId="8e9f1504-5205-4fae-b223-1d04dd54ed12" providerId="ADAL" clId="{820F0C39-9049-4EE1-A70C-B4FAF97CB913}" dt="2026-10-08T13:39:39.662" v="169" actId="403"/>
          <ac:spMkLst>
            <pc:docMk/>
            <pc:sldMk cId="4217927534" sldId="1307"/>
            <ac:spMk id="2" creationId="{DA0CC9AF-C6DE-44AE-BBB9-273536B7E3E4}"/>
          </ac:spMkLst>
        </pc:spChg>
        <pc:spChg chg="mod">
          <ac:chgData name="Riely, Gregory" userId="8e9f1504-5205-4fae-b223-1d04dd54ed12" providerId="ADAL" clId="{820F0C39-9049-4EE1-A70C-B4FAF97CB913}" dt="2026-10-08T13:27:08.938" v="78" actId="27636"/>
          <ac:spMkLst>
            <pc:docMk/>
            <pc:sldMk cId="4217927534" sldId="1307"/>
            <ac:spMk id="3" creationId="{87D23CAA-1A4D-4ED3-8AD6-80818F33038A}"/>
          </ac:spMkLst>
        </pc:spChg>
        <pc:inkChg chg="add">
          <ac:chgData name="Riely, Gregory" userId="8e9f1504-5205-4fae-b223-1d04dd54ed12" providerId="ADAL" clId="{820F0C39-9049-4EE1-A70C-B4FAF97CB913}" dt="2026-10-08T13:39:31.403" v="165" actId="9405"/>
          <ac:inkMkLst>
            <pc:docMk/>
            <pc:sldMk cId="4217927534" sldId="1307"/>
            <ac:inkMk id="4" creationId="{7BF97417-DE4C-F442-2C30-C4F14087F537}"/>
          </ac:inkMkLst>
        </pc:inkChg>
      </pc:sldChg>
      <pc:sldChg chg="modSp mod">
        <pc:chgData name="Riely, Gregory" userId="8e9f1504-5205-4fae-b223-1d04dd54ed12" providerId="ADAL" clId="{820F0C39-9049-4EE1-A70C-B4FAF97CB913}" dt="2026-10-08T21:27:46.015" v="1968" actId="1076"/>
        <pc:sldMkLst>
          <pc:docMk/>
          <pc:sldMk cId="3133718455" sldId="1310"/>
        </pc:sldMkLst>
        <pc:spChg chg="mod">
          <ac:chgData name="Riely, Gregory" userId="8e9f1504-5205-4fae-b223-1d04dd54ed12" providerId="ADAL" clId="{820F0C39-9049-4EE1-A70C-B4FAF97CB913}" dt="2026-10-08T21:27:35.222" v="1966" actId="5793"/>
          <ac:spMkLst>
            <pc:docMk/>
            <pc:sldMk cId="3133718455" sldId="1310"/>
            <ac:spMk id="2" creationId="{5B9A2098-7FE4-4EF9-A308-AACB2068F95E}"/>
          </ac:spMkLst>
        </pc:spChg>
        <pc:spChg chg="mod">
          <ac:chgData name="Riely, Gregory" userId="8e9f1504-5205-4fae-b223-1d04dd54ed12" providerId="ADAL" clId="{820F0C39-9049-4EE1-A70C-B4FAF97CB913}" dt="2026-10-08T21:27:46.015" v="1968" actId="1076"/>
          <ac:spMkLst>
            <pc:docMk/>
            <pc:sldMk cId="3133718455" sldId="1310"/>
            <ac:spMk id="6" creationId="{350DF8E4-A180-4202-BFE1-BB87296E1904}"/>
          </ac:spMkLst>
        </pc:spChg>
      </pc:sldChg>
      <pc:sldChg chg="addSp delSp modSp mod">
        <pc:chgData name="Riely, Gregory" userId="8e9f1504-5205-4fae-b223-1d04dd54ed12" providerId="ADAL" clId="{820F0C39-9049-4EE1-A70C-B4FAF97CB913}" dt="2026-10-08T18:34:14.794" v="737"/>
        <pc:sldMkLst>
          <pc:docMk/>
          <pc:sldMk cId="2018042805" sldId="1313"/>
        </pc:sldMkLst>
        <pc:spChg chg="mod">
          <ac:chgData name="Riely, Gregory" userId="8e9f1504-5205-4fae-b223-1d04dd54ed12" providerId="ADAL" clId="{820F0C39-9049-4EE1-A70C-B4FAF97CB913}" dt="2026-10-08T18:33:48.856" v="731" actId="20577"/>
          <ac:spMkLst>
            <pc:docMk/>
            <pc:sldMk cId="2018042805" sldId="1313"/>
            <ac:spMk id="2" creationId="{00000000-0000-0000-0000-000000000000}"/>
          </ac:spMkLst>
        </pc:spChg>
        <pc:grpChg chg="mod">
          <ac:chgData name="Riely, Gregory" userId="8e9f1504-5205-4fae-b223-1d04dd54ed12" providerId="ADAL" clId="{820F0C39-9049-4EE1-A70C-B4FAF97CB913}" dt="2026-10-08T18:34:14.794" v="737"/>
          <ac:grpSpMkLst>
            <pc:docMk/>
            <pc:sldMk cId="2018042805" sldId="1313"/>
            <ac:grpSpMk id="12" creationId="{6D8E2A07-D3E2-8407-A44D-FD857BA4256C}"/>
          </ac:grpSpMkLst>
        </pc:grpChg>
        <pc:inkChg chg="add mod">
          <ac:chgData name="Riely, Gregory" userId="8e9f1504-5205-4fae-b223-1d04dd54ed12" providerId="ADAL" clId="{820F0C39-9049-4EE1-A70C-B4FAF97CB913}" dt="2026-10-08T18:34:14.794" v="737"/>
          <ac:inkMkLst>
            <pc:docMk/>
            <pc:sldMk cId="2018042805" sldId="1313"/>
            <ac:inkMk id="5" creationId="{3EB89212-C5B5-D671-1B9A-9CBCB595F36F}"/>
          </ac:inkMkLst>
        </pc:inkChg>
        <pc:inkChg chg="add mod">
          <ac:chgData name="Riely, Gregory" userId="8e9f1504-5205-4fae-b223-1d04dd54ed12" providerId="ADAL" clId="{820F0C39-9049-4EE1-A70C-B4FAF97CB913}" dt="2026-10-08T18:34:14.794" v="737"/>
          <ac:inkMkLst>
            <pc:docMk/>
            <pc:sldMk cId="2018042805" sldId="1313"/>
            <ac:inkMk id="7" creationId="{3A02809F-63FA-C58E-955C-EA2CC886F08E}"/>
          </ac:inkMkLst>
        </pc:inkChg>
        <pc:inkChg chg="add mod">
          <ac:chgData name="Riely, Gregory" userId="8e9f1504-5205-4fae-b223-1d04dd54ed12" providerId="ADAL" clId="{820F0C39-9049-4EE1-A70C-B4FAF97CB913}" dt="2026-10-08T18:34:14.794" v="737"/>
          <ac:inkMkLst>
            <pc:docMk/>
            <pc:sldMk cId="2018042805" sldId="1313"/>
            <ac:inkMk id="9" creationId="{ED78FEA2-43E8-C015-28AA-DDB8CF0C767F}"/>
          </ac:inkMkLst>
        </pc:inkChg>
      </pc:sldChg>
      <pc:sldChg chg="delSp modSp mod">
        <pc:chgData name="Riely, Gregory" userId="8e9f1504-5205-4fae-b223-1d04dd54ed12" providerId="ADAL" clId="{820F0C39-9049-4EE1-A70C-B4FAF97CB913}" dt="2026-10-07T18:00:14.865" v="4" actId="20577"/>
        <pc:sldMkLst>
          <pc:docMk/>
          <pc:sldMk cId="4028756137" sldId="1855"/>
        </pc:sldMkLst>
        <pc:graphicFrameChg chg="modGraphic">
          <ac:chgData name="Riely, Gregory" userId="8e9f1504-5205-4fae-b223-1d04dd54ed12" providerId="ADAL" clId="{820F0C39-9049-4EE1-A70C-B4FAF97CB913}" dt="2026-10-07T18:00:14.865" v="4" actId="20577"/>
          <ac:graphicFrameMkLst>
            <pc:docMk/>
            <pc:sldMk cId="4028756137" sldId="1855"/>
            <ac:graphicFrameMk id="4" creationId="{7308F3D4-6EC6-48DA-93B3-C35A2F0D442C}"/>
          </ac:graphicFrameMkLst>
        </pc:graphicFrameChg>
      </pc:sldChg>
      <pc:sldChg chg="modSp mod">
        <pc:chgData name="Riely, Gregory" userId="8e9f1504-5205-4fae-b223-1d04dd54ed12" providerId="ADAL" clId="{820F0C39-9049-4EE1-A70C-B4FAF97CB913}" dt="2026-10-08T21:07:52.856" v="1340" actId="20577"/>
        <pc:sldMkLst>
          <pc:docMk/>
          <pc:sldMk cId="282077291" sldId="8106"/>
        </pc:sldMkLst>
        <pc:spChg chg="mod">
          <ac:chgData name="Riely, Gregory" userId="8e9f1504-5205-4fae-b223-1d04dd54ed12" providerId="ADAL" clId="{820F0C39-9049-4EE1-A70C-B4FAF97CB913}" dt="2026-10-08T21:07:52.856" v="1340" actId="20577"/>
          <ac:spMkLst>
            <pc:docMk/>
            <pc:sldMk cId="282077291" sldId="8106"/>
            <ac:spMk id="3" creationId="{6411B130-08D5-11AE-30C7-A9D329084D14}"/>
          </ac:spMkLst>
        </pc:spChg>
      </pc:sldChg>
      <pc:sldChg chg="addSp delSp modSp mod">
        <pc:chgData name="Riely, Gregory" userId="8e9f1504-5205-4fae-b223-1d04dd54ed12" providerId="ADAL" clId="{820F0C39-9049-4EE1-A70C-B4FAF97CB913}" dt="2026-10-08T21:07:26.721" v="1336"/>
        <pc:sldMkLst>
          <pc:docMk/>
          <pc:sldMk cId="4193996496" sldId="8141"/>
        </pc:sldMkLst>
        <pc:grpChg chg="mod">
          <ac:chgData name="Riely, Gregory" userId="8e9f1504-5205-4fae-b223-1d04dd54ed12" providerId="ADAL" clId="{820F0C39-9049-4EE1-A70C-B4FAF97CB913}" dt="2026-10-08T21:07:26.721" v="1336"/>
          <ac:grpSpMkLst>
            <pc:docMk/>
            <pc:sldMk cId="4193996496" sldId="8141"/>
            <ac:grpSpMk id="10" creationId="{C6CB96CA-DA6C-03FE-D5A7-9767F1498E23}"/>
          </ac:grpSpMkLst>
        </pc:grpChg>
        <pc:inkChg chg="add mod">
          <ac:chgData name="Riely, Gregory" userId="8e9f1504-5205-4fae-b223-1d04dd54ed12" providerId="ADAL" clId="{820F0C39-9049-4EE1-A70C-B4FAF97CB913}" dt="2026-10-08T21:07:26.721" v="1336"/>
          <ac:inkMkLst>
            <pc:docMk/>
            <pc:sldMk cId="4193996496" sldId="8141"/>
            <ac:inkMk id="2" creationId="{FCB14178-4E66-4A82-5FBE-EFD78D6B7F4C}"/>
          </ac:inkMkLst>
        </pc:inkChg>
        <pc:inkChg chg="add mod">
          <ac:chgData name="Riely, Gregory" userId="8e9f1504-5205-4fae-b223-1d04dd54ed12" providerId="ADAL" clId="{820F0C39-9049-4EE1-A70C-B4FAF97CB913}" dt="2026-10-08T21:07:26.721" v="1336"/>
          <ac:inkMkLst>
            <pc:docMk/>
            <pc:sldMk cId="4193996496" sldId="8141"/>
            <ac:inkMk id="4" creationId="{43B08112-0C4B-3E20-1AF2-8DC8A595F9D7}"/>
          </ac:inkMkLst>
        </pc:inkChg>
        <pc:inkChg chg="add mod">
          <ac:chgData name="Riely, Gregory" userId="8e9f1504-5205-4fae-b223-1d04dd54ed12" providerId="ADAL" clId="{820F0C39-9049-4EE1-A70C-B4FAF97CB913}" dt="2026-10-08T21:07:26.721" v="1336"/>
          <ac:inkMkLst>
            <pc:docMk/>
            <pc:sldMk cId="4193996496" sldId="8141"/>
            <ac:inkMk id="8" creationId="{8669C064-DE6E-C29D-7D9D-B357F0BFDCE5}"/>
          </ac:inkMkLst>
        </pc:inkChg>
      </pc:sldChg>
      <pc:sldChg chg="modSp mod">
        <pc:chgData name="Riely, Gregory" userId="8e9f1504-5205-4fae-b223-1d04dd54ed12" providerId="ADAL" clId="{820F0C39-9049-4EE1-A70C-B4FAF97CB913}" dt="2026-10-08T13:27:21.747" v="94" actId="403"/>
        <pc:sldMkLst>
          <pc:docMk/>
          <pc:sldMk cId="983464860" sldId="13630"/>
        </pc:sldMkLst>
        <pc:spChg chg="mod">
          <ac:chgData name="Riely, Gregory" userId="8e9f1504-5205-4fae-b223-1d04dd54ed12" providerId="ADAL" clId="{820F0C39-9049-4EE1-A70C-B4FAF97CB913}" dt="2026-10-08T13:27:21.747" v="94" actId="403"/>
          <ac:spMkLst>
            <pc:docMk/>
            <pc:sldMk cId="983464860" sldId="13630"/>
            <ac:spMk id="2" creationId="{9F3DF445-40BC-4F16-AC28-401F6A922DD1}"/>
          </ac:spMkLst>
        </pc:spChg>
      </pc:sldChg>
      <pc:sldChg chg="addSp modSp mod">
        <pc:chgData name="Riely, Gregory" userId="8e9f1504-5205-4fae-b223-1d04dd54ed12" providerId="ADAL" clId="{820F0C39-9049-4EE1-A70C-B4FAF97CB913}" dt="2026-10-08T20:59:42.892" v="1070" actId="1076"/>
        <pc:sldMkLst>
          <pc:docMk/>
          <pc:sldMk cId="1917311349" sldId="13635"/>
        </pc:sldMkLst>
        <pc:spChg chg="add mod">
          <ac:chgData name="Riely, Gregory" userId="8e9f1504-5205-4fae-b223-1d04dd54ed12" providerId="ADAL" clId="{820F0C39-9049-4EE1-A70C-B4FAF97CB913}" dt="2026-10-08T20:59:42.892" v="1070" actId="1076"/>
          <ac:spMkLst>
            <pc:docMk/>
            <pc:sldMk cId="1917311349" sldId="13635"/>
            <ac:spMk id="3" creationId="{788111C4-6E1F-C5E2-BCCD-DF03B9620787}"/>
          </ac:spMkLst>
        </pc:spChg>
      </pc:sldChg>
      <pc:sldChg chg="modSp mod">
        <pc:chgData name="Riely, Gregory" userId="8e9f1504-5205-4fae-b223-1d04dd54ed12" providerId="ADAL" clId="{820F0C39-9049-4EE1-A70C-B4FAF97CB913}" dt="2026-10-08T13:28:29.131" v="100" actId="1076"/>
        <pc:sldMkLst>
          <pc:docMk/>
          <pc:sldMk cId="86303964" sldId="13643"/>
        </pc:sldMkLst>
        <pc:spChg chg="mod">
          <ac:chgData name="Riely, Gregory" userId="8e9f1504-5205-4fae-b223-1d04dd54ed12" providerId="ADAL" clId="{820F0C39-9049-4EE1-A70C-B4FAF97CB913}" dt="2026-10-08T13:28:29.131" v="100" actId="1076"/>
          <ac:spMkLst>
            <pc:docMk/>
            <pc:sldMk cId="86303964" sldId="13643"/>
            <ac:spMk id="2" creationId="{A4BCA941-84CB-E686-0235-A0D0207F78EF}"/>
          </ac:spMkLst>
        </pc:spChg>
      </pc:sldChg>
      <pc:sldChg chg="modSp mod">
        <pc:chgData name="Riely, Gregory" userId="8e9f1504-5205-4fae-b223-1d04dd54ed12" providerId="ADAL" clId="{820F0C39-9049-4EE1-A70C-B4FAF97CB913}" dt="2026-10-08T19:17:49.180" v="764" actId="732"/>
        <pc:sldMkLst>
          <pc:docMk/>
          <pc:sldMk cId="936368235" sldId="13645"/>
        </pc:sldMkLst>
        <pc:spChg chg="mod">
          <ac:chgData name="Riely, Gregory" userId="8e9f1504-5205-4fae-b223-1d04dd54ed12" providerId="ADAL" clId="{820F0C39-9049-4EE1-A70C-B4FAF97CB913}" dt="2026-10-08T19:17:32.359" v="762" actId="20577"/>
          <ac:spMkLst>
            <pc:docMk/>
            <pc:sldMk cId="936368235" sldId="13645"/>
            <ac:spMk id="2" creationId="{247C4F4C-80EA-E645-85BB-EDA3949FB67C}"/>
          </ac:spMkLst>
        </pc:spChg>
        <pc:picChg chg="mod modCrop">
          <ac:chgData name="Riely, Gregory" userId="8e9f1504-5205-4fae-b223-1d04dd54ed12" providerId="ADAL" clId="{820F0C39-9049-4EE1-A70C-B4FAF97CB913}" dt="2026-10-08T19:17:49.180" v="764" actId="732"/>
          <ac:picMkLst>
            <pc:docMk/>
            <pc:sldMk cId="936368235" sldId="13645"/>
            <ac:picMk id="5" creationId="{CFECC19A-E5DB-3291-4696-EDAC952B8C75}"/>
          </ac:picMkLst>
        </pc:picChg>
      </pc:sldChg>
      <pc:sldChg chg="modSp mod">
        <pc:chgData name="Riely, Gregory" userId="8e9f1504-5205-4fae-b223-1d04dd54ed12" providerId="ADAL" clId="{820F0C39-9049-4EE1-A70C-B4FAF97CB913}" dt="2026-10-08T13:30:02.272" v="116" actId="207"/>
        <pc:sldMkLst>
          <pc:docMk/>
          <pc:sldMk cId="2743148998" sldId="13646"/>
        </pc:sldMkLst>
        <pc:spChg chg="mod">
          <ac:chgData name="Riely, Gregory" userId="8e9f1504-5205-4fae-b223-1d04dd54ed12" providerId="ADAL" clId="{820F0C39-9049-4EE1-A70C-B4FAF97CB913}" dt="2026-10-08T13:30:02.272" v="116" actId="207"/>
          <ac:spMkLst>
            <pc:docMk/>
            <pc:sldMk cId="2743148998" sldId="13646"/>
            <ac:spMk id="9222" creationId="{00000000-0000-0000-0000-000000000000}"/>
          </ac:spMkLst>
        </pc:spChg>
      </pc:sldChg>
      <pc:sldChg chg="modSp mod">
        <pc:chgData name="Riely, Gregory" userId="8e9f1504-5205-4fae-b223-1d04dd54ed12" providerId="ADAL" clId="{820F0C39-9049-4EE1-A70C-B4FAF97CB913}" dt="2026-10-08T21:06:36.937" v="1328" actId="20577"/>
        <pc:sldMkLst>
          <pc:docMk/>
          <pc:sldMk cId="2730501526" sldId="13652"/>
        </pc:sldMkLst>
        <pc:spChg chg="mod">
          <ac:chgData name="Riely, Gregory" userId="8e9f1504-5205-4fae-b223-1d04dd54ed12" providerId="ADAL" clId="{820F0C39-9049-4EE1-A70C-B4FAF97CB913}" dt="2026-10-08T21:06:36.937" v="1328" actId="20577"/>
          <ac:spMkLst>
            <pc:docMk/>
            <pc:sldMk cId="2730501526" sldId="13652"/>
            <ac:spMk id="2" creationId="{A3D80066-0F80-6E65-EAC8-AA35660FF81C}"/>
          </ac:spMkLst>
        </pc:spChg>
      </pc:sldChg>
      <pc:sldChg chg="modSp mod">
        <pc:chgData name="Riely, Gregory" userId="8e9f1504-5205-4fae-b223-1d04dd54ed12" providerId="ADAL" clId="{820F0C39-9049-4EE1-A70C-B4FAF97CB913}" dt="2026-10-08T15:08:27.414" v="428"/>
        <pc:sldMkLst>
          <pc:docMk/>
          <pc:sldMk cId="4082057388" sldId="13653"/>
        </pc:sldMkLst>
        <pc:spChg chg="mod">
          <ac:chgData name="Riely, Gregory" userId="8e9f1504-5205-4fae-b223-1d04dd54ed12" providerId="ADAL" clId="{820F0C39-9049-4EE1-A70C-B4FAF97CB913}" dt="2026-10-07T18:03:52.674" v="58" actId="6549"/>
          <ac:spMkLst>
            <pc:docMk/>
            <pc:sldMk cId="4082057388" sldId="13653"/>
            <ac:spMk id="6" creationId="{4D65C5ED-CDB5-8D3C-A2E9-325C0BDE07D6}"/>
          </ac:spMkLst>
        </pc:spChg>
        <pc:spChg chg="mod">
          <ac:chgData name="Riely, Gregory" userId="8e9f1504-5205-4fae-b223-1d04dd54ed12" providerId="ADAL" clId="{820F0C39-9049-4EE1-A70C-B4FAF97CB913}" dt="2026-10-08T15:08:27.414" v="428"/>
          <ac:spMkLst>
            <pc:docMk/>
            <pc:sldMk cId="4082057388" sldId="13653"/>
            <ac:spMk id="8" creationId="{5EFB89BC-F2D9-47D3-BE60-63C7C5C2A1F8}"/>
          </ac:spMkLst>
        </pc:spChg>
      </pc:sldChg>
      <pc:sldChg chg="addSp modSp mod">
        <pc:chgData name="Riely, Gregory" userId="8e9f1504-5205-4fae-b223-1d04dd54ed12" providerId="ADAL" clId="{820F0C39-9049-4EE1-A70C-B4FAF97CB913}" dt="2026-10-08T21:15:37.577" v="1374"/>
        <pc:sldMkLst>
          <pc:docMk/>
          <pc:sldMk cId="3779551417" sldId="13657"/>
        </pc:sldMkLst>
        <pc:spChg chg="mod">
          <ac:chgData name="Riely, Gregory" userId="8e9f1504-5205-4fae-b223-1d04dd54ed12" providerId="ADAL" clId="{820F0C39-9049-4EE1-A70C-B4FAF97CB913}" dt="2026-10-08T21:15:20.705" v="1370" actId="20577"/>
          <ac:spMkLst>
            <pc:docMk/>
            <pc:sldMk cId="3779551417" sldId="13657"/>
            <ac:spMk id="3" creationId="{5E68439C-840B-4329-5EC2-761EE66B6E1B}"/>
          </ac:spMkLst>
        </pc:spChg>
        <pc:grpChg chg="mod">
          <ac:chgData name="Riely, Gregory" userId="8e9f1504-5205-4fae-b223-1d04dd54ed12" providerId="ADAL" clId="{820F0C39-9049-4EE1-A70C-B4FAF97CB913}" dt="2026-10-08T21:15:37.577" v="1374"/>
          <ac:grpSpMkLst>
            <pc:docMk/>
            <pc:sldMk cId="3779551417" sldId="13657"/>
            <ac:grpSpMk id="7" creationId="{7B4D62BE-4417-1BC7-C7AA-EF3FB9499E6E}"/>
          </ac:grpSpMkLst>
        </pc:grpChg>
        <pc:inkChg chg="add">
          <ac:chgData name="Riely, Gregory" userId="8e9f1504-5205-4fae-b223-1d04dd54ed12" providerId="ADAL" clId="{820F0C39-9049-4EE1-A70C-B4FAF97CB913}" dt="2026-10-08T21:15:30.459" v="1371" actId="9405"/>
          <ac:inkMkLst>
            <pc:docMk/>
            <pc:sldMk cId="3779551417" sldId="13657"/>
            <ac:inkMk id="4" creationId="{0DF756CE-0799-F218-E3A1-9EF175028A0C}"/>
          </ac:inkMkLst>
        </pc:inkChg>
        <pc:inkChg chg="add mod">
          <ac:chgData name="Riely, Gregory" userId="8e9f1504-5205-4fae-b223-1d04dd54ed12" providerId="ADAL" clId="{820F0C39-9049-4EE1-A70C-B4FAF97CB913}" dt="2026-10-08T21:15:37.577" v="1374"/>
          <ac:inkMkLst>
            <pc:docMk/>
            <pc:sldMk cId="3779551417" sldId="13657"/>
            <ac:inkMk id="5" creationId="{2F9D75B5-5758-4AB7-D47C-4966ED13A82D}"/>
          </ac:inkMkLst>
        </pc:inkChg>
        <pc:inkChg chg="add mod">
          <ac:chgData name="Riely, Gregory" userId="8e9f1504-5205-4fae-b223-1d04dd54ed12" providerId="ADAL" clId="{820F0C39-9049-4EE1-A70C-B4FAF97CB913}" dt="2026-10-08T21:15:37.577" v="1374"/>
          <ac:inkMkLst>
            <pc:docMk/>
            <pc:sldMk cId="3779551417" sldId="13657"/>
            <ac:inkMk id="6" creationId="{B43F43C0-FCFC-9D35-8572-B30708EA920E}"/>
          </ac:inkMkLst>
        </pc:inkChg>
      </pc:sldChg>
      <pc:sldChg chg="modSp mod">
        <pc:chgData name="Riely, Gregory" userId="8e9f1504-5205-4fae-b223-1d04dd54ed12" providerId="ADAL" clId="{820F0C39-9049-4EE1-A70C-B4FAF97CB913}" dt="2026-10-07T18:04:04.011" v="60" actId="6549"/>
        <pc:sldMkLst>
          <pc:docMk/>
          <pc:sldMk cId="3808620004" sldId="13658"/>
        </pc:sldMkLst>
        <pc:spChg chg="mod">
          <ac:chgData name="Riely, Gregory" userId="8e9f1504-5205-4fae-b223-1d04dd54ed12" providerId="ADAL" clId="{820F0C39-9049-4EE1-A70C-B4FAF97CB913}" dt="2026-10-07T18:04:04.011" v="60" actId="6549"/>
          <ac:spMkLst>
            <pc:docMk/>
            <pc:sldMk cId="3808620004" sldId="13658"/>
            <ac:spMk id="6" creationId="{4D65C5ED-CDB5-8D3C-A2E9-325C0BDE07D6}"/>
          </ac:spMkLst>
        </pc:spChg>
      </pc:sldChg>
      <pc:sldChg chg="addSp mod">
        <pc:chgData name="Riely, Gregory" userId="8e9f1504-5205-4fae-b223-1d04dd54ed12" providerId="ADAL" clId="{820F0C39-9049-4EE1-A70C-B4FAF97CB913}" dt="2026-10-08T21:14:38.412" v="1367" actId="9405"/>
        <pc:sldMkLst>
          <pc:docMk/>
          <pc:sldMk cId="316907367" sldId="13666"/>
        </pc:sldMkLst>
        <pc:inkChg chg="add">
          <ac:chgData name="Riely, Gregory" userId="8e9f1504-5205-4fae-b223-1d04dd54ed12" providerId="ADAL" clId="{820F0C39-9049-4EE1-A70C-B4FAF97CB913}" dt="2026-10-08T21:14:38.412" v="1367" actId="9405"/>
          <ac:inkMkLst>
            <pc:docMk/>
            <pc:sldMk cId="316907367" sldId="13666"/>
            <ac:inkMk id="5" creationId="{B49B4F55-C758-E2E7-A5FD-CE66DF7DA8E6}"/>
          </ac:inkMkLst>
        </pc:inkChg>
      </pc:sldChg>
      <pc:sldChg chg="modSp mod">
        <pc:chgData name="Riely, Gregory" userId="8e9f1504-5205-4fae-b223-1d04dd54ed12" providerId="ADAL" clId="{820F0C39-9049-4EE1-A70C-B4FAF97CB913}" dt="2026-10-08T20:12:37.356" v="768" actId="403"/>
        <pc:sldMkLst>
          <pc:docMk/>
          <pc:sldMk cId="3753580124" sldId="13677"/>
        </pc:sldMkLst>
        <pc:graphicFrameChg chg="modGraphic">
          <ac:chgData name="Riely, Gregory" userId="8e9f1504-5205-4fae-b223-1d04dd54ed12" providerId="ADAL" clId="{820F0C39-9049-4EE1-A70C-B4FAF97CB913}" dt="2026-10-08T20:12:37.356" v="768" actId="403"/>
          <ac:graphicFrameMkLst>
            <pc:docMk/>
            <pc:sldMk cId="3753580124" sldId="13677"/>
            <ac:graphicFrameMk id="4" creationId="{65E972C1-F98C-9166-C0AE-F31C0774D12B}"/>
          </ac:graphicFrameMkLst>
        </pc:graphicFrameChg>
      </pc:sldChg>
      <pc:sldChg chg="addSp modSp mod">
        <pc:chgData name="Riely, Gregory" userId="8e9f1504-5205-4fae-b223-1d04dd54ed12" providerId="ADAL" clId="{820F0C39-9049-4EE1-A70C-B4FAF97CB913}" dt="2026-10-08T20:52:28.829" v="885" actId="9405"/>
        <pc:sldMkLst>
          <pc:docMk/>
          <pc:sldMk cId="1520646801" sldId="2076137813"/>
        </pc:sldMkLst>
        <pc:spChg chg="mod">
          <ac:chgData name="Riely, Gregory" userId="8e9f1504-5205-4fae-b223-1d04dd54ed12" providerId="ADAL" clId="{820F0C39-9049-4EE1-A70C-B4FAF97CB913}" dt="2026-10-08T13:27:09.124" v="83" actId="27636"/>
          <ac:spMkLst>
            <pc:docMk/>
            <pc:sldMk cId="1520646801" sldId="2076137813"/>
            <ac:spMk id="3" creationId="{00000000-0000-0000-0000-000000000000}"/>
          </ac:spMkLst>
        </pc:spChg>
        <pc:inkChg chg="add">
          <ac:chgData name="Riely, Gregory" userId="8e9f1504-5205-4fae-b223-1d04dd54ed12" providerId="ADAL" clId="{820F0C39-9049-4EE1-A70C-B4FAF97CB913}" dt="2026-10-08T20:52:26.554" v="884" actId="9405"/>
          <ac:inkMkLst>
            <pc:docMk/>
            <pc:sldMk cId="1520646801" sldId="2076137813"/>
            <ac:inkMk id="2" creationId="{D7340439-D6F7-BE56-C5A5-5E9263986E81}"/>
          </ac:inkMkLst>
        </pc:inkChg>
        <pc:inkChg chg="add">
          <ac:chgData name="Riely, Gregory" userId="8e9f1504-5205-4fae-b223-1d04dd54ed12" providerId="ADAL" clId="{820F0C39-9049-4EE1-A70C-B4FAF97CB913}" dt="2026-10-08T20:52:28.829" v="885" actId="9405"/>
          <ac:inkMkLst>
            <pc:docMk/>
            <pc:sldMk cId="1520646801" sldId="2076137813"/>
            <ac:inkMk id="4" creationId="{B22EBFA6-0B4E-7F16-B25B-C39436F488EE}"/>
          </ac:inkMkLst>
        </pc:inkChg>
      </pc:sldChg>
      <pc:sldChg chg="addSp modSp mod">
        <pc:chgData name="Riely, Gregory" userId="8e9f1504-5205-4fae-b223-1d04dd54ed12" providerId="ADAL" clId="{820F0C39-9049-4EE1-A70C-B4FAF97CB913}" dt="2026-10-08T20:55:47.377" v="937" actId="9405"/>
        <pc:sldMkLst>
          <pc:docMk/>
          <pc:sldMk cId="1485811805" sldId="2076137815"/>
        </pc:sldMkLst>
        <pc:spChg chg="mod">
          <ac:chgData name="Riely, Gregory" userId="8e9f1504-5205-4fae-b223-1d04dd54ed12" providerId="ADAL" clId="{820F0C39-9049-4EE1-A70C-B4FAF97CB913}" dt="2026-10-08T13:27:09.141" v="84" actId="27636"/>
          <ac:spMkLst>
            <pc:docMk/>
            <pc:sldMk cId="1485811805" sldId="2076137815"/>
            <ac:spMk id="3" creationId="{00000000-0000-0000-0000-000000000000}"/>
          </ac:spMkLst>
        </pc:spChg>
        <pc:inkChg chg="add">
          <ac:chgData name="Riely, Gregory" userId="8e9f1504-5205-4fae-b223-1d04dd54ed12" providerId="ADAL" clId="{820F0C39-9049-4EE1-A70C-B4FAF97CB913}" dt="2026-10-08T20:55:42.193" v="936" actId="9405"/>
          <ac:inkMkLst>
            <pc:docMk/>
            <pc:sldMk cId="1485811805" sldId="2076137815"/>
            <ac:inkMk id="2" creationId="{1697661E-BD30-9FA8-A128-ED0BD1B106AE}"/>
          </ac:inkMkLst>
        </pc:inkChg>
        <pc:inkChg chg="add">
          <ac:chgData name="Riely, Gregory" userId="8e9f1504-5205-4fae-b223-1d04dd54ed12" providerId="ADAL" clId="{820F0C39-9049-4EE1-A70C-B4FAF97CB913}" dt="2026-10-08T20:55:47.377" v="937" actId="9405"/>
          <ac:inkMkLst>
            <pc:docMk/>
            <pc:sldMk cId="1485811805" sldId="2076137815"/>
            <ac:inkMk id="5" creationId="{0BE3B006-E993-2FE6-BFA4-20C2308E5853}"/>
          </ac:inkMkLst>
        </pc:inkChg>
      </pc:sldChg>
      <pc:sldChg chg="modSp mod">
        <pc:chgData name="Riely, Gregory" userId="8e9f1504-5205-4fae-b223-1d04dd54ed12" providerId="ADAL" clId="{820F0C39-9049-4EE1-A70C-B4FAF97CB913}" dt="2026-10-08T21:05:01.096" v="1221" actId="403"/>
        <pc:sldMkLst>
          <pc:docMk/>
          <pc:sldMk cId="4201955416" sldId="2076137818"/>
        </pc:sldMkLst>
        <pc:spChg chg="mod">
          <ac:chgData name="Riely, Gregory" userId="8e9f1504-5205-4fae-b223-1d04dd54ed12" providerId="ADAL" clId="{820F0C39-9049-4EE1-A70C-B4FAF97CB913}" dt="2026-10-08T21:05:01.096" v="1221" actId="403"/>
          <ac:spMkLst>
            <pc:docMk/>
            <pc:sldMk cId="4201955416" sldId="2076137818"/>
            <ac:spMk id="2" creationId="{00000000-0000-0000-0000-000000000000}"/>
          </ac:spMkLst>
        </pc:spChg>
      </pc:sldChg>
      <pc:sldChg chg="addSp delSp mod">
        <pc:chgData name="Riely, Gregory" userId="8e9f1504-5205-4fae-b223-1d04dd54ed12" providerId="ADAL" clId="{820F0C39-9049-4EE1-A70C-B4FAF97CB913}" dt="2026-10-08T21:07:41.827" v="1338" actId="478"/>
        <pc:sldMkLst>
          <pc:docMk/>
          <pc:sldMk cId="2175946846" sldId="2076137819"/>
        </pc:sldMkLst>
        <pc:inkChg chg="add">
          <ac:chgData name="Riely, Gregory" userId="8e9f1504-5205-4fae-b223-1d04dd54ed12" providerId="ADAL" clId="{820F0C39-9049-4EE1-A70C-B4FAF97CB913}" dt="2026-10-08T21:07:37.204" v="1337" actId="9405"/>
          <ac:inkMkLst>
            <pc:docMk/>
            <pc:sldMk cId="2175946846" sldId="2076137819"/>
            <ac:inkMk id="2" creationId="{58DE89F6-AF1D-4DF4-B4C6-CC1868C68B6B}"/>
          </ac:inkMkLst>
        </pc:inkChg>
      </pc:sldChg>
      <pc:sldChg chg="modSp mod">
        <pc:chgData name="Riely, Gregory" userId="8e9f1504-5205-4fae-b223-1d04dd54ed12" providerId="ADAL" clId="{820F0C39-9049-4EE1-A70C-B4FAF97CB913}" dt="2026-10-08T13:27:09.291" v="89" actId="27636"/>
        <pc:sldMkLst>
          <pc:docMk/>
          <pc:sldMk cId="0" sldId="2076137830"/>
        </pc:sldMkLst>
        <pc:spChg chg="mod">
          <ac:chgData name="Riely, Gregory" userId="8e9f1504-5205-4fae-b223-1d04dd54ed12" providerId="ADAL" clId="{820F0C39-9049-4EE1-A70C-B4FAF97CB913}" dt="2026-10-08T13:27:09.291" v="89" actId="27636"/>
          <ac:spMkLst>
            <pc:docMk/>
            <pc:sldMk cId="0" sldId="2076137830"/>
            <ac:spMk id="6" creationId="{00000000-0000-0000-0000-000000000000}"/>
          </ac:spMkLst>
        </pc:spChg>
        <pc:spChg chg="mod">
          <ac:chgData name="Riely, Gregory" userId="8e9f1504-5205-4fae-b223-1d04dd54ed12" providerId="ADAL" clId="{820F0C39-9049-4EE1-A70C-B4FAF97CB913}" dt="2026-10-08T13:27:09.286" v="88" actId="27636"/>
          <ac:spMkLst>
            <pc:docMk/>
            <pc:sldMk cId="0" sldId="2076137830"/>
            <ac:spMk id="8" creationId="{00000000-0000-0000-0000-000000000000}"/>
          </ac:spMkLst>
        </pc:spChg>
      </pc:sldChg>
      <pc:sldChg chg="addSp modSp mod">
        <pc:chgData name="Riely, Gregory" userId="8e9f1504-5205-4fae-b223-1d04dd54ed12" providerId="ADAL" clId="{820F0C39-9049-4EE1-A70C-B4FAF97CB913}" dt="2026-10-08T18:33:13.999" v="728" actId="255"/>
        <pc:sldMkLst>
          <pc:docMk/>
          <pc:sldMk cId="0" sldId="2076137831"/>
        </pc:sldMkLst>
        <pc:spChg chg="mod">
          <ac:chgData name="Riely, Gregory" userId="8e9f1504-5205-4fae-b223-1d04dd54ed12" providerId="ADAL" clId="{820F0C39-9049-4EE1-A70C-B4FAF97CB913}" dt="2026-10-08T18:33:13.999" v="728" actId="255"/>
          <ac:spMkLst>
            <pc:docMk/>
            <pc:sldMk cId="0" sldId="2076137831"/>
            <ac:spMk id="7" creationId="{00000000-0000-0000-0000-000000000000}"/>
          </ac:spMkLst>
        </pc:spChg>
        <pc:inkChg chg="add">
          <ac:chgData name="Riely, Gregory" userId="8e9f1504-5205-4fae-b223-1d04dd54ed12" providerId="ADAL" clId="{820F0C39-9049-4EE1-A70C-B4FAF97CB913}" dt="2026-10-08T18:32:52.152" v="724" actId="9405"/>
          <ac:inkMkLst>
            <pc:docMk/>
            <pc:sldMk cId="0" sldId="2076137831"/>
            <ac:inkMk id="3" creationId="{44A3CB37-E85C-986D-2274-319F1B5EC19B}"/>
          </ac:inkMkLst>
        </pc:inkChg>
        <pc:inkChg chg="add">
          <ac:chgData name="Riely, Gregory" userId="8e9f1504-5205-4fae-b223-1d04dd54ed12" providerId="ADAL" clId="{820F0C39-9049-4EE1-A70C-B4FAF97CB913}" dt="2026-10-08T18:32:54.475" v="725" actId="9405"/>
          <ac:inkMkLst>
            <pc:docMk/>
            <pc:sldMk cId="0" sldId="2076137831"/>
            <ac:inkMk id="4" creationId="{994AECAC-6818-76F7-ACC6-09DCE9DD479D}"/>
          </ac:inkMkLst>
        </pc:inkChg>
        <pc:inkChg chg="add">
          <ac:chgData name="Riely, Gregory" userId="8e9f1504-5205-4fae-b223-1d04dd54ed12" providerId="ADAL" clId="{820F0C39-9049-4EE1-A70C-B4FAF97CB913}" dt="2026-10-08T18:32:55.802" v="726" actId="9405"/>
          <ac:inkMkLst>
            <pc:docMk/>
            <pc:sldMk cId="0" sldId="2076137831"/>
            <ac:inkMk id="5" creationId="{8B924073-1C7E-D3A4-4FF8-6E91D00150DE}"/>
          </ac:inkMkLst>
        </pc:inkChg>
      </pc:sldChg>
      <pc:sldChg chg="addSp delSp modSp add mod ord">
        <pc:chgData name="Riely, Gregory" userId="8e9f1504-5205-4fae-b223-1d04dd54ed12" providerId="ADAL" clId="{820F0C39-9049-4EE1-A70C-B4FAF97CB913}" dt="2026-10-08T21:24:25.770" v="1928" actId="20577"/>
        <pc:sldMkLst>
          <pc:docMk/>
          <pc:sldMk cId="219299179" sldId="2076137832"/>
        </pc:sldMkLst>
        <pc:spChg chg="add mod">
          <ac:chgData name="Riely, Gregory" userId="8e9f1504-5205-4fae-b223-1d04dd54ed12" providerId="ADAL" clId="{820F0C39-9049-4EE1-A70C-B4FAF97CB913}" dt="2026-10-08T13:43:50.267" v="227" actId="1076"/>
          <ac:spMkLst>
            <pc:docMk/>
            <pc:sldMk cId="219299179" sldId="2076137832"/>
            <ac:spMk id="9" creationId="{8FAE9F57-F86A-0375-D1FD-AF95F30BAD86}"/>
          </ac:spMkLst>
        </pc:spChg>
        <pc:spChg chg="add mod">
          <ac:chgData name="Riely, Gregory" userId="8e9f1504-5205-4fae-b223-1d04dd54ed12" providerId="ADAL" clId="{820F0C39-9049-4EE1-A70C-B4FAF97CB913}" dt="2026-10-08T13:44:10.695" v="233" actId="1076"/>
          <ac:spMkLst>
            <pc:docMk/>
            <pc:sldMk cId="219299179" sldId="2076137832"/>
            <ac:spMk id="11" creationId="{9A3AEDA0-B314-1F26-E8B0-39240A9CFF21}"/>
          </ac:spMkLst>
        </pc:spChg>
        <pc:spChg chg="add mod">
          <ac:chgData name="Riely, Gregory" userId="8e9f1504-5205-4fae-b223-1d04dd54ed12" providerId="ADAL" clId="{820F0C39-9049-4EE1-A70C-B4FAF97CB913}" dt="2026-10-08T21:24:25.770" v="1928" actId="20577"/>
          <ac:spMkLst>
            <pc:docMk/>
            <pc:sldMk cId="219299179" sldId="2076137832"/>
            <ac:spMk id="12" creationId="{47DAD022-D83D-423D-C878-2A55692DB375}"/>
          </ac:spMkLst>
        </pc:spChg>
        <pc:picChg chg="add mod">
          <ac:chgData name="Riely, Gregory" userId="8e9f1504-5205-4fae-b223-1d04dd54ed12" providerId="ADAL" clId="{820F0C39-9049-4EE1-A70C-B4FAF97CB913}" dt="2026-10-08T13:43:43.758" v="224" actId="1076"/>
          <ac:picMkLst>
            <pc:docMk/>
            <pc:sldMk cId="219299179" sldId="2076137832"/>
            <ac:picMk id="8" creationId="{21EA45DE-3C7E-39B9-31F0-29188540D9BD}"/>
          </ac:picMkLst>
        </pc:picChg>
      </pc:sldChg>
      <pc:sldChg chg="addSp delSp modSp add mod">
        <pc:chgData name="Riely, Gregory" userId="8e9f1504-5205-4fae-b223-1d04dd54ed12" providerId="ADAL" clId="{820F0C39-9049-4EE1-A70C-B4FAF97CB913}" dt="2026-10-08T13:41:45.406" v="185" actId="1076"/>
        <pc:sldMkLst>
          <pc:docMk/>
          <pc:sldMk cId="2044840805" sldId="2076137833"/>
        </pc:sldMkLst>
        <pc:picChg chg="add mod">
          <ac:chgData name="Riely, Gregory" userId="8e9f1504-5205-4fae-b223-1d04dd54ed12" providerId="ADAL" clId="{820F0C39-9049-4EE1-A70C-B4FAF97CB913}" dt="2026-10-08T13:41:45.406" v="185" actId="1076"/>
          <ac:picMkLst>
            <pc:docMk/>
            <pc:sldMk cId="2044840805" sldId="2076137833"/>
            <ac:picMk id="5" creationId="{2CA137BE-12FC-83D8-705E-3B7FC3D773A3}"/>
          </ac:picMkLst>
        </pc:picChg>
      </pc:sldChg>
      <pc:sldChg chg="delSp modSp add mod">
        <pc:chgData name="Riely, Gregory" userId="8e9f1504-5205-4fae-b223-1d04dd54ed12" providerId="ADAL" clId="{820F0C39-9049-4EE1-A70C-B4FAF97CB913}" dt="2026-10-08T18:12:40.004" v="636" actId="1076"/>
        <pc:sldMkLst>
          <pc:docMk/>
          <pc:sldMk cId="3470940255" sldId="2076137834"/>
        </pc:sldMkLst>
        <pc:spChg chg="mod">
          <ac:chgData name="Riely, Gregory" userId="8e9f1504-5205-4fae-b223-1d04dd54ed12" providerId="ADAL" clId="{820F0C39-9049-4EE1-A70C-B4FAF97CB913}" dt="2026-10-08T18:12:40.004" v="636" actId="1076"/>
          <ac:spMkLst>
            <pc:docMk/>
            <pc:sldMk cId="3470940255" sldId="2076137834"/>
            <ac:spMk id="9" creationId="{BF795A6B-A156-4DEE-CF43-1EFCA29453CE}"/>
          </ac:spMkLst>
        </pc:spChg>
      </pc:sldChg>
      <pc:sldChg chg="delSp modSp new mod">
        <pc:chgData name="Riely, Gregory" userId="8e9f1504-5205-4fae-b223-1d04dd54ed12" providerId="ADAL" clId="{820F0C39-9049-4EE1-A70C-B4FAF97CB913}" dt="2026-10-08T21:20:30.483" v="1797" actId="403"/>
        <pc:sldMkLst>
          <pc:docMk/>
          <pc:sldMk cId="837059190" sldId="2076137835"/>
        </pc:sldMkLst>
        <pc:spChg chg="mod">
          <ac:chgData name="Riely, Gregory" userId="8e9f1504-5205-4fae-b223-1d04dd54ed12" providerId="ADAL" clId="{820F0C39-9049-4EE1-A70C-B4FAF97CB913}" dt="2026-10-08T21:20:30.483" v="1797" actId="403"/>
          <ac:spMkLst>
            <pc:docMk/>
            <pc:sldMk cId="837059190" sldId="2076137835"/>
            <ac:spMk id="3" creationId="{4F0646C9-2A76-C954-AAB2-E496574BFF88}"/>
          </ac:spMkLst>
        </pc:spChg>
      </pc:sldChg>
      <pc:sldChg chg="addSp modSp add mod">
        <pc:chgData name="Riely, Gregory" userId="8e9f1504-5205-4fae-b223-1d04dd54ed12" providerId="ADAL" clId="{820F0C39-9049-4EE1-A70C-B4FAF97CB913}" dt="2026-10-08T21:22:21.967" v="1921" actId="12"/>
        <pc:sldMkLst>
          <pc:docMk/>
          <pc:sldMk cId="3956480010" sldId="2076137836"/>
        </pc:sldMkLst>
        <pc:spChg chg="add mod">
          <ac:chgData name="Riely, Gregory" userId="8e9f1504-5205-4fae-b223-1d04dd54ed12" providerId="ADAL" clId="{820F0C39-9049-4EE1-A70C-B4FAF97CB913}" dt="2026-10-08T21:21:38.521" v="1906" actId="692"/>
          <ac:spMkLst>
            <pc:docMk/>
            <pc:sldMk cId="3956480010" sldId="2076137836"/>
            <ac:spMk id="2" creationId="{B708B641-AED9-242B-C7B7-058900BEF5F6}"/>
          </ac:spMkLst>
        </pc:spChg>
        <pc:spChg chg="mod">
          <ac:chgData name="Riely, Gregory" userId="8e9f1504-5205-4fae-b223-1d04dd54ed12" providerId="ADAL" clId="{820F0C39-9049-4EE1-A70C-B4FAF97CB913}" dt="2026-10-08T21:22:21.967" v="1921" actId="12"/>
          <ac:spMkLst>
            <pc:docMk/>
            <pc:sldMk cId="3956480010" sldId="2076137836"/>
            <ac:spMk id="3" creationId="{2A8B5358-7E81-3ED1-3D08-2EE15BA4539F}"/>
          </ac:spMkLst>
        </pc:spChg>
        <pc:inkChg chg="add">
          <ac:chgData name="Riely, Gregory" userId="8e9f1504-5205-4fae-b223-1d04dd54ed12" providerId="ADAL" clId="{820F0C39-9049-4EE1-A70C-B4FAF97CB913}" dt="2026-10-08T21:21:53.032" v="1907" actId="9405"/>
          <ac:inkMkLst>
            <pc:docMk/>
            <pc:sldMk cId="3956480010" sldId="2076137836"/>
            <ac:inkMk id="4" creationId="{7F8E4137-83FE-D52D-77FA-CF113B5512D7}"/>
          </ac:inkMkLst>
        </pc:ink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Workbook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Workbook1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Work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1"/>
          <c:order val="0"/>
          <c:invertIfNegative val="0"/>
          <c:val>
            <c:numRef>
              <c:f>Sheet1!$C$5</c:f>
              <c:numCache>
                <c:formatCode>0%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7B-43BE-8AA8-DCBB8511093F}"/>
            </c:ext>
          </c:extLst>
        </c:ser>
        <c:ser>
          <c:idx val="2"/>
          <c:order val="1"/>
          <c:invertIfNegative val="0"/>
          <c:val>
            <c:numRef>
              <c:f>Sheet1!$D$5</c:f>
              <c:numCache>
                <c:formatCode>0%</c:formatCode>
                <c:ptCount val="1"/>
                <c:pt idx="0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7B-43BE-8AA8-DCBB8511093F}"/>
            </c:ext>
          </c:extLst>
        </c:ser>
        <c:ser>
          <c:idx val="3"/>
          <c:order val="2"/>
          <c:invertIfNegative val="0"/>
          <c:val>
            <c:numRef>
              <c:f>Sheet1!$E$5</c:f>
              <c:numCache>
                <c:formatCode>0%</c:formatCode>
                <c:ptCount val="1"/>
                <c:pt idx="0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7B-43BE-8AA8-DCBB851109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55376552"/>
        <c:axId val="-2045386888"/>
      </c:barChart>
      <c:catAx>
        <c:axId val="1955376552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noFill/>
              </a:defRPr>
            </a:pPr>
            <a:endParaRPr lang="en-US"/>
          </a:p>
        </c:txPr>
        <c:crossAx val="-2045386888"/>
        <c:crosses val="autoZero"/>
        <c:auto val="1"/>
        <c:lblAlgn val="ctr"/>
        <c:lblOffset val="100"/>
        <c:noMultiLvlLbl val="0"/>
      </c:catAx>
      <c:valAx>
        <c:axId val="-2045386888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numFmt formatCode="0%" sourceLinked="1"/>
        <c:majorTickMark val="out"/>
        <c:minorTickMark val="none"/>
        <c:tickLblPos val="nextTo"/>
        <c:crossAx val="1955376552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1"/>
          <c:order val="0"/>
          <c:invertIfNegative val="0"/>
          <c:val>
            <c:numRef>
              <c:f>Sheet1!$C$5</c:f>
              <c:numCache>
                <c:formatCode>0%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7B-43BE-8AA8-DCBB8511093F}"/>
            </c:ext>
          </c:extLst>
        </c:ser>
        <c:ser>
          <c:idx val="2"/>
          <c:order val="1"/>
          <c:invertIfNegative val="0"/>
          <c:val>
            <c:numRef>
              <c:f>Sheet1!$D$5</c:f>
              <c:numCache>
                <c:formatCode>0%</c:formatCode>
                <c:ptCount val="1"/>
                <c:pt idx="0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7B-43BE-8AA8-DCBB8511093F}"/>
            </c:ext>
          </c:extLst>
        </c:ser>
        <c:ser>
          <c:idx val="3"/>
          <c:order val="2"/>
          <c:invertIfNegative val="0"/>
          <c:val>
            <c:numRef>
              <c:f>Sheet1!$E$5</c:f>
              <c:numCache>
                <c:formatCode>0%</c:formatCode>
                <c:ptCount val="1"/>
                <c:pt idx="0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7B-43BE-8AA8-DCBB851109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55376552"/>
        <c:axId val="-2045386888"/>
      </c:barChart>
      <c:catAx>
        <c:axId val="1955376552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noFill/>
              </a:defRPr>
            </a:pPr>
            <a:endParaRPr lang="en-US"/>
          </a:p>
        </c:txPr>
        <c:crossAx val="-2045386888"/>
        <c:crosses val="autoZero"/>
        <c:auto val="1"/>
        <c:lblAlgn val="ctr"/>
        <c:lblOffset val="100"/>
        <c:noMultiLvlLbl val="0"/>
      </c:catAx>
      <c:valAx>
        <c:axId val="-2045386888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numFmt formatCode="0%" sourceLinked="1"/>
        <c:majorTickMark val="out"/>
        <c:minorTickMark val="none"/>
        <c:tickLblPos val="nextTo"/>
        <c:crossAx val="1955376552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1"/>
          <c:order val="0"/>
          <c:invertIfNegative val="0"/>
          <c:val>
            <c:numRef>
              <c:f>Sheet1!$C$5</c:f>
              <c:numCache>
                <c:formatCode>0%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7B-43BE-8AA8-DCBB8511093F}"/>
            </c:ext>
          </c:extLst>
        </c:ser>
        <c:ser>
          <c:idx val="2"/>
          <c:order val="1"/>
          <c:invertIfNegative val="0"/>
          <c:val>
            <c:numRef>
              <c:f>Sheet1!$D$5</c:f>
              <c:numCache>
                <c:formatCode>0%</c:formatCode>
                <c:ptCount val="1"/>
                <c:pt idx="0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7B-43BE-8AA8-DCBB8511093F}"/>
            </c:ext>
          </c:extLst>
        </c:ser>
        <c:ser>
          <c:idx val="3"/>
          <c:order val="2"/>
          <c:invertIfNegative val="0"/>
          <c:val>
            <c:numRef>
              <c:f>Sheet1!$E$5</c:f>
              <c:numCache>
                <c:formatCode>0%</c:formatCode>
                <c:ptCount val="1"/>
                <c:pt idx="0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7B-43BE-8AA8-DCBB851109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55376552"/>
        <c:axId val="-2045386888"/>
      </c:barChart>
      <c:catAx>
        <c:axId val="1955376552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noFill/>
              </a:defRPr>
            </a:pPr>
            <a:endParaRPr lang="en-US"/>
          </a:p>
        </c:txPr>
        <c:crossAx val="-2045386888"/>
        <c:crosses val="autoZero"/>
        <c:auto val="1"/>
        <c:lblAlgn val="ctr"/>
        <c:lblOffset val="100"/>
        <c:noMultiLvlLbl val="0"/>
      </c:catAx>
      <c:valAx>
        <c:axId val="-2045386888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numFmt formatCode="0%" sourceLinked="1"/>
        <c:majorTickMark val="out"/>
        <c:minorTickMark val="none"/>
        <c:tickLblPos val="nextTo"/>
        <c:crossAx val="1955376552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0.5277</cdr:x>
      <cdr:y>0.30674</cdr:y>
    </cdr:from>
    <cdr:to>
      <cdr:x>0.70382</cdr:x>
      <cdr:y>0.64738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3BE217BF-CDC3-4757-BA24-98CE377400BD}"/>
            </a:ext>
          </a:extLst>
        </cdr:cNvPr>
        <cdr:cNvSpPr txBox="1"/>
      </cdr:nvSpPr>
      <cdr:spPr>
        <a:xfrm xmlns:a="http://schemas.openxmlformats.org/drawingml/2006/main">
          <a:off x="3065007" y="361055"/>
          <a:ext cx="1022915" cy="40094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800" b="1" dirty="0">
              <a:latin typeface="Franklin Gothic Book" panose="020B0503020102020204" pitchFamily="34" charset="0"/>
            </a:rPr>
            <a:t>~65%</a:t>
          </a:r>
        </a:p>
      </cdr:txBody>
    </cdr:sp>
  </cdr:relSizeAnchor>
</c:userShape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9:31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9:31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9:31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5:21.4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657 62 8192,'0'2'1743,"-8"278"9657,4-236-10425,-2 1 1,-2-1 0,-2 0 0,-19 49 0,19-64-976,1 1 0,1-1 0,1 2 0,2-1 0,1 1 0,-1 58 0,6-85 0,-1 0 0,0 0 0,0 0 0,0-1 0,-1 1 0,1 0 0,-1 0 0,0-1 0,0 1 0,-2 5 0,2-9 0,1 1 0,0-1 0,-1 0 0,1 1 0,0-1 0,-1 0 0,1 1 0,-1-1 0,1 0 0,-1 0 0,1 1 0,-1-1 0,1 0 0,-1 0 0,1 0 0,-1 0 0,1 0 0,-1 0 0,1 0 0,-1 0 0,1 0 0,-1 0 0,1 0 0,-1 0 0,1 0 0,-1 0 0,1 0 0,-1-1 0,-24-15 0,-106-120-100,50 48 135,70 75-21,1 0-1,0 0 0,1-1 0,0-1 1,1 1-1,1-1 0,-10-27 0,-26-116-315,35 122 3,-2-2-1168,-6-17-8886,8 29 7272,1 1 4136,-2-9 10551,8 33-11513,1 0 0,0 0 0,0 0 0,-1 0 0,1 0 0,0-1-1,0 1 1,0 0 0,0 0 0,0 0 0,0 0 0,1-1 0,-1 1 0,0 0-1,1 0 1,-1 0 0,0 0 0,1 0 0,-1 0 0,1 0 0,0 0 0,-1 0-1,1 0 1,0 0 0,0 0 0,-1 0 0,2 0 0,1-1-52,-1 1 0,1 0 0,-1 0 0,1 0 0,-1 0 0,1 0 0,0 1 0,-1-1 0,1 1 0,0 0 0,3 0 0,7 1-212,0 0 1,-1 0-1,1 2 1,12 3-1,3 3-1307,-1 2 0,1 1 0,-2 1 0,30 18 0,95 75-7731,-104-71 8346,2 6 863,-38-31 0,1 1 0,0-2 0,1 0 0,17 10 0,9 1 1933,68 36 11560,-65-29-10897,-31-13-2526,-20-5-1,-29-2-768,-39-2 2388,-42-6-6524,-36 1 168,54 13 12480,86-9-9318,1 1 0,0 0 0,0 1 0,0 1 0,1 0 0,-24 18 0,-18 9-3701,40-26 5741,-8 5 3954,-48 17 0,66-28-4005,-1 0 1,0 0 0,0 0 0,0-1 0,-1 0 0,1-1 0,0 1-1,0-1 1,0-1 0,-1 1 0,1-1 0,0 0 0,-11-3 0,15 4-558,1-1 1,-1 0 0,0 0 0,0 0-1,0 0 1,1 0 0,-1 0-1,1 0 1,-1 0 0,1 0 0,-1-1-1,1 1 1,-1-1 0,1 1 0,0-1-1,0 0 1,0 1 0,0-1 0,0 0-1,0 0 1,1 1 0,-1-1 0,1 0-1,-1 0 1,1 0 0,-1 0-1,1 0 1,0 0 0,0 0 0,0 0-1,0 0 1,1 0 0,-1 0 0,0 0-1,1 0 1,-1 0 0,1 1 0,0-1-1,1-2 1,3-8-842,1 0 0,1 0 0,0 1 0,14-18-1,-15 22 532,29-39-2225,110-139-4341,-110 145 7372,2 1 0,60-49-1,-67 65 2251,1 0-1,1 2 1,1 2-1,44-20 1,22 4 98,-62 25-2584,-9 3-796,-1-1 1,37-17-1,-41 12-7582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2:59.3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0,'10488'0'0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4:39.6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478 1 8192,'-1'16'1844,"-1"-1"-1,-1 1 1,0 0 0,0-1 0,-2 0 0,-6 16-1,-24 50 2529,17-39-3628,7-18-1054,1 1 1,2 0-1,0 0 1,2 1-1,0 0 1,2 0-1,-2 46 1,7-43-1369,0 29 910,-1-55 956,0 1 0,0-1 0,-1 0 1,0 1-1,0-1 0,1 0 0,-2 1 0,1-1 0,0 0 0,-1 0 1,1 0-1,-4 4 0,4-6-367,0 0 0,0-1 1,0 1-1,0-1 0,0 1 1,0-1-1,1 1 0,-1-1 0,0 0 1,-1 1-1,1-1 0,0 0 1,0 0-1,0 0 0,0 0 0,0 0 1,0 0-1,0 0 0,0 0 0,0 0 1,0-1-1,0 1 0,0 0 1,0-1-1,0 1 0,0 0 0,0-1 1,0 0-1,0 1 0,0-1 1,1 1-1,-1-1 0,0 0 0,0 0 1,1 1-1,-2-2 0,-30-35-4462,27 30 2920,-83-94-1144,31 37 1682,20 20 3585,9 8 2764,2-2 3761,24 36-8771,0 0 1,1 0-1,-1 0 1,1 0-1,0-1 1,0 1-1,0 0 0,0-1 1,0 1-1,0-1 1,1 0-1,-1 1 1,1-1-1,0 1 1,0-1-1,0 0 0,0 1 1,0-1-1,0 0 1,1 1-1,-1-1 1,1 1-1,1-5 1,1 4-202,-1 0 1,1 0 0,0 0 0,0 0 0,-1 1-1,2 0 1,-1-1 0,0 1 0,0 0 0,1 1 0,-1-1-1,1 0 1,-1 1 0,1 0 0,0 0 0,4-1 0,90-19-1831,-46 13-1693,54-2 0,-69 9 1189,1 2 0,45 6 0,-58-3 1442,48 14 0,-38-3 2860,-31-13-1266,-1 0 0,1 0 0,-1 0 0,0 1 0,0-1 0,0 1 0,0 0 0,0 0 0,-1 0 0,3 4 1,-4-6-322,0 1 0,0-1 1,-1 1-1,1-1 0,0 1 1,-1 0-1,0 0 1,1-1-1,-1 1 0,0 0 1,0 0-1,0-1 1,0 1-1,0 0 0,0 0 1,0-1-1,-2 4 1,1-1-132,-1-1 0,0 1 0,0-1 0,0 0 0,0 1 1,0-1-1,-1 0 0,0 0 0,1-1 0,-7 6 0,-25 18-2222,0-2-1,-2-1 1,-70 33 0,-127 39-7040,190-79 8721,39-14 343,-6 2 247,0 0-1,0-1 1,0 0 0,0-1-1,-18 2 1,26-3-182,0-1 0,0-1 0,0 1 0,0 0 0,1 0 1,-1-1-1,0 1 0,0-1 0,0 0 0,0 1 0,1-1 0,-1 0 0,0 0 1,1 0-1,-1 0 0,1 0 0,-1-1 0,1 1 0,-1 0 0,1-1 0,0 1 1,0-1-1,0 1 0,0-1 0,0 1 0,0-1 0,0 0 0,0 0 0,1 0 1,-1 1-1,0-1 0,1 0 0,0 0 0,-1 0 0,1 0 0,0 0 0,0-2 1,0-4 1484,0 0 1,0 1 0,0-1-1,1 0 1,0 1 0,3-10-1,21-42 1800,-7 32-4618,0 0 0,25-25 0,-4 4 180,-36 43 617,35-44-1161,-2-1 6511,-7 8-3327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5:47.1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8192,'0'6'981,"1"-1"-1,0 1 1,0-1 0,1 1 0,-1-1 0,1 0-1,0 0 1,1 1 0,-1-2 0,1 1 0,6 8-1,44 48 4833,-38-44-5373,16 14-440,56 43 0,-52-46 0,51 53 0,-39-36-3284,3-1 1,1-3 0,89 54 0,-100-68 3649,-8-7 5936,-21-15-8431,16 1-7299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5:48.4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191 0 8192,'0'28'4924,"-1"0"-1,-9 47 1,6-56-3840,-2 0-1,-10 26 1,-25 70-1084,-52 234 0,78-262 0,11-50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5:49.7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1 331 8192,'23'-22'16391,"-19"21"-15571,2-2-9,55-24-811,2 3 0,69-18 0,-51 20 0,154-52 0,-215 64 0,-1 0 0,30-22 0,-30 20 0,0 0 0,27-12 0,-36 20 0,1 1 0,-1 0 0,1 1 0,0 0 0,-1 1 0,1 0 0,12 1 0,0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5:56.9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75 8192,'1038'1'5115,"1115"-3"-10230,-906-24 5115,-1115 17 3556,56-21 7906,-153 22-8458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6:08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0 193 8192,'28'-1'3272,"-1"-1"1,0-1-1,0-2 1,34-9-1,-19 1-1612,88-28-1660,208-39 0,-196 63-2134,205 1 0,139 31-5492,-112 0 4359,-105-12 5436,134-5 6473,-56 0-4292,-300 4-4350,57 10 0,-77-7 0,0-1 0,0-1 0,0-2 0,1-1 0,-1 0 0,53-10 0,-57 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6:10.6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0 246 20511,'2841'-246'0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8:34:29.2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18995,'697'1032'0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8:34:30.5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694 12 8192,'-8'-12'7645,"7"12"-7406,-19 2 4984,-18 17-308,12 5-4915,2 1 0,0 1 0,2 1 0,-26 41 0,6-8 0,-367 417 0,378-445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8:34:38.1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8192,'684'0'14771,"-229"0"-11520,-425 2-3251,0 1 0,0 2 0,48 13 0,29 5 0,-78-19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8:34:11.8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8192,'0'4'18022,"5"7"-18022,15 10 0,13 21 0,11 12 0,3 6 0,-3 7 0,-8 6 0,-2 4 0,-1 8 0,-2-1 0,-1-6 0,-6-7 0,-7-10 0,-2-7 0,1-8 0,-2-11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8:34:12.9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0 578 8192,'0'-5'18022,"0"-6"-18022,5-1 0,6 1 0,15-1 0,22-14 0,21-6 0,27-17 0,20-14-2971,9-9 2971,-8 1-5849,-4 5 5849,-18 9-7957,-15 13 7957,-16 15-1245,-20 12 1245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8:34:14.0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8192,'4'9'18022,"7"3"-18022,15 5 0,17-1 0,16 1 0,11 3 0,12 6 0,2 0 0,0 0 0,23 4-3356,27 8 3356,8 5-5484,-11 1 5484,-18-3-7956,-19-4 7956,-21-3-1226,-22-8 1226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13:31:47.3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1 115,'48'0,"991"-32,-959 26,-32 3,-1-1,0-3,71-18,-83 14,2 3,-1 1,1 2,39-1,153 8,-89 1,15-4,149 3,-158 10,24 1,15-10,276 12,-113-4,86 10,115 48,-203-42,-174-17,13-3,-87-5,131 20,-64 3,86 17,-163-30,0-3,144-4,19 0,514 12,-646-12,231 42,-131-12,397 16,-225-25,14 14,100 3,-385-41,179 26,-130-10,336-10,-290-11,115 5,296-5,-132-42,-342 19,-72 11,91-6,93 15,186-17,-40-2,-237 21,33-8,125-2,-240 12,1-4,110-20,9-4,-36 7,-24-6,-66 12,0 3,120-4,-133 19,-41 1,0-2,0-1,0-1,0-2,50-12,18-12,190-28,-258 53,-5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13:31:58.6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5715 0,'-386'17,"354"-15,-385 35,-115 13,357-42,-48 5,-363 0,362-15,191 3,-51 10,-11 1,-502-7,328-8,103 16,29-1,-349-7,204 20,37-21,-456-51,657 41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13:32:00.7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3518 138,'-39'0,"3"2,0-3,0-1,1-1,-57-13,38 0,-10-4,-2 3,1 3,-79-7,-311 19,60 3,230-14,-59-2,-1074 16,1271 0,-1 2,-32 7,31-4,-49 2,13-7,38-1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4:04.1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19519,'4288'0'0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4:17.5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23117,'6419'54'0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3:34:30.3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467 0 8192,'0'31'7385,"-7"53"1,4-68-6573,0-2-1,-1 1 1,-7 15 0,3-3-813,1-1 0,1 1 0,1 1 0,2-1 0,1 0 0,1 40 0,1-34 0,-1 0 0,-2 0 0,-14 64 0,16-93 0,-2 7 0,0 0 0,0 0 0,1 0 0,-1 23 0,3-33 0,0 1 0,0 0 0,0-1 0,0 1 0,0-1 0,1 1 0,-1-1 0,1 1 0,-1 0 0,1-1 0,-1 1 0,1-1 0,0 0 0,-1 1 0,1-1 0,0 0 0,0 1 0,0-1 0,0 0 0,1 0 0,-1 0 0,0 0 0,0 0 0,1 0 0,-1 0 0,0 0 0,1 0 0,-1-1 0,1 1 0,-1-1 0,1 1 0,-1-1 0,1 1 0,-1-1 0,1 0 0,0 0 0,-1 0 0,1 0 0,-1 0 0,1 0 0,0 0 0,-1 0 0,1-1 0,2 0 0,-2 1 0,-1-1 0,1 1 0,0-1 0,-1 1 0,1-1 0,0 0 0,-1 1 0,1-1 0,-1 0 0,1 0 0,-1 0 0,0 0 0,1 0 0,-1-1 0,0 1 0,0 0 0,0-1 0,0 1 0,0 0 0,0-1 0,1-2 0,0 0 0,-1 0 0,0 0 0,0 0 0,0-1 0,0 1 0,-1 0 0,0-1 0,0-6 0,-2-5 0,0-1 0,-1 1 0,-8-25 0,-7-43-5220,0 0-4579,-1 45 7831,15 35 3090,0-1 0,0 1 0,-1 0 0,1 0 0,-1 0 0,0 1 0,-10-7 0,-43-12 8854,17 12-10168,22 5-3470,-12-2 2266,-3 1 3299,-57-3-1,58 8-6471,0 2-5841,208-3 6761,11 4 3471,25-1 3445,-202-1-2208,0 1-1,-1-1 0,1 2 0,0-1 0,0 1 0,16 7 0,-15-4-1102,1 0-1,-1 1 1,0 0-1,-1 0 1,0 2-1,0-1 0,0 1 1,8 10-1,-16-18 145,0 1-1,0 0 1,0 0-1,0 0 1,0 1-1,0-1 1,0 0-1,0 0 1,0 0-1,0 1 1,-1-1-1,1 0 1,0 1-1,-1-1 1,1 0-1,-1 1 1,0-1-1,1 1 1,-1-1 0,0 1-1,0-1 1,0 1-1,0-1 1,0 1-1,0-1 1,-1 1-1,1-1 1,0 1-1,-1-1 1,1 0-1,-1 1 1,0-1-1,1 0 1,-1 1-1,0-1 1,0 0-1,0 0 1,0 1-1,0-1 1,0 0-1,0 0 1,0 0-1,-2 1 1,-8 4 506,1 0 0,-1-1 0,0 0 0,-21 6 0,-7 4-2,25-6-2186,-1 1 0,2 0 0,-20 19 1,20-17-1444,0-1 0,-26 17 1,32-24 2587,0 0 0,0-1 0,-1 0 0,1 0 1,-12 2-1,-70 6 1227,69-10-501,1 1 1,-1 0-1,1 2 1,-36 11-1,48-12 1050,-1 0-1,0-1 1,1 0 0,-1 0-1,-17 1 1,24-2-1051,-1-1-1,1 0 1,-1-1-1,1 1 1,-1 0 0,1 0-1,-1-1 1,1 1-1,-1-1 1,1 1 0,0-1-1,-1 0 1,1 1-1,0-1 1,-1 0-1,1 0 1,0 0 0,0 0-1,0 0 1,-2-2-1,2 1-198,0 0 0,0 0 0,0 0-1,0 0 1,1 0 0,-1 0 0,1 0-1,-1 0 1,1 0 0,0 0 0,0 0 0,0-3-1,1-4-605,0 0 1,1 0-1,0 0 0,0 1 0,1-1 0,1 0 0,-1 1 0,1 0 0,8-13 1,54-71-3900,-56 79 3965,97-117-6486,9-12 7006,-111 136 16,0 0 0,0 0 1,1 1-1,0-1 0,0 1 0,12-7 0,-1 4 2171,0-1 0,1 2 0,22-7 0,9-3 3588,-29 9-3845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18:35:34.0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1,'3320'0,"-3242"3,109 20,18 2,219 30,-5-1,-335-49,146 12,-73-6,181-10,-150-3,2065 2,-2151 3,194 32,96 48,-330-73,1-3,0-2,0-3,71-7,-4 1,36-7,-27 1,113 4,-142 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8:35:52.9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89 8192,'636'49'16597,"-417"-24"-15172,776 78-11591,-856-92 6670,254-15 8399,-225-10-8371,-124 9 2807,686-62-4787,16 47 8558,-723 19-2016,0-1 0,0-2-1,0 0 1,0-1-1,-1-2 1,0 0-1,36-17 1,-34 13-15,1 1 1,1 1-1,-1 2 1,1 0-1,38-3 1,62 5-4064,64 9-6864,-16-1 4658,24-2 5190,369-47 0,-481 37 811,0 3 0,132 8 0,-67 1-768,-150-3-40,135-1-808,0 6 0,145 24 0,-215-17 756,4 2 44,0-3 0,125 4 0,-133-16 2481,-37 0-1981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9:15:27.6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8192,'258'-2'12871,"-2"-5"-7595,-2-2-4651,-1-1-3347,551-17-13121,-231 23 22518,283 6-9523,-136 1-627,-512-3 2987,-1 1 3410,313 1 8908,-174-6-10032,171-23-1669,127-2 1143,1300 31-1272,-1934-2 0,-1 0 0,0 0 0,0 1 0,0 1 0,0 0 0,0 0 0,0 0 0,-1 1 0,14 7 0,-5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9:15:43.6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8192,'1'25'2120,"2"0"0,0 0-1,1 0 1,2-1 0,10 31 0,27 60 2301,-15-44-3539,0 5-882,43 129 0,-43-90 0,-17-60 0,31 85 0,-27-105 0,38 58 0,-39-70 0,0 1 0,-1 0 0,-2 1 0,0 0 0,7 27 0,-13-28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9:15:45.1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1102 0 8192,'-21'24'11164,"19"-23"-10149,0 1 0,-1-1 0,0 0 0,-4 2 0,-10 8 768,-33 30-1783,2 2 0,-46 53 0,48-46 0,-95 78 0,67-76 0,44-32 0,2 0 0,0 2 0,1 1 0,-45 50 0,43-41 0,-1-1 0,-1-1 0,-2-2 0,0-2 0,-70 42 0,42-28 0,49-31 0,0 1 0,0 0 0,1 0 0,-13 17 0,7-6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9:15:46.83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8192,'15'25'12246,"-12"-22"-11225,17 16 3228,-14-13-3743,15 12-506,1-1 0,30 18 0,35 28 0,-80-58 0,0 0 0,0 0 0,0-1 0,1 0 0,0 0 0,-1-1 0,1 0 0,1-1 0,13 4 0,82 5 0,-62-8 0,342 54-1012,-11-1 43,-223-52 2950,-124-5-1981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19:16:11.6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21960 223,'0'1,"-1"0,1 0,0 0,-1 0,1 0,-1 0,1 0,-1 0,0 0,1 0,-1-1,0 1,0 0,1 0,-1-1,0 1,0 0,0-1,0 1,0-1,0 1,0-1,0 0,0 1,-2-1,-35 10,22-7,-39 9,0-2,-62 2,19-1,-1424 148,1077-121,-215 13,436-42,-44 1,-295 48,554-56,-348 54,241-42,-125-2,-40-36,50 1,-540 18,410 8,192-1,36 1,-1-5,-147-23,146 7,-150-1,-140 20,168 2,-892-19,-328 6,802 77,-12 1,-291-51,247 22,58-15,60-4,-758 18,1165-38,-602-11,3-50,-191-88,657 71,239 52,-527-144,536 143,50 13,-1 2,1 3,-1 1,-50-4,-467 11,255 5,244-3,-70-3,126 1,0 0,1 0,-1 0,0 0,0-1,0 1,1-1,-1 0,1 0,0 0,-5-4,8 6,-1-1,1 1,-1-1,1 1,-1-1,1 1,0-1,-1 1,1-1,0 1,-1-1,1 1,0-1,0 0,-1 1,1-1,0 0,0 1,0-1,0 1,0-1,0 0,0 1,0-1,0 0,0 0,1 0,0 0,0 0,0 0,0 0,1 0,-1 0,0 0,0 0,0 1,1-1,-1 0,0 1,1 0,-1-1,0 1,1 0,2-1,34-5,53-2,-52 5,56-10,61-13,190-9,-148 19,500-17,-533 26,228-37,-207 19,-71 16,170 9,-128 3,1232-3,-1105 14,-29 1,-29-2,18 1,308 0,36 0,231 20,-685-25,797 4,-576-16,293 1,732 5,-615 37,-534-24,1024 9,-1063-25,516 28,-508-6,256 62,-351-62,119 27,226 42,753 51,-1129-134,837 14,-584-26,-184 4,704 17,-627-5,409-30,-584 12,-1-2,-1-2,76-28,114-65,-211 92,21-11,72-48,-5-20,-110 90,0 0,1-1,-1 1,0 0,1 0,-1 0,0 0,1 0,-1-1,0 1,0 0,1 0,-1 0,0-1,0 1,1 0,-1-1,0 1,0 0,0 0,1-1,-1 1,0 0,0-1,0 1,0 0,0-1,0 1,0 0,0-1,0 1,0 0,0-1,0 1,0 0,0-1,0 1,0 0,0-1,-17-1,-34 11,43-7,-241 30,1-1,-96 17,54-10,210-29,0-4,-117-7,63 0,-179 3,-283-3,158-27,47 1,-37 1,216 1,-27-1,-103 26,-174-8,-485-10,677 21,-726-19,-307 4,838 15,-406-29,844 21,-551-38,-243 37,486 10,249-5,-154 5,-297 81,445-52,88-17,-1-3,-119 9,64-19,10-2,0 4,0 5,-108 23,142-18,-1-3,-100 2,-148-14,119-3,-48 6,-289-4,307-11,-74-1,209 8,-172-33,10 1,-12-4,62 8,135 30,52 4,0 0,-29-6,26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13:20.1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1 111 8192,'116'0'11782,"0"0"-6140,24 0-3315,69 0-4091,78 0-677,-222 7-6362,-4 12 3754,57 39 2661,-98-45 2570,1-1 0,0-2 0,1 0 0,0-1 0,1-1 0,0-1 0,0-1 0,34 4 0,208-11 541,-98-3-2262,-17 7 1394,168-7 162,-290 1 2655,-1-2 0,43-14 0,15-3 5197,-25 16-5732,128-11-2137,-104 7 0,-65 7-1007,1-1 1,-1-1-1,22-9 1,-23 8-524,0 0 0,1 1 0,26-3 0,77 5-2535,-88 4 3112,0-1 0,0-2 0,36-7 1,-18 1 952,0 2 0,1 3 0,68 5 0,66-5 0,-102-10 0,-56 8 0,47-3 0,-37 5 0,40-8 0,-42 5 0,48-2 0,261 7 4490,-156 2 191,-65-5 2379,-42-8-5269,-37 6-1791,1 2 0,-1 2 0,52 4 0,75-3 0,-88-13 0,-57 9 0,48-4 0,-52 8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13:23.9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82 19383,'4506'-82'0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13:30.1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17370,'10215'109'0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13:02.3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1 222,'2'8,"1"-1,0 0,0 1,0-1,1 0,0-1,1 1,5 6,-5-9,-1 0,0-1,1 0,0 0,0 0,0 0,0-1,0 0,1 0,-1 0,1-1,5 2,38 3,-1-2,1-1,83-8,-25 1,213 4,-313-1,0 0,-1 0,1-1,-1 1,0-2,1 1,-1-1,0 1,0-2,-1 1,1-1,-1 0,1 0,-1 0,-1-1,6-5,-4 4,-1 0,1 1,1 0,-1 0,1 1,-1 0,1 0,0 0,1 1,-1 0,1 0,8-1,30 0,1 2,0 2,0 2,66 12,24 1,15-9,80 8,-44-3,-132-11,0 4,101 18,121 26,-115-24,89 4,241 54,-372-64,54 10,-108-17,0-4,1-2,118-7,-55-1,-24 4,109 15,-70-4,204-10,-162-5,-128 7,0 2,0 2,77 23,-44-10,13 8,-69-18,0-1,44 6,173 36,-186-34,0-3,132 11,-167-27,0-2,51-9,2-1,135-25,19-1,-96 22,141-36,-214 42,-1 4,1 3,111 7,-43 0,171-18,-9 1,2085 15,-2220 13,-68-2,261 32,-53-5,-37-3,-122-14,155 3,-247-24,52 0,178 25,-199-11,-12 0,1-3,114 2,-162-14,71 0,192-24,-173 8,136-1,-192 14,-10-2,0-3,77-21,-71 15,-17 3,-1-2,0-1,69-36,100-77,-199 122,13-7,0 2,1 0,1 1,0 2,0 0,0 2,29-4,-11 2,47-15,-37 8,-29 8,0 0,32-14,-50 17,1 1,-1-1,0 0,0-1,0 1,-1-1,1 0,-1 0,0 0,0 0,-1-1,1 0,-1 1,6-12,-8 14,-1 1,1-1,0 0,-1 0,1 0,-1 0,1 0,-1 0,0 0,0 0,0 0,0 0,0 0,0 0,0 1,-2-4,2 4,-1 0,1 0,-1 0,0 0,1 0,-1 0,0 1,0-1,0 0,0 0,0 1,0-1,0 0,0 1,0-1,0 1,0 0,0-1,0 1,-2-1,-2 1,1-1,-1 1,0 0,0 1,0-1,1 1,-1 0,0 0,1 0,-1 1,-7 3,-48 29,47-26,1 0,-2-1,1 0,-1-1,0-1,0 0,0-1,-28 4,-67-6,79-3,1 1,0 2,-41 6,25 0,0-3,-91-1,83-5,-93 13,146-12,-109 18,-198 9,277-27,11-1,0 1,-1 1,1 0,0 1,0 2,-34 9,20-3,0-1,-1-2,0-1,-35 1,-58 11,-216 29,171-27,-45-2,-298-14,256-7,-2284 3,2275 14,18-1,-390-13,595 2,1 2,-74 18,-6 0,-388 13,-2-36,199-2,280 3,-769 17,-253-7,314-81,667 61,-663-117,93 13,1 11,341 58,108 21,118 16,0-2,-142-39,217 48,-165-49,140 44,-2 1,1 1,-58 1,-302 5,407-4,0-1,0 0,32-12,-9 2,83-17,2 4,1 6,0 6,167 3,80 10,244 4,-464 1,0 7,179 37,-129-19,-63-12,17 8,314 7,-406-29,1 3,78 16,14 3,542 27,-355-54,104 3,-127 26,129 28,-446-54,165 38,12 1,-53-24,167-2,1798-15,-1586-27,24 0,-462 29,20 1,0-4,139-20,-120 6,166-5,114 22,-150 2,35-17,-11 0,-200 14,566 18,-170-9,-103-7,-300 4,73 15,-76-10,97 7,241-20,-360 0,1-1,-1-1,0-2,35-11,-44 10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14:45.0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8192,'38'0'2943,"56"1"9864,-54 3-10535,125 12-2272,174-6 0,123 9 0,-129 6-2608,169-14-6436,59 3 2674,-558-14 6371,119 7 2679,158-9 10801,-180-9-11621,-11 2-1860,167 5 0,-138 6 0,-85-2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47:53.3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1 226,'2'1,"0"0,0 0,0 0,0 1,0-1,0 1,-1-1,1 1,-1 0,1-1,-1 1,2 3,6 5,-3-5,0 1,1-1,0-1,0 0,0 0,0 0,1-1,-1 0,1 0,0-1,11 2,8 0,0-1,32-2,-31-1,53 7,255 39,-255-37,27 5,214 15,76-31,-380 1,-1-1,0-1,0-1,0 0,32-13,-31 10,0 1,0 0,1 2,36-5,-16 10,1 1,-1 2,0 2,69 20,-45-11,-34-10,1-1,38 0,-39-3,-1 1,47 9,9 12,-35-9,95 15,67 4,-69-10,598 95,-472-86,276 34,-302-41,52 2,-64-22,152 9,280-1,-406-16,-97 4,754-37,-704 16,92-13,548-71,-633 79,115-5,-236 34,128 21,55 3,-47-15,42 0,-215-12,733-2,-347-26,-357 18,136-31,-23 2,211-9,-217 27,326 8,-321 14,3 1,213-7,-343-3,-1-4,73-20,-141 30,0 0,0 0,0 0,0-1,0 1,-1-1,1 1,0-1,-1 0,1 0,3-5,-6 7,1 0,-1 0,0-1,0 1,0 0,1-1,-1 1,0 0,0-1,0 1,0 0,1-1,-1 1,0-1,0 1,0 0,0-1,0 1,0 0,0-1,0 1,0-1,0 1,-1 0,1-1,0 1,0 0,0-1,0 1,0 0,-1-1,1 1,0-1,-25-5,-281 11,58 0,247-5,-96 1,1-4,-175-28,101-12,115 27,0 2,-1 2,0 3,-112-4,-1099 19,707-9,70 6,-525-6,442-53,-2 1,341 52,-303-18,367 1,-248-18,354 36,1-2,-1-3,1-3,-79-23,107 24,0 1,-1 2,-58-2,-111 11,81 0,-228-2,-579 15,732-5,-591 17,46-8,545-5,-186 6,-88-23,666 2,546 8,-3 58,-432-18,478 70,5-32,-69-55,638-33,-1303 6,1 1,-1 3,64 18,59 9,-123-31,-30-3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48:10.59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85 8192,'6'1'1903,"0"0"1,0 1-1,0 0 0,0 0 1,0 0-1,0 0 0,8 6 1,17 5 891,31 3-2795,1-3 0,82 7 0,13 2 0,-12 3 0,0-6 0,190 1 0,873-24 0,-1160 1-902,0-2 0,0-3 1,0-1-1,64-23 0,69-12-2434,-97 29-57,0 4 1,90 0 0,3-4 5300,-77 4 129,175-28-2790,-166 20-843,144-6 0,624 24 1596,-417 4 0,141 18 559,-352-14 16085,-211-7-15825,-16 0-819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48:13.8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1 140 8192,'10'-12'5706,"-9"11"-5267,0 1 0,0-1 0,0 0 0,0 1 0,0 0 0,0-1 0,1 1 0,-1 0 0,0-1 0,0 1 0,0 0 0,0 0 0,2 0 0,43-4 5340,-37 4-5388,712-9-6268,-441 12 3401,-154-1-1267,38-1-1949,-57-5 9728,-91 2-1653,1-1 1,-1-1-1,0 0 1,17-8-1,19-4-753,33-9-1414,-51 14-218,1 1 0,-1 2-1,1 2 1,54-4 0,293 13 2,-355-1 0,0 1 0,-1 2 0,1 0 0,-1 2 0,37 15 0,44 10 0,-75-24 0,0 0 0,0-2 0,1 0 0,53 1 0,-42-6 61,55 10 1,31 2-681,-94-12-1361,-4-1 1485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48:24.7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1 196 8192,'212'2'8954,"38"0"-2439,-1-11-3962,-1-30-2553,-174 24 0,0 4 0,90-3 0,-105 13 37,5 2-236,0-3 0,91-15 0,-8-9 479,166-8 0,-220 30-280,124-10 0,-45 2-2167,236 11-10270,-186 4 9019,-81-5 3418,-32-1 0,173 18 0,-170 9 1840,51 28 5196,3 0 201,-54-29-5328,31 5-1909,-26-4 0,-91-21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48:55.9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15541 464,'-3'4,"0"0,0-1,0 1,0-1,0 0,-1 0,1 0,-1 0,0-1,0 1,0-1,0 0,0 0,0-1,-8 3,-76 14,66-15,-114 24,67-12,-122 11,30-25,-62 6,219-7,-1 0,1 0,-1 1,1 0,-1 0,1 0,-1 0,1 1,0-1,0 1,-1 0,2 0,-1 1,0-1,0 1,1 0,-1 0,1 0,0 1,-6 6,6-1,0-1,1 1,0 0,0 0,1 0,0 0,0 0,1 0,0 0,3 13,3 51,-1-28,-2-1,-4 51,1-82,-2 1,0-1,-1 0,0 0,-1 0,0 0,-1 0,0-1,-1 0,-1 0,-12 17,7-16,0 0,0-2,-1 0,-1 0,1-1,-2-1,1 0,-1-1,-1 0,0-2,0 1,-23 4,-17 2,-1-2,-79 5,-344-1,-5-33,-26 1,-128 35,501-9,-144-10,-135-29,261 17,-225-30,-142-63,-15-4,258 73,149 23,-188-46,269 49,-72-7,0 1,-153-15,272 32,-30-5,0-1,1-2,-41-14,-50-13,7 8,-48-8,-44 2,-275-37,-5 37,-1811 33,887 3,954 25,24 0,66-31,-211 5,408 12,99-6,-1-3,-86-6,130-3,0-1,1-2,0 0,0-3,0 0,1-1,1-2,0-1,0-1,-40-32,65 47,1 0,-1 0,1-1,-1 1,1 0,-1-1,1 1,-1 0,1-1,-1 1,1-1,-1 1,1 0,0-1,-1 1,1-1,0 1,-1-1,1 0,0 1,0-1,0 1,-1-1,1 1,0-1,0 0,0 1,0-1,0 1,0-1,0-1,18-5,41 6,-51 1,1748 5,-1006-7,-397 16,-21 1,370 5,-487-12,198 19,-222 3,166 20,158 30,-333-46,308 20,-201-58,-149-1,169 17,21 47,-17-1,547-15,-459-19,-262-11,237-7,-237-15,344-38,-40-8,-341 46,-61 2,0-1,-1-2,0-2,-1-2,69-33,-60 29,1 2,0 3,2 1,-1 3,56-3,15-4,4-6,88-12,-92 26,151 9,-103 2,-108-3,203-4,-211 0,-1-3,103-25,-77 12,0 4,1 3,1 4,141 1,-4 12,-53 0,191-19,-287 5,-1-2,121-39,-188 50,31-11,-26 5,-20 3,-274 1,156 5,-181 12,-15 0,142-16,-304-43,5 6,158 7,200 16,-847-130,886 127,51 9,0 2,0 2,-44-2,-580 8,281 2,18 24,305-20,-166 31,143-21,-134 10,201-26,-1 1,0 0,0 1,1 0,-1 1,-24 9,87-6,0-5,528 20,606 110,-141 15,-808-109,37 10,92 12,-241-44,125-2,-184-13,73 2,0-6,175-28,-282 25,1-2,-1-1,-1-1,0-2,46-28,-66 37,15-8,0 2,1 0,1 2,-1 1,1 0,1 2,33-4,180 2,-32 2,257-11,-441 15,-1-1,40-10,29-1,-77 15,-20 4,-26 8,-179 62,-3-10,-360 63,493-115,-1-4,0-3,0-4,0-4,-1-3,-117-21,-378-53,560 76,-82-14,2-3,-151-52,160 44,-15-6,27 7,-1 4,-86-12,-86-16,-27-3,-234-14,282 39,-155-15,-451-62,747 91,-62-8,-158-26,209 32,-156-3,-105 21,128 1,223-3,-222 5,184-1,-1 2,-83 22,-21 17,-268 116,157-54,231-98,-1-1,0-2,0-1,-38 0,-143-7,87-2,91 4,-25 0,1-2,-112-18,-12-26,-51-9,161 39,-63-9,-335-39,318 41,71 11,-560-55,341 54,-28 0,197 13,26 2,1-4,-211-33,271 27,0 3,0 1,-1 3,1 2,-94 13,77-7,-188 30,219-30,11-4,1 1,0 1,1 1,-1 0,1 2,0 1,-35 20,23-10,-2-1,1-2,-2-1,0-2,-61 14,84-23,-17 3,1-1,-1-2,0-1,-54 0,-113-22,166 15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48:57.9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1276 304,'-8'0,"-74"2,0-4,-1-4,-131-26,-309-131,399 120,-28-6,144 44,10 2,23 1,38 2,-62 0,90 3,246 14,-262-9,-1 4,110 31,-38 8,155 77,-267-112,-2-1,1-1,0-2,1-1,0-2,0-1,1-2,1-1,43 0,-33-2,-1 2,0 2,0 1,64 22,-61-15,0-3,0-2,71 6,-115-16,-1 1,1-1,-1 0,0 1,0-1,1-1,-1 1,0 0,0-1,0 1,0-1,1 0,-1 0,0-1,-1 1,7-4,-9 5,0-1,0 1,0 0,0-1,0 1,0-1,0 1,0-1,0 1,0 0,-1-1,1 1,0-1,0 1,0 0,-1-1,1 1,0 0,0-1,-1 1,1 0,0-1,0 1,-1 0,1-1,0 1,-1 0,1 0,-1 0,1-1,0 1,-1 0,1 0,-1 0,1 0,0 0,-1 0,1 0,-1 0,0 0,1 0,-14-4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49:09.0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8192,'54'60'13826,"-6"-6"-9630,191 217-4196,-38-40 0,-36-38 0,-49-54 0,-69-88 0,-29-32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49:09.9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908 0 8192,'-5'2'1429,"-1"-1"0,0 1-1,1 1 1,-1-1 0,1 1 0,0-1 0,0 2 0,0-1 0,0 0 0,1 1 0,-8 8 0,1-3-554,-36 31-1120,3 2 0,1 2 0,-72 98 1,-84 168-1574,84-129-2080,-38 67-4747,68-70 5963,71-145 2682,1-2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49:11.1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0 220 8192,'6'-1'1736,"-1"0"0,1 0 1,-1-1-1,0 1 0,1-1 0,-1 0 1,0 0-1,7-5 0,15-6 660,67-16-2396,1 4 0,117-14 0,-110 21 0,447-55 0,-400 70 0,-119 3 0,-8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49:57.6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239 659 8192,'51'0'12505,"0"0"-6175,-1 0-4381,1 0-4228,-2 0-3881,1 0-3741,234 0 6929,143 0 3500,-402 1-528,-1 2 0,1 1 0,-1 1 0,38 13 0,26 5 0,-39-13 4194,93 7 0,-123-17-2745,1-1 0,0 0 0,33-7 1,-36 4-1322,0-1 1,25-11 0,-10 0-8893,-1-3 3913,4-5 2897,16-14 3620,-4 2 669,-43 33-1493,0-1 0,1 1-1,-1-1 1,0 0-1,-1 0 1,1 0-1,-1 0 1,0 0 0,0-1-1,0 0 1,-1 0-1,1 0 1,-1 0 0,3-10-1,-4 9-391,-1-1 0,1 0 0,-1 1 0,0-1-1,0 0 1,-1 0 0,0 1 0,0-1 0,-1 0 0,-3-9-1,-1 0-1130,-1 0-1,-1 0 0,-13-20 0,-31-39-9720,38 56 5959,-28-36 3698,28 39 2746,-1 0-1,-29-25 1,35 34-912,0 0 0,-1 1 0,0 0 0,-1 1 0,1 0 0,-18-6 0,18 8-733,1 1 1,-1 0-1,1 1 1,-1 0-1,-11 0 1,-176 4-2967,-261 0-9756,294-3 11768,137 0 5584,1 0-3686,-94-6-10312,84 2 13076,-2-2 9057,-18-6-12405,6 2-384,-87-8 0,121 17-358,0 1-1,-1 1 0,1 0 1,-1 1-1,1 1 1,0 0-1,0 2 1,1 0-1,-23 9 1,10 1 26,1 0 0,0 2 0,1 1 0,-28 24 0,28-10-3465,-3 26-7245,11-18 6863,16-36 4061,0 0 0,0 0-1,1 0 1,-1 0 0,1 0 0,0 1 0,1-1 0,-1 0 0,1 1 0,-1-1-1,1 0 1,1 1 0,-1-1 0,2 8 0,2 1 1705,0 0-1,1 0 1,8 16 0,-12-28-1804,18 36 6965,18 11-8775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0:22.7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 0 8192,'-1'1'423,"0"-1"-1,-1 1 1,1-1 0,0 1 0,0 0 0,0-1-1,0 1 1,0 0 0,-1 0 0,1 0 0,1 0-1,-1 0 1,0 0 0,0 0 0,0 0 0,1 0-1,-1 0 1,0 0 0,1 1 0,-1-1 0,1 0-1,-1 0 1,1 1 0,0-1 0,0 0 0,-1 1-1,1-1 1,0 0 0,0 1 0,0 1 0,1 42 4492,43 284-4915,-36-235 131,6 35-822,-5-52-12335,-4-31 8215,2-1 3900,5-2 5507,7-4 7112,-13-31-11487,0 0-1,1-1 1,0 0-1,0 0 1,1 0-1,0-1 1,0 0-1,0-1 1,1 0-1,0 0 1,0-1 0,0 0-1,0 0 1,1-1-1,-1 0 1,21 2-1,10 1-462,1-3 0,72-2-1,-97-1 225,365-4-2923,190 6-6353,-130-1 5487,-419-2 3588,-1 0 0,35-8 1,-46 7 781,0 0 0,0-1 1,0-1-1,10-5 0,-18 8-300,0-1 0,1 0 0,-1 1 1,0-1-1,0 0 0,0 0 0,0 0 0,0-1 0,0 1 0,0 0 0,-1-1 0,0 1 0,1-1 0,-1 1 0,0-1 0,0 0 0,0 0 0,0 1 0,-1-1 0,1 0 0,-1 0 1,0 0-1,0 0 0,0-3 0,-1-10 1216,-1 1 0,0 0-1,-7-24 1,-2-7-89,6-30-3535,6-37-5746,-2-50-95,-1 153 8555,1 0 0,-2 0 0,1 0 0,-1 0 0,-1 1 0,0-1 0,-8-15 0,-46-61 7986,39 61-6098,-21-37 1,38 56-2458,-1 0 0,0 0 0,0 1 0,-1-1 0,0 1 0,0 0 0,0 0 0,0 1 0,-1-1 0,0 1 0,0 0 0,0 0 0,0 1 0,-1-1 0,1 1 0,-1 0 0,0 1 0,0-1 0,0 1 0,0 1 0,0-1 0,0 1 0,-1 0 0,1 0 0,-1 1 0,1-1 0,-10 2 0,-462 27-10354,427-23 7798,1 2 0,-72 20 0,71-16 3437,-87 8 0,58-9-406,-52 0 1373,-68-10 5116,81-2-2500,-48 2-1345,31 0-3729,113 0 610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0:36.0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 32 8192,'-2'150'9576,"0"8"-3494,7-3-3718,0-125-4701,-2-19-80,0-1-1,1 0 1,0 0-1,8 13 1,22 28 9822,-22-36-3081,7 7-3258,0-1-4481,22 26-8448,-32-36 11788,0 1 1,0-1 0,1 0-1,1-1 1,0 0 0,0-1-1,0 0 1,2-1 0,-1 0-1,1-1 1,0-1 0,0 0-1,0 0 1,17 3 0,116 16 74,-111-21 0,1 1 0,-1 2 0,61 21 0,-66-18 1227,0-1 1,1-1 0,0-2-1,0-1 1,53 1 0,29 6-2537,-71-6 97,0-2 1,1-1 0,0-3-1,47-5 1,12-8 1211,-56 9 0,0-2 0,-1-1 0,0-3 0,0-2 0,75-30 0,-30 5 518,28-14 827,-107 45-1258,0-1 0,0 0 0,-1 0-1,0-1 1,0 0 0,-1-1 0,15-17 0,-20 20-101,-1 0 1,0 0-1,0 0 1,0-1-1,-1 1 1,1-1-1,-2 0 1,1 1-1,-1-1 1,0 0-1,0-8 1,-4-84 670,1 56 4520,2-78-904,-3-60 1246,3 177-5767,-1 1 0,0-1 0,0 0 0,0 0 0,0 0 0,-1 1 0,1-1 0,-1 1 0,0-1 0,0 1 0,0 0 0,-1-1 0,1 1 0,-1 1 0,-4-5 0,-3-2-1720,-1 1 0,0 1 0,-15-8 0,-6-4-1770,5 2 6986,0 1-1,-59-25 0,48 29-2868,-3 2-3799,-1 5-5518,-44 2 11687,-42 5 7013,8 0-4458,44 5-7873,-39 16-6384,-17 3 2453,75-19 6500,-17 3 0,-96 1 0,93-14 0,-79-12 0,56 6 0,-154 6 0,138 4 0,107-1 0,1 0 0,-1-1 0,1 2 0,0-1 0,0 1 0,0 1 0,-1-1 0,-13 6 0,11-1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0:41.1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108 82 8192,'23'0'14517,"-13"0"-11012,61-12-3505,-36 6 0,44-3 0,100-4 0,74-2 0,-216 14-661,-1-1 1,58-10 0,-44 6-399,1 2-1,0 3 1,0 1 0,-1 3 0,52 10-1,-61-8-401,269 20-4484,0-17 3666,-241-9 5537,89 2 10391,-154 0-13609,-1-1 0,1 1 1,-1-1-1,1 1 1,-1 0-1,0 0 1,1 1-1,-1-1 1,0 1-1,0-1 0,0 1 1,0 0-1,0 0 1,-1 1-1,1-1 1,0 0-1,-1 1 1,0 0-1,0-1 0,1 1 1,-2 0-1,1 0 1,0 0-1,-1 1 1,1-1-1,-1 0 0,0 0 1,0 1-1,0-1 1,0 8-1,2 9-330,-2 1 0,0 0-1,-2 0 1,-3 26 0,0-1-1166,3 6-7888,1 1 5097,-1 25 5314,1 0 6023,1-14 804,1-25-7717,12 70 0,-5-53-222,-3-28 92,-4-21-35,0 1 1,0 0-1,-1 0 1,-1 0-1,1 14 1,-1-21-35,-1 1 0,1 0 0,-1 0 0,1-1 0,-1 1 0,1 0 0,-1-1 0,0 1 0,0-1 0,0 1 0,0-1 0,0 1 0,0-1 0,0 1 0,0-1 0,-1 0 0,1 0 0,0 0 0,-1 0 0,1 0 0,-1 0 0,1 0 0,-1 0 0,0 0 0,1-1 0,-1 1 0,0-1 0,1 1 0,-1-1 0,-3 1 0,-22 2-2207,-1-1 0,1-2-1,-38-3 1,-28 1-4549,30 8 5011,-265 55 1767,258-49 342,49-9-123,0 0 1,1 2-1,-1 0 1,-34 14-1,27-7 3888,0-1-1,-45 11 0,-16-6 424,14-7-4949,-2-3-5229,-14 3 454,66-4 4023,-1-2-1,1-1 1,-1-2 0,0 0 0,-34-5 0,25-2 2684,-50-18 0,-30-20 6019,95 36-6067,-5-1 932,-47-27-1,64 32-2275,1 0-1,-1-1 1,1 0-1,0-1 1,0 1 0,1-1-1,0-1 1,0 1-1,-6-13 1,-58-92-5040,-9-18-5109,36 37 6953,-5-15 4881,32 74-656,1 0-1,1 0 1,2-1 0,-14-71-1,25 103-746,1-1 0,-1 0-1,1 1 1,0-1-1,0 0 1,1 0-1,-1 1 1,1-1 0,0 0-1,0 1 1,0-1-1,2-4 1,-2 6-141,1 0-1,-1 0 1,1 0 0,0 0-1,-1 0 1,1 1 0,0-1-1,0 0 1,0 1 0,0 0-1,1-1 1,-1 1 0,0 0 0,0 0-1,1 0 1,-1 1 0,1-1-1,-1 0 1,3 1 0,16-3-262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0:57.8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2076 58 8192,'-23'-1'5298,"0"-2"1,-39-8 0,13 1-3173,-13-2-7438,-4-1-4455,22 8 6824,-38 2 5142,-109 7 10061,87 13-8534,45-6-3889,31-6-1649,-14 4-5113,-25 4-2051,43-7 8891,1 0 1,-1 2 0,-33 16 0,27-11 112,0-3-122,0-1-1,0-2 1,0-1 0,-62 4 0,60-8 566,-1 2 0,1 1 0,0 1-1,-39 14 1,44-11 9043,0-2-4394,-6 0-3282,-18-2-4069,-118-4 2872,130-2-5445,-1 0-4725,21 1 8774,0-1 2793,1 2 0,0-1 0,-26 6 1,41-6-1700,-1 1 1,1 0-1,-1 0 1,1 0 0,-1 0-1,1 1 1,-1-1 0,1 1-1,0 0 1,0 0-1,0 0 1,0 0 0,0 1-1,1-1 1,-1 1 0,1 0-1,-1-1 1,1 1-1,0 0 1,0 0 0,0 1-1,1-1 1,-2 4 0,-13 55-2518,10-26-3534,-3 72 0,9-17 4787,0-72 781,0-2 1433,0 0 1,1 0 0,6 28 0,11-3-586,-14-36-1556,0 0 0,1 0 0,0-1 0,0 1 0,6 4 0,12 8 9190,1-3-6040,1-1-5737,0-3-5436,-10-5 8389,0-1 0,0-1 1,1-1-1,-1 0 0,30 0 0,83-6 624,-40 0 187,22 2-326,136-20 0,-157 13 0,168 7 0,-112 4 0,3-3 2040,73 0 5458,-72 0-2513,-125 1-1127,5-1-4809,12-5-5753,-38 4 6391,-1 0 0,1 0 0,-1 0 0,0 0 0,0 0 0,1 0 0,-1-1-1,0 1 1,0-1 0,0 0 0,-1 1 0,1-1 0,2-3 0,7-23 3486,-8-5-954,0 0 0,-3 1 1,-4-47-1,1 35-4158,2 1-4419,0-86-3464,2 1 8911,-1-9 10991,0 114-8191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1:02.5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18297,'0'775'0,"1840"-775"0,-1840-775 0,-1840 775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1:10.5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19420,'0'565'0,"1891"-565"0,-1891-565 0,-1891 565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1:22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141 140 8192,'3'0'1881,"211"-8"11065,-181 4-11881,1-2 0,39-12 0,-20 4-1065,2 2 0,-1 2 0,64-3 0,46-13 0,-120 16 0,1 3 0,74-4 0,-46 10-2107,116 4-11269,-110 8 10837,39 5 6829,28 7 6438,-60 3-6263,-73-20-5382,1 0 0,-1 1 0,20 14 0,-24-14-98,0 0 0,-1 0 1,0 1-1,-1 0 0,1 0 1,-2 1-1,1 0 1,-1 0-1,-1 1 0,1 0 1,-2 0-1,1 0 0,3 16 1,-2 2 679,-1 0 0,-2 1 1,0 0-1,-3-1 0,-3 47 0,1-50 385,0 0 0,2 0 0,1 0 0,1 0-1,1 0 1,1-1 0,12 43 0,-13-60 138,1 0 1188,-2 0 1,1 1-1,-1-1 1,0 1-1,0 0 0,0 9 1,-2-15-1143,0-1 0,0 1 1,0 0-1,-1 0 0,1-1 0,0 1 1,-1 0-1,0-1 0,1 1 0,-1-1 1,0 1-1,0-1 0,0 1 0,0-1 1,0 1-1,0-1 0,0 0 0,0 0 1,0 1-1,-1-1 0,1 0 0,0 0 1,-1 0-1,1-1 0,-1 1 0,0 0 1,1 0-1,-1-1 0,1 1 0,-1-1 1,0 1-1,1-1 0,-1 0 0,-2 0 1,-62 13-2466,-89 17-9853,61-9 10265,0-8 11907,30-9-7162,11-4-6027,0 0-7374,-10-1 10033,1 3 0,-73 13 0,93-11 442,-69 1 0,7-2 0,80 0 0,0 2 0,-45 14 0,48-12 0,-1-1 0,0-1 0,-39 4 0,-32-7 3068,-49-3 6946,19-1-5074,71 4-5682,-47-2-2494,90 0 3011,1-1-1,-1 0 1,1-1-1,-1 0 1,1 0-1,0-1 0,0 0 1,-14-7-1,18 7-52,1-1 0,-1 1 0,1-1 0,-1 0 0,1 0 0,0 0 0,0 0 0,1-1 0,-1 1 0,1-1 0,0 1 0,0-1 0,1 0 0,-1 0 0,0-7 0,-3-14-2903,-2-44 0,6 52 2536,-3-38 59,-12-89 613,6 64 3103,9-41 7480,1 107-9332,-1-17-288,0 20-2405,1 1 1,0-1-1,0 0 1,1 0-1,4-15 1,-4 24 1154,0 1 1,0-1 0,0 1-1,0 0 1,0-1-1,0 1 1,1 0 0,-1 0-1,1 0 1,-1 0 0,1 0-1,0 0 1,0 0 0,0 0-1,0 1 1,0-1 0,1 1-1,-1 0 1,0-1 0,1 1-1,-1 0 1,1 0 0,-1 1-1,1-1 1,-1 0 0,1 1-1,-1 0 1,6-1 0,6 2 401,1-1 1,-1 2-1,0 0 0,16 5 1,-21-5 510,18 4 6174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51:47.7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2126 210,'-13'-1,"-1"-1,1 0,-22-6,-24-3,33 7,1-2,-49-15,-24-6,41 14,-85-32,40 11,79 27,-3-1,0 0,-32-3,48 10,-1 0,1 1,-1 0,1 1,-1 0,1 1,0 0,-1 1,-9 3,-86 42,87-37,1-1,-1-2,-1 0,0-1,0 0,0-2,0-1,-1 0,-23 0,-323-28,322 21,-63 4,72 0,-1 0,1-3,-44-7,-77-34,130 38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51:48.9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1500 0,'-70'4,"-119"20,-42 3,-215-28,330-13,72 8,-64-2,-164 9,248-1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51:49.8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1223 2,'-104'0,"-17"-2,-170 21,74-6,159-12,1 2,0 2,-79 18,108-16,0-2,1-1,-44 1,44-4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51:50.8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1734 1,'-217'12,"53"0,-93 3,-120 1,210-19,-179 6,278 6,50-5,-1-1,1-1,-31-1,16-5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51:52.0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1199 383,'0'-4,"-1"0,1 1,-1-1,0 1,0-1,0 0,-1 1,1 0,-1-1,0 1,0 0,0 0,0 0,0 0,-1 0,1 0,-1 1,0-1,0 1,0 0,0 0,-3-2,-11-5,0 1,0 0,-24-6,3 0,-1-1,-1 1,0 2,-1 2,-63-8,81 13,-1-1,1-1,0-1,0-1,1-1,-32-20,19 11,-43-17,30 21,-1 3,-1 1,0 3,-75-3,17 9,84 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51:53.0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1407 135,'-223'2,"-314"-9,426-5,1-6,-203-59,234 59,45 13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51:54.0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1502 0,'-8'6,"-1"0,0-1,0 0,0-1,-1 0,1 0,-1-1,-13 3,-15 5,-56 29,68-28,0 0,0-2,-1-1,-1-1,-44 7,-426-7,268-12,222 4,-40-1,1 2,-1 2,1 2,-70 16,92-12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51:55.7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1467 2,'-7'0,"-40"-1,-1 2,1 2,0 2,-61 14,75-12,-1-2,1-1,-1-1,1-2,-1-2,-58-8,22 3,-24 0,-158 9,237-1,1 1,-1 0,1 2,-22 8,23-7,-1-1,1 0,-1-1,0-1,-20 2,7-3,-1-1,1-2,0-1,0-1,0-1,-36-10,31 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51:56.8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20,'1'-1,"-1"0,1 0,-1 0,1 0,-1 0,1 0,0 0,-1 0,1 0,0 0,0 0,0 0,0 1,0-1,0 0,0 0,0 1,0-1,0 1,0-1,0 1,0-1,0 1,1 0,-1 0,0-1,0 1,0 0,1 0,-1 0,1 1,44-1,-42 0,52 7,0 1,56 18,-24-5,-5-5,132 36,-187-45,1-1,-1-1,1-2,0-1,32-1,30 2,-65 1,-3 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2:10.02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8192,'0'9'18022,"4"8"-18022,7 5 0,6-1 0,0 1 0,2-3 0,-3-1 0,6 6 0,17 18 0,12 6 0,11 9 0,-6 0 0,-2-2 0,-6 1 0,-7-6 0,-10-6 0,-10-11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2:11.11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872 0 8192,'-29'30'12337,"10"-4"-8301,10-9-2387,1-3-1649,0 0 0,0-1 0,-1 0 0,-1 0 0,0-1 0,-1 0 0,0-1 0,-1 0 0,0-1 0,-1 0 0,0-1 0,0 0 0,-25 11 0,13-6-942,-1 2-1,-28 24 1,-85 87-8126,63-53 5493,13-27 4575,-43 8 6664,71-38-4261,-56 36 0,67-35-3403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2:12.2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32 8192,'14'-16'13228,"-12"15"-12720,16-3 3778,32-3-4286,1 3 0,103 5 0,-61 2 0,510-3 0,-592 1 0,-1 0 0,0 1 0,0 0 0,-1 0 0,1 1 0,0 0 0,-1 1 0,0 0 0,1 1 0,-2 0 0,1 0 0,-1 1 0,9 7 0,-4-4 0,1 0 0,0 0 0,29 11 0,-23-13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2:13.7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526 0 8192,'-1'26'1872,"-2"-1"1,0 0-1,-2 0 0,-1 0 1,0-1-1,-12 27 1,-8 11 584,-36 62 1,-154 241-2458,159-268 0,-19 37 0,68-117 0,0 1 0,1 0 0,1 1 0,1-1 0,-5 35 0,8-29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2:14.6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8192,'36'2'13736,"-13"1"-9450,21 8-4286,-1 2 0,0 2 0,56 28 0,13 5 0,126 45-2776,275 101-10132,-293-122 10570,-160-55 2338,-15-6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2:15.8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1 588 8192,'14'-18'12125,"-11"16"-11258,16-11 3478,-11 8-3660,278-166-685,-85 56 0,150-90 0,-264 156 0,-70 40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2:26.5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8192,'34'0'14397,"-14"0"-10772,1 0-3625,-1 1 0,0 0 0,1 2 0,-1 0 0,0 1 0,30 11 0,-13-5 0,1-1 0,0-2 0,0-2 0,48 1 0,27 4 0,25 9 0,169-1 0,-221-19 0,-12-1 0,0 2 0,120 18 0,-85-5-2195,150-12-10325,-122-4 9213,-73 2 6091,0-3 0,125-24 0,-95 1 2800,-89 25-5311,0 0-1,1 0 0,-1 0 1,0-1-1,0 0 0,0 0 1,-1 0-1,1-1 1,-1 1-1,0-1 0,1 0 1,-2 0-1,1-1 0,4-6 1,-3-7-273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2:28.8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0 111 8192,'185'2'9612,"4"0"-3555,3-7-3704,-53-7-3211,95-3-2640,-40 1-4339,-9 0 2008,-81 15 6175,-42 1 599,0-2 0,122-18 0,-125 5-2602,67-11 1013,-104 22 149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2:37.8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4:24.1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 8192,'41'2'7153,"52"8"1,-13 0-3439,394 39-3715,-390-40 0,-31-5 0,-1 3 0,0 2 0,57 17 0,-102-23 0,22 7 0,1-2 0,45 8 0,-71-15 5,0 0 0,0 0 0,0 0 1,-1 1-1,1 0 0,0-1 0,-1 1 0,1 0 1,-1 1-1,1-1 0,-1 1 0,0-1 1,0 1-1,0 0 0,0 0 0,-1 0 0,1 1 1,-1-1-1,0 1 0,0-1 0,0 1 1,-1 0-1,1 0 0,-1-1 0,2 7 0,2 12-106,0 0-1,-1 0 0,1 34 1,-3-32-188,15 385-6665,-4-58-1260,13-119 5920,-11-133 2294,-3-1 0,-5 2 0,-5-1 0,-3 1 0,-27 179 0,20-237 710,4-11 1757,-2 0 0,-2 0 1,0-1-1,-2 0 0,-17 37 0,14-42-1217,-1 0-627,0 0 0,-23 30 0,30-46-684,0-1 0,-1-1 0,0 1 0,0-1 0,-1-1 0,0 1 0,0-1 0,0-1 0,-18 8 0,-10 1-208,-64 13 1,69-19 278,1 0 1,-1 2-1,-43 20 0,29-9-1248,-1-3 0,-1-1-1,-55 10 1,-18 7-8783,87-25 9036,-1 0 1,0-3 0,-38 3-1,-4-5 2142,22-3 3905,-1-2 5123,24 1-7181,2-1-3004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0:54:27.88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1970 1 8192,'-50'0'3606,"-314"5"8007,123 16-8810,223-18-2803,-466 80 0,277-40 0,-26 6 0,151-28 0,-150 45 0,229-65 5,-1 1 0,1 0 0,-1-1 0,1 1 0,0 0 0,0 1 0,0-1 0,0 1 0,0-1 0,1 1 0,-1 0 0,1 0 0,-1 0 0,1 0 0,0 0 0,0 0 0,1 1 0,-1-1 0,1 1 0,0-1 0,-1 1 0,2 0 0,-1 0 0,0-1 0,0 7 0,1 8-60,0 1 1,1-1 0,0 1 0,6 20-1,-2-2-363,6 170-1667,-11-151 2055,3 0-1,1 1 1,3-1-1,28 104 1,-30-145 791,9 22-579,-2 0 0,-1 1-1,-2 1 1,-2-1 0,3 46 0,-10-80-224,15 310-15359,-7-235 13767,7 9 3674,25 41 5313,-1-1-1296,-32-91-5568,-2 0 0,-2 0 0,-1 0 0,-4 43 0,4 64-362,11-50-127,-6-57 0,1 47 0,-8-74 0,0-1 0,1 1 0,0 0 0,1-1 0,0 0 0,0 1 0,1-1 0,4 9 0,-4-14 0,-1 1 0,1-1 0,0 0 0,0 0 0,0-1 0,1 1 0,0-1 0,-1 0 0,1 1 0,0-2 0,0 1 0,1 0 0,-1-1 0,0 0 0,1 0 0,0 0 0,6 1 0,100 29-1875,-28-11-4891,147 18 1,-91-32 4149,194 19 2616,20 1 0,-218-26-164,103-4 3891,-210-1 7728,-7-2-8451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55:42.1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0 166,'337'2,"360"-5,-463-10,69-1,-6-5,-204 11,-66 4,0-2,-1 0,49-19,-50 16,1 0,0 2,0 1,28-3,64-4,68-3,604 16,-757 2,60 10,15 2,260-13,-33-1,-230 5,124 22,-98-6,2-5,162-2,416-16,-684 4,1 2,0 0,-1 2,0 2,0 0,32 15,-29-11,1-1,0-1,1-2,47 7,267 1,341-4,-425-14,101 4,403-5,-386-24,112-1,184 8,-610 16,141-15,-58-8,1 7,159 0,-107 6,5 1,442-7,-572 19,121 12,-18 0,-87-4,-1 3,114 27,-147-25,89 10,13 2,-54-6,140 5,66 11,-215-19,129 5,85 20,-3 0,179-39,-233-4,920 4,-1148-1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0:55:47.3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11,'9'0,"680"16,986 23,-1484-53,-13 0,-29 13,233-14,-216 3,182 11,-155 3,2566-2,-2545 5,389 61,-440-39,0-6,187-2,-213-22,-23-1,113 12,-186-1,-1 1,-1 2,1 2,39 18,-42-15,-1-1,2-3,-1 0,1-3,46 5,26-12,46 5,7 6,57 7,335 82,-95-57,-178-42,1 1,-155 9,70 3,-144-15,233-7,-230 2,1-2,109-29,36-35,-203 71,1 0,-1 0,0 0,0 0,0 0,1 0,-1 0,0 0,0 0,0 0,1 0,-1 0,0 0,0 0,0 0,1 0,-1 0,0 0,0 0,0 0,1 0,-1 0,0 0,0 0,0 0,0-1,1 1,-1 0,0 0,0 0,0 0,0 0,0-1,0 1,1 0,-1 0,0 0,0 0,0-1,0 1,0 0,0 0,0 0,0-1,0 1,0 0,0 0,0 0,0-1,0 1,0 0,0 0,0 0,0-1,0 1,0 0,0 0,0 0,-1-1,1 1,0 0,0 0,0 0,-20-5,-33 3,-24 7,1 3,1 3,-120 34,-53 9,181-45,-113 3,145-13,0-1,0-2,0-1,-66-19,-95-33,159 49,0 2,0 1,-54 0,-39 8,-167-4,292 0,1 1,0 0,-1-1,1 0,0 0,-1-1,1 1,0-1,-7-3,10 4,0 0,0 0,0 0,0 0,0 0,1 0,-1 0,0 0,1 0,-1 0,0 0,1-1,-1 1,1 0,0 0,0-1,-1 1,1 0,0-1,0 1,0 0,0 0,0-1,0 1,1 0,-1-1,0 1,1 0,-1 0,1-1,-1 1,1 0,0 0,-1 0,1 0,1-2,6-8,0-1,1 1,1 0,0 1,0 0,1 0,0 1,1 1,-1 0,2 0,-1 1,25-9,11-2,2 3,60-12,-74 19,45-9,2 4,86-2,44-11,-138 14,118-3,1337 16,-1293-15,-7 0,1082 15,-1256-6,-32-1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7T13:55:02.4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0 1 9830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1:02:25.1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0 192,'6'-1,"0"0,0 0,-1-1,1 0,-1 0,1 0,-1-1,9-5,27-11,0 11,0 3,0 1,1 2,57 4,-26-1,220-2,268 5,-376 13,-82-5,77 12,-106-11,138 4,-165-17,463 15,30-3,-182-13,-126 29,-154-16,95 4,580-15,-334-4,1296 3,-1684-1,-1-3,1 0,40-12,-33 7,48-6,326-18,-216 6,-131 16,0 2,74 1,2 10,220-4,-334-1,0-2,47-14,-49 12,0 0,1 2,33-3,103 4,-94 5,0-3,0-3,81-18,-79 5,-39 9,-1 1,1 2,59-5,36-1,-2-1,341 15,-349 4,0 6,-1 5,115 32,66 19,-234-60,0-2,0-3,69-6,-24 0,52 6,155-7,-188-20,137 19,-158 6,131-16,-162 8,94 3,-142 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1:02:30.1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0 434 0,'13274'55'0,"-14242"-544"0,1936 978 0,-1940-8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1:03:36.8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1:03:40.0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850 1 8192,'-15'1'2110,"0"0"0,0 2 0,0 0 1,0 0-1,1 2 0,-17 6 0,-43 23 1141,-7 16-3251,57-33 0,-1-2 0,-47 22 0,35-25-356,31-11 193,1 0 0,0 0 1,-1 1-1,1 0 0,0 0 0,-1 1 1,1-1-1,1 1 0,-1 0 1,0 0-1,1 1 0,-1-1 0,1 1 1,-6 7-1,-3 8-841,1 0 0,0 1 0,2 0 0,0 1 0,-6 22 0,-29 114-6943,27-87 6693,14-58 1445,-1 0 0,0 0 0,-10 16 1,9-17-169,0 1 0,0-1 0,2 1 0,-5 15 0,-16 69 495,-24 121-1186,40-144 4265,6 2 3957,5-20-7957,0-16 761,-4 41 1,1-67 958,-1 1-1,-1-1 1,-6 23 0,-13 38-4317,15-45 450,2 0-1,1 0 0,2 0 0,0 34 0,8 2 843,1-7 2400,22 141 5512,-5-67-7082,-10-71-257,3-1 0,2 0 0,33 69 0,-29-83 950,2 0 1,1-2-1,3-1 0,1-1 0,3-2 0,0-1 1,58 51-1,-53-56 185,1-2 0,1-1 0,2-3 0,1-1 0,1-2 0,2-2 0,0-2 0,55 17 0,101 23 0,-164-52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1:03:50.55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542 3553 8192,'144'-3'12540,"-1"-6"-7513,142-20-7060,171-9-10949,-382 34 12138,0-4-1,114-26 1,-80 5 5275,2-7 6687,-85 29-10837,0 2 0,0 1 0,1 1 0,-1 1 0,1 1 0,0 1 1,50 7-1,1-1-636,288-14-813,-147-14 150,-73 5-2517,-87 10 1078,9-1-291,347-33-2082,-316 34 6441,247-10-2410,-173 22 1624,2 17 4583,139 56-489,44 7-567,-190-62-4352,238 44 0,-347-54 0,175 44 0,-197-49-306,0-3 0,0-1 1,0-1-1,0-2 0,44-5 1,-12 2-337,2563-10-12488,-1717 13 10714,1655-1 2416,-2434 7 0,1 6 0,140 32 0,-53-7 0,97 13 0,259 34 0,-421-75 3517,172-10 0,-141-3-507,306 1-3780,822 5-8504,-965 10 9979,86 1 1066,-79-23-3055,-1-18 4747,142 3 2652,154-19 1137,-649 43-7252,185-30 0,195-3 0,-17 29-2169,181 7-5506,-47 0 2049,-361-4 3435,139 2 2615,-1 20 8835,-195-10-4816,103 15-1194,94 21-7233,-160-24-600,0-6 0,223 4 0,-117-24 4584,609 14 0,-414 51 0,-271-35 0,172 10 0,413-33 0,-363-8 0,932 4 0,-1267 0 62,0-2 0,1-1-1,-1-2 1,-1-2 0,1-1 0,-1-2 0,45-19 0,-29 8 1482,73-31 4114,0-11 3629,-85 44-9117,1 1 1,1 3 0,1 1 0,85-16-1,30-8 15,-66 10-185,169-74 0,-186 68-1313,135-42 0,88-3-3702,-117 32 2611,123-25-5573,-122 40 7977,7-3 0,-177 32 234,0-2 0,0 0 1,-1 0-1,1-1 0,-1-1 0,0 0 1,15-12-1,-16 9 480,1-1-1,-1 0 1,-1 0 0,0-1-1,-1-1 1,0 0 0,-1 0-1,0-1 1,9-23 0,-7 10 713,-1 0 0,-2-1 1,0-1-1,4-42 0,-5-53 448,-8-7-3966,5-209-11296,11 195 10843,-10 106 2544,-2-1 0,-1 1 0,-3 0 0,-8-59 0,-2-4 519,6 48-30,-1 0 0,-3 0 0,-27-87 1,-7 21-1512,-55-140-432,39 119 1454,29 62 0,-4 2 0,-87-142 0,29 94-649,25 49 4301,62 70-3082,-1 0-1,0 1 1,0 0-1,-1 1 1,0 0-1,1 0 1,-1 0-1,0 1 1,-1 0-1,1 1 0,0 0 1,-16-2-1,-12 0 2494,-67 3 1,19 0-1575,-167-19-5884,-152-9-6661,-11-11 8879,-97-1 1783,300 40 4635,-67 0 6223,95 6-7147,135 0-3317,-82 18 0,88-14 0,-1-1 0,-64 2 0,73-7 0,0 1 0,-67 16 0,67-11 0,0-2 0,-1-1 0,-36 0 0,-209-8-4444,-74 1-5892,119 20 7094,69 10 3242,101-16 0,0-2 0,-105 3 0,72-16-61,12 1 339,-127 12 0,-80 12 13100,199-19-13481,1 3-5851,-609 5-712,432-14 5516,-191 29 1150,37 1 0,183-27 0,-337 14 0,524-11 183,3 0 688,1 1 0,-65 16 0,-1 1 4343,-1-11-6852,-24 5-3820,-372 25 4359,-5-42 1179,200-2 25,-836 3-105,1043-6 2941,-50-18 6593,28 5-5025,-331-15-3471,122 6-915,-4 1-742,-413 28-7902,258-1 1400,168 0 5237,150-13 9016,8-1 1304,-61 13-8777,-118 4-4419,-118 0-3344,158-8 5741,56-9 2246,-86 0 729,-1415 15-117,1644-7 1623,-57-16 5579,-59-3-480,-420 20-12411,345 8 2462,1-1-570,-336-5-3492,389-9 6794,-96-3 0,185 16 0,-224 31 0,313-21 0,-46 7 0,-164 5 0,-96-10 3737,-45 0 2672,155-15-3827,-455 4 2712,493 11-5294,-70 1 0,-72-31 0,193 5 0,115 7-1257,-69-15 0,-164-52-7567,-52-9 2140,223 62 6684,-240-3 0,324 22 0,0-1 0,0-2 0,1-2 0,-85-21 0,26-2 0,0 4 0,-1 5 0,-1 4 0,-192-2 0,152 17 1474,-173 4 4977,127 15 2117,119-11-7039,43-4-1529,0 1 0,1 2 0,-1 1 0,-28 13 0,-102 51 0,146-66 0,-69 37 79,47-23-206,0-3-1,-1 0 0,-1-3 0,-52 15 0,-382 48-11370,377-65 7988,-110 12 2623,131-17 7512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1:07:14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0 8192,'-5'14'12844,"5"-13"-12581,11 18 4652,75 92-4915,170 169 0,-228-256 0,2-2 0,46 28 0,-40-27 0,-12-8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1:07:15.2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687 0 8192,'-8'1'2045,"-1"-1"0,1 1 1,0 0-1,0 1 0,0 0 1,1 0-1,-9 4 0,-2 2-385,-6 3-1660,1 2 0,0 0 0,1 2 0,1 0 0,0 2 0,1 0 0,1 1 0,-23 29 0,-5 13 0,-59 103 0,33-46 0,53-89 0,0 0 0,-2-2 0,-48 46 0,46-52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1:07:25.7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8192,'12'15'11071,"-10"-15"-10645,25 6 5477,-19-5-5281,98 23-1843,-63-13 490,1-2-1,1-1 0,81 2 1,-88-11 2633,-1 1-3363,84-1-12138,-69 1 10997,2 0 6842,-1 0 10422,161 0-15017,-188 0-1082,1 0 878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1:07:37.2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1:14:38.4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1 116,'18'1,"1"2,-1 0,0 1,34 11,6 2,113 21,183 14,-151-46,-150-7,0 2,0 2,64 12,-40 0,1-4,84 0,161-11,-129-3,-122 2,0 3,-1 3,101 21,-107-10,1-3,0-3,129 3,1509-18,-920 8,-411-6,393 6,-705 2,70 15,7 1,468 16,-274-39,239 4,-486 6,1 4,115 31,-31-5,-37-14,2-5,215 2,-290-22,374 5,-2 33,-32 18,340 61,-43-2,-459-92,593 38,113-58,-537-4,78-34,-324 18,-118 12,-1-3,53-17,36-8,-55 20,78-16,243-16,-347 42,1-3,92-24,-92 18,1 2,71-6,-101 14,0-1,-1-2,1 0,-1-1,0-1,-1-1,0 0,28-19,-47 27,1 1,0-1,-1 0,1 0,-1 0,1 0,-1-1,0 1,1 0,-1 0,0-1,0 1,0-1,0 1,0-1,0 0,1-2,-2 3,0 0,0 0,0 0,-1 0,1 0,0 0,0 0,0 0,-1 0,1 1,-1-1,1 0,-1 0,1 0,-1 0,1 1,-1-1,0 0,1 0,-1 1,0-1,0 0,0 0,-6-3,1 1,-1-1,0 1,0 1,0-1,0 1,-9-2,-53-6,-127-4,58 7,45-1,-434-21,448 25,-138-25,71 7,-104-11,-473-40,602 76,0 6,-205 41,86-10,-66-5,-427-7,-88-67,-31 20,560 21,84-2,-279-37,111-13,-269-45,508 76,-223-3,289 16,-128-26,57 6,77 16,-118-18,-206-4,146 34,111 2,0-6,-132-20,-49-22,-347-4,329 44,-358 42,379-3,-667 94,939-122,-39 6,-78 25,19-3,-241 31,372-65,-96 21,67-13,-49 7,-102 0,-90 12,42-8,43-5,-214-4,156-11,235 0,0 1,0 0,0 1,-14 4,22-1,16-1,19 0,260 6,-112-6,2019 16,-1539-23,-513 3,1655 21,-195 77,-1517-90,-12-1,103-2,-161-7,-1-1,27-7,13-2,160-19,681-73,-781 97,1011-46,534 55,-890 39,148 0,311-42,-968-14,6 1,209 15,-429-1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1:15:30.4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1 937 8192,'27'26'13416,"-24"-23"-11925,3 8 0,5 4 133,39 50-1624,-2 2 0,51 96 0,-74-128 0,-24-34 0,-1-1 0,0 1 0,1-1 0,-1 1 0,1-1 0,-1 0 0,1 1 0,-1-1 0,1 1 0,-1-1 0,1 0 0,-1 1 0,1-1 0,-1 0 0,1 0 0,0 1 0,-1-1 0,1 0 0,-1 0 0,1 0 0,0 0 0,-1 0 0,1 0 0,0 0 0,-1 0 0,1 0 0,-1 0 0,1 0 0,0 0 0,-1 0 0,1-1 0,-1 1 0,1 0 0,0 0 0,-1-1 0,1 1 0,-1 0 0,1-1 0,-1 1 0,1-1 0,-1 1 0,1 0 0,-1-1 0,0 1 0,1-1 0,-1 1 0,0-1 0,1 0 0,-1 1 0,0-1 0,1 1 0,-1-1 0,0 1 0,0-1 0,0 0 0,0 1 0,0-1 0,0 0 0,0 1 0,0-1 0,0 0 0,0 1 0,0-2 0,1 0-1,2-17-274,1 0 0,1 1 0,0 0 0,2 0 0,0 1 0,1 0 0,1 0 0,11-17 0,13-10-1102,2 2 0,2 1 0,74-62 0,143-92-6090,233-129 4611,-44 30 5937,-425 282-3826,0-2-1,25-25 0,-23 16 187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1:15:35.11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1 921 8192,'0'8'1152,"1"0"0,1 0 1,-1-1-1,1 1 0,1 0 0,-1-1 1,1 1-1,1-1 0,7 13 0,47 62 4744,-37-54-5292,31 58-604,-40-61 0,29 39 0,-40-62 0,1-1 0,-1 1 0,1 0 0,-1-1 0,1 1 0,0-1 0,0 0 0,0 1 0,0-1 0,0 0 0,0 0 0,0-1 0,0 1 0,0 0 0,0-1 0,1 1 0,-1-1 0,0 1 0,0-1 0,1 0 0,-1 0 0,0 0 0,0 0 0,1-1 0,3 0 0,5-2 0,0-1 0,0 0 0,0-1 0,11-6 0,-7 3 0,7-3 7,289-135-574,-1 22-1670,1121-391-5795,35 80 839,-1269 387 7193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21:15:36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1015 8192,'12'1'1008,"-1"1"0,0 0 0,1 0 1,-1 2-1,0-1 0,0 1 0,-1 1 0,1 0 1,-1 0-1,0 1 0,0 0 0,11 11 1,9 7 629,-2 1 0,36 40 1,-40-34-2289,-1 0 0,27 47 1,-32-46 779,1-2 0,38 45 0,-56-74-55,-1 0 1,1 0-1,0 0 1,0 0-1,0 0 1,0 0-1,0-1 1,0 1-1,0 0 1,0 0 0,1-1-1,-1 1 1,0-1-1,0 1 1,1-1-1,-1 1 1,0-1-1,1 0 1,-1 0-1,0 0 1,2 1-1,-1-2-119,0 0 0,0 0 0,0 0 0,0 0-1,0 0 1,0-1 0,-1 1 0,1 0 0,0-1 0,-1 0 0,1 1 0,-1-1 0,0 0-1,2-2 1,18-26-1317,23-46 1,-3 2 285,32-40-441,5 4-1,4 3 1,5 4-1,147-135 1,-121 139-5,4 4 0,5 6 0,237-133 0,-233 161 1521,-28 21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1:21:53.0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1 167,'9'0,"0"-2,1 0,-1 0,0 0,0-1,9-4,26-8,81-9,251-14,-312 33,421-4,-401 9,-31-2,71-13,-56 5,9-2,-36 5,62-3,430 12,-454 5,0 3,89 24,-86-16,-29-9,57 1,42 7,154 14,-246-28,156 21,-102-26,137-19,-222 18,193-27,-58 4,-117 16,1 2,58-3,50 14,-89 0,0-2,74-11,-36-14,-79 17,-1 0,1 2,45-3,525 7,-269 3,936-2,-1013 22,-103-5,281 46,-302-40,26-3,34 7,404 70,-505-90,140-7,-93-2,346 2,-566 21,25-12,-70 21,70-15,-73 9,-117-9,27-2,-4-6,55-4,25 10,-71 2,19-3,42-1,-275-7,311 10,77-7,-54 0,4-1,1 5,0 4,-117 34,109-23,-1-5,-149 12,64-19,-44 1,-26-2,-52 2,100-18,-180 5,263 12,-35 1,-430-20,7-44,450 32,-161-30,233 36,0 3,0 2,0 4,-79 6,5-1,-1278-3,1101 14,56-2,204-10,26 0,-1-1,1-2,-44-6,57 0,32 0,32 1,478-17,-480 21,2218-216,-2115 200,257 2,899 17,-1253 1,54 10,46 2,-111-14,-1 2,56 11,-29-4,-1-3,1-4,72-5,-14 0,-91 3,-9-1,0 1,1 0,-1 2,-1 1,1 1,0 1,27 10,-31-8,0-1,1-1,0 0,0-2,21 2,109-4,-100-3,93 10,12 7,-127-13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1:23:25.3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2,'267'15,"7"0,-49 0,0 0,6 0,-4-1,1504-15,-1440-14,-4 0,3934 14,-1976 3,-1759-30,-197 7,503 10,-526 12,-234 0,0 2,0 1,0 1,53 17,-51-12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8T21:23:27.8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1 122,'444'0,"1349"-18,-745 8,-267 7,-294-42,29 0,664 45,-438 3,-267 27,4 1,103-16,-484-7,0 4,122 31,-129-24,117 10,4 1,-37-11,-135-16,-18 0,0 2,0 1,0 0,-1 1,35 18,44 14,-29-22,0-4,121 7,-74-9,36 14,-101-15,0-1,76 1,144-12,-248 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8:32:52.1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8:32:54.4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0 1 8192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8T18:32:55.8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8192,'0'0'0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Book" panose="020B0503020102020204" pitchFamily="34" charset="0"/>
              </a:defRPr>
            </a:lvl1pPr>
          </a:lstStyle>
          <a:p>
            <a:fld id="{4BDB407B-96A4-4B03-881F-45B3AFAB68A2}" type="datetimeFigureOut">
              <a:rPr lang="en-US" smtClean="0"/>
              <a:pPr/>
              <a:t>10/23/26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Book" panose="020B0503020102020204" pitchFamily="34" charset="0"/>
              </a:defRPr>
            </a:lvl1pPr>
          </a:lstStyle>
          <a:p>
            <a:fld id="{CA957B96-92CC-47C2-BBBB-4C6323E741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917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57B96-92CC-47C2-BBBB-4C6323E7415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061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427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34D8B4-F5AF-4BDE-A0CF-0603435B923E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97A17D-2679-4785-A873-64276BED4DE4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" name="Notes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08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 i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>
              <a:defRPr sz="2400" b="1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>
              <a:defRPr sz="2400" b="1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>
              <a:defRPr sz="2400" b="1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>
              <a:defRPr sz="2400" b="1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8223830-C264-2842-A796-D98E8449B12F}" type="slidenum">
              <a:rPr lang="en-US" sz="1400" b="0" i="0">
                <a:solidFill>
                  <a:srgbClr val="000000"/>
                </a:solidFill>
                <a:latin typeface="Franklin Gothic Book" panose="020B0503020102020204" pitchFamily="34" charset="0"/>
              </a:rPr>
              <a:pPr/>
              <a:t>29</a:t>
            </a:fld>
            <a:endParaRPr lang="en-US" sz="1400" b="0" i="0" dirty="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7388"/>
            <a:ext cx="6091238" cy="3427412"/>
          </a:xfrm>
          <a:ln/>
        </p:spPr>
      </p:sp>
      <p:sp>
        <p:nvSpPr>
          <p:cNvPr id="109572" name="Notes Placeholder 5"/>
          <p:cNvSpPr>
            <a:spLocks noGrp="1"/>
          </p:cNvSpPr>
          <p:nvPr>
            <p:ph type="body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038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41FBE4-45B2-434B-A971-402B8E1878A8}" type="slidenum">
              <a:rPr lang="en-US"/>
              <a:pPr/>
              <a:t>30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66713" y="674688"/>
            <a:ext cx="6127750" cy="344805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3763" y="4346575"/>
            <a:ext cx="5070475" cy="4122738"/>
          </a:xfrm>
          <a:noFill/>
          <a:ln/>
        </p:spPr>
        <p:txBody>
          <a:bodyPr lIns="87536" tIns="43768" rIns="87536" bIns="43768"/>
          <a:lstStyle/>
          <a:p>
            <a:pPr eaLnBrk="1" hangingPunct="1"/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1155171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41FBE4-45B2-434B-A971-402B8E1878A8}" type="slidenum">
              <a:rPr lang="en-US"/>
              <a:pPr/>
              <a:t>33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66713" y="674688"/>
            <a:ext cx="6127750" cy="344805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3763" y="4346575"/>
            <a:ext cx="5070475" cy="4122738"/>
          </a:xfrm>
          <a:noFill/>
          <a:ln/>
        </p:spPr>
        <p:txBody>
          <a:bodyPr lIns="87536" tIns="43768" rIns="87536" bIns="43768"/>
          <a:lstStyle/>
          <a:p>
            <a:pPr eaLnBrk="1" hangingPunct="1"/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3005806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0013E2-3DD0-4521-A739-3969502B48EC}" type="slidenum">
              <a:rPr lang="en-US"/>
              <a:pPr/>
              <a:t>34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5763" y="685800"/>
            <a:ext cx="6091237" cy="3427413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 lIns="91578" tIns="45789" rIns="91578" bIns="45789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27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8294EF-715D-4773-9F14-8C12F787D8D1}" type="slidenum">
              <a:rPr lang="en-US"/>
              <a:pPr/>
              <a:t>37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5288" y="690563"/>
            <a:ext cx="6072187" cy="34163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838" y="4267200"/>
            <a:ext cx="5030787" cy="4114800"/>
          </a:xfrm>
          <a:noFill/>
          <a:ln/>
        </p:spPr>
        <p:txBody>
          <a:bodyPr lIns="92289" tIns="46146" rIns="92289" bIns="46146"/>
          <a:lstStyle/>
          <a:p>
            <a:pPr eaLnBrk="1" hangingPunct="1"/>
            <a:endParaRPr lang="de-CH" sz="1600"/>
          </a:p>
        </p:txBody>
      </p:sp>
    </p:spTree>
    <p:extLst>
      <p:ext uri="{BB962C8B-B14F-4D97-AF65-F5344CB8AC3E}">
        <p14:creationId xmlns:p14="http://schemas.microsoft.com/office/powerpoint/2010/main" val="189220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2307" name="TextBox 3"/>
          <p:cNvSpPr txBox="1">
            <a:spLocks noChangeArrowheads="1"/>
          </p:cNvSpPr>
          <p:nvPr/>
        </p:nvSpPr>
        <p:spPr bwMode="auto">
          <a:xfrm>
            <a:off x="5851664" y="1694201"/>
            <a:ext cx="959747" cy="506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730" tIns="44865" rIns="89730" bIns="44865">
            <a:spAutoFit/>
          </a:bodyPr>
          <a:lstStyle/>
          <a:p>
            <a:pPr algn="l"/>
            <a:endParaRPr lang="en-US" sz="900" dirty="0">
              <a:latin typeface="Franklin Gothic Book" panose="020B0503020102020204" pitchFamily="34" charset="0"/>
            </a:endParaRPr>
          </a:p>
          <a:p>
            <a:pPr algn="l"/>
            <a:endParaRPr lang="en-US" sz="900" dirty="0">
              <a:latin typeface="Franklin Gothic Book" panose="020B0503020102020204" pitchFamily="34" charset="0"/>
            </a:endParaRPr>
          </a:p>
          <a:p>
            <a:pPr algn="l"/>
            <a:r>
              <a:rPr lang="en-US" sz="900" dirty="0">
                <a:latin typeface="Franklin Gothic Book" panose="020B0503020102020204" pitchFamily="34" charset="0"/>
              </a:rPr>
              <a:t>A</a:t>
            </a:r>
          </a:p>
        </p:txBody>
      </p:sp>
      <p:sp>
        <p:nvSpPr>
          <p:cNvPr id="482308" name="TextBox 3"/>
          <p:cNvSpPr txBox="1">
            <a:spLocks noChangeArrowheads="1"/>
          </p:cNvSpPr>
          <p:nvPr/>
        </p:nvSpPr>
        <p:spPr bwMode="auto">
          <a:xfrm>
            <a:off x="905393" y="8314857"/>
            <a:ext cx="5086039" cy="686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730" tIns="44865" rIns="89730" bIns="44865">
            <a:spAutoFit/>
          </a:bodyPr>
          <a:lstStyle/>
          <a:p>
            <a:pPr algn="l">
              <a:spcBef>
                <a:spcPct val="30000"/>
              </a:spcBef>
            </a:pPr>
            <a:r>
              <a:rPr lang="en-US" sz="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Scagliotti G, Parikh P, von Pawel P, et al. Phase III study comparing cisplatin plus gemcitabine with cisplatin plus pemetrexed in chemotherapy-naive  patients with advanced-stage </a:t>
            </a:r>
            <a:r>
              <a:rPr lang="en-US" sz="900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non-small</a:t>
            </a:r>
            <a:r>
              <a:rPr lang="en-US" sz="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-cell lung cancer. </a:t>
            </a:r>
            <a:r>
              <a:rPr lang="en-US" sz="900" i="1" dirty="0">
                <a:solidFill>
                  <a:srgbClr val="000000"/>
                </a:solidFill>
                <a:latin typeface="Franklin Gothic Book" panose="020B0503020102020204" pitchFamily="34" charset="0"/>
              </a:rPr>
              <a:t>J Clin Oncol. </a:t>
            </a:r>
            <a:r>
              <a:rPr lang="en-US" sz="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2008;26:3543-3551.                                                                                                                                                                      </a:t>
            </a:r>
          </a:p>
          <a:p>
            <a:pPr algn="l">
              <a:spcBef>
                <a:spcPct val="30000"/>
              </a:spcBef>
            </a:pPr>
            <a:endParaRPr lang="en-US" sz="900" dirty="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82310" name="Rectangle 3"/>
          <p:cNvSpPr>
            <a:spLocks noGrp="1" noChangeArrowheads="1"/>
          </p:cNvSpPr>
          <p:nvPr>
            <p:ph type="body" idx="3"/>
          </p:nvPr>
        </p:nvSpPr>
        <p:spPr>
          <a:xfrm>
            <a:off x="914711" y="4301866"/>
            <a:ext cx="5028579" cy="3813123"/>
          </a:xfrm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z="1100"/>
          </a:p>
        </p:txBody>
      </p:sp>
      <p:sp>
        <p:nvSpPr>
          <p:cNvPr id="482311" name="TextBox 7"/>
          <p:cNvSpPr txBox="1">
            <a:spLocks noChangeArrowheads="1"/>
          </p:cNvSpPr>
          <p:nvPr/>
        </p:nvSpPr>
        <p:spPr bwMode="auto">
          <a:xfrm>
            <a:off x="633620" y="2367197"/>
            <a:ext cx="479874" cy="506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730" tIns="44865" rIns="89730" bIns="44865">
            <a:spAutoFit/>
          </a:bodyPr>
          <a:lstStyle/>
          <a:p>
            <a:pPr algn="l"/>
            <a:endParaRPr lang="en-US" sz="900" dirty="0">
              <a:latin typeface="Franklin Gothic Book" panose="020B0503020102020204" pitchFamily="34" charset="0"/>
            </a:endParaRPr>
          </a:p>
          <a:p>
            <a:pPr algn="l"/>
            <a:endParaRPr lang="en-US" sz="900" dirty="0">
              <a:latin typeface="Franklin Gothic Book" panose="020B0503020102020204" pitchFamily="34" charset="0"/>
            </a:endParaRPr>
          </a:p>
          <a:p>
            <a:pPr algn="l"/>
            <a:r>
              <a:rPr lang="en-US" sz="900" dirty="0">
                <a:latin typeface="Franklin Gothic Book" panose="020B05030201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08554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4356" name="TextBox 3"/>
          <p:cNvSpPr txBox="1">
            <a:spLocks noChangeArrowheads="1"/>
          </p:cNvSpPr>
          <p:nvPr/>
        </p:nvSpPr>
        <p:spPr bwMode="auto">
          <a:xfrm>
            <a:off x="905393" y="8314857"/>
            <a:ext cx="5086039" cy="686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730" tIns="44865" rIns="89730" bIns="44865">
            <a:spAutoFit/>
          </a:bodyPr>
          <a:lstStyle/>
          <a:p>
            <a:pPr algn="l">
              <a:spcBef>
                <a:spcPct val="30000"/>
              </a:spcBef>
            </a:pPr>
            <a:r>
              <a:rPr lang="en-US" sz="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Scagliotti G, Parikh P, von Pawel P, et al. Phase III study comparing cisplatin plus gemcitabine with cisplatin plus pemetrexed in chemotherapy-naive patients with advanced-stage </a:t>
            </a:r>
            <a:r>
              <a:rPr lang="en-US" sz="900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non-small</a:t>
            </a:r>
            <a:r>
              <a:rPr lang="en-US" sz="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-cell lung cancer. </a:t>
            </a:r>
            <a:r>
              <a:rPr lang="en-US" sz="900" i="1" dirty="0">
                <a:solidFill>
                  <a:srgbClr val="000000"/>
                </a:solidFill>
                <a:latin typeface="Franklin Gothic Book" panose="020B0503020102020204" pitchFamily="34" charset="0"/>
              </a:rPr>
              <a:t>J Clin Oncol. </a:t>
            </a:r>
            <a:r>
              <a:rPr lang="en-US" sz="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2008;26:3543-3551.                                                                                                                                                                      </a:t>
            </a:r>
          </a:p>
          <a:p>
            <a:pPr algn="l">
              <a:spcBef>
                <a:spcPct val="30000"/>
              </a:spcBef>
            </a:pPr>
            <a:endParaRPr lang="en-US" sz="900" dirty="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84358" name="Rectangle 3"/>
          <p:cNvSpPr>
            <a:spLocks noGrp="1" noChangeArrowheads="1"/>
          </p:cNvSpPr>
          <p:nvPr>
            <p:ph type="body" idx="3"/>
          </p:nvPr>
        </p:nvSpPr>
        <p:spPr>
          <a:xfrm>
            <a:off x="914711" y="4301866"/>
            <a:ext cx="5028579" cy="3813123"/>
          </a:xfrm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z="11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738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3828" name="TextBox 3"/>
          <p:cNvSpPr txBox="1">
            <a:spLocks noChangeArrowheads="1"/>
          </p:cNvSpPr>
          <p:nvPr/>
        </p:nvSpPr>
        <p:spPr bwMode="auto">
          <a:xfrm>
            <a:off x="905393" y="8314857"/>
            <a:ext cx="5086039" cy="686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730" tIns="44865" rIns="89730" bIns="44865">
            <a:spAutoFit/>
          </a:bodyPr>
          <a:lstStyle/>
          <a:p>
            <a:pPr algn="l">
              <a:spcBef>
                <a:spcPct val="30000"/>
              </a:spcBef>
            </a:pPr>
            <a:r>
              <a:rPr lang="en-US" sz="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Scagliotti G, Parikh P, von Pawel P, et al. Phase III study comparing cisplatin plus gemcitabine with cisplatin plus pemetrexed in chemotherapy-naive  patients with advanced-stage </a:t>
            </a:r>
            <a:r>
              <a:rPr lang="en-US" sz="900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non-small</a:t>
            </a:r>
            <a:r>
              <a:rPr lang="en-US" sz="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-cell lung cancer. </a:t>
            </a:r>
            <a:r>
              <a:rPr lang="en-US" sz="900" i="1" dirty="0">
                <a:solidFill>
                  <a:srgbClr val="000000"/>
                </a:solidFill>
                <a:latin typeface="Franklin Gothic Book" panose="020B0503020102020204" pitchFamily="34" charset="0"/>
              </a:rPr>
              <a:t>J Clin Oncol. </a:t>
            </a:r>
            <a:r>
              <a:rPr lang="en-US" sz="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2008;26:3543-3551.                                                                                                                                                                      </a:t>
            </a:r>
          </a:p>
          <a:p>
            <a:pPr algn="l">
              <a:spcBef>
                <a:spcPct val="30000"/>
              </a:spcBef>
            </a:pPr>
            <a:endParaRPr lang="en-US" sz="900" dirty="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914711" y="4301866"/>
            <a:ext cx="5028579" cy="3813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9730" tIns="44865" rIns="89730" bIns="44865"/>
          <a:lstStyle/>
          <a:p>
            <a:pPr algn="l"/>
            <a:r>
              <a:rPr lang="en-US" sz="1100" dirty="0">
                <a:latin typeface="Franklin Gothic Book" panose="020B0503020102020204" pitchFamily="34" charset="0"/>
              </a:rPr>
              <a:t>The analyses of overall survival by treatment arm for each of 3 histologic groups (large-cell carcinoma, adenocarcinoma, and squamous) demonstrated that cisplatin/pemetrexed in patients with adenocarcinoma and large-cell carcinoma resulted in significantly better survival than cisplatin/gemcitabine (adenocarcinoma: 12.6 vs 10.9 months [</a:t>
            </a:r>
            <a:r>
              <a:rPr lang="en-US" sz="1100" i="1" dirty="0">
                <a:latin typeface="Franklin Gothic Book" panose="020B0503020102020204" pitchFamily="34" charset="0"/>
              </a:rPr>
              <a:t>P</a:t>
            </a:r>
            <a:r>
              <a:rPr lang="en-US" sz="1100" dirty="0">
                <a:latin typeface="Franklin Gothic Book" panose="020B0503020102020204" pitchFamily="34" charset="0"/>
              </a:rPr>
              <a:t>=.03]; large-cell carcinoma: 10.4 vs 6.7 months [</a:t>
            </a:r>
            <a:r>
              <a:rPr lang="en-US" sz="1100" i="1" dirty="0">
                <a:latin typeface="Franklin Gothic Book" panose="020B0503020102020204" pitchFamily="34" charset="0"/>
              </a:rPr>
              <a:t>P</a:t>
            </a:r>
            <a:r>
              <a:rPr lang="en-US" sz="1100" dirty="0">
                <a:latin typeface="Franklin Gothic Book" panose="020B0503020102020204" pitchFamily="34" charset="0"/>
              </a:rPr>
              <a:t>=.03]).</a:t>
            </a:r>
          </a:p>
          <a:p>
            <a:pPr algn="l"/>
            <a:endParaRPr lang="en-US" sz="1100" dirty="0">
              <a:latin typeface="Franklin Gothic Book" panose="020B0503020102020204" pitchFamily="34" charset="0"/>
            </a:endParaRPr>
          </a:p>
          <a:p>
            <a:pPr algn="l"/>
            <a:r>
              <a:rPr lang="en-US" sz="1100" dirty="0">
                <a:latin typeface="Franklin Gothic Book" panose="020B0503020102020204" pitchFamily="34" charset="0"/>
              </a:rPr>
              <a:t>One possible explanation may relate to thymidylate synthase expression levels in NSCLC histologic types. Preclinical date have indicated that overexpression of thymidylate synthase correlates with reduced sensitivity to pemetrexed.</a:t>
            </a:r>
          </a:p>
        </p:txBody>
      </p:sp>
    </p:spTree>
    <p:extLst>
      <p:ext uri="{BB962C8B-B14F-4D97-AF65-F5344CB8AC3E}">
        <p14:creationId xmlns:p14="http://schemas.microsoft.com/office/powerpoint/2010/main" val="118330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D681-7867-E949-A3D2-41DDE609BEDB}" type="slidenum">
              <a:rPr lang="en-US" smtClean="0">
                <a:solidFill>
                  <a:prstClr val="black"/>
                </a:solidFill>
              </a:rPr>
              <a:pPr/>
              <a:t>78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355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8D681-7867-E949-A3D2-41DDE609BEDB}" type="slidenum">
              <a:rPr lang="en-US" smtClean="0">
                <a:solidFill>
                  <a:prstClr val="black"/>
                </a:solidFill>
              </a:rPr>
              <a:pPr/>
              <a:t>79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4040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0EBE-CD77-4ACF-BE20-00ACC5BA3990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03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8DACF-8309-2044-8EF4-AA7C90F4E9AA}" type="slidenum">
              <a:rPr lang="en-US" smtClean="0">
                <a:solidFill>
                  <a:prstClr val="black"/>
                </a:solidFill>
              </a:rPr>
              <a:pPr/>
              <a:t>91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106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0" name="TextBox 3"/>
          <p:cNvSpPr txBox="1">
            <a:spLocks noChangeArrowheads="1"/>
          </p:cNvSpPr>
          <p:nvPr/>
        </p:nvSpPr>
        <p:spPr bwMode="auto">
          <a:xfrm>
            <a:off x="5851525" y="1693863"/>
            <a:ext cx="960438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900" dirty="0">
              <a:solidFill>
                <a:srgbClr val="000000"/>
              </a:solidFill>
              <a:latin typeface="Franklin Gothic Book" panose="020B0503020102020204" pitchFamily="34" charset="0"/>
            </a:endParaRPr>
          </a:p>
          <a:p>
            <a:pPr eaLnBrk="1" hangingPunct="1"/>
            <a:endParaRPr lang="en-US" altLang="en-US" sz="900" dirty="0">
              <a:solidFill>
                <a:srgbClr val="000000"/>
              </a:solidFill>
              <a:latin typeface="Franklin Gothic Book" panose="020B0503020102020204" pitchFamily="34" charset="0"/>
            </a:endParaRPr>
          </a:p>
          <a:p>
            <a:pPr eaLnBrk="1" hangingPunct="1"/>
            <a:r>
              <a:rPr lang="en-US" altLang="en-US" sz="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A</a:t>
            </a:r>
          </a:p>
        </p:txBody>
      </p:sp>
      <p:sp>
        <p:nvSpPr>
          <p:cNvPr id="37891" name="TextBox 3"/>
          <p:cNvSpPr txBox="1">
            <a:spLocks noChangeArrowheads="1"/>
          </p:cNvSpPr>
          <p:nvPr/>
        </p:nvSpPr>
        <p:spPr bwMode="auto">
          <a:xfrm>
            <a:off x="904875" y="8315325"/>
            <a:ext cx="50863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en-US" sz="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Scagliotti G, Parikh P, von Pawel P, et al. Phase III study comparing cisplatin plus gemcitabine with cisplatin plus pemetrexed in chemotherapy-naive  patients with advanced-stage </a:t>
            </a:r>
            <a:r>
              <a:rPr lang="en-US" altLang="en-US" sz="900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non-small</a:t>
            </a:r>
            <a:r>
              <a:rPr lang="en-US" altLang="en-US" sz="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-cell lung cancer. </a:t>
            </a:r>
            <a:r>
              <a:rPr lang="en-US" altLang="en-US" sz="900" i="1" dirty="0">
                <a:solidFill>
                  <a:srgbClr val="000000"/>
                </a:solidFill>
                <a:latin typeface="Franklin Gothic Book" panose="020B0503020102020204" pitchFamily="34" charset="0"/>
              </a:rPr>
              <a:t>J Clin Oncol. </a:t>
            </a:r>
            <a:r>
              <a:rPr lang="en-US" altLang="en-US" sz="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2008;26:3543-3551.                                                                                                                                                                      </a:t>
            </a:r>
          </a:p>
          <a:p>
            <a:pPr eaLnBrk="1" hangingPunct="1">
              <a:spcBef>
                <a:spcPct val="30000"/>
              </a:spcBef>
            </a:pPr>
            <a:endParaRPr lang="en-US" altLang="en-US" sz="900" dirty="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3"/>
          </p:nvPr>
        </p:nvSpPr>
        <p:spPr bwMode="auto">
          <a:xfrm>
            <a:off x="914400" y="4302125"/>
            <a:ext cx="5029200" cy="3813175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1100">
              <a:ea typeface="ＭＳ Ｐゴシック" panose="020B0600070205080204" pitchFamily="34" charset="-128"/>
            </a:endParaRPr>
          </a:p>
        </p:txBody>
      </p:sp>
      <p:sp>
        <p:nvSpPr>
          <p:cNvPr id="37893" name="TextBox 7"/>
          <p:cNvSpPr txBox="1">
            <a:spLocks noChangeArrowheads="1"/>
          </p:cNvSpPr>
          <p:nvPr/>
        </p:nvSpPr>
        <p:spPr bwMode="auto">
          <a:xfrm>
            <a:off x="633413" y="2366963"/>
            <a:ext cx="479425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730" tIns="44865" rIns="89730" bIns="44865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 sz="900" dirty="0">
              <a:solidFill>
                <a:srgbClr val="000000"/>
              </a:solidFill>
              <a:latin typeface="Franklin Gothic Book" panose="020B0503020102020204" pitchFamily="34" charset="0"/>
            </a:endParaRPr>
          </a:p>
          <a:p>
            <a:pPr eaLnBrk="1" hangingPunct="1"/>
            <a:endParaRPr lang="en-US" altLang="en-US" sz="900" dirty="0">
              <a:solidFill>
                <a:srgbClr val="000000"/>
              </a:solidFill>
              <a:latin typeface="Franklin Gothic Book" panose="020B0503020102020204" pitchFamily="34" charset="0"/>
            </a:endParaRPr>
          </a:p>
          <a:p>
            <a:pPr eaLnBrk="1" hangingPunct="1"/>
            <a:r>
              <a:rPr lang="en-US" altLang="en-US" sz="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D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41350" y="914400"/>
            <a:ext cx="5573713" cy="31353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4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46350" y="4352637"/>
            <a:ext cx="4770904" cy="53745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93749" indent="-193749">
              <a:lnSpc>
                <a:spcPct val="97000"/>
              </a:lnSpc>
              <a:spcBef>
                <a:spcPct val="0"/>
              </a:spcBef>
              <a:buSzPct val="45000"/>
              <a:tabLst>
                <a:tab pos="649628" algn="l"/>
                <a:tab pos="1299256" algn="l"/>
                <a:tab pos="1948884" algn="l"/>
                <a:tab pos="2598511" algn="l"/>
                <a:tab pos="3248139" algn="l"/>
                <a:tab pos="3897767" algn="l"/>
                <a:tab pos="4547395" algn="l"/>
              </a:tabLst>
            </a:pPr>
            <a:r>
              <a:rPr lang="en-GB">
                <a:ea typeface="Gothic" charset="0"/>
                <a:cs typeface="Gothic" charset="0"/>
              </a:rPr>
              <a:t>Figure 1 Progression-free Survival and Overall Survival among Patients with a Programmed Death Ligand 1 Expression Level of 5% or More. CI denotes confidence interval.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SCA-14 SABCS  V6 02-13-07.pptSCA-10 breast cancer slides_8-21-06.ppt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2718E595-5EE5-4970-ACC4-208EFA2209F4}" type="datetime1">
              <a:rPr lang="en-US" smtClean="0">
                <a:solidFill>
                  <a:prstClr val="black"/>
                </a:solidFill>
              </a:rPr>
              <a:pPr>
                <a:defRPr/>
              </a:pPr>
              <a:t>10/23/26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9EC199-2E0F-4EA5-B198-DC740F137E91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125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2069BF-6E27-4C15-9C19-390D152B58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4646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758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57FE5A-5137-6A44-AC4C-013700A557B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0183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50762D-CBF5-4B5F-8F42-D747D75EC23D}" type="slidenum">
              <a:rPr lang="en-US" smtClean="0">
                <a:solidFill>
                  <a:prstClr val="black"/>
                </a:solidFill>
              </a:rPr>
              <a:pPr/>
              <a:t>159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9725" y="674688"/>
            <a:ext cx="6132513" cy="3451225"/>
          </a:xfrm>
          <a:solidFill>
            <a:srgbClr val="FFFFFF"/>
          </a:solidFill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4522" y="4353393"/>
            <a:ext cx="5016155" cy="412854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9709" tIns="44854" rIns="89709" bIns="44854"/>
          <a:lstStyle/>
          <a:p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0451F7-52E1-C340-B8D2-735D431758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8528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4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6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0" y="1535116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26" y="273052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6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2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4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52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1719" y="313267"/>
            <a:ext cx="10970524" cy="11557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&lt;Title Only&gt;</a:t>
            </a:r>
          </a:p>
        </p:txBody>
      </p:sp>
      <p:sp>
        <p:nvSpPr>
          <p:cNvPr id="5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608852"/>
            <a:ext cx="12192000" cy="249161"/>
          </a:xfrm>
        </p:spPr>
        <p:txBody>
          <a:bodyPr lIns="121893" bIns="60946"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chemeClr val="tx1"/>
                </a:solidFill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  <a:lvl2pPr marL="226989" indent="0">
              <a:spcBef>
                <a:spcPts val="0"/>
              </a:spcBef>
              <a:buNone/>
              <a:defRPr sz="1200"/>
            </a:lvl2pPr>
            <a:lvl3pPr marL="460316" indent="0">
              <a:spcBef>
                <a:spcPts val="0"/>
              </a:spcBef>
              <a:buNone/>
              <a:defRPr sz="1200"/>
            </a:lvl3pPr>
            <a:lvl4pPr marL="687305" indent="0">
              <a:spcBef>
                <a:spcPts val="0"/>
              </a:spcBef>
              <a:buNone/>
              <a:defRPr sz="1200"/>
            </a:lvl4pPr>
            <a:lvl5pPr marL="914294" indent="0"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footnote. Do not use “footer” placeholder at left: for sensitivity labeling only.</a:t>
            </a: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0469653" y="15"/>
            <a:ext cx="1722361" cy="309639"/>
          </a:xfrm>
        </p:spPr>
        <p:txBody>
          <a:bodyPr lIns="121893" bIns="60946" anchor="t" anchorCtr="0">
            <a:noAutofit/>
          </a:bodyPr>
          <a:lstStyle>
            <a:lvl1pPr marL="0" indent="0" algn="r">
              <a:spcBef>
                <a:spcPts val="0"/>
              </a:spcBef>
              <a:buNone/>
              <a:defRPr sz="1300">
                <a:solidFill>
                  <a:schemeClr val="tx1"/>
                </a:solidFill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  <a:lvl2pPr marL="226989" indent="0">
              <a:spcBef>
                <a:spcPts val="0"/>
              </a:spcBef>
              <a:buNone/>
              <a:defRPr sz="1200"/>
            </a:lvl2pPr>
            <a:lvl3pPr marL="460316" indent="0">
              <a:spcBef>
                <a:spcPts val="0"/>
              </a:spcBef>
              <a:buNone/>
              <a:defRPr sz="1200"/>
            </a:lvl3pPr>
            <a:lvl4pPr marL="687305" indent="0">
              <a:spcBef>
                <a:spcPts val="0"/>
              </a:spcBef>
              <a:buNone/>
              <a:defRPr sz="1200"/>
            </a:lvl4pPr>
            <a:lvl5pPr marL="914294" indent="0"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Label for Locking</a:t>
            </a:r>
          </a:p>
        </p:txBody>
      </p:sp>
    </p:spTree>
    <p:extLst>
      <p:ext uri="{BB962C8B-B14F-4D97-AF65-F5344CB8AC3E}">
        <p14:creationId xmlns:p14="http://schemas.microsoft.com/office/powerpoint/2010/main" val="775820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Date or Reference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0233" y="2262476"/>
            <a:ext cx="10363200" cy="14700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solidFill>
                  <a:srgbClr val="F2652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0233" y="4691836"/>
            <a:ext cx="8534400" cy="130698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49709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62" y="89100"/>
            <a:ext cx="11394276" cy="10800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962" y="983051"/>
            <a:ext cx="11394276" cy="5176316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1932" y="6356355"/>
            <a:ext cx="3860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00084" y="6356355"/>
            <a:ext cx="2844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37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62" y="89100"/>
            <a:ext cx="11394276" cy="10800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66022"/>
            <a:ext cx="5384800" cy="4525963"/>
          </a:xfrm>
        </p:spPr>
        <p:txBody>
          <a:bodyPr/>
          <a:lstStyle>
            <a:lvl1pPr>
              <a:defRPr sz="2800" b="0"/>
            </a:lvl1pPr>
            <a:lvl2pPr>
              <a:defRPr sz="24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66022"/>
            <a:ext cx="5384800" cy="4525963"/>
          </a:xfrm>
        </p:spPr>
        <p:txBody>
          <a:bodyPr/>
          <a:lstStyle>
            <a:lvl1pPr>
              <a:defRPr sz="2800" b="0"/>
            </a:lvl1pPr>
            <a:lvl2pPr>
              <a:defRPr sz="24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71932" y="6353223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00084" y="6356355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25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62" y="89100"/>
            <a:ext cx="11394276" cy="108001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53308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793068"/>
            <a:ext cx="5386917" cy="3951288"/>
          </a:xfrm>
        </p:spPr>
        <p:txBody>
          <a:bodyPr/>
          <a:lstStyle>
            <a:lvl1pPr>
              <a:defRPr sz="2400" b="0"/>
            </a:lvl1pPr>
            <a:lvl2pPr>
              <a:defRPr sz="2000" b="0"/>
            </a:lvl2pPr>
            <a:lvl3pPr>
              <a:defRPr sz="1800" b="0"/>
            </a:lvl3pPr>
            <a:lvl4pPr>
              <a:defRPr sz="1600" b="0"/>
            </a:lvl4pPr>
            <a:lvl5pPr>
              <a:defRPr sz="16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0" y="1173320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0" y="1813079"/>
            <a:ext cx="5389033" cy="3951288"/>
          </a:xfrm>
        </p:spPr>
        <p:txBody>
          <a:bodyPr/>
          <a:lstStyle>
            <a:lvl1pPr>
              <a:defRPr sz="2400" b="0"/>
            </a:lvl1pPr>
            <a:lvl2pPr>
              <a:defRPr sz="2000" b="0"/>
            </a:lvl2pPr>
            <a:lvl3pPr>
              <a:defRPr sz="1800" b="0"/>
            </a:lvl3pPr>
            <a:lvl4pPr>
              <a:defRPr sz="1600" b="0"/>
            </a:lvl4pPr>
            <a:lvl5pPr>
              <a:defRPr sz="16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71932" y="6356355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00084" y="6356355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413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26153" y="2617788"/>
            <a:ext cx="10309115" cy="20828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4400">
                <a:solidFill>
                  <a:srgbClr val="F26529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98068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71932" y="6356355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00084" y="6356355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71962" y="89097"/>
            <a:ext cx="11394276" cy="68523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23826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50851"/>
            <a:ext cx="7315200" cy="41350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54"/>
            <a:ext cx="7315200" cy="804863"/>
          </a:xfrm>
        </p:spPr>
        <p:txBody>
          <a:bodyPr/>
          <a:lstStyle>
            <a:lvl1pPr marL="0" indent="0">
              <a:buNone/>
              <a:defRPr sz="14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52293" y="6356355"/>
            <a:ext cx="3280447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00084" y="6356355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00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pPr defTabSz="457200"/>
            <a:fld id="{24388F03-8CB5-9C4D-8586-2C01A5822FAA}" type="datetimeFigureOut">
              <a:rPr lang="en-US" smtClean="0">
                <a:solidFill>
                  <a:prstClr val="black"/>
                </a:solidFill>
              </a:rPr>
              <a:pPr defTabSz="457200"/>
              <a:t>10/23/26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93F7D-14B3-0A4D-AA3F-6AD3437D0A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61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、テキスト、2 つの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8021" y="265180"/>
            <a:ext cx="10005647" cy="936625"/>
          </a:xfrm>
        </p:spPr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0" name="テキスト プレースホルダ 9"/>
          <p:cNvSpPr>
            <a:spLocks noGrp="1"/>
          </p:cNvSpPr>
          <p:nvPr>
            <p:ph type="body" sz="quarter" idx="13"/>
          </p:nvPr>
        </p:nvSpPr>
        <p:spPr>
          <a:xfrm>
            <a:off x="460800" y="1486800"/>
            <a:ext cx="11316184" cy="4802400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altLang="ja-JP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4"/>
          </p:nvPr>
        </p:nvSpPr>
        <p:spPr>
          <a:xfrm>
            <a:off x="241300" y="6465902"/>
            <a:ext cx="3888317" cy="271463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50000"/>
              </a:spcBef>
              <a:defRPr kumimoji="0" sz="1400" b="1">
                <a:latin typeface="Imago" pitchFamily="2" charset="0"/>
                <a:ea typeface="ＭＳ Ｐゴシック"/>
                <a:cs typeface="Arial" pitchFamily="34" charset="0"/>
              </a:defRPr>
            </a:lvl1pPr>
          </a:lstStyle>
          <a:p>
            <a:pPr defTabSz="457200">
              <a:defRPr/>
            </a:pPr>
            <a:r>
              <a:rPr lang="en-US" altLang="ja-JP" dirty="0">
                <a:solidFill>
                  <a:prstClr val="black">
                    <a:tint val="75000"/>
                  </a:prstClr>
                </a:solidFill>
              </a:rPr>
              <a:t>AF802 Preclinical update (120605)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5"/>
          </p:nvPr>
        </p:nvSpPr>
        <p:spPr>
          <a:xfrm>
            <a:off x="11286094" y="6408740"/>
            <a:ext cx="717551" cy="349251"/>
          </a:xfrm>
        </p:spPr>
        <p:txBody>
          <a:bodyPr/>
          <a:lstStyle>
            <a:lvl1pPr>
              <a:defRPr kumimoji="0" b="1"/>
            </a:lvl1pPr>
          </a:lstStyle>
          <a:p>
            <a:pPr>
              <a:defRPr/>
            </a:pPr>
            <a:fld id="{71B9D8C1-8ED5-4FF2-84A2-5C6F76A447A1}" type="slidenum">
              <a:rPr lang="en-US" altLang="ja-JP">
                <a:solidFill>
                  <a:prstClr val="black">
                    <a:tint val="75000"/>
                  </a:prstClr>
                </a:solidFill>
                <a:ea typeface="HGｺﾞｼｯｸM"/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  <a:ea typeface="HGｺﾞｼｯｸM"/>
            </a:endParaRPr>
          </a:p>
        </p:txBody>
      </p:sp>
    </p:spTree>
    <p:extLst>
      <p:ext uri="{BB962C8B-B14F-4D97-AF65-F5344CB8AC3E}">
        <p14:creationId xmlns:p14="http://schemas.microsoft.com/office/powerpoint/2010/main" val="35768982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Date or Reference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0233" y="2262488"/>
            <a:ext cx="10363200" cy="14700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solidFill>
                  <a:srgbClr val="F2652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0233" y="4691836"/>
            <a:ext cx="8534400" cy="130698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436230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62" y="89104"/>
            <a:ext cx="11394276" cy="10800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962" y="983051"/>
            <a:ext cx="11394276" cy="5176316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1932" y="6356355"/>
            <a:ext cx="3860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00084" y="6356355"/>
            <a:ext cx="2844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015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62" y="89104"/>
            <a:ext cx="11394276" cy="10800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66022"/>
            <a:ext cx="5384800" cy="4525963"/>
          </a:xfrm>
        </p:spPr>
        <p:txBody>
          <a:bodyPr/>
          <a:lstStyle>
            <a:lvl1pPr>
              <a:defRPr sz="2800" b="0"/>
            </a:lvl1pPr>
            <a:lvl2pPr>
              <a:defRPr sz="24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66022"/>
            <a:ext cx="5384800" cy="4525963"/>
          </a:xfrm>
        </p:spPr>
        <p:txBody>
          <a:bodyPr/>
          <a:lstStyle>
            <a:lvl1pPr>
              <a:defRPr sz="2800" b="0"/>
            </a:lvl1pPr>
            <a:lvl2pPr>
              <a:defRPr sz="24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71932" y="6353223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00084" y="6356355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201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62" y="89104"/>
            <a:ext cx="11394276" cy="108001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53308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793068"/>
            <a:ext cx="5386917" cy="3951288"/>
          </a:xfrm>
        </p:spPr>
        <p:txBody>
          <a:bodyPr/>
          <a:lstStyle>
            <a:lvl1pPr>
              <a:defRPr sz="2400" b="0"/>
            </a:lvl1pPr>
            <a:lvl2pPr>
              <a:defRPr sz="2000" b="0"/>
            </a:lvl2pPr>
            <a:lvl3pPr>
              <a:defRPr sz="1800" b="0"/>
            </a:lvl3pPr>
            <a:lvl4pPr>
              <a:defRPr sz="1600" b="0"/>
            </a:lvl4pPr>
            <a:lvl5pPr>
              <a:defRPr sz="16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0" y="1173320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0" y="1813079"/>
            <a:ext cx="5389033" cy="3951288"/>
          </a:xfrm>
        </p:spPr>
        <p:txBody>
          <a:bodyPr/>
          <a:lstStyle>
            <a:lvl1pPr>
              <a:defRPr sz="2400" b="0"/>
            </a:lvl1pPr>
            <a:lvl2pPr>
              <a:defRPr sz="2000" b="0"/>
            </a:lvl2pPr>
            <a:lvl3pPr>
              <a:defRPr sz="1800" b="0"/>
            </a:lvl3pPr>
            <a:lvl4pPr>
              <a:defRPr sz="1600" b="0"/>
            </a:lvl4pPr>
            <a:lvl5pPr>
              <a:defRPr sz="16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71932" y="6356355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00084" y="6356355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507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26153" y="2617788"/>
            <a:ext cx="10309115" cy="20828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4400">
                <a:solidFill>
                  <a:srgbClr val="F26529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44700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71932" y="6356355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00084" y="6356355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71962" y="89097"/>
            <a:ext cx="11394276" cy="68523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586913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pPr defTabSz="457200"/>
            <a:fld id="{31557021-9425-4ECB-8455-37A42D497BD0}" type="datetimeFigureOut">
              <a:rPr lang="en-US" smtClean="0">
                <a:solidFill>
                  <a:prstClr val="black"/>
                </a:solidFill>
              </a:rPr>
              <a:pPr defTabSz="457200"/>
              <a:t>10/23/26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866D93FB-C225-4CC1-81D5-3E7930115D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865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62" y="89104"/>
            <a:ext cx="11394276" cy="10800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962" y="983051"/>
            <a:ext cx="11394276" cy="5176316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1932" y="6356355"/>
            <a:ext cx="3860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00084" y="6356355"/>
            <a:ext cx="2844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703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pPr defTabSz="457200"/>
            <a:fld id="{31557021-9425-4ECB-8455-37A42D497BD0}" type="datetimeFigureOut">
              <a:rPr lang="en-US" smtClean="0">
                <a:solidFill>
                  <a:prstClr val="black"/>
                </a:solidFill>
              </a:rPr>
              <a:pPr defTabSz="457200"/>
              <a:t>10/23/26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866D93FB-C225-4CC1-81D5-3E7930115D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292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1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9739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552148"/>
            <a:ext cx="7006269" cy="553999"/>
          </a:xfrm>
        </p:spPr>
        <p:txBody>
          <a:bodyPr anchor="b">
            <a:noAutofit/>
          </a:bodyPr>
          <a:lstStyle>
            <a:lvl1pPr>
              <a:defRPr sz="2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720000" y="1080004"/>
            <a:ext cx="7006269" cy="488795"/>
          </a:xfrm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720000" y="2112963"/>
            <a:ext cx="10742400" cy="4020208"/>
          </a:xfrm>
        </p:spPr>
        <p:txBody>
          <a:bodyPr>
            <a:no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788FA-F864-4521-9DFD-AF03C9BFF3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77117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fld id="{5B558C5A-684A-4091-907D-A4E02BFC40FD}" type="datetimeFigureOut">
              <a:rPr lang="en-US" smtClean="0"/>
              <a:pPr/>
              <a:t>10/23/26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674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4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6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0" y="1535116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26" y="273052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7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2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4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6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4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5960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2920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4562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0708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6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0" y="1535116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5608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4769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510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26" y="273052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7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2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31336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4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6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1751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47707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9713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、テキスト、2 つの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8021" y="265188"/>
            <a:ext cx="10005647" cy="936625"/>
          </a:xfrm>
        </p:spPr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0" name="テキスト プレースホルダ 9"/>
          <p:cNvSpPr>
            <a:spLocks noGrp="1"/>
          </p:cNvSpPr>
          <p:nvPr>
            <p:ph type="body" sz="quarter" idx="13"/>
          </p:nvPr>
        </p:nvSpPr>
        <p:spPr>
          <a:xfrm>
            <a:off x="460800" y="1486800"/>
            <a:ext cx="11316184" cy="4802400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altLang="ja-JP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4"/>
          </p:nvPr>
        </p:nvSpPr>
        <p:spPr>
          <a:xfrm>
            <a:off x="241300" y="6465910"/>
            <a:ext cx="3888317" cy="271463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50000"/>
              </a:spcBef>
              <a:defRPr kumimoji="0" sz="1400" b="1">
                <a:latin typeface="Imago" pitchFamily="2" charset="0"/>
                <a:ea typeface="ＭＳ Ｐゴシック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ja-JP" dirty="0">
                <a:solidFill>
                  <a:prstClr val="black">
                    <a:tint val="75000"/>
                  </a:prstClr>
                </a:solidFill>
              </a:rPr>
              <a:t>AF802 Preclinical update (120605)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5"/>
          </p:nvPr>
        </p:nvSpPr>
        <p:spPr>
          <a:xfrm>
            <a:off x="11286110" y="6408740"/>
            <a:ext cx="717551" cy="349251"/>
          </a:xfrm>
        </p:spPr>
        <p:txBody>
          <a:bodyPr/>
          <a:lstStyle>
            <a:lvl1pPr>
              <a:defRPr kumimoji="0" b="1"/>
            </a:lvl1pPr>
          </a:lstStyle>
          <a:p>
            <a:pPr>
              <a:defRPr/>
            </a:pPr>
            <a:fld id="{71B9D8C1-8ED5-4FF2-84A2-5C6F76A447A1}" type="slidenum">
              <a:rPr lang="en-US" altLang="ja-JP">
                <a:solidFill>
                  <a:prstClr val="black">
                    <a:tint val="75000"/>
                  </a:prstClr>
                </a:solidFill>
                <a:ea typeface="HGｺﾞｼｯｸM"/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  <a:ea typeface="HGｺﾞｼｯｸM"/>
            </a:endParaRPr>
          </a:p>
        </p:txBody>
      </p:sp>
    </p:spTree>
    <p:extLst>
      <p:ext uri="{BB962C8B-B14F-4D97-AF65-F5344CB8AC3E}">
        <p14:creationId xmlns:p14="http://schemas.microsoft.com/office/powerpoint/2010/main" val="253143215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26153" y="2617788"/>
            <a:ext cx="10309115" cy="20828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4400">
                <a:solidFill>
                  <a:srgbClr val="F26529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158369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41"/>
            <a:ext cx="9144000" cy="1655763"/>
          </a:xfrm>
        </p:spPr>
        <p:txBody>
          <a:bodyPr/>
          <a:lstStyle>
            <a:lvl1pPr marL="0" indent="0" algn="l">
              <a:buNone/>
              <a:defRPr sz="2400"/>
            </a:lvl1pPr>
            <a:lvl2pPr marL="457095" indent="0" algn="ctr">
              <a:buNone/>
              <a:defRPr sz="2000"/>
            </a:lvl2pPr>
            <a:lvl3pPr marL="914196" indent="0" algn="ctr">
              <a:buNone/>
              <a:defRPr sz="1900"/>
            </a:lvl3pPr>
            <a:lvl4pPr marL="1371294" indent="0" algn="ctr">
              <a:buNone/>
              <a:defRPr sz="1600"/>
            </a:lvl4pPr>
            <a:lvl5pPr marL="1828392" indent="0" algn="ctr">
              <a:buNone/>
              <a:defRPr sz="1600"/>
            </a:lvl5pPr>
            <a:lvl6pPr marL="2285494" indent="0" algn="ctr">
              <a:buNone/>
              <a:defRPr sz="1600"/>
            </a:lvl6pPr>
            <a:lvl7pPr marL="2742586" indent="0" algn="ctr">
              <a:buNone/>
              <a:defRPr sz="1600"/>
            </a:lvl7pPr>
            <a:lvl8pPr marL="3199680" indent="0" algn="ctr">
              <a:buNone/>
              <a:defRPr sz="1600"/>
            </a:lvl8pPr>
            <a:lvl9pPr marL="365677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53519" y="6279128"/>
            <a:ext cx="383488" cy="365125"/>
          </a:xfrm>
          <a:prstGeom prst="rect">
            <a:avLst/>
          </a:prstGeom>
        </p:spPr>
        <p:txBody>
          <a:bodyPr vert="horz" lIns="91422" tIns="45718" rIns="91422" bIns="45718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pPr defTabSz="914196"/>
            <a:fld id="{2FFBAD49-1F68-914B-9DFB-5D552C1A2BEB}" type="slidenum">
              <a:rPr lang="en-US" smtClean="0">
                <a:solidFill>
                  <a:srgbClr val="113468">
                    <a:tint val="75000"/>
                  </a:srgbClr>
                </a:solidFill>
              </a:rPr>
              <a:pPr defTabSz="914196"/>
              <a:t>‹#›</a:t>
            </a:fld>
            <a:endParaRPr lang="en-US" dirty="0">
              <a:solidFill>
                <a:srgbClr val="113468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63342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53519" y="6279128"/>
            <a:ext cx="383488" cy="365125"/>
          </a:xfrm>
          <a:prstGeom prst="rect">
            <a:avLst/>
          </a:prstGeom>
        </p:spPr>
        <p:txBody>
          <a:bodyPr vert="horz" lIns="91422" tIns="45718" rIns="91422" bIns="45718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pPr defTabSz="914196"/>
            <a:fld id="{2FFBAD49-1F68-914B-9DFB-5D552C1A2BEB}" type="slidenum">
              <a:rPr lang="en-US" smtClean="0">
                <a:solidFill>
                  <a:srgbClr val="113468">
                    <a:tint val="75000"/>
                  </a:srgbClr>
                </a:solidFill>
              </a:rPr>
              <a:pPr defTabSz="914196"/>
              <a:t>‹#›</a:t>
            </a:fld>
            <a:endParaRPr lang="en-US" dirty="0">
              <a:solidFill>
                <a:srgbClr val="113468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8846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3961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3961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53519" y="6279128"/>
            <a:ext cx="383488" cy="365125"/>
          </a:xfrm>
          <a:prstGeom prst="rect">
            <a:avLst/>
          </a:prstGeom>
        </p:spPr>
        <p:txBody>
          <a:bodyPr vert="horz" lIns="91422" tIns="45718" rIns="91422" bIns="45718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pPr defTabSz="914196"/>
            <a:fld id="{2FFBAD49-1F68-914B-9DFB-5D552C1A2BEB}" type="slidenum">
              <a:rPr lang="en-US" smtClean="0">
                <a:solidFill>
                  <a:srgbClr val="113468">
                    <a:tint val="75000"/>
                  </a:srgbClr>
                </a:solidFill>
              </a:rPr>
              <a:pPr defTabSz="914196"/>
              <a:t>‹#›</a:t>
            </a:fld>
            <a:endParaRPr lang="en-US" dirty="0">
              <a:solidFill>
                <a:srgbClr val="113468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64059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53519" y="6279128"/>
            <a:ext cx="383488" cy="365125"/>
          </a:xfrm>
          <a:prstGeom prst="rect">
            <a:avLst/>
          </a:prstGeom>
        </p:spPr>
        <p:txBody>
          <a:bodyPr vert="horz" lIns="91422" tIns="45718" rIns="91422" bIns="45718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pPr defTabSz="914196"/>
            <a:fld id="{2FFBAD49-1F68-914B-9DFB-5D552C1A2BEB}" type="slidenum">
              <a:rPr lang="en-US" smtClean="0">
                <a:solidFill>
                  <a:srgbClr val="113468">
                    <a:tint val="75000"/>
                  </a:srgbClr>
                </a:solidFill>
              </a:rPr>
              <a:pPr defTabSz="914196"/>
              <a:t>‹#›</a:t>
            </a:fld>
            <a:endParaRPr lang="en-US" dirty="0">
              <a:solidFill>
                <a:srgbClr val="113468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53021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53519" y="6279128"/>
            <a:ext cx="383488" cy="365125"/>
          </a:xfrm>
          <a:prstGeom prst="rect">
            <a:avLst/>
          </a:prstGeom>
        </p:spPr>
        <p:txBody>
          <a:bodyPr vert="horz" lIns="91422" tIns="45718" rIns="91422" bIns="45718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pPr defTabSz="914196"/>
            <a:fld id="{2FFBAD49-1F68-914B-9DFB-5D552C1A2BEB}" type="slidenum">
              <a:rPr lang="en-US" smtClean="0">
                <a:solidFill>
                  <a:srgbClr val="113468">
                    <a:tint val="75000"/>
                  </a:srgbClr>
                </a:solidFill>
              </a:rPr>
              <a:pPr defTabSz="914196"/>
              <a:t>‹#›</a:t>
            </a:fld>
            <a:endParaRPr lang="en-US" dirty="0">
              <a:solidFill>
                <a:srgbClr val="113468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54471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Date or Reference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0233" y="2262471"/>
            <a:ext cx="10363200" cy="14700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975">
                <a:solidFill>
                  <a:srgbClr val="F2652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0233" y="4691835"/>
            <a:ext cx="8534400" cy="130698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6972727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89103"/>
            <a:ext cx="11394276" cy="10800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947" y="983051"/>
            <a:ext cx="11394276" cy="5176316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1932" y="6356354"/>
            <a:ext cx="3860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00084" y="6356354"/>
            <a:ext cx="2844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35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89103"/>
            <a:ext cx="11394276" cy="108001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66022"/>
            <a:ext cx="5384800" cy="4525963"/>
          </a:xfrm>
        </p:spPr>
        <p:txBody>
          <a:bodyPr/>
          <a:lstStyle>
            <a:lvl1pPr>
              <a:defRPr sz="2775" b="0"/>
            </a:lvl1pPr>
            <a:lvl2pPr>
              <a:defRPr sz="2400" b="0"/>
            </a:lvl2pPr>
            <a:lvl3pPr>
              <a:defRPr sz="2025" b="0"/>
            </a:lvl3pPr>
            <a:lvl4pPr>
              <a:defRPr sz="1800" b="0"/>
            </a:lvl4pPr>
            <a:lvl5pPr>
              <a:defRPr sz="18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66022"/>
            <a:ext cx="5384800" cy="4525963"/>
          </a:xfrm>
        </p:spPr>
        <p:txBody>
          <a:bodyPr/>
          <a:lstStyle>
            <a:lvl1pPr>
              <a:defRPr sz="2775" b="0"/>
            </a:lvl1pPr>
            <a:lvl2pPr>
              <a:defRPr sz="2400" b="0"/>
            </a:lvl2pPr>
            <a:lvl3pPr>
              <a:defRPr sz="2025" b="0"/>
            </a:lvl3pPr>
            <a:lvl4pPr>
              <a:defRPr sz="1800" b="0"/>
            </a:lvl4pPr>
            <a:lvl5pPr>
              <a:defRPr sz="18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71932" y="6353222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00084" y="6356354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9757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7" y="89103"/>
            <a:ext cx="11394276" cy="108001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53307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25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575" b="1"/>
            </a:lvl4pPr>
            <a:lvl5pPr marL="1828709" indent="0">
              <a:buNone/>
              <a:defRPr sz="1575" b="1"/>
            </a:lvl5pPr>
            <a:lvl6pPr marL="2285886" indent="0">
              <a:buNone/>
              <a:defRPr sz="1575" b="1"/>
            </a:lvl6pPr>
            <a:lvl7pPr marL="2743064" indent="0">
              <a:buNone/>
              <a:defRPr sz="1575" b="1"/>
            </a:lvl7pPr>
            <a:lvl8pPr marL="3200240" indent="0">
              <a:buNone/>
              <a:defRPr sz="1575" b="1"/>
            </a:lvl8pPr>
            <a:lvl9pPr marL="3657418" indent="0">
              <a:buNone/>
              <a:defRPr sz="15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793068"/>
            <a:ext cx="5386917" cy="3951288"/>
          </a:xfrm>
        </p:spPr>
        <p:txBody>
          <a:bodyPr/>
          <a:lstStyle>
            <a:lvl1pPr>
              <a:defRPr sz="2400" b="0"/>
            </a:lvl1pPr>
            <a:lvl2pPr>
              <a:defRPr sz="2025" b="0"/>
            </a:lvl2pPr>
            <a:lvl3pPr>
              <a:defRPr sz="1800" b="0"/>
            </a:lvl3pPr>
            <a:lvl4pPr>
              <a:defRPr sz="1575" b="0"/>
            </a:lvl4pPr>
            <a:lvl5pPr>
              <a:defRPr sz="1575" b="0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1" y="1173319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25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575" b="1"/>
            </a:lvl4pPr>
            <a:lvl5pPr marL="1828709" indent="0">
              <a:buNone/>
              <a:defRPr sz="1575" b="1"/>
            </a:lvl5pPr>
            <a:lvl6pPr marL="2285886" indent="0">
              <a:buNone/>
              <a:defRPr sz="1575" b="1"/>
            </a:lvl6pPr>
            <a:lvl7pPr marL="2743064" indent="0">
              <a:buNone/>
              <a:defRPr sz="1575" b="1"/>
            </a:lvl7pPr>
            <a:lvl8pPr marL="3200240" indent="0">
              <a:buNone/>
              <a:defRPr sz="1575" b="1"/>
            </a:lvl8pPr>
            <a:lvl9pPr marL="3657418" indent="0">
              <a:buNone/>
              <a:defRPr sz="15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1" y="1813079"/>
            <a:ext cx="5389033" cy="3951288"/>
          </a:xfrm>
        </p:spPr>
        <p:txBody>
          <a:bodyPr/>
          <a:lstStyle>
            <a:lvl1pPr>
              <a:defRPr sz="2400" b="0"/>
            </a:lvl1pPr>
            <a:lvl2pPr>
              <a:defRPr sz="2025" b="0"/>
            </a:lvl2pPr>
            <a:lvl3pPr>
              <a:defRPr sz="1800" b="0"/>
            </a:lvl3pPr>
            <a:lvl4pPr>
              <a:defRPr sz="1575" b="0"/>
            </a:lvl4pPr>
            <a:lvl5pPr>
              <a:defRPr sz="1575" b="0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71932" y="6356354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00084" y="6356354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1242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26153" y="2617788"/>
            <a:ext cx="10309115" cy="20828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4425">
                <a:solidFill>
                  <a:srgbClr val="F26529"/>
                </a:solidFill>
              </a:defRPr>
            </a:lvl1pPr>
            <a:lvl2pPr marL="457178" indent="0">
              <a:buFontTx/>
              <a:buNone/>
              <a:defRPr/>
            </a:lvl2pPr>
            <a:lvl3pPr marL="914355" indent="0">
              <a:buFontTx/>
              <a:buNone/>
              <a:defRPr/>
            </a:lvl3pPr>
            <a:lvl4pPr marL="1371532" indent="0">
              <a:buFontTx/>
              <a:buNone/>
              <a:defRPr/>
            </a:lvl4pPr>
            <a:lvl5pPr marL="182870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94525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71932" y="6356354"/>
            <a:ext cx="3860800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00084" y="6356354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71947" y="89097"/>
            <a:ext cx="11394276" cy="68523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447865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50851"/>
            <a:ext cx="7315200" cy="4135096"/>
          </a:xfrm>
        </p:spPr>
        <p:txBody>
          <a:bodyPr/>
          <a:lstStyle>
            <a:lvl1pPr marL="0" indent="0">
              <a:buNone/>
              <a:defRPr sz="3225"/>
            </a:lvl1pPr>
            <a:lvl2pPr marL="457178" indent="0">
              <a:buNone/>
              <a:defRPr sz="2775"/>
            </a:lvl2pPr>
            <a:lvl3pPr marL="914355" indent="0">
              <a:buNone/>
              <a:defRPr sz="2400"/>
            </a:lvl3pPr>
            <a:lvl4pPr marL="1371532" indent="0">
              <a:buNone/>
              <a:defRPr sz="2025"/>
            </a:lvl4pPr>
            <a:lvl5pPr marL="1828709" indent="0">
              <a:buNone/>
              <a:defRPr sz="2025"/>
            </a:lvl5pPr>
            <a:lvl6pPr marL="2285886" indent="0">
              <a:buNone/>
              <a:defRPr sz="2025"/>
            </a:lvl6pPr>
            <a:lvl7pPr marL="2743064" indent="0">
              <a:buNone/>
              <a:defRPr sz="2025"/>
            </a:lvl7pPr>
            <a:lvl8pPr marL="3200240" indent="0">
              <a:buNone/>
              <a:defRPr sz="2025"/>
            </a:lvl8pPr>
            <a:lvl9pPr marL="3657418" indent="0">
              <a:buNone/>
              <a:defRPr sz="2025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8"/>
            <a:ext cx="7315200" cy="804863"/>
          </a:xfrm>
        </p:spPr>
        <p:txBody>
          <a:bodyPr/>
          <a:lstStyle>
            <a:lvl1pPr marL="0" indent="0">
              <a:buNone/>
              <a:defRPr sz="1425" b="0"/>
            </a:lvl1pPr>
            <a:lvl2pPr marL="457178" indent="0">
              <a:buNone/>
              <a:defRPr sz="1200"/>
            </a:lvl2pPr>
            <a:lvl3pPr marL="914355" indent="0">
              <a:buNone/>
              <a:defRPr sz="975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52294" y="6356354"/>
            <a:ext cx="3280447" cy="365125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00084" y="6356354"/>
            <a:ext cx="2844800" cy="365125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885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71947" y="89097"/>
            <a:ext cx="11394276" cy="6852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 b="1">
                <a:solidFill>
                  <a:srgbClr val="FFFFFF"/>
                </a:solidFill>
                <a:latin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4900084" y="6356354"/>
            <a:ext cx="2844800" cy="365125"/>
          </a:xfrm>
          <a:prstGeom prst="rect">
            <a:avLst/>
          </a:prstGeom>
        </p:spPr>
        <p:txBody>
          <a:bodyPr vert="horz" wrap="square" lIns="121914" tIns="60957" rIns="121914" bIns="60957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MS PGothic" charset="0"/>
                <a:cs typeface="MS PGothic" charset="0"/>
              </a:defRPr>
            </a:lvl1pPr>
          </a:lstStyle>
          <a:p>
            <a:fld id="{6613EAC3-A0C8-2441-AF32-3E9C0E60E8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23091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、テキスト、2 つの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8022" y="265176"/>
            <a:ext cx="10005647" cy="936625"/>
          </a:xfrm>
        </p:spPr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0" name="テキスト プレースホルダ 9"/>
          <p:cNvSpPr>
            <a:spLocks noGrp="1"/>
          </p:cNvSpPr>
          <p:nvPr>
            <p:ph type="body" sz="quarter" idx="13"/>
          </p:nvPr>
        </p:nvSpPr>
        <p:spPr>
          <a:xfrm>
            <a:off x="460800" y="1486800"/>
            <a:ext cx="11316184" cy="4802400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altLang="ja-JP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4"/>
          </p:nvPr>
        </p:nvSpPr>
        <p:spPr>
          <a:xfrm>
            <a:off x="241300" y="6465899"/>
            <a:ext cx="3888317" cy="271463"/>
          </a:xfrm>
          <a:prstGeom prst="rect">
            <a:avLst/>
          </a:prstGeom>
        </p:spPr>
        <p:txBody>
          <a:bodyPr lIns="121914" tIns="60957" rIns="121914" bIns="60957"/>
          <a:lstStyle>
            <a:lvl1pPr eaLnBrk="1" hangingPunct="1">
              <a:spcBef>
                <a:spcPct val="50000"/>
              </a:spcBef>
              <a:defRPr kumimoji="0" sz="1425" b="1">
                <a:latin typeface="Imago" pitchFamily="2" charset="0"/>
                <a:ea typeface="ＭＳ Ｐゴシック"/>
                <a:cs typeface="Arial" pitchFamily="34" charset="0"/>
              </a:defRPr>
            </a:lvl1pPr>
          </a:lstStyle>
          <a:p>
            <a:pPr defTabSz="457178">
              <a:defRPr/>
            </a:pPr>
            <a:r>
              <a:rPr lang="en-US" altLang="ja-JP" dirty="0">
                <a:solidFill>
                  <a:prstClr val="black">
                    <a:tint val="75000"/>
                  </a:prstClr>
                </a:solidFill>
              </a:rPr>
              <a:t>AF802 Preclinical update (120605)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5"/>
          </p:nvPr>
        </p:nvSpPr>
        <p:spPr>
          <a:xfrm>
            <a:off x="11286086" y="6408739"/>
            <a:ext cx="717551" cy="349251"/>
          </a:xfrm>
        </p:spPr>
        <p:txBody>
          <a:bodyPr/>
          <a:lstStyle>
            <a:lvl1pPr>
              <a:defRPr kumimoji="0" b="1"/>
            </a:lvl1pPr>
          </a:lstStyle>
          <a:p>
            <a:pPr>
              <a:defRPr/>
            </a:pPr>
            <a:fld id="{71B9D8C1-8ED5-4FF2-84A2-5C6F76A447A1}" type="slidenum">
              <a:rPr lang="en-US" altLang="ja-JP">
                <a:solidFill>
                  <a:prstClr val="black">
                    <a:tint val="75000"/>
                  </a:prstClr>
                </a:solidFill>
                <a:ea typeface="HGｺﾞｼｯｸM"/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  <a:ea typeface="HGｺﾞｼｯｸM"/>
            </a:endParaRPr>
          </a:p>
        </p:txBody>
      </p:sp>
    </p:spTree>
    <p:extLst>
      <p:ext uri="{BB962C8B-B14F-4D97-AF65-F5344CB8AC3E}">
        <p14:creationId xmlns:p14="http://schemas.microsoft.com/office/powerpoint/2010/main" val="48117992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, Content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720000" y="4132158"/>
            <a:ext cx="10742400" cy="199401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marR="0" indent="0" algn="ctr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35000"/>
              <a:buFont typeface="Wingdings" charset="2"/>
              <a:buNone/>
              <a:tabLst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720000" y="2112975"/>
            <a:ext cx="10742400" cy="1895281"/>
          </a:xfrm>
        </p:spPr>
        <p:txBody>
          <a:bodyPr>
            <a:noAutofit/>
          </a:bodyPr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720000" y="550812"/>
            <a:ext cx="7006269" cy="553999"/>
          </a:xfrm>
        </p:spPr>
        <p:txBody>
          <a:bodyPr anchor="b">
            <a:noAutofit/>
          </a:bodyPr>
          <a:lstStyle>
            <a:lvl1pPr>
              <a:defRPr sz="2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720000" y="1080003"/>
            <a:ext cx="7006269" cy="488795"/>
          </a:xfrm>
        </p:spPr>
        <p:txBody>
          <a:bodyPr>
            <a:noAutofit/>
          </a:bodyPr>
          <a:lstStyle>
            <a:lvl1pPr marL="0" indent="0">
              <a:buNone/>
              <a:defRPr sz="2025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3CF81-11EA-405E-A3EC-9D48E6C9B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507927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121914" tIns="60957" rIns="121914" bIns="60957"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pPr defTabSz="457178"/>
            <a:fld id="{31557021-9425-4ECB-8455-37A42D497BD0}" type="datetimeFigureOut">
              <a:rPr lang="en-US" smtClean="0">
                <a:solidFill>
                  <a:prstClr val="black"/>
                </a:solidFill>
              </a:rPr>
              <a:pPr defTabSz="457178"/>
              <a:t>10/23/26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/>
          <a:lstStyle/>
          <a:p>
            <a:fld id="{866D93FB-C225-4CC1-81D5-3E7930115D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0830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ly NO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65ABA9-FDBC-404A-8885-A9833F77867B}" type="slidenum">
              <a:rPr lang="en-GB" smtClean="0">
                <a:solidFill>
                  <a:prstClr val="black"/>
                </a:solidFill>
              </a:rPr>
              <a:pPr/>
              <a:t>‹#›</a:t>
            </a:fld>
            <a:endParaRPr lang="en-GB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34436" y="6068483"/>
            <a:ext cx="11523133" cy="226612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975"/>
            </a:lvl1pPr>
            <a:lvl2pPr marL="342884" indent="0">
              <a:buNone/>
              <a:defRPr sz="1125"/>
            </a:lvl2pPr>
            <a:lvl3pPr marL="685766" indent="0">
              <a:buNone/>
              <a:defRPr sz="975"/>
            </a:lvl3pPr>
            <a:lvl4pPr marL="1028649" indent="0">
              <a:buNone/>
              <a:defRPr sz="975"/>
            </a:lvl4pPr>
            <a:lvl5pPr marL="1371532" indent="0">
              <a:buNone/>
              <a:defRPr sz="975"/>
            </a:lvl5pPr>
          </a:lstStyle>
          <a:p>
            <a:pPr lvl="0"/>
            <a:r>
              <a:rPr lang="en-US"/>
              <a:t>Click to add reference</a:t>
            </a:r>
          </a:p>
        </p:txBody>
      </p:sp>
    </p:spTree>
    <p:extLst>
      <p:ext uri="{BB962C8B-B14F-4D97-AF65-F5344CB8AC3E}">
        <p14:creationId xmlns:p14="http://schemas.microsoft.com/office/powerpoint/2010/main" val="158088375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599E0C4-358C-864A-A449-7A21861776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718287"/>
            <a:ext cx="12192000" cy="699351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075899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B26654F-50AF-802E-7563-D9256900D5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254154"/>
            <a:ext cx="12192000" cy="533399"/>
          </a:xfrm>
          <a:prstGeom prst="rect">
            <a:avLst/>
          </a:prstGeom>
        </p:spPr>
        <p:txBody>
          <a:bodyPr lIns="274320" tIns="137160" rIns="274320" bIns="137160" anchor="b"/>
          <a:lstStyle>
            <a:lvl1pPr marL="0" indent="0">
              <a:buNone/>
              <a:defRPr sz="1400" b="1" baseline="0">
                <a:solidFill>
                  <a:schemeClr val="tx1"/>
                </a:solidFill>
                <a:latin typeface="+mn-lt"/>
                <a:cs typeface="Helvetica" panose="020B0604020202020204" pitchFamily="34" charset="0"/>
              </a:defRPr>
            </a:lvl1pPr>
            <a:lvl2pPr marL="395278" indent="0">
              <a:buNone/>
              <a:defRPr sz="1400" b="1"/>
            </a:lvl2pPr>
            <a:lvl3pPr marL="801668" indent="0">
              <a:buNone/>
              <a:defRPr sz="1400" b="1"/>
            </a:lvl3pPr>
            <a:lvl4pPr marL="1196945" indent="0">
              <a:buNone/>
              <a:defRPr sz="1400" b="1"/>
            </a:lvl4pPr>
            <a:lvl5pPr marL="1601747" indent="0">
              <a:buNone/>
              <a:defRPr sz="1400" b="1"/>
            </a:lvl5pPr>
          </a:lstStyle>
          <a:p>
            <a:pPr lvl="0"/>
            <a:r>
              <a:rPr lang="en-US"/>
              <a:t>Reference.</a:t>
            </a:r>
          </a:p>
        </p:txBody>
      </p:sp>
    </p:spTree>
    <p:extLst>
      <p:ext uri="{BB962C8B-B14F-4D97-AF65-F5344CB8AC3E}">
        <p14:creationId xmlns:p14="http://schemas.microsoft.com/office/powerpoint/2010/main" val="411688527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4825" y="1920241"/>
            <a:ext cx="7419975" cy="1508760"/>
          </a:xfrm>
        </p:spPr>
        <p:txBody>
          <a:bodyPr vert="horz" anchor="t"/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A2E778-C602-5B40-8E0C-1BAE808E36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825" y="4389120"/>
            <a:ext cx="3505201" cy="457200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Month 00, 20XX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A9A0FEB-2318-1E41-A04B-A702497639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3" y="3566160"/>
            <a:ext cx="7419975" cy="549249"/>
          </a:xfrm>
        </p:spPr>
        <p:txBody>
          <a:bodyPr/>
          <a:lstStyle>
            <a:lvl1pPr>
              <a:defRPr sz="3200">
                <a:solidFill>
                  <a:schemeClr val="accent1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1106688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/2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598385-0BD4-9F42-BC78-15B2A6F6CF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l">
              <a:defRPr sz="1200">
                <a:solidFill>
                  <a:srgbClr val="FF0000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4826" y="1920240"/>
            <a:ext cx="5131970" cy="1508760"/>
          </a:xfrm>
        </p:spPr>
        <p:txBody>
          <a:bodyPr vert="horz" anchor="t"/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A2E778-C602-5B40-8E0C-1BAE808E36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825" y="4389120"/>
            <a:ext cx="3505201" cy="457200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Month 00, 20XX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1B503BD-4158-2C40-9E38-005D18DF3C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3" y="3566160"/>
            <a:ext cx="5131971" cy="549249"/>
          </a:xfrm>
        </p:spPr>
        <p:txBody>
          <a:bodyPr/>
          <a:lstStyle>
            <a:lvl1pPr>
              <a:defRPr sz="3200">
                <a:solidFill>
                  <a:schemeClr val="accent1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ABEBE6-AF5D-1C31-E7C5-5FC9DD7E457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241741" y="6378130"/>
            <a:ext cx="454745" cy="245223"/>
          </a:xfrm>
          <a:prstGeom prst="rect">
            <a:avLst/>
          </a:prstGeo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fld id="{523A240F-EAFE-E84F-B44C-6D7A08E0E4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95175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Blu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4825" y="1920240"/>
            <a:ext cx="7419975" cy="1508760"/>
          </a:xfrm>
        </p:spPr>
        <p:txBody>
          <a:bodyPr vert="horz" anchor="t"/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A2E778-C602-5B40-8E0C-1BAE808E36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825" y="4389120"/>
            <a:ext cx="3505201" cy="457200"/>
          </a:xfrm>
        </p:spPr>
        <p:txBody>
          <a:bodyPr/>
          <a:lstStyle>
            <a:lvl1pPr>
              <a:defRPr sz="1400">
                <a:solidFill>
                  <a:schemeClr val="accent2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Month 00, 20XX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99B368D-17E0-1440-9448-41A42D5E64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3" y="3566160"/>
            <a:ext cx="7419975" cy="549249"/>
          </a:xfrm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04687370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598385-0BD4-9F42-BC78-15B2A6F6CF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4825" y="1920240"/>
            <a:ext cx="7419975" cy="1508760"/>
          </a:xfrm>
        </p:spPr>
        <p:txBody>
          <a:bodyPr vert="horz" anchor="t"/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A2E778-C602-5B40-8E0C-1BAE808E36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825" y="4389120"/>
            <a:ext cx="3505201" cy="457200"/>
          </a:xfrm>
        </p:spPr>
        <p:txBody>
          <a:bodyPr/>
          <a:lstStyle>
            <a:lvl1pPr>
              <a:defRPr sz="1400">
                <a:solidFill>
                  <a:schemeClr val="accent2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Month 00, 20XX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99B368D-17E0-1440-9448-41A42D5E64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3" y="3566160"/>
            <a:ext cx="7419975" cy="549249"/>
          </a:xfrm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0057238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1/2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598385-0BD4-9F42-BC78-15B2A6F6CF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l">
              <a:defRPr sz="1200">
                <a:solidFill>
                  <a:srgbClr val="FF0000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4826" y="1920240"/>
            <a:ext cx="5131970" cy="1508760"/>
          </a:xfrm>
        </p:spPr>
        <p:txBody>
          <a:bodyPr vert="horz" anchor="t"/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A2E778-C602-5B40-8E0C-1BAE808E36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825" y="4389120"/>
            <a:ext cx="3505201" cy="457200"/>
          </a:xfrm>
        </p:spPr>
        <p:txBody>
          <a:bodyPr/>
          <a:lstStyle>
            <a:lvl1pPr>
              <a:defRPr sz="1400">
                <a:solidFill>
                  <a:schemeClr val="accent2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Month 00, 20XX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8ECE2AD-E262-0244-A779-32BC5B97C6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3" y="3566160"/>
            <a:ext cx="5131971" cy="549249"/>
          </a:xfrm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6311379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OD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4825" y="1920241"/>
            <a:ext cx="7419975" cy="1508760"/>
          </a:xfrm>
        </p:spPr>
        <p:txBody>
          <a:bodyPr vert="horz" anchor="t"/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4825" y="1371600"/>
            <a:ext cx="7419975" cy="530693"/>
          </a:xfrm>
        </p:spPr>
        <p:txBody>
          <a:bodyPr anchor="t"/>
          <a:lstStyle>
            <a:lvl1pPr marL="0" indent="0" algn="l">
              <a:buNone/>
              <a:defRPr sz="3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Org/Dept/Lab 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A2E778-C602-5B40-8E0C-1BAE808E36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825" y="4389120"/>
            <a:ext cx="3505201" cy="457200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Month 00, 20XX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A9A0FEB-2318-1E41-A04B-A702497639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3" y="3566160"/>
            <a:ext cx="7419975" cy="549249"/>
          </a:xfrm>
        </p:spPr>
        <p:txBody>
          <a:bodyPr/>
          <a:lstStyle>
            <a:lvl1pPr>
              <a:defRPr sz="3200">
                <a:solidFill>
                  <a:schemeClr val="accent1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2225304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/2 Image OD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598385-0BD4-9F42-BC78-15B2A6F6CF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l">
              <a:defRPr sz="1200">
                <a:solidFill>
                  <a:srgbClr val="FF0000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4826" y="1920240"/>
            <a:ext cx="5131970" cy="1508760"/>
          </a:xfrm>
        </p:spPr>
        <p:txBody>
          <a:bodyPr vert="horz" anchor="t"/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4826" y="1371600"/>
            <a:ext cx="5131970" cy="530693"/>
          </a:xfrm>
        </p:spPr>
        <p:txBody>
          <a:bodyPr anchor="t"/>
          <a:lstStyle>
            <a:lvl1pPr marL="0" indent="0" algn="l">
              <a:buNone/>
              <a:defRPr sz="3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Org/Dept/Lab 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A2E778-C602-5B40-8E0C-1BAE808E36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825" y="4389120"/>
            <a:ext cx="3505201" cy="457200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Month 00, 20XX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1B503BD-4158-2C40-9E38-005D18DF3C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3" y="3566160"/>
            <a:ext cx="5131971" cy="549249"/>
          </a:xfrm>
        </p:spPr>
        <p:txBody>
          <a:bodyPr/>
          <a:lstStyle>
            <a:lvl1pPr>
              <a:defRPr sz="3200">
                <a:solidFill>
                  <a:schemeClr val="accent1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533588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Blue OD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4825" y="1920240"/>
            <a:ext cx="7419975" cy="1508760"/>
          </a:xfrm>
        </p:spPr>
        <p:txBody>
          <a:bodyPr vert="horz" anchor="t"/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4825" y="1371600"/>
            <a:ext cx="7419975" cy="530693"/>
          </a:xfrm>
        </p:spPr>
        <p:txBody>
          <a:bodyPr anchor="t"/>
          <a:lstStyle>
            <a:lvl1pPr marL="0" indent="0" algn="l">
              <a:buNone/>
              <a:defRPr sz="32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Org/Dept/Lab 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A2E778-C602-5B40-8E0C-1BAE808E36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825" y="4389120"/>
            <a:ext cx="3505201" cy="457200"/>
          </a:xfrm>
        </p:spPr>
        <p:txBody>
          <a:bodyPr/>
          <a:lstStyle>
            <a:lvl1pPr>
              <a:defRPr sz="1400">
                <a:solidFill>
                  <a:schemeClr val="accent2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Month 00, 20XX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99B368D-17E0-1440-9448-41A42D5E64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3" y="3566160"/>
            <a:ext cx="7419975" cy="549249"/>
          </a:xfrm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1822635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Image OD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598385-0BD4-9F42-BC78-15B2A6F6CF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4825" y="1920240"/>
            <a:ext cx="7419975" cy="1508760"/>
          </a:xfrm>
        </p:spPr>
        <p:txBody>
          <a:bodyPr vert="horz" anchor="t"/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4825" y="1371600"/>
            <a:ext cx="7419975" cy="530693"/>
          </a:xfrm>
        </p:spPr>
        <p:txBody>
          <a:bodyPr anchor="t"/>
          <a:lstStyle>
            <a:lvl1pPr marL="0" indent="0" algn="l">
              <a:buNone/>
              <a:defRPr sz="32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Org/Dept/Lab 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A2E778-C602-5B40-8E0C-1BAE808E36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825" y="4389120"/>
            <a:ext cx="3505201" cy="457200"/>
          </a:xfrm>
        </p:spPr>
        <p:txBody>
          <a:bodyPr/>
          <a:lstStyle>
            <a:lvl1pPr>
              <a:defRPr sz="1400">
                <a:solidFill>
                  <a:schemeClr val="accent2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Month 00, 20XX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99B368D-17E0-1440-9448-41A42D5E64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3" y="3566160"/>
            <a:ext cx="7419975" cy="549249"/>
          </a:xfrm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3304076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lue 1/2 Image OD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598385-0BD4-9F42-BC78-15B2A6F6CF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l">
              <a:defRPr sz="1200">
                <a:solidFill>
                  <a:srgbClr val="FF0000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4826" y="1920240"/>
            <a:ext cx="5131970" cy="1508760"/>
          </a:xfrm>
        </p:spPr>
        <p:txBody>
          <a:bodyPr vert="horz" anchor="t"/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4826" y="1371600"/>
            <a:ext cx="5131970" cy="530693"/>
          </a:xfrm>
        </p:spPr>
        <p:txBody>
          <a:bodyPr anchor="t"/>
          <a:lstStyle>
            <a:lvl1pPr marL="0" indent="0" algn="l">
              <a:buNone/>
              <a:defRPr sz="32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Org/Dept/Lab 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A2E778-C602-5B40-8E0C-1BAE808E36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825" y="4389120"/>
            <a:ext cx="3505201" cy="457200"/>
          </a:xfrm>
        </p:spPr>
        <p:txBody>
          <a:bodyPr/>
          <a:lstStyle>
            <a:lvl1pPr>
              <a:defRPr sz="1400">
                <a:solidFill>
                  <a:schemeClr val="accent2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Month 00, 20XX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8ECE2AD-E262-0244-A779-32BC5B97C6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823" y="3566160"/>
            <a:ext cx="5131971" cy="549249"/>
          </a:xfrm>
        </p:spPr>
        <p:txBody>
          <a:bodyPr/>
          <a:lstStyle>
            <a:lvl1pPr>
              <a:defRPr sz="3200">
                <a:solidFill>
                  <a:schemeClr val="accent2"/>
                </a:solidFill>
              </a:defRPr>
            </a:lvl1pPr>
            <a:lvl2pPr marL="0" indent="0">
              <a:buNone/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0443147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––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17771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0CE4FF-62C5-5C44-AE4A-3D38634FF8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1741" y="6378130"/>
            <a:ext cx="454745" cy="2452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523A240F-EAFE-E84F-B44C-6D7A08E0E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825" y="1371600"/>
            <a:ext cx="7419975" cy="4718050"/>
          </a:xfrm>
        </p:spPr>
        <p:txBody>
          <a:bodyPr vert="horz" anchor="ctr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This slide is for a divider, statement or takeaway.</a:t>
            </a:r>
          </a:p>
        </p:txBody>
      </p:sp>
    </p:spTree>
    <p:extLst>
      <p:ext uri="{BB962C8B-B14F-4D97-AF65-F5344CB8AC3E}">
        <p14:creationId xmlns:p14="http://schemas.microsoft.com/office/powerpoint/2010/main" val="230734744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lu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3B971B7-3CEC-8EA3-CA81-BD5372C840C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365504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3B971B7-3CEC-8EA3-CA81-BD5372C840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0CE4FF-62C5-5C44-AE4A-3D38634FF8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1741" y="6378130"/>
            <a:ext cx="454745" cy="2452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523A240F-EAFE-E84F-B44C-6D7A08E0E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825" y="1371600"/>
            <a:ext cx="7419975" cy="4718050"/>
          </a:xfrm>
        </p:spPr>
        <p:txBody>
          <a:bodyPr vert="horz" anchor="ctr"/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This slide is for a divider, statement or takeaway.</a:t>
            </a:r>
          </a:p>
        </p:txBody>
      </p:sp>
    </p:spTree>
    <p:extLst>
      <p:ext uri="{BB962C8B-B14F-4D97-AF65-F5344CB8AC3E}">
        <p14:creationId xmlns:p14="http://schemas.microsoft.com/office/powerpoint/2010/main" val="114120626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 ––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22068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755A1-263A-3047-860B-B811081C9C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1741" y="6378130"/>
            <a:ext cx="454745" cy="2452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523A240F-EAFE-E84F-B44C-6D7A08E0E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note Placeholder">
            <a:extLst>
              <a:ext uri="{FF2B5EF4-FFF2-40B4-BE49-F238E27FC236}">
                <a16:creationId xmlns:a16="http://schemas.microsoft.com/office/drawing/2014/main" id="{5157959E-651B-B14F-BA5B-24DA1DB0858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12064" y="6126480"/>
            <a:ext cx="4434840" cy="245223"/>
          </a:xfrm>
        </p:spPr>
        <p:txBody>
          <a:bodyPr anchor="b"/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a footnote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Slide title; Arial 32pt bold, sentence case. This layout accommodates a title that extends downward to a 2nd line.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Click to type text. To activate sub-level formatting, place cursor at beginning of text/line and hit tab or shift tab. Click icon for chart or table.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849371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Presented at Santa Monica TTLC 2021 by Gregory Riely, MD, PhD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839199" y="6378130"/>
            <a:ext cx="2241177" cy="245223"/>
          </a:xfrm>
          <a:prstGeom prst="rect">
            <a:avLst/>
          </a:prstGeo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41741" y="6378130"/>
            <a:ext cx="454745" cy="245223"/>
          </a:xfrm>
          <a:prstGeom prst="rect">
            <a:avLst/>
          </a:prstGeo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fld id="{4C059B87-1728-451C-9F28-38F9B819F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52623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1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839199" y="6378130"/>
            <a:ext cx="2241177" cy="245223"/>
          </a:xfrm>
          <a:prstGeom prst="rect">
            <a:avLst/>
          </a:prstGeo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41741" y="6378130"/>
            <a:ext cx="454745" cy="245223"/>
          </a:xfrm>
          <a:prstGeom prst="rect">
            <a:avLst/>
          </a:prstGeo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fld id="{4C059B87-1728-451C-9F28-38F9B819FC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38905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1557021-9425-4ECB-8455-37A42D497BD0}" type="datetimeFigureOut">
              <a:rPr lang="en-US">
                <a:solidFill>
                  <a:prstClr val="black"/>
                </a:solidFill>
                <a:latin typeface="Corbel"/>
              </a:rPr>
              <a:pPr/>
              <a:t>10/23/26</a:t>
            </a:fld>
            <a:endParaRPr lang="en-US">
              <a:solidFill>
                <a:prstClr val="black"/>
              </a:solidFill>
              <a:latin typeface="Corbe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05408" y="6356352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fld id="{866D93FB-C225-4CC1-81D5-3E7930115D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684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15B9E12-8F53-C74D-ACF6-5C5841BDF44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74758"/>
              </p:ext>
            </p:ext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15B9E12-8F53-C74D-ACF6-5C5841BDF4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8D8092-2468-D648-A089-3B1A952729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755A1-263A-3047-860B-B811081C9C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523A240F-EAFE-E84F-B44C-6D7A08E0E4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157959E-651B-B14F-BA5B-24DA1DB0858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5515" y="6374653"/>
            <a:ext cx="7772400" cy="245223"/>
          </a:xfrm>
        </p:spPr>
        <p:txBody>
          <a:bodyPr anchor="b"/>
          <a:lstStyle>
            <a:lvl1pPr marL="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add a footnote</a:t>
            </a:r>
          </a:p>
        </p:txBody>
      </p:sp>
    </p:spTree>
    <p:extLst>
      <p:ext uri="{BB962C8B-B14F-4D97-AF65-F5344CB8AC3E}">
        <p14:creationId xmlns:p14="http://schemas.microsoft.com/office/powerpoint/2010/main" val="316192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93.xml"/><Relationship Id="rId3" Type="http://schemas.openxmlformats.org/officeDocument/2006/relationships/slideLayout" Target="../slideLayouts/slideLayout78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92.xml"/><Relationship Id="rId2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91.xml"/><Relationship Id="rId20" Type="http://schemas.openxmlformats.org/officeDocument/2006/relationships/theme" Target="../theme/theme6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90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94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9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5B558C5A-684A-4091-907D-A4E02BFC40FD}" type="datetimeFigureOut">
              <a:rPr lang="en-US" smtClean="0"/>
              <a:pPr/>
              <a:t>10/23/26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4EE44391-63F9-4002-BE1F-E8650E798D1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97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005A8E"/>
          </a:solidFill>
          <a:latin typeface="Franklin Gothic Medium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62" y="1413026"/>
            <a:ext cx="11394276" cy="4713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05408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0000"/>
                </a:solidFill>
                <a:latin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defTabSz="457200"/>
            <a:r>
              <a:rPr lang="en-US" dirty="0"/>
              <a:t>Reference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00084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0000"/>
                </a:solidFill>
                <a:latin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defTabSz="457200"/>
            <a:fld id="{D9DADDD7-F6DB-DE43-84D3-BDE65D6DBA61}" type="slidenum">
              <a:rPr lang="en-US" smtClean="0"/>
              <a:pPr defTabSz="457200"/>
              <a:t>‹#›</a:t>
            </a:fld>
            <a:endParaRPr lang="en-US" dirty="0"/>
          </a:p>
        </p:txBody>
      </p: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464812" y="274640"/>
            <a:ext cx="11401425" cy="11383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877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4" r:id="rId8"/>
    <p:sldLayoutId id="2147483765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7" r:id="rId16"/>
    <p:sldLayoutId id="2147483820" r:id="rId17"/>
    <p:sldLayoutId id="2147483826" r:id="rId18"/>
    <p:sldLayoutId id="2147483828" r:id="rId19"/>
    <p:sldLayoutId id="2147483830" r:id="rId20"/>
    <p:sldLayoutId id="2147483973" r:id="rId21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005A8E"/>
          </a:solidFill>
          <a:latin typeface="Franklin Gothic Medium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b="1" kern="1200">
          <a:solidFill>
            <a:schemeClr val="tx1"/>
          </a:solidFill>
          <a:latin typeface="Franklin Gothic Book" panose="020B0503020102020204" pitchFamily="34" charset="0"/>
          <a:ea typeface="+mn-ea"/>
          <a:cs typeface="Franklin Gothic Book" panose="020B05030201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1" kern="1200">
          <a:solidFill>
            <a:schemeClr val="tx1"/>
          </a:solidFill>
          <a:latin typeface="Franklin Gothic Book" panose="020B0503020102020204" pitchFamily="34" charset="0"/>
          <a:ea typeface="+mn-ea"/>
          <a:cs typeface="Franklin Gothic Book" panose="020B05030201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1" kern="1200">
          <a:solidFill>
            <a:schemeClr val="tx1"/>
          </a:solidFill>
          <a:latin typeface="Franklin Gothic Book" panose="020B0503020102020204" pitchFamily="34" charset="0"/>
          <a:ea typeface="+mn-ea"/>
          <a:cs typeface="Franklin Gothic Book" panose="020B05030201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1" kern="1200">
          <a:solidFill>
            <a:schemeClr val="tx1"/>
          </a:solidFill>
          <a:latin typeface="Franklin Gothic Book" panose="020B0503020102020204" pitchFamily="34" charset="0"/>
          <a:ea typeface="+mn-ea"/>
          <a:cs typeface="Franklin Gothic Book" panose="020B05030201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1" kern="1200">
          <a:solidFill>
            <a:schemeClr val="tx1"/>
          </a:solidFill>
          <a:latin typeface="Franklin Gothic Book" panose="020B0503020102020204" pitchFamily="34" charset="0"/>
          <a:ea typeface="+mn-ea"/>
          <a:cs typeface="Franklin Gothic Book" panose="020B05030201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5B558C5A-684A-4091-907D-A4E02BFC40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10/23/26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4EE44391-63F9-4002-BE1F-E8650E798D1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958" r:id="rId12"/>
    <p:sldLayoutId id="2147483959" r:id="rId13"/>
    <p:sldLayoutId id="2147483960" r:id="rId14"/>
    <p:sldLayoutId id="2147483961" r:id="rId15"/>
    <p:sldLayoutId id="2147483962" r:id="rId16"/>
    <p:sldLayoutId id="2147483963" r:id="rId17"/>
    <p:sldLayoutId id="2147483964" r:id="rId18"/>
    <p:sldLayoutId id="2147483965" r:id="rId19"/>
    <p:sldLayoutId id="2147483966" r:id="rId20"/>
    <p:sldLayoutId id="2147483967" r:id="rId21"/>
    <p:sldLayoutId id="2147483968" r:id="rId22"/>
    <p:sldLayoutId id="2147483969" r:id="rId23"/>
    <p:sldLayoutId id="2147483970" r:id="rId2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005A8E"/>
          </a:solidFill>
          <a:latin typeface="Franklin Gothic Medium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22" tIns="45718" rIns="91422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61564"/>
          </a:xfrm>
          <a:prstGeom prst="rect">
            <a:avLst/>
          </a:prstGeom>
        </p:spPr>
        <p:txBody>
          <a:bodyPr vert="horz" lIns="91422" tIns="45718" rIns="91422" bIns="4571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996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</p:sldLayoutIdLst>
  <p:hf hdr="0" ftr="0" dt="0"/>
  <p:txStyles>
    <p:titleStyle>
      <a:lvl1pPr algn="l" defTabSz="914196" rtl="0" eaLnBrk="1" latinLnBrk="0" hangingPunct="1">
        <a:lnSpc>
          <a:spcPct val="90000"/>
        </a:lnSpc>
        <a:spcBef>
          <a:spcPct val="0"/>
        </a:spcBef>
        <a:buNone/>
        <a:defRPr sz="3900" b="1" i="0" kern="1200" baseline="0">
          <a:solidFill>
            <a:srgbClr val="005A8E"/>
          </a:solidFill>
          <a:latin typeface="Franklin Gothic Medium"/>
        </a:defRPr>
      </a:lvl1pPr>
    </p:titleStyle>
    <p:bodyStyle>
      <a:lvl1pPr marL="228552" indent="-228552" algn="l" defTabSz="914196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bg1"/>
          </a:solidFill>
          <a:latin typeface="Franklin Gothic Book" panose="020B0503020102020204" pitchFamily="34" charset="0"/>
          <a:ea typeface="+mn-ea"/>
          <a:cs typeface="+mn-cs"/>
        </a:defRPr>
      </a:lvl1pPr>
      <a:lvl2pPr marL="685654" indent="-228552" algn="l" defTabSz="914196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bg1"/>
          </a:solidFill>
          <a:latin typeface="Franklin Gothic Book" panose="020B0503020102020204" pitchFamily="34" charset="0"/>
          <a:ea typeface="+mn-ea"/>
          <a:cs typeface="+mn-cs"/>
        </a:defRPr>
      </a:lvl2pPr>
      <a:lvl3pPr marL="1142746" indent="-228552" algn="l" defTabSz="914196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bg1"/>
          </a:solidFill>
          <a:latin typeface="Franklin Gothic Book" panose="020B0503020102020204" pitchFamily="34" charset="0"/>
          <a:ea typeface="+mn-ea"/>
          <a:cs typeface="+mn-cs"/>
        </a:defRPr>
      </a:lvl3pPr>
      <a:lvl4pPr marL="1599840" indent="-228552" algn="l" defTabSz="914196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900" kern="1200">
          <a:solidFill>
            <a:schemeClr val="bg1"/>
          </a:solidFill>
          <a:latin typeface="Franklin Gothic Book" panose="020B0503020102020204" pitchFamily="34" charset="0"/>
          <a:ea typeface="+mn-ea"/>
          <a:cs typeface="+mn-cs"/>
        </a:defRPr>
      </a:lvl4pPr>
      <a:lvl5pPr marL="2056935" indent="-228552" algn="l" defTabSz="914196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900" kern="1200">
          <a:solidFill>
            <a:schemeClr val="bg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036" indent="-228552" algn="l" defTabSz="914196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34" indent="-228552" algn="l" defTabSz="914196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32" indent="-228552" algn="l" defTabSz="914196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334" indent="-228552" algn="l" defTabSz="914196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5" algn="l" defTabSz="9141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96" algn="l" defTabSz="9141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94" algn="l" defTabSz="9141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92" algn="l" defTabSz="9141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94" algn="l" defTabSz="9141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86" algn="l" defTabSz="9141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80" algn="l" defTabSz="9141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75" algn="l" defTabSz="914196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947" y="1413026"/>
            <a:ext cx="11394276" cy="4713140"/>
          </a:xfrm>
          <a:prstGeom prst="rect">
            <a:avLst/>
          </a:prstGeom>
        </p:spPr>
        <p:txBody>
          <a:bodyPr vert="horz" lIns="121914" tIns="60957" rIns="121914" bIns="60957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05408" y="6356354"/>
            <a:ext cx="3860800" cy="365125"/>
          </a:xfrm>
          <a:prstGeom prst="rect">
            <a:avLst/>
          </a:prstGeom>
        </p:spPr>
        <p:txBody>
          <a:bodyPr vert="horz" lIns="121914" tIns="60957" rIns="121914" bIns="60957" rtlCol="0" anchor="ctr"/>
          <a:lstStyle>
            <a:lvl1pPr algn="l">
              <a:defRPr sz="1200">
                <a:solidFill>
                  <a:srgbClr val="000000"/>
                </a:solidFill>
                <a:latin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defTabSz="457178"/>
            <a:r>
              <a:rPr lang="en-US" dirty="0"/>
              <a:t>Reference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00084" y="6356354"/>
            <a:ext cx="2844800" cy="365125"/>
          </a:xfrm>
          <a:prstGeom prst="rect">
            <a:avLst/>
          </a:prstGeom>
        </p:spPr>
        <p:txBody>
          <a:bodyPr vert="horz" lIns="121914" tIns="60957" rIns="121914" bIns="60957" rtlCol="0" anchor="ctr"/>
          <a:lstStyle>
            <a:lvl1pPr algn="ctr">
              <a:defRPr sz="1200">
                <a:solidFill>
                  <a:srgbClr val="000000"/>
                </a:solidFill>
                <a:latin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defTabSz="457178"/>
            <a:fld id="{D9DADDD7-F6DB-DE43-84D3-BDE65D6DBA61}" type="slidenum">
              <a:rPr lang="en-US" smtClean="0"/>
              <a:pPr defTabSz="457178"/>
              <a:t>‹#›</a:t>
            </a:fld>
            <a:endParaRPr lang="en-US" dirty="0"/>
          </a:p>
        </p:txBody>
      </p: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464801" y="274639"/>
            <a:ext cx="11401425" cy="1138387"/>
          </a:xfrm>
          <a:prstGeom prst="rect">
            <a:avLst/>
          </a:prstGeom>
        </p:spPr>
        <p:txBody>
          <a:bodyPr vert="horz" lIns="121914" tIns="60957" rIns="121914" bIns="60957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3939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4059" r:id="rId13"/>
  </p:sldLayoutIdLst>
  <p:txStyles>
    <p:titleStyle>
      <a:lvl1pPr algn="l" defTabSz="457178" rtl="0" eaLnBrk="1" latinLnBrk="0" hangingPunct="1">
        <a:spcBef>
          <a:spcPct val="0"/>
        </a:spcBef>
        <a:buNone/>
        <a:defRPr sz="3225" b="1" kern="1200">
          <a:solidFill>
            <a:srgbClr val="005A8E"/>
          </a:solidFill>
          <a:latin typeface="Franklin Gothic Medium"/>
        </a:defRPr>
      </a:lvl1pPr>
    </p:titleStyle>
    <p:bodyStyle>
      <a:lvl1pPr marL="342884" indent="-342884" algn="l" defTabSz="457178" rtl="0" eaLnBrk="1" latinLnBrk="0" hangingPunct="1">
        <a:spcBef>
          <a:spcPct val="20000"/>
        </a:spcBef>
        <a:buFont typeface="Arial"/>
        <a:buChar char="•"/>
        <a:defRPr sz="2025" b="1" kern="1200">
          <a:solidFill>
            <a:schemeClr val="tx1"/>
          </a:solidFill>
          <a:latin typeface="Franklin Gothic Book" panose="020B0503020102020204" pitchFamily="34" charset="0"/>
          <a:ea typeface="+mn-ea"/>
          <a:cs typeface="Franklin Gothic Book" panose="020B0503020102020204" pitchFamily="34" charset="0"/>
        </a:defRPr>
      </a:lvl1pPr>
      <a:lvl2pPr marL="742913" indent="-285736" algn="l" defTabSz="457178" rtl="0" eaLnBrk="1" latinLnBrk="0" hangingPunct="1">
        <a:spcBef>
          <a:spcPct val="20000"/>
        </a:spcBef>
        <a:buFont typeface="Arial"/>
        <a:buChar char="–"/>
        <a:defRPr sz="2025" b="1" kern="1200">
          <a:solidFill>
            <a:schemeClr val="tx1"/>
          </a:solidFill>
          <a:latin typeface="Franklin Gothic Book" panose="020B0503020102020204" pitchFamily="34" charset="0"/>
          <a:ea typeface="+mn-ea"/>
          <a:cs typeface="Franklin Gothic Book" panose="020B0503020102020204" pitchFamily="34" charset="0"/>
        </a:defRPr>
      </a:lvl2pPr>
      <a:lvl3pPr marL="1142944" indent="-228588" algn="l" defTabSz="457178" rtl="0" eaLnBrk="1" latinLnBrk="0" hangingPunct="1">
        <a:spcBef>
          <a:spcPct val="20000"/>
        </a:spcBef>
        <a:buFont typeface="Arial"/>
        <a:buChar char="•"/>
        <a:defRPr sz="2025" b="1" kern="1200">
          <a:solidFill>
            <a:schemeClr val="tx1"/>
          </a:solidFill>
          <a:latin typeface="Franklin Gothic Book" panose="020B0503020102020204" pitchFamily="34" charset="0"/>
          <a:ea typeface="+mn-ea"/>
          <a:cs typeface="Franklin Gothic Book" panose="020B0503020102020204" pitchFamily="34" charset="0"/>
        </a:defRPr>
      </a:lvl3pPr>
      <a:lvl4pPr marL="1600120" indent="-228588" algn="l" defTabSz="457178" rtl="0" eaLnBrk="1" latinLnBrk="0" hangingPunct="1">
        <a:spcBef>
          <a:spcPct val="20000"/>
        </a:spcBef>
        <a:buFont typeface="Arial"/>
        <a:buChar char="–"/>
        <a:defRPr sz="2025" b="1" kern="1200">
          <a:solidFill>
            <a:schemeClr val="tx1"/>
          </a:solidFill>
          <a:latin typeface="Franklin Gothic Book" panose="020B0503020102020204" pitchFamily="34" charset="0"/>
          <a:ea typeface="+mn-ea"/>
          <a:cs typeface="Franklin Gothic Book" panose="020B0503020102020204" pitchFamily="34" charset="0"/>
        </a:defRPr>
      </a:lvl4pPr>
      <a:lvl5pPr marL="2057297" indent="-228588" algn="l" defTabSz="457178" rtl="0" eaLnBrk="1" latinLnBrk="0" hangingPunct="1">
        <a:spcBef>
          <a:spcPct val="20000"/>
        </a:spcBef>
        <a:buFont typeface="Arial"/>
        <a:buChar char="»"/>
        <a:defRPr sz="2025" b="1" kern="1200">
          <a:solidFill>
            <a:schemeClr val="tx1"/>
          </a:solidFill>
          <a:latin typeface="Franklin Gothic Book" panose="020B0503020102020204" pitchFamily="34" charset="0"/>
          <a:ea typeface="+mn-ea"/>
          <a:cs typeface="Franklin Gothic Book" panose="020B0503020102020204" pitchFamily="34" charset="0"/>
        </a:defRPr>
      </a:lvl5pPr>
      <a:lvl6pPr marL="2514474" indent="-228588" algn="l" defTabSz="457178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457178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457178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457178" rtl="0" eaLnBrk="1" latinLnBrk="0" hangingPunct="1">
        <a:spcBef>
          <a:spcPct val="20000"/>
        </a:spcBef>
        <a:buFont typeface="Arial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0C8885F1-EC45-5C5C-7D43-8F2AA2D64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349729500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7772400" imgH="10058400" progId="TCLayout.ActiveDocument.1">
                  <p:embed/>
                </p:oleObj>
              </mc:Choice>
              <mc:Fallback>
                <p:oleObj name="think-cell Slide" r:id="rId22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0C8885F1-EC45-5C5C-7D43-8F2AA2D64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2063" y="457201"/>
            <a:ext cx="11184423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064" y="1700783"/>
            <a:ext cx="11184422" cy="4404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671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  <p:sldLayoutId id="2147483988" r:id="rId12"/>
    <p:sldLayoutId id="2147483989" r:id="rId13"/>
    <p:sldLayoutId id="2147483990" r:id="rId14"/>
    <p:sldLayoutId id="2147483991" r:id="rId15"/>
    <p:sldLayoutId id="2147484053" r:id="rId16"/>
    <p:sldLayoutId id="2147484055" r:id="rId17"/>
    <p:sldLayoutId id="2147484056" r:id="rId18"/>
    <p:sldLayoutId id="214748405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50" baseline="0">
          <a:solidFill>
            <a:srgbClr val="005A8E"/>
          </a:solidFill>
          <a:latin typeface="Franklin Gothic Medium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rgbClr val="272524"/>
          </a:solidFill>
          <a:latin typeface="Franklin Gothic Book" panose="020B0503020102020204" pitchFamily="34" charset="0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kern="1200">
          <a:solidFill>
            <a:srgbClr val="272524"/>
          </a:solidFill>
          <a:latin typeface="Franklin Gothic Book" panose="020B0503020102020204" pitchFamily="34" charset="0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800" kern="1200">
          <a:solidFill>
            <a:srgbClr val="272524"/>
          </a:solidFill>
          <a:latin typeface="Franklin Gothic Book" panose="020B0503020102020204" pitchFamily="34" charset="0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kern="1200">
          <a:solidFill>
            <a:srgbClr val="272524"/>
          </a:solidFill>
          <a:latin typeface="Franklin Gothic Book" panose="020B0503020102020204" pitchFamily="34" charset="0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800" kern="1200">
          <a:solidFill>
            <a:srgbClr val="272524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">
          <p15:clr>
            <a:srgbClr val="F26B43"/>
          </p15:clr>
        </p15:guide>
        <p15:guide id="2" pos="318">
          <p15:clr>
            <a:srgbClr val="F26B43"/>
          </p15:clr>
        </p15:guide>
        <p15:guide id="3" pos="7370">
          <p15:clr>
            <a:srgbClr val="F26B43"/>
          </p15:clr>
        </p15:guide>
        <p15:guide id="4" orient="horz" pos="4170">
          <p15:clr>
            <a:srgbClr val="F26B43"/>
          </p15:clr>
        </p15:guide>
        <p15:guide id="5" orient="horz" pos="864">
          <p15:clr>
            <a:srgbClr val="F26B43"/>
          </p15:clr>
        </p15:guide>
        <p15:guide id="6" orient="horz" pos="1070">
          <p15:clr>
            <a:srgbClr val="F26B43"/>
          </p15:clr>
        </p15:guide>
        <p15:guide id="7" orient="horz" pos="38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10.png"/><Relationship Id="rId4" Type="http://schemas.openxmlformats.org/officeDocument/2006/relationships/customXml" Target="../ink/ink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customXml" Target="../ink/ink12.xml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customXml" Target="../ink/ink11.xml"/><Relationship Id="rId4" Type="http://schemas.openxmlformats.org/officeDocument/2006/relationships/customXml" Target="../ink/ink8.xml"/><Relationship Id="rId9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customXml" Target="../ink/ink14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9.jpeg"/><Relationship Id="rId7" Type="http://schemas.openxmlformats.org/officeDocument/2006/relationships/customXml" Target="../ink/ink17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png"/><Relationship Id="rId5" Type="http://schemas.openxmlformats.org/officeDocument/2006/relationships/customXml" Target="../ink/ink16.xml"/><Relationship Id="rId10" Type="http://schemas.openxmlformats.org/officeDocument/2006/relationships/image" Target="../media/image31.png"/><Relationship Id="rId4" Type="http://schemas.openxmlformats.org/officeDocument/2006/relationships/image" Target="../media/image10.jpeg"/><Relationship Id="rId9" Type="http://schemas.openxmlformats.org/officeDocument/2006/relationships/customXml" Target="../ink/ink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7" Type="http://schemas.openxmlformats.org/officeDocument/2006/relationships/image" Target="../media/image37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5" Type="http://schemas.openxmlformats.org/officeDocument/2006/relationships/image" Target="../media/image36.png"/><Relationship Id="rId4" Type="http://schemas.openxmlformats.org/officeDocument/2006/relationships/customXml" Target="../ink/ink2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5" Type="http://schemas.openxmlformats.org/officeDocument/2006/relationships/image" Target="../media/image39.png"/><Relationship Id="rId4" Type="http://schemas.openxmlformats.org/officeDocument/2006/relationships/customXml" Target="../ink/ink2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customXml" Target="../ink/ink2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5" Type="http://schemas.openxmlformats.org/officeDocument/2006/relationships/image" Target="../media/image46.png"/><Relationship Id="rId4" Type="http://schemas.openxmlformats.org/officeDocument/2006/relationships/customXml" Target="../ink/ink2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7" Type="http://schemas.openxmlformats.org/officeDocument/2006/relationships/image" Target="../media/image59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5" Type="http://schemas.openxmlformats.org/officeDocument/2006/relationships/image" Target="../media/image580.png"/><Relationship Id="rId4" Type="http://schemas.openxmlformats.org/officeDocument/2006/relationships/customXml" Target="../ink/ink3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0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5" Type="http://schemas.openxmlformats.org/officeDocument/2006/relationships/image" Target="../media/image69.png"/><Relationship Id="rId4" Type="http://schemas.openxmlformats.org/officeDocument/2006/relationships/customXml" Target="../ink/ink39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customXml" Target="../ink/ink4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7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.xml"/><Relationship Id="rId5" Type="http://schemas.openxmlformats.org/officeDocument/2006/relationships/image" Target="../media/image76.png"/><Relationship Id="rId4" Type="http://schemas.openxmlformats.org/officeDocument/2006/relationships/customXml" Target="../ink/ink4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customXml" Target="../ink/ink46.xml"/><Relationship Id="rId7" Type="http://schemas.openxmlformats.org/officeDocument/2006/relationships/customXml" Target="../ink/ink48.xm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3.png"/><Relationship Id="rId5" Type="http://schemas.openxmlformats.org/officeDocument/2006/relationships/customXml" Target="../ink/ink47.xml"/><Relationship Id="rId10" Type="http://schemas.openxmlformats.org/officeDocument/2006/relationships/image" Target="../media/image85.png"/><Relationship Id="rId4" Type="http://schemas.openxmlformats.org/officeDocument/2006/relationships/image" Target="../media/image82.png"/><Relationship Id="rId9" Type="http://schemas.openxmlformats.org/officeDocument/2006/relationships/customXml" Target="../ink/ink49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.xml"/><Relationship Id="rId3" Type="http://schemas.openxmlformats.org/officeDocument/2006/relationships/image" Target="../media/image87.png"/><Relationship Id="rId7" Type="http://schemas.openxmlformats.org/officeDocument/2006/relationships/image" Target="../media/image89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8.xml"/><Relationship Id="rId6" Type="http://schemas.openxmlformats.org/officeDocument/2006/relationships/customXml" Target="../ink/ink51.xml"/><Relationship Id="rId11" Type="http://schemas.openxmlformats.org/officeDocument/2006/relationships/image" Target="../media/image91.png"/><Relationship Id="rId5" Type="http://schemas.openxmlformats.org/officeDocument/2006/relationships/image" Target="../media/image88.png"/><Relationship Id="rId10" Type="http://schemas.openxmlformats.org/officeDocument/2006/relationships/customXml" Target="../ink/ink53.xml"/><Relationship Id="rId4" Type="http://schemas.openxmlformats.org/officeDocument/2006/relationships/customXml" Target="../ink/ink50.xml"/><Relationship Id="rId9" Type="http://schemas.openxmlformats.org/officeDocument/2006/relationships/image" Target="../media/image90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7.xml"/><Relationship Id="rId13" Type="http://schemas.openxmlformats.org/officeDocument/2006/relationships/image" Target="../media/image97.png"/><Relationship Id="rId18" Type="http://schemas.openxmlformats.org/officeDocument/2006/relationships/customXml" Target="../ink/ink62.xml"/><Relationship Id="rId3" Type="http://schemas.openxmlformats.org/officeDocument/2006/relationships/image" Target="../media/image92.png"/><Relationship Id="rId7" Type="http://schemas.openxmlformats.org/officeDocument/2006/relationships/image" Target="../media/image94.png"/><Relationship Id="rId12" Type="http://schemas.openxmlformats.org/officeDocument/2006/relationships/customXml" Target="../ink/ink59.xml"/><Relationship Id="rId17" Type="http://schemas.openxmlformats.org/officeDocument/2006/relationships/image" Target="../media/image99.png"/><Relationship Id="rId2" Type="http://schemas.openxmlformats.org/officeDocument/2006/relationships/customXml" Target="../ink/ink54.xml"/><Relationship Id="rId16" Type="http://schemas.openxmlformats.org/officeDocument/2006/relationships/customXml" Target="../ink/ink6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.xml"/><Relationship Id="rId11" Type="http://schemas.openxmlformats.org/officeDocument/2006/relationships/image" Target="../media/image96.png"/><Relationship Id="rId5" Type="http://schemas.openxmlformats.org/officeDocument/2006/relationships/image" Target="../media/image93.png"/><Relationship Id="rId15" Type="http://schemas.openxmlformats.org/officeDocument/2006/relationships/image" Target="../media/image98.png"/><Relationship Id="rId10" Type="http://schemas.openxmlformats.org/officeDocument/2006/relationships/customXml" Target="../ink/ink58.xml"/><Relationship Id="rId19" Type="http://schemas.openxmlformats.org/officeDocument/2006/relationships/image" Target="../media/image100.png"/><Relationship Id="rId4" Type="http://schemas.openxmlformats.org/officeDocument/2006/relationships/customXml" Target="../ink/ink55.xml"/><Relationship Id="rId9" Type="http://schemas.openxmlformats.org/officeDocument/2006/relationships/image" Target="../media/image95.png"/><Relationship Id="rId14" Type="http://schemas.openxmlformats.org/officeDocument/2006/relationships/customXml" Target="../ink/ink60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6.xml"/><Relationship Id="rId13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3.png"/><Relationship Id="rId12" Type="http://schemas.openxmlformats.org/officeDocument/2006/relationships/customXml" Target="../ink/ink68.xml"/><Relationship Id="rId2" Type="http://schemas.openxmlformats.org/officeDocument/2006/relationships/customXml" Target="../ink/ink6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5.xml"/><Relationship Id="rId11" Type="http://schemas.openxmlformats.org/officeDocument/2006/relationships/image" Target="../media/image105.png"/><Relationship Id="rId5" Type="http://schemas.openxmlformats.org/officeDocument/2006/relationships/image" Target="../media/image102.png"/><Relationship Id="rId10" Type="http://schemas.openxmlformats.org/officeDocument/2006/relationships/customXml" Target="../ink/ink67.xml"/><Relationship Id="rId4" Type="http://schemas.openxmlformats.org/officeDocument/2006/relationships/customXml" Target="../ink/ink64.xml"/><Relationship Id="rId9" Type="http://schemas.openxmlformats.org/officeDocument/2006/relationships/image" Target="../media/image10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customXml" Target="../ink/ink6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customXml" Target="../ink/ink70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1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customXml" Target="../ink/ink7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customXml" Target="../ink/ink7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0.png"/><Relationship Id="rId2" Type="http://schemas.openxmlformats.org/officeDocument/2006/relationships/customXml" Target="../ink/ink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customXml" Target="../ink/ink7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6.xml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0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jpe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emf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0.jpe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35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30.jpeg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39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35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jpeg"/><Relationship Id="rId2" Type="http://schemas.openxmlformats.org/officeDocument/2006/relationships/image" Target="../media/image133.jpeg"/><Relationship Id="rId1" Type="http://schemas.openxmlformats.org/officeDocument/2006/relationships/slideLayout" Target="../slideLayouts/slideLayout40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image" Target="../media/image135.jpeg"/><Relationship Id="rId1" Type="http://schemas.openxmlformats.org/officeDocument/2006/relationships/slideLayout" Target="../slideLayouts/slideLayout40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eg"/><Relationship Id="rId1" Type="http://schemas.openxmlformats.org/officeDocument/2006/relationships/slideLayout" Target="../slideLayouts/slideLayout35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44.png"/><Relationship Id="rId4" Type="http://schemas.openxmlformats.org/officeDocument/2006/relationships/image" Target="../media/image143.jpe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customXml" Target="../ink/ink77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440.png"/><Relationship Id="rId4" Type="http://schemas.openxmlformats.org/officeDocument/2006/relationships/customXml" Target="../ink/ink78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35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35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7.png"/><Relationship Id="rId2" Type="http://schemas.openxmlformats.org/officeDocument/2006/relationships/customXml" Target="../ink/ink79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81.xml"/><Relationship Id="rId5" Type="http://schemas.openxmlformats.org/officeDocument/2006/relationships/image" Target="../media/image146.png"/><Relationship Id="rId4" Type="http://schemas.openxmlformats.org/officeDocument/2006/relationships/customXml" Target="../ink/ink80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3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4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jpeg"/><Relationship Id="rId2" Type="http://schemas.openxmlformats.org/officeDocument/2006/relationships/image" Target="../media/image151.jpeg"/><Relationship Id="rId1" Type="http://schemas.openxmlformats.org/officeDocument/2006/relationships/slideLayout" Target="../slideLayouts/slideLayout64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tiff"/><Relationship Id="rId1" Type="http://schemas.openxmlformats.org/officeDocument/2006/relationships/slideLayout" Target="../slideLayouts/slideLayout64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64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5.xml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4.xml"/><Relationship Id="rId3" Type="http://schemas.openxmlformats.org/officeDocument/2006/relationships/image" Target="../media/image158.png"/><Relationship Id="rId7" Type="http://schemas.openxmlformats.org/officeDocument/2006/relationships/image" Target="../media/image159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64.xml"/><Relationship Id="rId6" Type="http://schemas.openxmlformats.org/officeDocument/2006/relationships/customXml" Target="../ink/ink83.xml"/><Relationship Id="rId5" Type="http://schemas.openxmlformats.org/officeDocument/2006/relationships/image" Target="../media/image1580.png"/><Relationship Id="rId4" Type="http://schemas.openxmlformats.org/officeDocument/2006/relationships/customXml" Target="../ink/ink82.xml"/><Relationship Id="rId9" Type="http://schemas.openxmlformats.org/officeDocument/2006/relationships/image" Target="../media/image160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5.xml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5.xml"/><Relationship Id="rId4" Type="http://schemas.openxmlformats.org/officeDocument/2006/relationships/image" Target="../media/image4.png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5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5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75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5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jpeg"/><Relationship Id="rId1" Type="http://schemas.openxmlformats.org/officeDocument/2006/relationships/slideLayout" Target="../slideLayouts/slideLayout35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5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35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35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jpeg"/><Relationship Id="rId1" Type="http://schemas.openxmlformats.org/officeDocument/2006/relationships/slideLayout" Target="../slideLayouts/slideLayout39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35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emf"/><Relationship Id="rId1" Type="http://schemas.openxmlformats.org/officeDocument/2006/relationships/slideLayout" Target="../slideLayouts/slideLayout35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3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3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18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customXml" Target="../ink/ink86.xml"/><Relationship Id="rId1" Type="http://schemas.openxmlformats.org/officeDocument/2006/relationships/slideLayout" Target="../slideLayouts/slideLayout14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4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7" Type="http://schemas.openxmlformats.org/officeDocument/2006/relationships/image" Target="../media/image181.png"/><Relationship Id="rId2" Type="http://schemas.openxmlformats.org/officeDocument/2006/relationships/customXml" Target="../ink/ink87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89.xml"/><Relationship Id="rId5" Type="http://schemas.openxmlformats.org/officeDocument/2006/relationships/image" Target="../media/image180.png"/><Relationship Id="rId4" Type="http://schemas.openxmlformats.org/officeDocument/2006/relationships/customXml" Target="../ink/ink88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4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14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14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4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4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14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2.gif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4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33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33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4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emf"/><Relationship Id="rId1" Type="http://schemas.openxmlformats.org/officeDocument/2006/relationships/slideLayout" Target="../slideLayouts/slideLayout14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99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92.xml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jpeg"/><Relationship Id="rId1" Type="http://schemas.openxmlformats.org/officeDocument/2006/relationships/slideLayout" Target="../slideLayouts/slideLayout93.xml"/><Relationship Id="rId5" Type="http://schemas.openxmlformats.org/officeDocument/2006/relationships/image" Target="../media/image207.png"/><Relationship Id="rId4" Type="http://schemas.openxmlformats.org/officeDocument/2006/relationships/image" Target="../media/image206.png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39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93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jpeg"/><Relationship Id="rId1" Type="http://schemas.openxmlformats.org/officeDocument/2006/relationships/slideLayout" Target="../slideLayouts/slideLayout93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4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customXml" Target="../ink/ink90.xml"/><Relationship Id="rId1" Type="http://schemas.openxmlformats.org/officeDocument/2006/relationships/slideLayout" Target="../slideLayouts/slideLayout91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svg"/><Relationship Id="rId1" Type="http://schemas.openxmlformats.org/officeDocument/2006/relationships/slideLayout" Target="../slideLayouts/slideLayout35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35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217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39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35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35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customXml" Target="../ink/ink91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25.png"/><Relationship Id="rId4" Type="http://schemas.openxmlformats.org/officeDocument/2006/relationships/customXml" Target="../ink/ink9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35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jpeg"/><Relationship Id="rId1" Type="http://schemas.openxmlformats.org/officeDocument/2006/relationships/slideLayout" Target="../slideLayouts/slideLayout35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35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35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35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35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35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35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35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35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35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93.xml"/><Relationship Id="rId1" Type="http://schemas.openxmlformats.org/officeDocument/2006/relationships/slideLayout" Target="../slideLayouts/slideLayout35.xml"/><Relationship Id="rId5" Type="http://schemas.openxmlformats.org/officeDocument/2006/relationships/customXml" Target="../ink/ink95.xml"/><Relationship Id="rId4" Type="http://schemas.openxmlformats.org/officeDocument/2006/relationships/customXml" Target="../ink/ink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Treatment of Patients with Advanced</a:t>
            </a:r>
            <a:br>
              <a:rPr lang="en-US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Non-Small Cell Lung Cancers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Franklin Gothic Demi" panose="020B0703020102020204" pitchFamily="34" charset="0"/>
              </a:rPr>
              <a:t>Gregory J. Riely</a:t>
            </a:r>
          </a:p>
          <a:p>
            <a:r>
              <a:rPr lang="en-US" dirty="0">
                <a:latin typeface="Franklin Gothic Demi" panose="020B0703020102020204" pitchFamily="34" charset="0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23CAA-1A4D-4ED3-8AD6-80818F33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MSK receives money for research conducted by me from:</a:t>
            </a:r>
          </a:p>
          <a:p>
            <a:pPr lvl="1"/>
            <a:r>
              <a:rPr lang="en-US" dirty="0"/>
              <a:t>Novartis</a:t>
            </a:r>
          </a:p>
          <a:p>
            <a:pPr lvl="1"/>
            <a:r>
              <a:rPr lang="en-US" dirty="0"/>
              <a:t>Pfizer</a:t>
            </a:r>
          </a:p>
          <a:p>
            <a:pPr lvl="1"/>
            <a:r>
              <a:rPr lang="en-US" dirty="0"/>
              <a:t>Merck</a:t>
            </a:r>
          </a:p>
          <a:p>
            <a:pPr lvl="1"/>
            <a:r>
              <a:rPr lang="en-US" dirty="0"/>
              <a:t>Mirati</a:t>
            </a:r>
          </a:p>
          <a:p>
            <a:pPr lvl="1"/>
            <a:r>
              <a:rPr lang="en-US" dirty="0"/>
              <a:t>Roche</a:t>
            </a:r>
          </a:p>
          <a:p>
            <a:pPr lvl="1"/>
            <a:r>
              <a:rPr lang="en-US" dirty="0"/>
              <a:t>Takeda</a:t>
            </a:r>
          </a:p>
          <a:p>
            <a:pPr lvl="1"/>
            <a:r>
              <a:rPr lang="en-US" dirty="0"/>
              <a:t>Lilly</a:t>
            </a:r>
          </a:p>
          <a:p>
            <a:pPr lvl="1"/>
            <a:r>
              <a:rPr lang="en-US" dirty="0"/>
              <a:t>Amgen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0CC9AF-C6DE-44AE-BBB9-273536B7E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Disclosures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F97417-DE4C-F442-2C30-C4F14087F537}"/>
                  </a:ext>
                </a:extLst>
              </p14:cNvPr>
              <p14:cNvContentPartPr/>
              <p14:nvPr/>
            </p14:nvContentPartPr>
            <p14:xfrm>
              <a:off x="992965" y="510956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F97417-DE4C-F442-2C30-C4F14087F5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5325" y="49331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792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A4F54-0A38-721A-BBBD-17CBE0F85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47EEB-ED8F-8983-9627-A09E8F43C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Disclosures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B2D23E-FF4A-9A29-1EF1-0538298D44C6}"/>
                  </a:ext>
                </a:extLst>
              </p14:cNvPr>
              <p14:cNvContentPartPr/>
              <p14:nvPr/>
            </p14:nvContentPartPr>
            <p14:xfrm>
              <a:off x="992965" y="510956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B2D23E-FF4A-9A29-1EF1-0538298D44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4965" y="49295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CA137BE-12FC-83D8-705E-3B7FC3D773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2731" y="835742"/>
            <a:ext cx="5916127" cy="499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4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C718A-ED65-7CA6-E962-A04703F81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D8EF5-EEF8-B474-1D09-F2CF7FC7D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Disclosures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CFA6AE3-6758-245D-133B-2C77FCD2E155}"/>
                  </a:ext>
                </a:extLst>
              </p14:cNvPr>
              <p14:cNvContentPartPr/>
              <p14:nvPr/>
            </p14:nvContentPartPr>
            <p14:xfrm>
              <a:off x="992965" y="510956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CFA6AE3-6758-245D-133B-2C77FCD2E1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4965" y="49295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1EA45DE-3C7E-39B9-31F0-29188540D9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2777" y="1977625"/>
            <a:ext cx="6702997" cy="966626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AE9F57-F86A-0375-D1FD-AF95F30BAD86}"/>
              </a:ext>
            </a:extLst>
          </p:cNvPr>
          <p:cNvSpPr txBox="1"/>
          <p:nvPr/>
        </p:nvSpPr>
        <p:spPr>
          <a:xfrm>
            <a:off x="527612" y="2230105"/>
            <a:ext cx="36451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Fellowship Program: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3AEDA0-B314-1F26-E8B0-39240A9CFF21}"/>
              </a:ext>
            </a:extLst>
          </p:cNvPr>
          <p:cNvSpPr txBox="1"/>
          <p:nvPr/>
        </p:nvSpPr>
        <p:spPr>
          <a:xfrm>
            <a:off x="2499084" y="4084845"/>
            <a:ext cx="702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DAD022-D83D-423D-C878-2A55692DB375}"/>
              </a:ext>
            </a:extLst>
          </p:cNvPr>
          <p:cNvSpPr txBox="1"/>
          <p:nvPr/>
        </p:nvSpPr>
        <p:spPr>
          <a:xfrm>
            <a:off x="3626832" y="4035435"/>
            <a:ext cx="6066084" cy="707886"/>
          </a:xfrm>
          <a:prstGeom prst="rect">
            <a:avLst/>
          </a:prstGeom>
          <a:noFill/>
          <a:ln w="3492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There are way more than 50 OS/PFS curves in this talk</a:t>
            </a:r>
          </a:p>
          <a:p>
            <a:pPr algn="r"/>
            <a:r>
              <a:rPr lang="en-US" sz="2000" dirty="0"/>
              <a:t>… I think you can handle it</a:t>
            </a:r>
          </a:p>
        </p:txBody>
      </p:sp>
    </p:spTree>
    <p:extLst>
      <p:ext uri="{BB962C8B-B14F-4D97-AF65-F5344CB8AC3E}">
        <p14:creationId xmlns:p14="http://schemas.microsoft.com/office/powerpoint/2010/main" val="219299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C89E8-9BCC-4B82-A32F-2ED6A689D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epidemiology</a:t>
            </a:r>
          </a:p>
          <a:p>
            <a:r>
              <a:rPr lang="en-US" dirty="0"/>
              <a:t>Chemotherapy approach</a:t>
            </a:r>
          </a:p>
          <a:p>
            <a:r>
              <a:rPr lang="en-US" dirty="0"/>
              <a:t>Incorporation of immune checkpoint inhibitors</a:t>
            </a:r>
          </a:p>
          <a:p>
            <a:r>
              <a:rPr lang="en-US" dirty="0"/>
              <a:t>Targeted therapy</a:t>
            </a:r>
          </a:p>
          <a:p>
            <a:r>
              <a:rPr lang="en-US" dirty="0"/>
              <a:t>Thymic tumors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DF445-40BC-4F16-AC28-401F6A922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983464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F1DDAE-AB87-2DB0-58A4-9C690B3D4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9625" y="980297"/>
            <a:ext cx="9915525" cy="55304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3CD8C9-BCD0-4BC2-8F4C-425AE8A09820}"/>
              </a:ext>
            </a:extLst>
          </p:cNvPr>
          <p:cNvSpPr txBox="1"/>
          <p:nvPr/>
        </p:nvSpPr>
        <p:spPr>
          <a:xfrm>
            <a:off x="5281058" y="6401214"/>
            <a:ext cx="61622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Franklin Gothic Book" panose="020B0503020102020204" pitchFamily="34" charset="0"/>
              </a:rPr>
              <a:t>Cancer Facts &amp; Figures 2026, American Cancer Society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290B07-3C53-E473-4BB6-C78A13B61E20}"/>
              </a:ext>
            </a:extLst>
          </p:cNvPr>
          <p:cNvSpPr/>
          <p:nvPr/>
        </p:nvSpPr>
        <p:spPr>
          <a:xfrm>
            <a:off x="1460365" y="1520756"/>
            <a:ext cx="9055235" cy="272375"/>
          </a:xfrm>
          <a:prstGeom prst="rect">
            <a:avLst/>
          </a:prstGeom>
          <a:noFill/>
          <a:ln w="47625">
            <a:solidFill>
              <a:srgbClr val="FFFF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E42FAA-376D-3A6B-5492-0B55F0B7AEBE}"/>
              </a:ext>
            </a:extLst>
          </p:cNvPr>
          <p:cNvSpPr/>
          <p:nvPr/>
        </p:nvSpPr>
        <p:spPr>
          <a:xfrm>
            <a:off x="1460364" y="4101833"/>
            <a:ext cx="9055235" cy="272375"/>
          </a:xfrm>
          <a:prstGeom prst="rect">
            <a:avLst/>
          </a:prstGeom>
          <a:noFill/>
          <a:ln w="47625">
            <a:solidFill>
              <a:srgbClr val="FFFF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4BCAC62F-D412-BC69-1300-419EFDBD8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6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Lung cancer is common, and we aren’t great at curing it</a:t>
            </a:r>
          </a:p>
        </p:txBody>
      </p:sp>
    </p:spTree>
    <p:extLst>
      <p:ext uri="{BB962C8B-B14F-4D97-AF65-F5344CB8AC3E}">
        <p14:creationId xmlns:p14="http://schemas.microsoft.com/office/powerpoint/2010/main" val="255993787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ltGray">
          <a:xfrm>
            <a:off x="1524007" y="0"/>
            <a:ext cx="917892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1524000" y="228600"/>
            <a:ext cx="9144000" cy="118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314" tIns="41157" rIns="82314" bIns="41157"/>
          <a:lstStyle/>
          <a:p>
            <a:pPr marL="285750" indent="-285750" algn="ctr" eaLnBrk="0" hangingPunct="0">
              <a:buClr>
                <a:srgbClr val="1F497D"/>
              </a:buClr>
              <a:buSzPct val="90000"/>
            </a:pPr>
            <a:r>
              <a:rPr lang="en-US" sz="3200" b="1" dirty="0">
                <a:solidFill>
                  <a:srgbClr val="FFFF00"/>
                </a:solidFill>
                <a:latin typeface="Franklin Gothic Book" panose="020B0503020102020204" pitchFamily="34" charset="0"/>
              </a:rPr>
              <a:t>&gt; 85% of Lung Cancer Is Caused by </a:t>
            </a:r>
          </a:p>
          <a:p>
            <a:pPr marL="285750" indent="-285750" algn="ctr" eaLnBrk="0" hangingPunct="0">
              <a:buClr>
                <a:srgbClr val="1F497D"/>
              </a:buClr>
              <a:buSzPct val="90000"/>
            </a:pPr>
            <a:r>
              <a:rPr lang="en-US" sz="3200" b="1" dirty="0">
                <a:solidFill>
                  <a:srgbClr val="FFFF00"/>
                </a:solidFill>
                <a:latin typeface="Franklin Gothic Book" panose="020B0503020102020204" pitchFamily="34" charset="0"/>
              </a:rPr>
              <a:t>Cigarette Smoking</a:t>
            </a:r>
          </a:p>
        </p:txBody>
      </p:sp>
    </p:spTree>
    <p:extLst>
      <p:ext uri="{BB962C8B-B14F-4D97-AF65-F5344CB8AC3E}">
        <p14:creationId xmlns:p14="http://schemas.microsoft.com/office/powerpoint/2010/main" val="143902227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38157" y="1280160"/>
            <a:ext cx="10285482" cy="452431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457C"/>
                </a:solidFill>
                <a:latin typeface="Franklin Gothic Book" panose="020B0503020102020204" pitchFamily="34" charset="0"/>
              </a:rPr>
              <a:t>Lung Cancer Deaths </a:t>
            </a:r>
          </a:p>
          <a:p>
            <a:pPr algn="ctr"/>
            <a:r>
              <a:rPr lang="en-US" sz="2400" dirty="0">
                <a:solidFill>
                  <a:srgbClr val="00457C"/>
                </a:solidFill>
                <a:latin typeface="Franklin Gothic Book" panose="020B0503020102020204" pitchFamily="34" charset="0"/>
              </a:rPr>
              <a:t>= 124,990 (similar to prostate + breast + colon cancer)</a:t>
            </a:r>
          </a:p>
          <a:p>
            <a:pPr algn="ctr"/>
            <a:endParaRPr lang="en-US" sz="2400" dirty="0">
              <a:solidFill>
                <a:srgbClr val="00457C"/>
              </a:solidFill>
              <a:latin typeface="Franklin Gothic Book" panose="020B0503020102020204" pitchFamily="34" charset="0"/>
            </a:endParaRPr>
          </a:p>
          <a:p>
            <a:pPr algn="ctr"/>
            <a:r>
              <a:rPr lang="en-US" sz="2400" dirty="0">
                <a:solidFill>
                  <a:srgbClr val="00457C"/>
                </a:solidFill>
                <a:latin typeface="Franklin Gothic Book" panose="020B0503020102020204" pitchFamily="34" charset="0"/>
              </a:rPr>
              <a:t> Lung Cancer Deaths in Never Smokers</a:t>
            </a:r>
          </a:p>
          <a:p>
            <a:pPr algn="ctr"/>
            <a:r>
              <a:rPr lang="en-US" sz="2400" dirty="0">
                <a:solidFill>
                  <a:srgbClr val="00457C"/>
                </a:solidFill>
                <a:latin typeface="Franklin Gothic Book" panose="020B0503020102020204" pitchFamily="34" charset="0"/>
              </a:rPr>
              <a:t>~ 20,000</a:t>
            </a:r>
          </a:p>
          <a:p>
            <a:pPr algn="ctr"/>
            <a:endParaRPr lang="en-US" sz="2400" dirty="0">
              <a:solidFill>
                <a:srgbClr val="00457C"/>
              </a:solidFill>
              <a:latin typeface="Franklin Gothic Book" panose="020B0503020102020204" pitchFamily="34" charset="0"/>
            </a:endParaRPr>
          </a:p>
          <a:p>
            <a:pPr algn="ctr"/>
            <a:r>
              <a:rPr lang="en-US" sz="2400" dirty="0">
                <a:solidFill>
                  <a:srgbClr val="00457C"/>
                </a:solidFill>
                <a:latin typeface="Franklin Gothic Book" panose="020B0503020102020204" pitchFamily="34" charset="0"/>
              </a:rPr>
              <a:t>&gt; Ovarian Cancer</a:t>
            </a:r>
          </a:p>
          <a:p>
            <a:pPr algn="ctr"/>
            <a:r>
              <a:rPr lang="en-US" sz="2400" dirty="0">
                <a:solidFill>
                  <a:srgbClr val="00457C"/>
                </a:solidFill>
                <a:latin typeface="Franklin Gothic Book" panose="020B0503020102020204" pitchFamily="34" charset="0"/>
              </a:rPr>
              <a:t>&gt; Kidney Cancer</a:t>
            </a:r>
          </a:p>
          <a:p>
            <a:pPr algn="ctr"/>
            <a:r>
              <a:rPr lang="en-US" sz="2400" dirty="0">
                <a:solidFill>
                  <a:srgbClr val="00457C"/>
                </a:solidFill>
                <a:latin typeface="Franklin Gothic Book" panose="020B0503020102020204" pitchFamily="34" charset="0"/>
              </a:rPr>
              <a:t>&gt; Bladder Cancer</a:t>
            </a:r>
          </a:p>
          <a:p>
            <a:pPr algn="ctr"/>
            <a:r>
              <a:rPr lang="en-US" sz="2400" dirty="0">
                <a:solidFill>
                  <a:srgbClr val="00457C"/>
                </a:solidFill>
                <a:latin typeface="Franklin Gothic Book" panose="020B0503020102020204" pitchFamily="34" charset="0"/>
              </a:rPr>
              <a:t>&gt; Gastric Cancer</a:t>
            </a:r>
          </a:p>
          <a:p>
            <a:pPr algn="ctr"/>
            <a:r>
              <a:rPr lang="en-US" sz="2400" dirty="0">
                <a:solidFill>
                  <a:srgbClr val="00457C"/>
                </a:solidFill>
                <a:latin typeface="Franklin Gothic Book" panose="020B0503020102020204" pitchFamily="34" charset="0"/>
              </a:rPr>
              <a:t>~ Lymphoma</a:t>
            </a:r>
          </a:p>
          <a:p>
            <a:pPr algn="ctr"/>
            <a:r>
              <a:rPr lang="en-US" sz="2400" dirty="0">
                <a:solidFill>
                  <a:srgbClr val="00457C"/>
                </a:solidFill>
                <a:latin typeface="Franklin Gothic Book" panose="020B0503020102020204" pitchFamily="34" charset="0"/>
              </a:rPr>
              <a:t>~ All Leukemias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354AAE-69C2-B3E7-EC32-E75B0F92F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Lung cancer is not just a disease of smoking</a:t>
            </a:r>
          </a:p>
        </p:txBody>
      </p:sp>
    </p:spTree>
    <p:extLst>
      <p:ext uri="{BB962C8B-B14F-4D97-AF65-F5344CB8AC3E}">
        <p14:creationId xmlns:p14="http://schemas.microsoft.com/office/powerpoint/2010/main" val="369460893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AC52C-F4C0-F71A-3D7B-94668001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78452"/>
            <a:ext cx="10972800" cy="1143000"/>
          </a:xfrm>
        </p:spPr>
        <p:txBody>
          <a:bodyPr>
            <a:noAutofit/>
          </a:bodyPr>
          <a:lstStyle/>
          <a:p>
            <a:r>
              <a:rPr lang="en-US" sz="4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What are the </a:t>
            </a:r>
            <a:br>
              <a:rPr lang="en-US" sz="4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4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key things </a:t>
            </a:r>
            <a:br>
              <a:rPr lang="en-US" sz="4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4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you need to know </a:t>
            </a:r>
            <a:br>
              <a:rPr lang="en-US" sz="4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4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about a patient’s lung cancer </a:t>
            </a:r>
            <a:br>
              <a:rPr lang="en-US" sz="4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4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to develop a treatment plan?</a:t>
            </a:r>
          </a:p>
        </p:txBody>
      </p:sp>
    </p:spTree>
    <p:extLst>
      <p:ext uri="{BB962C8B-B14F-4D97-AF65-F5344CB8AC3E}">
        <p14:creationId xmlns:p14="http://schemas.microsoft.com/office/powerpoint/2010/main" val="322254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67A6E-C16D-8783-6F3C-AF5ED313F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Stage</a:t>
            </a:r>
          </a:p>
          <a:p>
            <a:r>
              <a:rPr lang="en-US"/>
              <a:t>Sites of disease</a:t>
            </a:r>
          </a:p>
          <a:p>
            <a:r>
              <a:rPr lang="en-US"/>
              <a:t>Tumor histology</a:t>
            </a:r>
          </a:p>
          <a:p>
            <a:r>
              <a:rPr lang="en-US"/>
              <a:t>Somatic genomic alterations</a:t>
            </a:r>
          </a:p>
          <a:p>
            <a:r>
              <a:rPr lang="en-US"/>
              <a:t>PD-L1 status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AC52C-F4C0-F71A-3D7B-94668001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What are the key things you need to know about a patient’s lung cancer to develop a treatment plan?</a:t>
            </a:r>
          </a:p>
        </p:txBody>
      </p:sp>
    </p:spTree>
    <p:extLst>
      <p:ext uri="{BB962C8B-B14F-4D97-AF65-F5344CB8AC3E}">
        <p14:creationId xmlns:p14="http://schemas.microsoft.com/office/powerpoint/2010/main" val="1130438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44489" y="1219200"/>
            <a:ext cx="2152650" cy="46166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noFill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Franklin Gothic Book" panose="020B0503020102020204" pitchFamily="34" charset="0"/>
                <a:cs typeface="Arial" pitchFamily="34" charset="0"/>
              </a:rPr>
              <a:t>Stage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3800" y="1285037"/>
            <a:ext cx="3876400" cy="461665"/>
          </a:xfrm>
          <a:prstGeom prst="rect">
            <a:avLst/>
          </a:prstGeom>
          <a:solidFill>
            <a:schemeClr val="accent3">
              <a:lumMod val="50000"/>
            </a:schemeClr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FFFFFF"/>
                </a:solidFill>
                <a:latin typeface="Franklin Gothic Book" panose="020B0503020102020204" pitchFamily="34" charset="0"/>
                <a:cs typeface="Arial" pitchFamily="34" charset="0"/>
              </a:rPr>
              <a:t>Small lung mass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3800" y="3203560"/>
            <a:ext cx="3876400" cy="83099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FFFFFF"/>
                </a:solidFill>
                <a:latin typeface="Franklin Gothic Book" panose="020B0503020102020204" pitchFamily="34" charset="0"/>
                <a:cs typeface="Arial" pitchFamily="34" charset="0"/>
              </a:rPr>
              <a:t>&gt;7 cm or mediastinal nodal involvement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4724400"/>
            <a:ext cx="3820656" cy="1200329"/>
          </a:xfrm>
          <a:prstGeom prst="rect">
            <a:avLst/>
          </a:prstGeom>
          <a:solidFill>
            <a:schemeClr val="accent3">
              <a:lumMod val="50000"/>
            </a:schemeClr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FFFFFF"/>
                </a:solidFill>
                <a:latin typeface="Franklin Gothic Book" panose="020B0503020102020204" pitchFamily="34" charset="0"/>
                <a:cs typeface="Arial" pitchFamily="34" charset="0"/>
              </a:rPr>
              <a:t>Involvement of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FFFFFF"/>
                </a:solidFill>
                <a:latin typeface="Franklin Gothic Book" panose="020B0503020102020204" pitchFamily="34" charset="0"/>
                <a:cs typeface="Arial" pitchFamily="34" charset="0"/>
              </a:rPr>
              <a:t>other organs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FFFFFF"/>
                </a:solidFill>
                <a:latin typeface="Franklin Gothic Book" panose="020B0503020102020204" pitchFamily="34" charset="0"/>
                <a:cs typeface="Arial" pitchFamily="34" charset="0"/>
              </a:rPr>
              <a:t>or contralateral lung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0230" y="4857881"/>
            <a:ext cx="3095271" cy="830997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noFill/>
          </a:ln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Franklin Gothic Book" panose="020B0503020102020204" pitchFamily="34" charset="0"/>
                <a:cs typeface="Arial" pitchFamily="34" charset="0"/>
              </a:rPr>
              <a:t>Stage IV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Franklin Gothic Book" panose="020B0503020102020204" pitchFamily="34" charset="0"/>
                <a:cs typeface="Arial" pitchFamily="34" charset="0"/>
              </a:rPr>
              <a:t>(or Recurrent Disease)</a:t>
            </a:r>
          </a:p>
        </p:txBody>
      </p:sp>
      <p:cxnSp>
        <p:nvCxnSpPr>
          <p:cNvPr id="47111" name="Straight Arrow Connector 14"/>
          <p:cNvCxnSpPr>
            <a:cxnSpLocks noChangeShapeType="1"/>
          </p:cNvCxnSpPr>
          <p:nvPr/>
        </p:nvCxnSpPr>
        <p:spPr bwMode="auto">
          <a:xfrm>
            <a:off x="5410200" y="5322892"/>
            <a:ext cx="1219200" cy="1587"/>
          </a:xfrm>
          <a:prstGeom prst="straightConnector1">
            <a:avLst/>
          </a:prstGeom>
          <a:noFill/>
          <a:ln w="57150" algn="ctr">
            <a:solidFill>
              <a:srgbClr val="FF9900"/>
            </a:solidFill>
            <a:round/>
            <a:headEnd/>
            <a:tailEnd type="arrow" w="med" len="med"/>
          </a:ln>
        </p:spPr>
      </p:cxnSp>
      <p:cxnSp>
        <p:nvCxnSpPr>
          <p:cNvPr id="47112" name="Straight Arrow Connector 14"/>
          <p:cNvCxnSpPr>
            <a:cxnSpLocks noChangeShapeType="1"/>
          </p:cNvCxnSpPr>
          <p:nvPr/>
        </p:nvCxnSpPr>
        <p:spPr bwMode="auto">
          <a:xfrm>
            <a:off x="5410200" y="3619487"/>
            <a:ext cx="1219200" cy="1588"/>
          </a:xfrm>
          <a:prstGeom prst="straightConnector1">
            <a:avLst/>
          </a:prstGeom>
          <a:noFill/>
          <a:ln w="57150" algn="ctr">
            <a:solidFill>
              <a:srgbClr val="FF9900"/>
            </a:solidFill>
            <a:round/>
            <a:headEnd/>
            <a:tailEnd type="arrow" w="med" len="med"/>
          </a:ln>
        </p:spPr>
      </p:cxnSp>
      <p:cxnSp>
        <p:nvCxnSpPr>
          <p:cNvPr id="47113" name="Straight Arrow Connector 14"/>
          <p:cNvCxnSpPr>
            <a:cxnSpLocks noChangeShapeType="1"/>
          </p:cNvCxnSpPr>
          <p:nvPr/>
        </p:nvCxnSpPr>
        <p:spPr bwMode="auto">
          <a:xfrm>
            <a:off x="5410200" y="1463663"/>
            <a:ext cx="1219200" cy="1588"/>
          </a:xfrm>
          <a:prstGeom prst="straightConnector1">
            <a:avLst/>
          </a:prstGeom>
          <a:noFill/>
          <a:ln w="57150" algn="ctr">
            <a:solidFill>
              <a:srgbClr val="FF9900"/>
            </a:solidFill>
            <a:round/>
            <a:headEnd/>
            <a:tailEnd type="arrow" w="med" len="med"/>
          </a:ln>
        </p:spPr>
      </p:cxnSp>
      <p:sp>
        <p:nvSpPr>
          <p:cNvPr id="8" name="TextBox 3"/>
          <p:cNvSpPr txBox="1"/>
          <p:nvPr/>
        </p:nvSpPr>
        <p:spPr>
          <a:xfrm>
            <a:off x="6844489" y="2163026"/>
            <a:ext cx="2152650" cy="46166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noFill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Franklin Gothic Book" panose="020B0503020102020204" pitchFamily="34" charset="0"/>
                <a:cs typeface="Arial" pitchFamily="34" charset="0"/>
              </a:rPr>
              <a:t>Stage II</a:t>
            </a:r>
          </a:p>
        </p:txBody>
      </p:sp>
      <p:cxnSp>
        <p:nvCxnSpPr>
          <p:cNvPr id="47115" name="Straight Arrow Connector 14"/>
          <p:cNvCxnSpPr>
            <a:cxnSpLocks noChangeShapeType="1"/>
          </p:cNvCxnSpPr>
          <p:nvPr/>
        </p:nvCxnSpPr>
        <p:spPr bwMode="auto">
          <a:xfrm>
            <a:off x="5397500" y="2386854"/>
            <a:ext cx="1219200" cy="1587"/>
          </a:xfrm>
          <a:prstGeom prst="straightConnector1">
            <a:avLst/>
          </a:prstGeom>
          <a:noFill/>
          <a:ln w="57150" algn="ctr">
            <a:solidFill>
              <a:srgbClr val="FF9900"/>
            </a:solidFill>
            <a:round/>
            <a:headEnd/>
            <a:tailEnd type="arrow" w="med" len="med"/>
          </a:ln>
        </p:spPr>
      </p:cxnSp>
      <p:sp>
        <p:nvSpPr>
          <p:cNvPr id="11" name="TextBox 5"/>
          <p:cNvSpPr txBox="1"/>
          <p:nvPr/>
        </p:nvSpPr>
        <p:spPr>
          <a:xfrm>
            <a:off x="1533801" y="2064603"/>
            <a:ext cx="3876400" cy="830997"/>
          </a:xfrm>
          <a:prstGeom prst="rect">
            <a:avLst/>
          </a:prstGeom>
          <a:solidFill>
            <a:schemeClr val="accent3">
              <a:lumMod val="50000"/>
            </a:schemeClr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FFFFFF"/>
                </a:solidFill>
                <a:latin typeface="Franklin Gothic Book" panose="020B0503020102020204" pitchFamily="34" charset="0"/>
                <a:cs typeface="Arial" pitchFamily="34" charset="0"/>
              </a:rPr>
              <a:t>&gt;4cm lung mass or hilar nodal involvement</a:t>
            </a:r>
          </a:p>
        </p:txBody>
      </p:sp>
      <p:sp>
        <p:nvSpPr>
          <p:cNvPr id="12" name="TextBox 3"/>
          <p:cNvSpPr txBox="1"/>
          <p:nvPr/>
        </p:nvSpPr>
        <p:spPr>
          <a:xfrm>
            <a:off x="6844489" y="3403600"/>
            <a:ext cx="2152650" cy="46166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noFill/>
          </a:ln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Franklin Gothic Book" panose="020B0503020102020204" pitchFamily="34" charset="0"/>
                <a:cs typeface="Arial" pitchFamily="34" charset="0"/>
              </a:rPr>
              <a:t>Stage III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762000" y="4448304"/>
            <a:ext cx="9753600" cy="47496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200" y="4114800"/>
            <a:ext cx="1829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Curative therapy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2" y="4391791"/>
            <a:ext cx="2284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Non-Curative therapy </a:t>
            </a:r>
          </a:p>
        </p:txBody>
      </p:sp>
      <p:sp>
        <p:nvSpPr>
          <p:cNvPr id="47105" name="Title 1"/>
          <p:cNvSpPr>
            <a:spLocks noGrp="1"/>
          </p:cNvSpPr>
          <p:nvPr>
            <p:ph type="title" idx="4294967295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Overview of NSCLC Staging</a:t>
            </a:r>
          </a:p>
        </p:txBody>
      </p:sp>
    </p:spTree>
    <p:extLst>
      <p:ext uri="{BB962C8B-B14F-4D97-AF65-F5344CB8AC3E}">
        <p14:creationId xmlns:p14="http://schemas.microsoft.com/office/powerpoint/2010/main" val="49167320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9409496"/>
              </p:ext>
            </p:extLst>
          </p:nvPr>
        </p:nvGraphicFramePr>
        <p:xfrm>
          <a:off x="3716792" y="1119582"/>
          <a:ext cx="5808209" cy="1177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656552" y="1125560"/>
            <a:ext cx="1323343" cy="384717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defTabSz="914196"/>
            <a:r>
              <a:rPr lang="en-US" sz="1900" dirty="0">
                <a:latin typeface="Franklin Gothic Book" panose="020B0503020102020204" pitchFamily="34" charset="0"/>
              </a:rPr>
              <a:t>Squamous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0032" y="1114570"/>
            <a:ext cx="752097" cy="384717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defTabSz="914196"/>
            <a:r>
              <a:rPr lang="en-US" sz="1900" dirty="0">
                <a:latin typeface="Franklin Gothic Book" panose="020B0503020102020204" pitchFamily="34" charset="0"/>
              </a:rPr>
              <a:t>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6591" y="1084481"/>
            <a:ext cx="1901770" cy="384717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defTabSz="914196"/>
            <a:r>
              <a:rPr lang="en-US" sz="1900" dirty="0">
                <a:latin typeface="Franklin Gothic Book" panose="020B0503020102020204" pitchFamily="34" charset="0"/>
              </a:rPr>
              <a:t>Adenocarcinoma</a:t>
            </a:r>
          </a:p>
        </p:txBody>
      </p:sp>
      <p:pic>
        <p:nvPicPr>
          <p:cNvPr id="20" name="Picture 8" descr="http://www.mdconsult.com/das/book/body/199444570-2/0/2060/f4-u1.0-B978-1-4377-0792-2..50020-1..gr4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21440" y="2996847"/>
            <a:ext cx="2814870" cy="2016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8" descr="http://www.mdconsult.com/das/book/body/199444570-2/0/2060/f4-u1.0-B978-1-4377-0792-2..50020-1..gr4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59991" y="2996847"/>
            <a:ext cx="2823892" cy="2022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TextBox 21"/>
          <p:cNvSpPr txBox="1"/>
          <p:nvPr/>
        </p:nvSpPr>
        <p:spPr>
          <a:xfrm>
            <a:off x="2857763" y="5130460"/>
            <a:ext cx="2884412" cy="677104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algn="ctr" defTabSz="914196"/>
            <a:r>
              <a:rPr lang="en-US" sz="1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Squamous Cell Carcinoma</a:t>
            </a:r>
          </a:p>
          <a:p>
            <a:pPr algn="ctr" defTabSz="914196"/>
            <a:r>
              <a:rPr lang="en-US" sz="1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p63 (p40)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9708" y="5130460"/>
            <a:ext cx="1901770" cy="677104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algn="ctr" defTabSz="914196"/>
            <a:r>
              <a:rPr lang="en-US" sz="1900" dirty="0">
                <a:latin typeface="Franklin Gothic Book" panose="020B0503020102020204" pitchFamily="34" charset="0"/>
              </a:rPr>
              <a:t>Adenocarcinoma</a:t>
            </a:r>
          </a:p>
          <a:p>
            <a:pPr algn="ctr" defTabSz="914196"/>
            <a:r>
              <a:rPr lang="en-US" sz="1900" dirty="0">
                <a:latin typeface="Franklin Gothic Book" panose="020B0503020102020204" pitchFamily="34" charset="0"/>
              </a:rPr>
              <a:t>TTF-1, Napsin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CD25E0-8ECE-48A2-B0B6-8DFB2EF27952}"/>
              </a:ext>
            </a:extLst>
          </p:cNvPr>
          <p:cNvSpPr txBox="1"/>
          <p:nvPr/>
        </p:nvSpPr>
        <p:spPr>
          <a:xfrm>
            <a:off x="4161154" y="1515289"/>
            <a:ext cx="75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~25%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623192-69EF-4C99-9BAA-F9F5CC92485F}"/>
              </a:ext>
            </a:extLst>
          </p:cNvPr>
          <p:cNvSpPr txBox="1"/>
          <p:nvPr/>
        </p:nvSpPr>
        <p:spPr>
          <a:xfrm>
            <a:off x="4882862" y="1499287"/>
            <a:ext cx="747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~10%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983874-9244-4CFE-A0A9-1A7153F8B2A2}"/>
              </a:ext>
            </a:extLst>
          </p:cNvPr>
          <p:cNvCxnSpPr/>
          <p:nvPr/>
        </p:nvCxnSpPr>
        <p:spPr>
          <a:xfrm flipH="1">
            <a:off x="4343400" y="2057400"/>
            <a:ext cx="152400" cy="60960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A84EAB-297A-45BC-89CD-09B9AF63B5A3}"/>
              </a:ext>
            </a:extLst>
          </p:cNvPr>
          <p:cNvCxnSpPr>
            <a:cxnSpLocks/>
          </p:cNvCxnSpPr>
          <p:nvPr/>
        </p:nvCxnSpPr>
        <p:spPr>
          <a:xfrm>
            <a:off x="7239000" y="1991841"/>
            <a:ext cx="228600" cy="67515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There are two main </a:t>
            </a:r>
            <a:r>
              <a:rPr lang="en-US" sz="2800" b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histologies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of NSCLC</a:t>
            </a:r>
          </a:p>
        </p:txBody>
      </p:sp>
    </p:spTree>
    <p:extLst>
      <p:ext uri="{BB962C8B-B14F-4D97-AF65-F5344CB8AC3E}">
        <p14:creationId xmlns:p14="http://schemas.microsoft.com/office/powerpoint/2010/main" val="925628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FD546B-F11B-4616-C834-CD8CE8FF25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778230" y="1849648"/>
            <a:ext cx="6413770" cy="4503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585E67-F34A-3646-A8D4-1DF871A68661}"/>
              </a:ext>
            </a:extLst>
          </p:cNvPr>
          <p:cNvSpPr txBox="1"/>
          <p:nvPr/>
        </p:nvSpPr>
        <p:spPr>
          <a:xfrm>
            <a:off x="6946644" y="1375740"/>
            <a:ext cx="3488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Mutations/Gene Fusions (by NGS)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787BD-00D1-269D-958F-977E1B95AA21}"/>
              </a:ext>
            </a:extLst>
          </p:cNvPr>
          <p:cNvSpPr txBox="1"/>
          <p:nvPr/>
        </p:nvSpPr>
        <p:spPr>
          <a:xfrm>
            <a:off x="1460345" y="1356284"/>
            <a:ext cx="311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PD-L1 Tumor Proportion Score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0B64F3-4529-D19F-E55B-9CA1AC72D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647" t="11441" r="16781" b="6571"/>
          <a:stretch/>
        </p:blipFill>
        <p:spPr>
          <a:xfrm>
            <a:off x="446253" y="1560406"/>
            <a:ext cx="5208759" cy="4812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337A60-F8AB-1E15-4595-584580722424}"/>
              </a:ext>
            </a:extLst>
          </p:cNvPr>
          <p:cNvSpPr txBox="1"/>
          <p:nvPr/>
        </p:nvSpPr>
        <p:spPr>
          <a:xfrm>
            <a:off x="6096000" y="4124528"/>
            <a:ext cx="795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other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B72194-2A41-BFE7-06CC-F5DF92DC0886}"/>
              </a:ext>
            </a:extLst>
          </p:cNvPr>
          <p:cNvCxnSpPr/>
          <p:nvPr/>
        </p:nvCxnSpPr>
        <p:spPr>
          <a:xfrm>
            <a:off x="5486400" y="1560406"/>
            <a:ext cx="0" cy="47929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A8A70D8-9A4F-7555-0238-C69B7699B3D5}"/>
              </a:ext>
            </a:extLst>
          </p:cNvPr>
          <p:cNvSpPr txBox="1"/>
          <p:nvPr/>
        </p:nvSpPr>
        <p:spPr>
          <a:xfrm>
            <a:off x="739302" y="6488668"/>
            <a:ext cx="3086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Franklin Gothic Book" panose="020B0503020102020204" pitchFamily="34" charset="0"/>
              </a:rPr>
              <a:t>Data from Jee et al, Nature 2024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CE9B96-E386-295E-F510-6E1E282A8294}"/>
              </a:ext>
            </a:extLst>
          </p:cNvPr>
          <p:cNvSpPr txBox="1"/>
          <p:nvPr/>
        </p:nvSpPr>
        <p:spPr>
          <a:xfrm>
            <a:off x="8070715" y="6434612"/>
            <a:ext cx="3512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Franklin Gothic Book" panose="020B0503020102020204" pitchFamily="34" charset="0"/>
              </a:rPr>
              <a:t>Data from Choudhury et al, CCR 2023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7BC0C9-0BB9-2A41-9277-205B4E894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Classification of NSCLC by biomarkers</a:t>
            </a:r>
          </a:p>
        </p:txBody>
      </p:sp>
    </p:spTree>
    <p:extLst>
      <p:ext uri="{BB962C8B-B14F-4D97-AF65-F5344CB8AC3E}">
        <p14:creationId xmlns:p14="http://schemas.microsoft.com/office/powerpoint/2010/main" val="826777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spect="1"/>
          </p:cNvSpPr>
          <p:nvPr/>
        </p:nvSpPr>
        <p:spPr>
          <a:xfrm>
            <a:off x="4267231" y="1522087"/>
            <a:ext cx="2476500" cy="7112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21888" tIns="60944" rIns="121888" bIns="60944" rtlCol="0" anchor="ctr"/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Stage IV NSCLC</a:t>
            </a:r>
          </a:p>
        </p:txBody>
      </p: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flipH="1">
            <a:off x="5499481" y="2278903"/>
            <a:ext cx="5971" cy="315436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>
            <a:spLocks noChangeAspect="1"/>
          </p:cNvSpPr>
          <p:nvPr/>
        </p:nvSpPr>
        <p:spPr>
          <a:xfrm>
            <a:off x="6830069" y="2709056"/>
            <a:ext cx="1685653" cy="451310"/>
          </a:xfrm>
          <a:prstGeom prst="rect">
            <a:avLst/>
          </a:prstGeom>
          <a:noFill/>
        </p:spPr>
        <p:txBody>
          <a:bodyPr wrap="none" lIns="121888" tIns="60944" rIns="121888" bIns="60944" rtlCol="0">
            <a:spAutoFit/>
          </a:bodyPr>
          <a:lstStyle/>
          <a:p>
            <a:r>
              <a:rPr lang="en-US" sz="2133" dirty="0">
                <a:latin typeface="Franklin Gothic Book" panose="020B0503020102020204" pitchFamily="34" charset="0"/>
              </a:rPr>
              <a:t>PD-L1 &lt;50%</a:t>
            </a:r>
          </a:p>
        </p:txBody>
      </p:sp>
      <p:sp>
        <p:nvSpPr>
          <p:cNvPr id="39" name="TextBox 38"/>
          <p:cNvSpPr txBox="1">
            <a:spLocks noChangeAspect="1"/>
          </p:cNvSpPr>
          <p:nvPr/>
        </p:nvSpPr>
        <p:spPr>
          <a:xfrm>
            <a:off x="2287706" y="2479565"/>
            <a:ext cx="1967782" cy="1107771"/>
          </a:xfrm>
          <a:prstGeom prst="rect">
            <a:avLst/>
          </a:prstGeom>
          <a:noFill/>
        </p:spPr>
        <p:txBody>
          <a:bodyPr wrap="none" lIns="121888" tIns="60944" rIns="121888" bIns="60944" rtlCol="0">
            <a:spAutoFit/>
          </a:bodyPr>
          <a:lstStyle/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1</a:t>
            </a:r>
            <a:r>
              <a:rPr lang="en-US" sz="2133" baseline="30000" dirty="0">
                <a:latin typeface="Franklin Gothic Book" panose="020B0503020102020204" pitchFamily="34" charset="0"/>
              </a:rPr>
              <a:t>st</a:t>
            </a:r>
            <a:r>
              <a:rPr lang="en-US" sz="2133" dirty="0">
                <a:latin typeface="Franklin Gothic Book" panose="020B0503020102020204" pitchFamily="34" charset="0"/>
              </a:rPr>
              <a:t> line </a:t>
            </a:r>
          </a:p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Mutations/</a:t>
            </a:r>
          </a:p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rearrangement</a:t>
            </a:r>
          </a:p>
        </p:txBody>
      </p:sp>
      <p:cxnSp>
        <p:nvCxnSpPr>
          <p:cNvPr id="41" name="Straight Arrow Connector 40"/>
          <p:cNvCxnSpPr>
            <a:cxnSpLocks/>
          </p:cNvCxnSpPr>
          <p:nvPr/>
        </p:nvCxnSpPr>
        <p:spPr>
          <a:xfrm>
            <a:off x="5513465" y="4767752"/>
            <a:ext cx="14393" cy="683677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cxnSpLocks/>
          </p:cNvCxnSpPr>
          <p:nvPr/>
        </p:nvCxnSpPr>
        <p:spPr>
          <a:xfrm>
            <a:off x="6826154" y="3237313"/>
            <a:ext cx="2017301" cy="1205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spect="1"/>
          </p:cNvSpPr>
          <p:nvPr/>
        </p:nvSpPr>
        <p:spPr>
          <a:xfrm>
            <a:off x="3777319" y="4851259"/>
            <a:ext cx="1676035" cy="451310"/>
          </a:xfrm>
          <a:prstGeom prst="rect">
            <a:avLst/>
          </a:prstGeom>
          <a:noFill/>
        </p:spPr>
        <p:txBody>
          <a:bodyPr wrap="none" lIns="121888" tIns="60944" rIns="121888" bIns="60944" rtlCol="0">
            <a:spAutoFit/>
          </a:bodyPr>
          <a:lstStyle/>
          <a:p>
            <a:r>
              <a:rPr lang="en-US" sz="2133" dirty="0">
                <a:latin typeface="Franklin Gothic Book" panose="020B0503020102020204" pitchFamily="34" charset="0"/>
              </a:rPr>
              <a:t>PD-L1 ≥50%</a:t>
            </a:r>
          </a:p>
        </p:txBody>
      </p:sp>
      <p:cxnSp>
        <p:nvCxnSpPr>
          <p:cNvPr id="46" name="Straight Arrow Connector 45"/>
          <p:cNvCxnSpPr>
            <a:cxnSpLocks noChangeAspect="1"/>
          </p:cNvCxnSpPr>
          <p:nvPr/>
        </p:nvCxnSpPr>
        <p:spPr>
          <a:xfrm flipH="1">
            <a:off x="2251733" y="3158488"/>
            <a:ext cx="2025254" cy="1317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24B33F7-3E3D-4E3B-A955-52A83D4F7687}"/>
              </a:ext>
            </a:extLst>
          </p:cNvPr>
          <p:cNvSpPr txBox="1"/>
          <p:nvPr/>
        </p:nvSpPr>
        <p:spPr>
          <a:xfrm>
            <a:off x="549367" y="2794872"/>
            <a:ext cx="1709177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~25%</a:t>
            </a:r>
          </a:p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of patients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2A93C2-1F3E-4827-BED1-368411214630}"/>
              </a:ext>
            </a:extLst>
          </p:cNvPr>
          <p:cNvSpPr txBox="1"/>
          <p:nvPr/>
        </p:nvSpPr>
        <p:spPr>
          <a:xfrm>
            <a:off x="4812473" y="5464255"/>
            <a:ext cx="1782623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~30%</a:t>
            </a:r>
          </a:p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of patients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F187E9-4634-4A9B-B3D2-3061C15CD825}"/>
              </a:ext>
            </a:extLst>
          </p:cNvPr>
          <p:cNvSpPr txBox="1"/>
          <p:nvPr/>
        </p:nvSpPr>
        <p:spPr>
          <a:xfrm>
            <a:off x="8841393" y="2792458"/>
            <a:ext cx="1736719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~45%</a:t>
            </a:r>
          </a:p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of patients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4267246" y="2594336"/>
            <a:ext cx="2619081" cy="22164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21888" tIns="60944" rIns="121888" bIns="60944" rtlCol="0" anchor="ctr"/>
          <a:lstStyle/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Histologic Assessment </a:t>
            </a:r>
          </a:p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+</a:t>
            </a:r>
          </a:p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Molecular Analysis </a:t>
            </a:r>
          </a:p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+</a:t>
            </a:r>
          </a:p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PD-L1 Testing</a:t>
            </a:r>
          </a:p>
        </p:txBody>
      </p:sp>
      <p:sp>
        <p:nvSpPr>
          <p:cNvPr id="2" name="Title 1"/>
          <p:cNvSpPr>
            <a:spLocks noGrp="1" noChangeAspect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The Current Approach to First-Line Treatment of Patients with Advanced NSCLC</a:t>
            </a:r>
          </a:p>
        </p:txBody>
      </p:sp>
    </p:spTree>
    <p:extLst>
      <p:ext uri="{BB962C8B-B14F-4D97-AF65-F5344CB8AC3E}">
        <p14:creationId xmlns:p14="http://schemas.microsoft.com/office/powerpoint/2010/main" val="2985538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C2C1C-46AB-8A6A-CAD7-0DAC2ED24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036575-11B1-5F77-5CC3-7AC3B9B0AB4B}"/>
              </a:ext>
            </a:extLst>
          </p:cNvPr>
          <p:cNvSpPr/>
          <p:nvPr/>
        </p:nvSpPr>
        <p:spPr>
          <a:xfrm>
            <a:off x="9144000" y="2362200"/>
            <a:ext cx="1981200" cy="1524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Franklin Gothic Book" panose="020B0503020102020204" pitchFamily="34" charset="0"/>
              </a:rPr>
              <a:t>Targeted therapy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6CC254-81B9-09D0-0780-9E96012E3FC8}"/>
              </a:ext>
            </a:extLst>
          </p:cNvPr>
          <p:cNvSpPr/>
          <p:nvPr/>
        </p:nvSpPr>
        <p:spPr>
          <a:xfrm>
            <a:off x="4723410" y="2362200"/>
            <a:ext cx="3200400" cy="1524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Franklin Gothic Book" panose="020B0503020102020204" pitchFamily="34" charset="0"/>
              </a:rPr>
              <a:t>Chemotherapy (including VEGF targeting)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0D5D06-F675-E3DF-071E-492B7FDA1523}"/>
              </a:ext>
            </a:extLst>
          </p:cNvPr>
          <p:cNvSpPr/>
          <p:nvPr/>
        </p:nvSpPr>
        <p:spPr>
          <a:xfrm>
            <a:off x="709055" y="2362200"/>
            <a:ext cx="2794166" cy="15240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Franklin Gothic Book" panose="020B0503020102020204" pitchFamily="34" charset="0"/>
              </a:rPr>
              <a:t>Immune Checkpoint Inhibitors</a:t>
            </a:r>
          </a:p>
        </p:txBody>
      </p:sp>
    </p:spTree>
    <p:extLst>
      <p:ext uri="{BB962C8B-B14F-4D97-AF65-F5344CB8AC3E}">
        <p14:creationId xmlns:p14="http://schemas.microsoft.com/office/powerpoint/2010/main" val="4200542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C2C1C-46AB-8A6A-CAD7-0DAC2ED24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036575-11B1-5F77-5CC3-7AC3B9B0AB4B}"/>
              </a:ext>
            </a:extLst>
          </p:cNvPr>
          <p:cNvSpPr/>
          <p:nvPr/>
        </p:nvSpPr>
        <p:spPr>
          <a:xfrm>
            <a:off x="9144000" y="2362200"/>
            <a:ext cx="1981200" cy="1524000"/>
          </a:xfrm>
          <a:prstGeom prst="rect">
            <a:avLst/>
          </a:prstGeom>
          <a:solidFill>
            <a:srgbClr val="0070C0">
              <a:alpha val="16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Franklin Gothic Book" panose="020B0503020102020204" pitchFamily="34" charset="0"/>
              </a:rPr>
              <a:t>Targeted therapy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6CC254-81B9-09D0-0780-9E96012E3FC8}"/>
              </a:ext>
            </a:extLst>
          </p:cNvPr>
          <p:cNvSpPr/>
          <p:nvPr/>
        </p:nvSpPr>
        <p:spPr>
          <a:xfrm>
            <a:off x="4723410" y="2362200"/>
            <a:ext cx="3200400" cy="1524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Franklin Gothic Book" panose="020B0503020102020204" pitchFamily="34" charset="0"/>
              </a:rPr>
              <a:t>Chemotherapy (including VEGF targeting)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0D5D06-F675-E3DF-071E-492B7FDA1523}"/>
              </a:ext>
            </a:extLst>
          </p:cNvPr>
          <p:cNvSpPr/>
          <p:nvPr/>
        </p:nvSpPr>
        <p:spPr>
          <a:xfrm>
            <a:off x="709055" y="2362200"/>
            <a:ext cx="2794166" cy="1524000"/>
          </a:xfrm>
          <a:prstGeom prst="rect">
            <a:avLst/>
          </a:prstGeom>
          <a:solidFill>
            <a:srgbClr val="FFC000">
              <a:alpha val="16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Franklin Gothic Book" panose="020B0503020102020204" pitchFamily="34" charset="0"/>
              </a:rPr>
              <a:t>Immune Checkpoint Inhibitors</a:t>
            </a:r>
          </a:p>
        </p:txBody>
      </p:sp>
    </p:spTree>
    <p:extLst>
      <p:ext uri="{BB962C8B-B14F-4D97-AF65-F5344CB8AC3E}">
        <p14:creationId xmlns:p14="http://schemas.microsoft.com/office/powerpoint/2010/main" val="3024485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6D73B-7838-4735-B821-F05E7995E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554" y="274638"/>
            <a:ext cx="5581846" cy="4144961"/>
          </a:xfrm>
        </p:spPr>
        <p:txBody>
          <a:bodyPr/>
          <a:lstStyle/>
          <a:p>
            <a:r>
              <a:rPr lang="en-US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Back in olden times…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B5B1F4-59CB-419D-9992-7FA32CE01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1" y="0"/>
            <a:ext cx="55818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56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6CA061-086E-449C-BAAE-6EE895D88E89}"/>
              </a:ext>
            </a:extLst>
          </p:cNvPr>
          <p:cNvSpPr txBox="1"/>
          <p:nvPr/>
        </p:nvSpPr>
        <p:spPr>
          <a:xfrm>
            <a:off x="381000" y="2895600"/>
            <a:ext cx="3048000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Book" panose="020B0503020102020204" pitchFamily="34" charset="0"/>
              </a:rPr>
              <a:t>What we learned about chemotherapy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03023-B53C-4F1F-84CD-D66D639D014D}"/>
              </a:ext>
            </a:extLst>
          </p:cNvPr>
          <p:cNvSpPr txBox="1"/>
          <p:nvPr/>
        </p:nvSpPr>
        <p:spPr>
          <a:xfrm>
            <a:off x="4343400" y="2895599"/>
            <a:ext cx="3048000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Book" panose="020B0503020102020204" pitchFamily="34" charset="0"/>
                <a:cs typeface="Arial" panose="020B0604020202020204" pitchFamily="34" charset="0"/>
              </a:rPr>
              <a:t>What we learned about immunotherapy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DF8E4-A180-4202-BFE1-BB87296E1904}"/>
              </a:ext>
            </a:extLst>
          </p:cNvPr>
          <p:cNvSpPr txBox="1"/>
          <p:nvPr/>
        </p:nvSpPr>
        <p:spPr>
          <a:xfrm>
            <a:off x="8534400" y="3180546"/>
            <a:ext cx="2743200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Franklin Gothic Book" panose="020B0503020102020204" pitchFamily="34" charset="0"/>
                <a:cs typeface="Times New Roman" panose="02020603050405020304" pitchFamily="18" charset="0"/>
              </a:rPr>
              <a:t>How we learned to combine them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EDEE89C-AA87-4D9B-9C3D-E2FDE905E8D5}"/>
              </a:ext>
            </a:extLst>
          </p:cNvPr>
          <p:cNvCxnSpPr/>
          <p:nvPr/>
        </p:nvCxnSpPr>
        <p:spPr>
          <a:xfrm>
            <a:off x="3505200" y="3657600"/>
            <a:ext cx="838200" cy="0"/>
          </a:xfrm>
          <a:prstGeom prst="straightConnector1">
            <a:avLst/>
          </a:prstGeom>
          <a:ln w="63500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5BB5D4-3400-42F8-AD2E-A5632377B631}"/>
              </a:ext>
            </a:extLst>
          </p:cNvPr>
          <p:cNvCxnSpPr>
            <a:cxnSpLocks/>
          </p:cNvCxnSpPr>
          <p:nvPr/>
        </p:nvCxnSpPr>
        <p:spPr>
          <a:xfrm>
            <a:off x="7467600" y="3657600"/>
            <a:ext cx="990600" cy="0"/>
          </a:xfrm>
          <a:prstGeom prst="straightConnector1">
            <a:avLst/>
          </a:prstGeom>
          <a:ln w="63500">
            <a:solidFill>
              <a:schemeClr val="bg1">
                <a:lumMod val="50000"/>
              </a:schemeClr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B9A2098-7FE4-4EF9-A308-AACB2068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How I am going to teach this…</a:t>
            </a:r>
          </a:p>
        </p:txBody>
      </p:sp>
    </p:spTree>
    <p:extLst>
      <p:ext uri="{BB962C8B-B14F-4D97-AF65-F5344CB8AC3E}">
        <p14:creationId xmlns:p14="http://schemas.microsoft.com/office/powerpoint/2010/main" val="3133718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609604"/>
            <a:ext cx="8229600" cy="5516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45 year-old person with Stage IV NSCLC</a:t>
            </a:r>
          </a:p>
          <a:p>
            <a:pPr lvl="1"/>
            <a:r>
              <a:rPr lang="en-US" dirty="0"/>
              <a:t>Adenocarcinoma histology</a:t>
            </a:r>
          </a:p>
          <a:p>
            <a:pPr lvl="1"/>
            <a:r>
              <a:rPr lang="en-US" dirty="0"/>
              <a:t>No targetable oncogenic driver identified</a:t>
            </a:r>
          </a:p>
          <a:p>
            <a:pPr lvl="1"/>
            <a:r>
              <a:rPr lang="en-US" dirty="0"/>
              <a:t>No brain metastases</a:t>
            </a:r>
          </a:p>
          <a:p>
            <a:pPr lvl="1"/>
            <a:r>
              <a:rPr lang="en-US" dirty="0"/>
              <a:t>Good performance status</a:t>
            </a:r>
          </a:p>
          <a:p>
            <a:pPr lvl="1"/>
            <a:r>
              <a:rPr lang="en-US" dirty="0"/>
              <a:t>PD-L1 negative</a:t>
            </a:r>
          </a:p>
          <a:p>
            <a:pPr lvl="1"/>
            <a:r>
              <a:rPr lang="en-US" dirty="0"/>
              <a:t>Rheumatoid arthritis requiring steroids, anti-TNF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What is the most appropriate chemotherapy?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Pembrolizumab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Cisplatin and docetaxel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Carboplatin, paclitaxel, and gemcitabine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Gemcitabine and docetaxel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1B67423-6F0B-9BD6-B9B0-C9BBC21A8B83}"/>
                  </a:ext>
                </a:extLst>
              </p14:cNvPr>
              <p14:cNvContentPartPr/>
              <p14:nvPr/>
            </p14:nvContentPartPr>
            <p14:xfrm>
              <a:off x="9517045" y="3015836"/>
              <a:ext cx="328680" cy="336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1B67423-6F0B-9BD6-B9B0-C9BBC21A8B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99045" y="2997836"/>
                <a:ext cx="364320" cy="37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2799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/>
          <p:nvPr/>
        </p:nvGrpSpPr>
        <p:grpSpPr>
          <a:xfrm>
            <a:off x="1905000" y="1419224"/>
            <a:ext cx="7772400" cy="4143376"/>
            <a:chOff x="914400" y="1419224"/>
            <a:chExt cx="6429375" cy="2771776"/>
          </a:xfrm>
        </p:grpSpPr>
        <p:pic>
          <p:nvPicPr>
            <p:cNvPr id="200706" name="Picture 2" descr=" 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1419224"/>
              <a:ext cx="6429375" cy="561976"/>
            </a:xfrm>
            <a:prstGeom prst="rect">
              <a:avLst/>
            </a:prstGeom>
            <a:noFill/>
          </p:spPr>
        </p:pic>
        <p:pic>
          <p:nvPicPr>
            <p:cNvPr id="5" name="Picture 2" descr=" 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1981200"/>
              <a:ext cx="6429375" cy="2209800"/>
            </a:xfrm>
            <a:prstGeom prst="rect">
              <a:avLst/>
            </a:prstGeom>
            <a:noFill/>
          </p:spPr>
        </p:pic>
      </p:grp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705620" y="6400816"/>
            <a:ext cx="7288213" cy="180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7000"/>
              </a:lnSpc>
              <a:buClr>
                <a:srgbClr val="000000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1200" b="1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Delbaldo</a:t>
            </a:r>
            <a:r>
              <a:rPr lang="en-GB" sz="1200" b="1" dirty="0">
                <a:solidFill>
                  <a:srgbClr val="000000"/>
                </a:solidFill>
                <a:latin typeface="Franklin Gothic Book" panose="020B0503020102020204" pitchFamily="34" charset="0"/>
              </a:rPr>
              <a:t>, C. et al. JAMA 2004;292:470-484.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1 vs 2 vs 3 cytotoxic chemotherapies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for survival</a:t>
            </a:r>
          </a:p>
        </p:txBody>
      </p:sp>
    </p:spTree>
    <p:extLst>
      <p:ext uri="{BB962C8B-B14F-4D97-AF65-F5344CB8AC3E}">
        <p14:creationId xmlns:p14="http://schemas.microsoft.com/office/powerpoint/2010/main" val="3929910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/>
          <p:nvPr/>
        </p:nvGrpSpPr>
        <p:grpSpPr>
          <a:xfrm>
            <a:off x="1905000" y="1419224"/>
            <a:ext cx="7772400" cy="4143376"/>
            <a:chOff x="914400" y="1419224"/>
            <a:chExt cx="6429375" cy="2771776"/>
          </a:xfrm>
        </p:grpSpPr>
        <p:pic>
          <p:nvPicPr>
            <p:cNvPr id="200706" name="Picture 2" descr=" 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1419224"/>
              <a:ext cx="6429375" cy="561976"/>
            </a:xfrm>
            <a:prstGeom prst="rect">
              <a:avLst/>
            </a:prstGeom>
            <a:noFill/>
          </p:spPr>
        </p:pic>
        <p:pic>
          <p:nvPicPr>
            <p:cNvPr id="5" name="Picture 2" descr=" 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1981200"/>
              <a:ext cx="6429375" cy="2209800"/>
            </a:xfrm>
            <a:prstGeom prst="rect">
              <a:avLst/>
            </a:prstGeom>
            <a:noFill/>
          </p:spPr>
        </p:pic>
      </p:grp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705620" y="6400816"/>
            <a:ext cx="7288213" cy="180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7000"/>
              </a:lnSpc>
              <a:buClr>
                <a:srgbClr val="000000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1200" b="1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Delbaldo</a:t>
            </a:r>
            <a:r>
              <a:rPr lang="en-GB" sz="1200" b="1" dirty="0">
                <a:solidFill>
                  <a:srgbClr val="000000"/>
                </a:solidFill>
                <a:latin typeface="Franklin Gothic Book" panose="020B0503020102020204" pitchFamily="34" charset="0"/>
              </a:rPr>
              <a:t>, C. et al. JAMA 2004;292:470-484.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847850" y="3255964"/>
            <a:ext cx="8401050" cy="92333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5400" b="1" dirty="0">
                <a:latin typeface="Franklin Gothic Book" panose="020B0503020102020204" pitchFamily="34" charset="0"/>
              </a:rPr>
              <a:t>2 drugs are better than 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1 vs 2 vs 3 cytotoxic chemotherapies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for survival</a:t>
            </a:r>
          </a:p>
        </p:txBody>
      </p:sp>
    </p:spTree>
    <p:extLst>
      <p:ext uri="{BB962C8B-B14F-4D97-AF65-F5344CB8AC3E}">
        <p14:creationId xmlns:p14="http://schemas.microsoft.com/office/powerpoint/2010/main" val="3179855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705620" y="6400816"/>
            <a:ext cx="7288213" cy="180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7000"/>
              </a:lnSpc>
              <a:buClr>
                <a:srgbClr val="000000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1200" b="1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Delbaldo</a:t>
            </a:r>
            <a:r>
              <a:rPr lang="en-GB" sz="1200" b="1" dirty="0">
                <a:solidFill>
                  <a:srgbClr val="000000"/>
                </a:solidFill>
                <a:latin typeface="Franklin Gothic Book" panose="020B0503020102020204" pitchFamily="34" charset="0"/>
              </a:rPr>
              <a:t>, C. et al. JAMA 2004;292:470-484.</a:t>
            </a:r>
          </a:p>
        </p:txBody>
      </p:sp>
      <p:grpSp>
        <p:nvGrpSpPr>
          <p:cNvPr id="3" name="Group 8"/>
          <p:cNvGrpSpPr/>
          <p:nvPr/>
        </p:nvGrpSpPr>
        <p:grpSpPr>
          <a:xfrm>
            <a:off x="2133600" y="1905000"/>
            <a:ext cx="7696200" cy="4114800"/>
            <a:chOff x="1889125" y="1081088"/>
            <a:chExt cx="6313488" cy="2124075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9125" y="1081088"/>
              <a:ext cx="6297613" cy="519112"/>
            </a:xfrm>
            <a:prstGeom prst="rect">
              <a:avLst/>
            </a:prstGeom>
            <a:noFill/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000" y="1600200"/>
              <a:ext cx="6297613" cy="1604963"/>
            </a:xfrm>
            <a:prstGeom prst="rect">
              <a:avLst/>
            </a:prstGeom>
            <a:noFill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1 vs 2 vs 3 cytotoxic chemotherapies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for survival</a:t>
            </a:r>
          </a:p>
        </p:txBody>
      </p:sp>
    </p:spTree>
    <p:extLst>
      <p:ext uri="{BB962C8B-B14F-4D97-AF65-F5344CB8AC3E}">
        <p14:creationId xmlns:p14="http://schemas.microsoft.com/office/powerpoint/2010/main" val="1517324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705620" y="6400816"/>
            <a:ext cx="7288213" cy="180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7000"/>
              </a:lnSpc>
              <a:buClr>
                <a:srgbClr val="000000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1200" b="1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Delbaldo</a:t>
            </a:r>
            <a:r>
              <a:rPr lang="en-GB" sz="1200" b="1" dirty="0">
                <a:solidFill>
                  <a:srgbClr val="000000"/>
                </a:solidFill>
                <a:latin typeface="Franklin Gothic Book" panose="020B0503020102020204" pitchFamily="34" charset="0"/>
              </a:rPr>
              <a:t>, C. et al. JAMA 2004;292:470-484.</a:t>
            </a:r>
          </a:p>
        </p:txBody>
      </p:sp>
      <p:grpSp>
        <p:nvGrpSpPr>
          <p:cNvPr id="3" name="Group 8"/>
          <p:cNvGrpSpPr/>
          <p:nvPr/>
        </p:nvGrpSpPr>
        <p:grpSpPr>
          <a:xfrm>
            <a:off x="2133600" y="1905000"/>
            <a:ext cx="7696200" cy="4114800"/>
            <a:chOff x="1889125" y="1081088"/>
            <a:chExt cx="6313488" cy="2124075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9125" y="1081088"/>
              <a:ext cx="6297613" cy="519112"/>
            </a:xfrm>
            <a:prstGeom prst="rect">
              <a:avLst/>
            </a:prstGeom>
            <a:noFill/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000" y="1600200"/>
              <a:ext cx="6297613" cy="1604963"/>
            </a:xfrm>
            <a:prstGeom prst="rect">
              <a:avLst/>
            </a:prstGeom>
            <a:noFill/>
          </p:spPr>
        </p:pic>
      </p:grp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797310" y="2743200"/>
            <a:ext cx="10487139" cy="25853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5400" b="1" dirty="0">
                <a:latin typeface="Franklin Gothic Book" panose="020B0503020102020204" pitchFamily="34" charset="0"/>
              </a:rPr>
              <a:t>For overall survival, 3 cytotoxic drugs are not  better than 2 </a:t>
            </a:r>
            <a:endParaRPr lang="en-US" dirty="0">
              <a:latin typeface="Franklin Gothic Book" panose="020B0503020102020204" pitchFamily="34" charset="0"/>
            </a:endParaRPr>
          </a:p>
          <a:p>
            <a:pPr algn="ctr"/>
            <a:r>
              <a:rPr lang="en-US" sz="5400" b="1" dirty="0">
                <a:latin typeface="Franklin Gothic Book" panose="020B0503020102020204" pitchFamily="34" charset="0"/>
              </a:rPr>
              <a:t>(…it does increase PFS)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1 vs 2 vs 3 cytotoxic chemotherapies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for survival</a:t>
            </a:r>
          </a:p>
        </p:txBody>
      </p:sp>
    </p:spTree>
    <p:extLst>
      <p:ext uri="{BB962C8B-B14F-4D97-AF65-F5344CB8AC3E}">
        <p14:creationId xmlns:p14="http://schemas.microsoft.com/office/powerpoint/2010/main" val="2092274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CA941-84CB-E686-0235-A0D0207F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392" y="2991255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Which two drugs are (were) best?</a:t>
            </a:r>
          </a:p>
        </p:txBody>
      </p:sp>
    </p:spTree>
    <p:extLst>
      <p:ext uri="{BB962C8B-B14F-4D97-AF65-F5344CB8AC3E}">
        <p14:creationId xmlns:p14="http://schemas.microsoft.com/office/powerpoint/2010/main" val="86303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22" name="Rectangle 2"/>
          <p:cNvSpPr>
            <a:spLocks noChangeArrowheads="1"/>
          </p:cNvSpPr>
          <p:nvPr/>
        </p:nvSpPr>
        <p:spPr bwMode="auto">
          <a:xfrm>
            <a:off x="457200" y="228600"/>
            <a:ext cx="11274552" cy="1051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6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Is there a “best” platinum-based doublet 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36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(in the late 90s)?</a:t>
            </a:r>
            <a:endParaRPr lang="en-US" sz="3600" b="0" dirty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  <p:sp>
        <p:nvSpPr>
          <p:cNvPr id="1617929" name="Text Box 9"/>
          <p:cNvSpPr txBox="1">
            <a:spLocks noChangeArrowheads="1"/>
          </p:cNvSpPr>
          <p:nvPr/>
        </p:nvSpPr>
        <p:spPr bwMode="auto">
          <a:xfrm>
            <a:off x="228599" y="2121519"/>
            <a:ext cx="4819863" cy="2130601"/>
          </a:xfrm>
          <a:prstGeom prst="rect">
            <a:avLst/>
          </a:prstGeom>
          <a:solidFill>
            <a:schemeClr val="bg2"/>
          </a:solidFill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 lIns="81457" tIns="40014" rIns="81457" bIns="40014" anchor="ctr" anchorCtr="1">
            <a:spAutoFit/>
          </a:bodyPr>
          <a:lstStyle/>
          <a:p>
            <a:pPr marL="103187" lvl="1" defTabSz="823913">
              <a:lnSpc>
                <a:spcPct val="95000"/>
              </a:lnSpc>
              <a:spcBef>
                <a:spcPct val="35000"/>
              </a:spcBef>
              <a:buClr>
                <a:schemeClr val="accent1"/>
              </a:buClr>
              <a:buSzPct val="95000"/>
              <a:tabLst>
                <a:tab pos="112713" algn="l"/>
              </a:tabLst>
            </a:pPr>
            <a:r>
              <a:rPr lang="en-US" sz="2800" dirty="0">
                <a:latin typeface="Franklin Gothic Book" panose="020B0503020102020204" pitchFamily="34" charset="0"/>
              </a:rPr>
              <a:t>Patients with </a:t>
            </a:r>
          </a:p>
          <a:p>
            <a:pPr marL="123825" lvl="1" indent="-20638" defTabSz="823913">
              <a:lnSpc>
                <a:spcPct val="95000"/>
              </a:lnSpc>
              <a:spcBef>
                <a:spcPct val="35000"/>
              </a:spcBef>
              <a:buSzPct val="95000"/>
              <a:buFont typeface="Arial" pitchFamily="34" charset="0"/>
              <a:buChar char="•"/>
              <a:tabLst>
                <a:tab pos="112713" algn="l"/>
              </a:tabLst>
            </a:pPr>
            <a:r>
              <a:rPr lang="en-US" sz="2600" dirty="0">
                <a:latin typeface="Franklin Gothic Book" panose="020B0503020102020204" pitchFamily="34" charset="0"/>
              </a:rPr>
              <a:t>Stage IV or recurrent NSCLC</a:t>
            </a:r>
          </a:p>
          <a:p>
            <a:pPr marL="123825" lvl="1" indent="-20638" defTabSz="823913">
              <a:lnSpc>
                <a:spcPct val="95000"/>
              </a:lnSpc>
              <a:spcBef>
                <a:spcPct val="35000"/>
              </a:spcBef>
              <a:buSzPct val="95000"/>
              <a:buFont typeface="Arial" pitchFamily="34" charset="0"/>
              <a:buChar char="•"/>
              <a:tabLst>
                <a:tab pos="112713" algn="l"/>
              </a:tabLst>
            </a:pPr>
            <a:r>
              <a:rPr lang="en-US" sz="2800" dirty="0">
                <a:latin typeface="Franklin Gothic Book" panose="020B0503020102020204" pitchFamily="34" charset="0"/>
              </a:rPr>
              <a:t>No prior chemotherapy </a:t>
            </a:r>
          </a:p>
          <a:p>
            <a:pPr marL="123825" lvl="1" indent="-20638" defTabSz="823913">
              <a:lnSpc>
                <a:spcPct val="95000"/>
              </a:lnSpc>
              <a:spcBef>
                <a:spcPct val="35000"/>
              </a:spcBef>
              <a:buSzPct val="95000"/>
              <a:buFont typeface="Arial" pitchFamily="34" charset="0"/>
              <a:buChar char="•"/>
              <a:tabLst>
                <a:tab pos="112713" algn="l"/>
              </a:tabLst>
            </a:pPr>
            <a:r>
              <a:rPr lang="en-US" sz="2800" dirty="0">
                <a:latin typeface="Franklin Gothic Book" panose="020B0503020102020204" pitchFamily="34" charset="0"/>
              </a:rPr>
              <a:t>PS 0-2</a:t>
            </a:r>
          </a:p>
        </p:txBody>
      </p:sp>
      <p:sp>
        <p:nvSpPr>
          <p:cNvPr id="1617930" name="Text Box 10"/>
          <p:cNvSpPr txBox="1">
            <a:spLocks noChangeArrowheads="1"/>
          </p:cNvSpPr>
          <p:nvPr/>
        </p:nvSpPr>
        <p:spPr bwMode="blackWhite">
          <a:xfrm>
            <a:off x="7239000" y="1905003"/>
            <a:ext cx="3866499" cy="52546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82314" tIns="41157" rIns="82314" bIns="41157" anchor="ctr" anchorCtr="1"/>
          <a:lstStyle/>
          <a:p>
            <a:pPr defTabSz="823913">
              <a:lnSpc>
                <a:spcPct val="90000"/>
              </a:lnSpc>
              <a:spcBef>
                <a:spcPct val="20000"/>
              </a:spcBef>
            </a:pPr>
            <a:r>
              <a:rPr lang="en-US" sz="2800" dirty="0">
                <a:latin typeface="Franklin Gothic Book" panose="020B0503020102020204" pitchFamily="34" charset="0"/>
              </a:rPr>
              <a:t>Cisplatin + Paclitaxel</a:t>
            </a:r>
          </a:p>
        </p:txBody>
      </p:sp>
      <p:sp>
        <p:nvSpPr>
          <p:cNvPr id="1617932" name="Text Box 12"/>
          <p:cNvSpPr txBox="1">
            <a:spLocks noChangeArrowheads="1"/>
          </p:cNvSpPr>
          <p:nvPr/>
        </p:nvSpPr>
        <p:spPr bwMode="blackWhite">
          <a:xfrm>
            <a:off x="7239000" y="3810004"/>
            <a:ext cx="3866499" cy="4333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82314" tIns="41157" rIns="82314" bIns="41157" anchor="ctr" anchorCtr="1"/>
          <a:lstStyle/>
          <a:p>
            <a:pPr defTabSz="823913">
              <a:lnSpc>
                <a:spcPct val="90000"/>
              </a:lnSpc>
              <a:spcBef>
                <a:spcPct val="20000"/>
              </a:spcBef>
            </a:pPr>
            <a:r>
              <a:rPr lang="en-US" sz="2800" dirty="0">
                <a:latin typeface="Franklin Gothic Book" panose="020B0503020102020204" pitchFamily="34" charset="0"/>
              </a:rPr>
              <a:t>Carboplatin + Paclitaxel</a:t>
            </a:r>
          </a:p>
        </p:txBody>
      </p:sp>
      <p:sp>
        <p:nvSpPr>
          <p:cNvPr id="1617933" name="Text Box 13"/>
          <p:cNvSpPr txBox="1">
            <a:spLocks noChangeArrowheads="1"/>
          </p:cNvSpPr>
          <p:nvPr/>
        </p:nvSpPr>
        <p:spPr bwMode="blackWhite">
          <a:xfrm>
            <a:off x="7239000" y="3268678"/>
            <a:ext cx="3866499" cy="38893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82314" tIns="41157" rIns="82314" bIns="41157" anchor="ctr" anchorCtr="1"/>
          <a:lstStyle/>
          <a:p>
            <a:pPr defTabSz="823913">
              <a:lnSpc>
                <a:spcPct val="90000"/>
              </a:lnSpc>
              <a:spcBef>
                <a:spcPct val="20000"/>
              </a:spcBef>
            </a:pPr>
            <a:r>
              <a:rPr lang="en-US" sz="2800" dirty="0">
                <a:latin typeface="Franklin Gothic Book" panose="020B0503020102020204" pitchFamily="34" charset="0"/>
              </a:rPr>
              <a:t>Cisplatin + Docetaxel</a:t>
            </a:r>
          </a:p>
        </p:txBody>
      </p:sp>
      <p:sp>
        <p:nvSpPr>
          <p:cNvPr id="1617934" name="Text Box 14"/>
          <p:cNvSpPr txBox="1">
            <a:spLocks noChangeArrowheads="1"/>
          </p:cNvSpPr>
          <p:nvPr/>
        </p:nvSpPr>
        <p:spPr bwMode="blackWhite">
          <a:xfrm>
            <a:off x="7229942" y="2647952"/>
            <a:ext cx="3895258" cy="40005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82314" tIns="41157" rIns="82314" bIns="41157" anchor="ctr" anchorCtr="1"/>
          <a:lstStyle/>
          <a:p>
            <a:pPr defTabSz="823913">
              <a:lnSpc>
                <a:spcPct val="90000"/>
              </a:lnSpc>
              <a:spcBef>
                <a:spcPct val="20000"/>
              </a:spcBef>
            </a:pPr>
            <a:r>
              <a:rPr lang="en-US" sz="2800" dirty="0">
                <a:latin typeface="Franklin Gothic Book" panose="020B0503020102020204" pitchFamily="34" charset="0"/>
              </a:rPr>
              <a:t>Cisplatin + Gemcitabine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6096020" y="6400815"/>
            <a:ext cx="3894721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1400" dirty="0">
                <a:latin typeface="Franklin Gothic Book" panose="020B0503020102020204" pitchFamily="34" charset="0"/>
                <a:ea typeface="ＭＳ Ｐゴシック" pitchFamily="50" charset="-128"/>
              </a:rPr>
              <a:t>Schiller JH, et al. </a:t>
            </a:r>
            <a:r>
              <a:rPr lang="en-US" sz="1400" i="1" dirty="0">
                <a:latin typeface="Franklin Gothic Book" panose="020B0503020102020204" pitchFamily="34" charset="0"/>
                <a:ea typeface="ＭＳ Ｐゴシック" pitchFamily="50" charset="-128"/>
              </a:rPr>
              <a:t>N Engl J Med. </a:t>
            </a:r>
            <a:r>
              <a:rPr lang="de-DE" sz="1400" dirty="0">
                <a:latin typeface="Franklin Gothic Book" panose="020B0503020102020204" pitchFamily="34" charset="0"/>
                <a:ea typeface="ＭＳ Ｐゴシック" pitchFamily="50" charset="-128"/>
              </a:rPr>
              <a:t>2002;346:92-98.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FE6E88D-A264-2066-AC70-2297AAF566CE}"/>
              </a:ext>
            </a:extLst>
          </p:cNvPr>
          <p:cNvCxnSpPr>
            <a:cxnSpLocks/>
            <a:stCxn id="1617929" idx="3"/>
            <a:endCxn id="1617930" idx="1"/>
          </p:cNvCxnSpPr>
          <p:nvPr/>
        </p:nvCxnSpPr>
        <p:spPr>
          <a:xfrm flipV="1">
            <a:off x="5048462" y="2167734"/>
            <a:ext cx="2190538" cy="1019086"/>
          </a:xfrm>
          <a:prstGeom prst="bentConnector3">
            <a:avLst/>
          </a:prstGeom>
          <a:ln w="349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E0ECDAC-A998-7333-D6FD-59211E128EEB}"/>
              </a:ext>
            </a:extLst>
          </p:cNvPr>
          <p:cNvCxnSpPr>
            <a:cxnSpLocks/>
            <a:stCxn id="1617929" idx="3"/>
            <a:endCxn id="1617932" idx="1"/>
          </p:cNvCxnSpPr>
          <p:nvPr/>
        </p:nvCxnSpPr>
        <p:spPr>
          <a:xfrm>
            <a:off x="5048462" y="3186820"/>
            <a:ext cx="2190538" cy="839878"/>
          </a:xfrm>
          <a:prstGeom prst="bentConnector3">
            <a:avLst/>
          </a:prstGeom>
          <a:ln w="349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6A23F19C-CBE2-C6E4-588C-03157AC0BB76}"/>
              </a:ext>
            </a:extLst>
          </p:cNvPr>
          <p:cNvCxnSpPr>
            <a:cxnSpLocks/>
            <a:endCxn id="1617934" idx="1"/>
          </p:cNvCxnSpPr>
          <p:nvPr/>
        </p:nvCxnSpPr>
        <p:spPr>
          <a:xfrm flipV="1">
            <a:off x="6096000" y="2847978"/>
            <a:ext cx="1133942" cy="338841"/>
          </a:xfrm>
          <a:prstGeom prst="bentConnector3">
            <a:avLst>
              <a:gd name="adj1" fmla="val 4119"/>
            </a:avLst>
          </a:prstGeom>
          <a:ln w="349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272DD86-4F27-EB3E-B3F7-979082628EA6}"/>
              </a:ext>
            </a:extLst>
          </p:cNvPr>
          <p:cNvCxnSpPr>
            <a:cxnSpLocks/>
            <a:endCxn id="1617933" idx="1"/>
          </p:cNvCxnSpPr>
          <p:nvPr/>
        </p:nvCxnSpPr>
        <p:spPr>
          <a:xfrm>
            <a:off x="6086942" y="3186819"/>
            <a:ext cx="1152058" cy="276328"/>
          </a:xfrm>
          <a:prstGeom prst="bentConnector3">
            <a:avLst>
              <a:gd name="adj1" fmla="val 4841"/>
            </a:avLst>
          </a:prstGeom>
          <a:ln w="349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086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22" name="Rectangle 2"/>
          <p:cNvSpPr>
            <a:spLocks noChangeArrowheads="1"/>
          </p:cNvSpPr>
          <p:nvPr/>
        </p:nvSpPr>
        <p:spPr bwMode="auto">
          <a:xfrm>
            <a:off x="457200" y="228600"/>
            <a:ext cx="11274552" cy="1051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6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“all platinum doublets are the same”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6096020" y="6400815"/>
            <a:ext cx="3894721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en-US" sz="1400" dirty="0">
                <a:latin typeface="Franklin Gothic Book" panose="020B0503020102020204" pitchFamily="34" charset="0"/>
                <a:ea typeface="ＭＳ Ｐゴシック" pitchFamily="50" charset="-128"/>
              </a:rPr>
              <a:t>Schiller JH, et al. </a:t>
            </a:r>
            <a:r>
              <a:rPr lang="en-US" sz="1400" i="1" dirty="0">
                <a:latin typeface="Franklin Gothic Book" panose="020B0503020102020204" pitchFamily="34" charset="0"/>
                <a:ea typeface="ＭＳ Ｐゴシック" pitchFamily="50" charset="-128"/>
              </a:rPr>
              <a:t>N Engl J Med. </a:t>
            </a:r>
            <a:r>
              <a:rPr lang="de-DE" sz="1400" dirty="0">
                <a:latin typeface="Franklin Gothic Book" panose="020B0503020102020204" pitchFamily="34" charset="0"/>
                <a:ea typeface="ＭＳ Ｐゴシック" pitchFamily="50" charset="-128"/>
              </a:rPr>
              <a:t>2002;346:92-98.</a:t>
            </a:r>
          </a:p>
        </p:txBody>
      </p:sp>
      <p:pic>
        <p:nvPicPr>
          <p:cNvPr id="3" name="Picture 2" descr="A graph of a number of individuals&#10;&#10;AI-generated content may be incorrect.">
            <a:extLst>
              <a:ext uri="{FF2B5EF4-FFF2-40B4-BE49-F238E27FC236}">
                <a16:creationId xmlns:a16="http://schemas.microsoft.com/office/drawing/2014/main" id="{342FB9B9-1D27-9611-FCF4-EF3D1019B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8107" y="1299865"/>
            <a:ext cx="8103162" cy="464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01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609604"/>
            <a:ext cx="8229600" cy="55165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45 year-old person with Stage IV NSCLC</a:t>
            </a:r>
          </a:p>
          <a:p>
            <a:pPr lvl="1"/>
            <a:r>
              <a:rPr lang="en-US" dirty="0"/>
              <a:t>Adenocarcinoma histology</a:t>
            </a:r>
          </a:p>
          <a:p>
            <a:pPr lvl="1"/>
            <a:r>
              <a:rPr lang="en-US" dirty="0"/>
              <a:t>No targetable oncogenic driver identified</a:t>
            </a:r>
          </a:p>
          <a:p>
            <a:pPr lvl="1"/>
            <a:r>
              <a:rPr lang="en-US" dirty="0"/>
              <a:t>No brain metastases</a:t>
            </a:r>
          </a:p>
          <a:p>
            <a:pPr lvl="1"/>
            <a:r>
              <a:rPr lang="en-US" dirty="0"/>
              <a:t>Good performance status</a:t>
            </a:r>
          </a:p>
          <a:p>
            <a:pPr lvl="1"/>
            <a:r>
              <a:rPr lang="en-US" dirty="0"/>
              <a:t>PD-L1 negative</a:t>
            </a:r>
          </a:p>
          <a:p>
            <a:pPr lvl="1"/>
            <a:r>
              <a:rPr lang="en-US" dirty="0"/>
              <a:t>Rheumatoid arthritis requiring steroids, anti-TNF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What is the most appropriate chemotherapy?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Pembrolizumab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Cisplatin and docetaxel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Carboplatin, paclitaxel, and gemcitabine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Gemcitabine and docetaxel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821" y="6025502"/>
            <a:ext cx="114591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Franklin Gothic Book" panose="020B0503020102020204" pitchFamily="34" charset="0"/>
              </a:rPr>
              <a:t>Best first-line chemo is 2 cytotoxic </a:t>
            </a:r>
            <a:r>
              <a:rPr lang="en-US" sz="2400" u="sng" dirty="0" err="1">
                <a:latin typeface="Franklin Gothic Book" panose="020B0503020102020204" pitchFamily="34" charset="0"/>
              </a:rPr>
              <a:t>chemos</a:t>
            </a:r>
            <a:r>
              <a:rPr lang="en-US" sz="2400" u="sng" dirty="0">
                <a:latin typeface="Franklin Gothic Book" panose="020B0503020102020204" pitchFamily="34" charset="0"/>
              </a:rPr>
              <a:t> (not  1, not 3) and the two-drug, platinum-based combinations are all about the same efficacy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D3BDAF-6EF8-8CC4-04A5-6FE02A8B7FDB}"/>
                  </a:ext>
                </a:extLst>
              </p14:cNvPr>
              <p14:cNvContentPartPr/>
              <p14:nvPr/>
            </p14:nvContentPartPr>
            <p14:xfrm>
              <a:off x="2487325" y="4926039"/>
              <a:ext cx="377604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D3BDAF-6EF8-8CC4-04A5-6FE02A8B7F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3325" y="4710039"/>
                <a:ext cx="38836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F3066BA-FA47-48FD-3A49-263591F7F67F}"/>
                  </a:ext>
                </a:extLst>
              </p14:cNvPr>
              <p14:cNvContentPartPr/>
              <p14:nvPr/>
            </p14:nvContentPartPr>
            <p14:xfrm>
              <a:off x="9670045" y="3067293"/>
              <a:ext cx="235440" cy="228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F3066BA-FA47-48FD-3A49-263591F7F6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52405" y="3049653"/>
                <a:ext cx="271080" cy="26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6952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199" y="228604"/>
            <a:ext cx="8738681" cy="58975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55 year-old person with Stage IV NSCLC</a:t>
            </a:r>
          </a:p>
          <a:p>
            <a:pPr lvl="1"/>
            <a:r>
              <a:rPr lang="en-US" dirty="0"/>
              <a:t>Adenocarcinoma histology</a:t>
            </a:r>
          </a:p>
          <a:p>
            <a:pPr lvl="1"/>
            <a:r>
              <a:rPr lang="en-US" dirty="0"/>
              <a:t>No targetable oncogenic driver identified</a:t>
            </a:r>
          </a:p>
          <a:p>
            <a:pPr lvl="1"/>
            <a:r>
              <a:rPr lang="en-US" dirty="0"/>
              <a:t>Asymptomatic</a:t>
            </a:r>
          </a:p>
          <a:p>
            <a:pPr lvl="1"/>
            <a:r>
              <a:rPr lang="en-US" dirty="0"/>
              <a:t>No brain metastases</a:t>
            </a:r>
          </a:p>
          <a:p>
            <a:pPr lvl="1"/>
            <a:r>
              <a:rPr lang="en-US" dirty="0"/>
              <a:t>PD-L1 negative</a:t>
            </a:r>
          </a:p>
          <a:p>
            <a:pPr lvl="1"/>
            <a:r>
              <a:rPr lang="en-US" dirty="0"/>
              <a:t>Rheumatoid arthritis requiring steroids, anti-TNF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What is the right first-line chemotherapy?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Gemcitabine, cisplatin, and bevacizumab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Carboplatin, paclitaxel, and bevacizumab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Docetaxel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Gemcitabine and vinorelbine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95E056-721C-3718-EB87-278BCCA51156}"/>
              </a:ext>
            </a:extLst>
          </p:cNvPr>
          <p:cNvGrpSpPr/>
          <p:nvPr/>
        </p:nvGrpSpPr>
        <p:grpSpPr>
          <a:xfrm>
            <a:off x="9645205" y="2939876"/>
            <a:ext cx="323280" cy="289080"/>
            <a:chOff x="9645205" y="2939876"/>
            <a:chExt cx="32328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94225B0-AE2D-E3D1-AE9C-A4BAA0D3CB19}"/>
                    </a:ext>
                  </a:extLst>
                </p14:cNvPr>
                <p14:cNvContentPartPr/>
                <p14:nvPr/>
              </p14:nvContentPartPr>
              <p14:xfrm>
                <a:off x="9654925" y="2949596"/>
                <a:ext cx="264240" cy="232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94225B0-AE2D-E3D1-AE9C-A4BAA0D3CB1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37285" y="2931596"/>
                  <a:ext cx="2998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4D9F64-D9E6-FB3E-855F-12E4AC0DC092}"/>
                    </a:ext>
                  </a:extLst>
                </p14:cNvPr>
                <p14:cNvContentPartPr/>
                <p14:nvPr/>
              </p14:nvContentPartPr>
              <p14:xfrm>
                <a:off x="9753565" y="2939876"/>
                <a:ext cx="68760" cy="289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4D9F64-D9E6-FB3E-855F-12E4AC0DC09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35925" y="2921876"/>
                  <a:ext cx="1044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5C7ABA0-B980-02EA-818E-FAC56CE1558C}"/>
                    </a:ext>
                  </a:extLst>
                </p14:cNvPr>
                <p14:cNvContentPartPr/>
                <p14:nvPr/>
              </p14:nvContentPartPr>
              <p14:xfrm>
                <a:off x="9645205" y="3046796"/>
                <a:ext cx="323280" cy="119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5C7ABA0-B980-02EA-818E-FAC56CE1558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27565" y="3028796"/>
                  <a:ext cx="358920" cy="15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A09309E-3E90-C445-FF79-0BB8EDE9B818}"/>
                  </a:ext>
                </a:extLst>
              </p14:cNvPr>
              <p14:cNvContentPartPr/>
              <p14:nvPr/>
            </p14:nvContentPartPr>
            <p14:xfrm>
              <a:off x="3018325" y="1143116"/>
              <a:ext cx="1725840" cy="27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A09309E-3E90-C445-FF79-0BB8EDE9B81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00685" y="1125476"/>
                <a:ext cx="17614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D303FF4-511C-85AC-0D79-7C536D7375FF}"/>
                  </a:ext>
                </a:extLst>
              </p14:cNvPr>
              <p14:cNvContentPartPr/>
              <p14:nvPr/>
            </p14:nvContentPartPr>
            <p14:xfrm>
              <a:off x="7197205" y="4689116"/>
              <a:ext cx="1247760" cy="69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D303FF4-511C-85AC-0D79-7C536D7375F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79205" y="4671476"/>
                <a:ext cx="128340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8723EA0-E76B-6049-71CE-E2AAE8362AFF}"/>
                  </a:ext>
                </a:extLst>
              </p14:cNvPr>
              <p14:cNvContentPartPr/>
              <p14:nvPr/>
            </p14:nvContentPartPr>
            <p14:xfrm>
              <a:off x="7354165" y="5132276"/>
              <a:ext cx="1023120" cy="88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8723EA0-E76B-6049-71CE-E2AAE8362AF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36165" y="5114276"/>
                <a:ext cx="1058760" cy="12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9463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4343400" cy="2133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Agents Targeting the VEGF Pathway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B26DE4-505C-4A25-95AC-2C7659487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302" y="0"/>
            <a:ext cx="7588698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1EA368-33DA-4DDC-B955-F3A3B026F35C}"/>
              </a:ext>
            </a:extLst>
          </p:cNvPr>
          <p:cNvSpPr txBox="1"/>
          <p:nvPr/>
        </p:nvSpPr>
        <p:spPr>
          <a:xfrm>
            <a:off x="342634" y="6520934"/>
            <a:ext cx="3874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Ferrara et al, Nat Rev Drug Disc 2016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5CB82D-68D3-4C93-B0FD-2776822941A2}"/>
              </a:ext>
            </a:extLst>
          </p:cNvPr>
          <p:cNvSpPr/>
          <p:nvPr/>
        </p:nvSpPr>
        <p:spPr>
          <a:xfrm>
            <a:off x="6477000" y="0"/>
            <a:ext cx="762000" cy="685800"/>
          </a:xfrm>
          <a:prstGeom prst="rect">
            <a:avLst/>
          </a:prstGeom>
          <a:noFill/>
          <a:ln w="38100">
            <a:solidFill>
              <a:srgbClr val="FFFF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3745312B-CD21-4373-BE31-D21D7816B00E}"/>
              </a:ext>
            </a:extLst>
          </p:cNvPr>
          <p:cNvSpPr/>
          <p:nvPr/>
        </p:nvSpPr>
        <p:spPr>
          <a:xfrm>
            <a:off x="8839200" y="7883"/>
            <a:ext cx="838200" cy="525517"/>
          </a:xfrm>
          <a:prstGeom prst="rect">
            <a:avLst/>
          </a:prstGeom>
          <a:noFill/>
          <a:ln w="38100">
            <a:solidFill>
              <a:srgbClr val="FFFF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0B6E9598-6C45-4130-AD7F-1A7224A7D2FD}"/>
              </a:ext>
            </a:extLst>
          </p:cNvPr>
          <p:cNvSpPr/>
          <p:nvPr/>
        </p:nvSpPr>
        <p:spPr>
          <a:xfrm>
            <a:off x="6248400" y="1600201"/>
            <a:ext cx="838200" cy="228600"/>
          </a:xfrm>
          <a:prstGeom prst="rect">
            <a:avLst/>
          </a:prstGeom>
          <a:noFill/>
          <a:ln w="38100">
            <a:solidFill>
              <a:srgbClr val="FFFF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94AE1907-8A65-4A3F-B7BC-892B6AEC7411}"/>
              </a:ext>
            </a:extLst>
          </p:cNvPr>
          <p:cNvSpPr/>
          <p:nvPr/>
        </p:nvSpPr>
        <p:spPr>
          <a:xfrm>
            <a:off x="6314090" y="2514602"/>
            <a:ext cx="838200" cy="685798"/>
          </a:xfrm>
          <a:prstGeom prst="rect">
            <a:avLst/>
          </a:prstGeom>
          <a:noFill/>
          <a:ln w="38100">
            <a:solidFill>
              <a:srgbClr val="FFFF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37697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/>
          <p:cNvSpPr>
            <a:spLocks noChangeShapeType="1"/>
          </p:cNvSpPr>
          <p:nvPr/>
        </p:nvSpPr>
        <p:spPr bwMode="auto">
          <a:xfrm>
            <a:off x="4890247" y="4087815"/>
            <a:ext cx="1276350" cy="1143014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9219" name="Line 3"/>
          <p:cNvSpPr>
            <a:spLocks noChangeShapeType="1"/>
          </p:cNvSpPr>
          <p:nvPr/>
        </p:nvSpPr>
        <p:spPr bwMode="auto">
          <a:xfrm flipV="1">
            <a:off x="4890247" y="2716214"/>
            <a:ext cx="1306513" cy="916562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5083182" y="6934213"/>
            <a:ext cx="5203825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</a:pPr>
            <a:endParaRPr lang="en-GB" sz="1400" b="1" dirty="0">
              <a:latin typeface="Franklin Gothic Book" panose="020B0503020102020204" pitchFamily="34" charset="0"/>
              <a:cs typeface="Arial" pitchFamily="34" charset="0"/>
            </a:endParaRPr>
          </a:p>
        </p:txBody>
      </p:sp>
      <p:sp>
        <p:nvSpPr>
          <p:cNvPr id="9222" name="AutoShape 6"/>
          <p:cNvSpPr>
            <a:spLocks noChangeArrowheads="1"/>
          </p:cNvSpPr>
          <p:nvPr/>
        </p:nvSpPr>
        <p:spPr bwMode="auto">
          <a:xfrm>
            <a:off x="6223748" y="2030431"/>
            <a:ext cx="4745216" cy="91656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square" lIns="18000" tIns="44450" rIns="18000" bIns="44450">
            <a:spAutoFit/>
          </a:bodyPr>
          <a:lstStyle/>
          <a:p>
            <a:pPr algn="ctr" defTabSz="892175" eaLnBrk="0" hangingPunct="0"/>
            <a:r>
              <a:rPr lang="en-US" sz="2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itchFamily="34" charset="0"/>
              </a:rPr>
              <a:t>Paclitaxel / Carboplatin  </a:t>
            </a:r>
          </a:p>
          <a:p>
            <a:pPr algn="ctr" defTabSz="892175" eaLnBrk="0" hangingPunct="0"/>
            <a:r>
              <a:rPr lang="en-US" sz="2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itchFamily="34" charset="0"/>
              </a:rPr>
              <a:t>q 3 weeks x 6 cycles</a:t>
            </a:r>
          </a:p>
        </p:txBody>
      </p:sp>
      <p:sp>
        <p:nvSpPr>
          <p:cNvPr id="9223" name="AutoShape 7"/>
          <p:cNvSpPr>
            <a:spLocks noChangeArrowheads="1"/>
          </p:cNvSpPr>
          <p:nvPr/>
        </p:nvSpPr>
        <p:spPr bwMode="auto">
          <a:xfrm>
            <a:off x="6217397" y="4087814"/>
            <a:ext cx="4754562" cy="214243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round/>
            <a:headEnd/>
            <a:tailEnd/>
          </a:ln>
        </p:spPr>
        <p:txBody>
          <a:bodyPr wrap="square" lIns="18000" tIns="44450" rIns="18000" bIns="44450">
            <a:spAutoFit/>
          </a:bodyPr>
          <a:lstStyle/>
          <a:p>
            <a:pPr algn="ctr" defTabSz="892175" eaLnBrk="0" hangingPunct="0"/>
            <a:r>
              <a:rPr lang="en-US" sz="2400" b="1" dirty="0">
                <a:latin typeface="Franklin Gothic Book" panose="020B0503020102020204" pitchFamily="34" charset="0"/>
                <a:cs typeface="Arial" pitchFamily="34" charset="0"/>
              </a:rPr>
              <a:t>Paclitaxel / Carboplatin </a:t>
            </a:r>
          </a:p>
          <a:p>
            <a:pPr algn="ctr" defTabSz="892175" eaLnBrk="0" hangingPunct="0"/>
            <a:r>
              <a:rPr lang="en-US" sz="2400" b="1" dirty="0">
                <a:latin typeface="Franklin Gothic Book" panose="020B0503020102020204" pitchFamily="34" charset="0"/>
                <a:cs typeface="Arial" pitchFamily="34" charset="0"/>
              </a:rPr>
              <a:t>q 3 weeks x 6 cycles</a:t>
            </a:r>
          </a:p>
          <a:p>
            <a:pPr algn="ctr" defTabSz="892175" eaLnBrk="0" hangingPunct="0"/>
            <a:r>
              <a:rPr lang="en-US" sz="2400" b="1" dirty="0">
                <a:latin typeface="Franklin Gothic Book" panose="020B0503020102020204" pitchFamily="34" charset="0"/>
                <a:cs typeface="Arial" pitchFamily="34" charset="0"/>
              </a:rPr>
              <a:t>+</a:t>
            </a:r>
          </a:p>
          <a:p>
            <a:pPr algn="ctr" defTabSz="892175" eaLnBrk="0" hangingPunct="0"/>
            <a:r>
              <a:rPr lang="en-US" sz="2400" b="1" dirty="0">
                <a:latin typeface="Franklin Gothic Book" panose="020B0503020102020204" pitchFamily="34" charset="0"/>
                <a:cs typeface="Arial" pitchFamily="34" charset="0"/>
              </a:rPr>
              <a:t> Bevacizumab </a:t>
            </a:r>
            <a:br>
              <a:rPr lang="en-US" sz="2400" b="1" dirty="0">
                <a:latin typeface="Franklin Gothic Book" panose="020B0503020102020204" pitchFamily="34" charset="0"/>
                <a:cs typeface="Arial" pitchFamily="34" charset="0"/>
              </a:rPr>
            </a:br>
            <a:r>
              <a:rPr lang="en-US" sz="2400" b="1" dirty="0">
                <a:latin typeface="Franklin Gothic Book" panose="020B0503020102020204" pitchFamily="34" charset="0"/>
                <a:cs typeface="Arial" pitchFamily="34" charset="0"/>
              </a:rPr>
              <a:t>(15mg/kg q 3 </a:t>
            </a:r>
            <a:r>
              <a:rPr lang="en-US" sz="2400" b="1" dirty="0" err="1">
                <a:latin typeface="Franklin Gothic Book" panose="020B0503020102020204" pitchFamily="34" charset="0"/>
                <a:cs typeface="Arial" pitchFamily="34" charset="0"/>
              </a:rPr>
              <a:t>wks</a:t>
            </a:r>
            <a:r>
              <a:rPr lang="en-US" sz="2400" b="1" dirty="0">
                <a:latin typeface="Franklin Gothic Book" panose="020B0503020102020204" pitchFamily="34" charset="0"/>
                <a:cs typeface="Arial" pitchFamily="34" charset="0"/>
              </a:rPr>
              <a:t>) to PD</a:t>
            </a:r>
          </a:p>
        </p:txBody>
      </p:sp>
      <p:sp>
        <p:nvSpPr>
          <p:cNvPr id="9224" name="AutoShape 8"/>
          <p:cNvSpPr>
            <a:spLocks noChangeArrowheads="1"/>
          </p:cNvSpPr>
          <p:nvPr/>
        </p:nvSpPr>
        <p:spPr bwMode="auto">
          <a:xfrm>
            <a:off x="795206" y="2199071"/>
            <a:ext cx="4095041" cy="309247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wrap="square" lIns="18000" tIns="44450" rIns="18000" bIns="44450">
            <a:spAutoFit/>
          </a:bodyPr>
          <a:lstStyle/>
          <a:p>
            <a:pPr marL="174625" indent="-174625" defTabSz="892175" eaLnBrk="0" hangingPunct="0">
              <a:spcBef>
                <a:spcPct val="15000"/>
              </a:spcBef>
            </a:pPr>
            <a:r>
              <a:rPr lang="en-US" sz="2400" u="sng" dirty="0">
                <a:latin typeface="Franklin Gothic Book" panose="020B0503020102020204" pitchFamily="34" charset="0"/>
                <a:cs typeface="Arial" pitchFamily="34" charset="0"/>
              </a:rPr>
              <a:t>Eligibility:</a:t>
            </a:r>
          </a:p>
          <a:p>
            <a:pPr marL="174625" indent="-174625" defTabSz="892175" eaLnBrk="0" hangingPunct="0">
              <a:spcBef>
                <a:spcPct val="15000"/>
              </a:spcBef>
              <a:buFontTx/>
              <a:buChar char="•"/>
            </a:pPr>
            <a:r>
              <a:rPr lang="en-US" sz="2000" dirty="0">
                <a:latin typeface="Franklin Gothic Book" panose="020B0503020102020204" pitchFamily="34" charset="0"/>
                <a:cs typeface="Arial" pitchFamily="34" charset="0"/>
              </a:rPr>
              <a:t>Metastatic or recurrent NSCLC</a:t>
            </a:r>
          </a:p>
          <a:p>
            <a:pPr marL="174625" indent="-174625" defTabSz="892175" eaLnBrk="0" hangingPunct="0">
              <a:spcBef>
                <a:spcPct val="15000"/>
              </a:spcBef>
              <a:buFontTx/>
              <a:buChar char="•"/>
            </a:pPr>
            <a:r>
              <a:rPr lang="en-US" sz="2000" dirty="0">
                <a:latin typeface="Franklin Gothic Book" panose="020B0503020102020204" pitchFamily="34" charset="0"/>
                <a:cs typeface="Arial" pitchFamily="34" charset="0"/>
              </a:rPr>
              <a:t>No prior chemotherapy</a:t>
            </a:r>
          </a:p>
          <a:p>
            <a:pPr marL="174625" indent="-174625" defTabSz="892175" eaLnBrk="0" hangingPunct="0">
              <a:spcBef>
                <a:spcPct val="15000"/>
              </a:spcBef>
              <a:buFontTx/>
              <a:buChar char="•"/>
            </a:pPr>
            <a:r>
              <a:rPr lang="en-US" sz="2000" dirty="0">
                <a:latin typeface="Franklin Gothic Book" panose="020B0503020102020204" pitchFamily="34" charset="0"/>
                <a:cs typeface="Arial" pitchFamily="34" charset="0"/>
              </a:rPr>
              <a:t>PS 0-1</a:t>
            </a:r>
          </a:p>
          <a:p>
            <a:pPr marL="174625" indent="-174625" defTabSz="892175" eaLnBrk="0" hangingPunct="0">
              <a:spcBef>
                <a:spcPct val="15000"/>
              </a:spcBef>
              <a:buFontTx/>
              <a:buChar char="•"/>
            </a:pPr>
            <a:r>
              <a:rPr lang="en-US" sz="2400" b="1" dirty="0">
                <a:latin typeface="Franklin Gothic Book" panose="020B0503020102020204" pitchFamily="34" charset="0"/>
                <a:cs typeface="Arial" pitchFamily="34" charset="0"/>
              </a:rPr>
              <a:t>Non-squamous NSCLC</a:t>
            </a:r>
          </a:p>
          <a:p>
            <a:pPr marL="174625" indent="-174625" defTabSz="892175" eaLnBrk="0" hangingPunct="0">
              <a:spcBef>
                <a:spcPct val="15000"/>
              </a:spcBef>
              <a:buFontTx/>
              <a:buChar char="•"/>
            </a:pPr>
            <a:r>
              <a:rPr lang="en-US" sz="2400" b="1" dirty="0">
                <a:latin typeface="Franklin Gothic Book" panose="020B0503020102020204" pitchFamily="34" charset="0"/>
                <a:cs typeface="Arial" pitchFamily="34" charset="0"/>
              </a:rPr>
              <a:t>No </a:t>
            </a:r>
            <a:r>
              <a:rPr lang="en-US" sz="2400" b="1" dirty="0" err="1">
                <a:latin typeface="Franklin Gothic Book" panose="020B0503020102020204" pitchFamily="34" charset="0"/>
                <a:cs typeface="Arial" pitchFamily="34" charset="0"/>
              </a:rPr>
              <a:t>Hx</a:t>
            </a:r>
            <a:r>
              <a:rPr lang="en-US" sz="2400" b="1" dirty="0">
                <a:latin typeface="Franklin Gothic Book" panose="020B0503020102020204" pitchFamily="34" charset="0"/>
                <a:cs typeface="Arial" pitchFamily="34" charset="0"/>
              </a:rPr>
              <a:t> of hemoptysis</a:t>
            </a:r>
          </a:p>
          <a:p>
            <a:pPr marL="174625" indent="-174625" defTabSz="892175" eaLnBrk="0" hangingPunct="0">
              <a:spcBef>
                <a:spcPct val="15000"/>
              </a:spcBef>
              <a:buFontTx/>
              <a:buChar char="•"/>
            </a:pPr>
            <a:r>
              <a:rPr lang="en-US" sz="2200" dirty="0">
                <a:latin typeface="Franklin Gothic Book" panose="020B0503020102020204" pitchFamily="34" charset="0"/>
                <a:cs typeface="Arial" pitchFamily="34" charset="0"/>
              </a:rPr>
              <a:t>No CNS metastases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4175125" y="6257925"/>
            <a:ext cx="1846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dirty="0">
              <a:latin typeface="Franklin Gothic Book" panose="020B0503020102020204" pitchFamily="34" charset="0"/>
              <a:cs typeface="Arial" pitchFamily="34" charset="0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6934200" y="6400815"/>
            <a:ext cx="70183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tabLst>
                <a:tab pos="92075" algn="l"/>
              </a:tabLst>
            </a:pPr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Sandler et al.</a:t>
            </a:r>
            <a:r>
              <a:rPr lang="en-US" altLang="ja-JP" sz="1400" dirty="0">
                <a:latin typeface="Franklin Gothic Book" panose="020B0503020102020204" pitchFamily="34" charset="0"/>
                <a:ea typeface="ＭＳ Ｐゴシック" pitchFamily="48" charset="-128"/>
                <a:cs typeface="Arial" pitchFamily="34" charset="0"/>
              </a:rPr>
              <a:t> </a:t>
            </a:r>
            <a:r>
              <a:rPr lang="en-US" altLang="ja-JP" sz="1400" i="1" dirty="0">
                <a:latin typeface="Franklin Gothic Book" panose="020B0503020102020204" pitchFamily="34" charset="0"/>
                <a:ea typeface="ＭＳ Ｐゴシック" pitchFamily="48" charset="-128"/>
                <a:cs typeface="Arial" pitchFamily="34" charset="0"/>
              </a:rPr>
              <a:t>N Engl J Med.</a:t>
            </a:r>
            <a:r>
              <a:rPr lang="en-US" sz="1400" i="1" dirty="0">
                <a:latin typeface="Franklin Gothic Book" panose="020B0503020102020204" pitchFamily="34" charset="0"/>
                <a:cs typeface="Arial" pitchFamily="34" charset="0"/>
              </a:rPr>
              <a:t> </a:t>
            </a:r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2006;355:2542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552" cy="1051560"/>
          </a:xfrm>
          <a:noFill/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Does adding bevacizumab to carboplatin</a:t>
            </a:r>
            <a:r>
              <a:rPr lang="en-US" altLang="ja-JP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/p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aclitaxel improve outcomes?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F5DA7D1-3452-9053-31B4-FCD82A10BFB4}"/>
                  </a:ext>
                </a:extLst>
              </p14:cNvPr>
              <p14:cNvContentPartPr/>
              <p14:nvPr/>
            </p14:nvContentPartPr>
            <p14:xfrm>
              <a:off x="502548" y="3828228"/>
              <a:ext cx="251280" cy="371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F5DA7D1-3452-9053-31B4-FCD82A10BF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4548" y="3810228"/>
                <a:ext cx="2869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019F8C-0C24-E2B4-77F7-6DA002520C3D}"/>
                  </a:ext>
                </a:extLst>
              </p14:cNvPr>
              <p14:cNvContentPartPr/>
              <p14:nvPr/>
            </p14:nvContentPartPr>
            <p14:xfrm>
              <a:off x="463668" y="3894468"/>
              <a:ext cx="249840" cy="273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019F8C-0C24-E2B4-77F7-6DA002520C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6028" y="3876468"/>
                <a:ext cx="28548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204CBEE-6195-6FE4-7FCA-73B06FA9C622}"/>
                  </a:ext>
                </a:extLst>
              </p14:cNvPr>
              <p14:cNvContentPartPr/>
              <p14:nvPr/>
            </p14:nvContentPartPr>
            <p14:xfrm>
              <a:off x="331548" y="3958908"/>
              <a:ext cx="519480" cy="20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204CBEE-6195-6FE4-7FCA-73B06FA9C62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3548" y="3940908"/>
                <a:ext cx="555120" cy="5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811159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8808E-C921-8E40-BF82-A22F10663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/>
              <a:t>In initial randomized phase II trial exploring combination of carboplatin, paclitaxel, and bevacizumab.  It enrolled 20% squamous cell.</a:t>
            </a:r>
          </a:p>
          <a:p>
            <a:endParaRPr lang="en-US" sz="2800"/>
          </a:p>
          <a:p>
            <a:r>
              <a:rPr lang="en-US" sz="2800"/>
              <a:t>There were 6 life-threatening bleeds (hemoptysis, hematemesis), 4 were in squamous cell</a:t>
            </a:r>
          </a:p>
          <a:p>
            <a:endParaRPr lang="en-US" sz="2800"/>
          </a:p>
          <a:p>
            <a:r>
              <a:rPr lang="en-US" sz="2800"/>
              <a:t>Subsequent trials explored ways to mitigate risks, but no strategies were effective.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234A09-E943-B54D-809C-B3A336E9BD05}"/>
              </a:ext>
            </a:extLst>
          </p:cNvPr>
          <p:cNvSpPr txBox="1"/>
          <p:nvPr/>
        </p:nvSpPr>
        <p:spPr>
          <a:xfrm>
            <a:off x="8001000" y="6260068"/>
            <a:ext cx="2551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Johnson et al, JCO 2004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FB1504-F923-9E4A-AF29-049E97D7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Why were patients with squamous NSCLC excluded?</a:t>
            </a:r>
          </a:p>
        </p:txBody>
      </p:sp>
    </p:spTree>
    <p:extLst>
      <p:ext uri="{BB962C8B-B14F-4D97-AF65-F5344CB8AC3E}">
        <p14:creationId xmlns:p14="http://schemas.microsoft.com/office/powerpoint/2010/main" val="11736106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>
            <a:graphicFrameLocks/>
          </p:cNvGraphicFramePr>
          <p:nvPr/>
        </p:nvGraphicFramePr>
        <p:xfrm>
          <a:off x="3716792" y="1119582"/>
          <a:ext cx="5808209" cy="1177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869191" y="2270435"/>
            <a:ext cx="1323343" cy="384717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defTabSz="914196"/>
            <a:r>
              <a:rPr lang="en-US" sz="1900" dirty="0">
                <a:latin typeface="Franklin Gothic Book" panose="020B0503020102020204" pitchFamily="34" charset="0"/>
              </a:rPr>
              <a:t>Squamous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9791" y="1066801"/>
            <a:ext cx="752097" cy="384717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defTabSz="914196"/>
            <a:r>
              <a:rPr lang="en-US" sz="1900" dirty="0">
                <a:latin typeface="Franklin Gothic Book" panose="020B0503020102020204" pitchFamily="34" charset="0"/>
              </a:rPr>
              <a:t>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6591" y="1084481"/>
            <a:ext cx="1901770" cy="384717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defTabSz="914196"/>
            <a:r>
              <a:rPr lang="en-US" sz="1900" dirty="0">
                <a:latin typeface="Franklin Gothic Book" panose="020B0503020102020204" pitchFamily="34" charset="0"/>
              </a:rPr>
              <a:t>Adenocarcinoma</a:t>
            </a:r>
          </a:p>
        </p:txBody>
      </p:sp>
      <p:sp>
        <p:nvSpPr>
          <p:cNvPr id="6" name="Left Brace 5"/>
          <p:cNvSpPr/>
          <p:nvPr/>
        </p:nvSpPr>
        <p:spPr>
          <a:xfrm rot="16200000">
            <a:off x="4364491" y="1590881"/>
            <a:ext cx="381000" cy="10668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91424" tIns="45718" rIns="91424" bIns="45718" rtlCol="0" anchor="ctr"/>
          <a:lstStyle/>
          <a:p>
            <a:pPr algn="ctr" defTabSz="914196"/>
            <a:endParaRPr lang="en-US" sz="1900" dirty="0">
              <a:latin typeface="Franklin Gothic Book" panose="020B05030201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26592" y="2256086"/>
            <a:ext cx="1761219" cy="384717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defTabSz="914196"/>
            <a:r>
              <a:rPr lang="en-US" sz="1900" dirty="0">
                <a:latin typeface="Franklin Gothic Book" panose="020B0503020102020204" pitchFamily="34" charset="0"/>
              </a:rPr>
              <a:t>Non-Squamous</a:t>
            </a:r>
          </a:p>
        </p:txBody>
      </p:sp>
      <p:pic>
        <p:nvPicPr>
          <p:cNvPr id="20" name="Picture 8" descr="http://www.mdconsult.com/das/book/body/199444570-2/0/2060/f4-u1.0-B978-1-4377-0792-2..50020-1..gr4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21440" y="2996847"/>
            <a:ext cx="2814870" cy="2016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8" descr="http://www.mdconsult.com/das/book/body/199444570-2/0/2060/f4-u1.0-B978-1-4377-0792-2..50020-1..gr4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59991" y="2996847"/>
            <a:ext cx="2823892" cy="2022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TextBox 21"/>
          <p:cNvSpPr txBox="1"/>
          <p:nvPr/>
        </p:nvSpPr>
        <p:spPr>
          <a:xfrm>
            <a:off x="2857763" y="5130460"/>
            <a:ext cx="2884412" cy="677104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algn="ctr" defTabSz="914196"/>
            <a:r>
              <a:rPr lang="en-US" sz="1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Squamous Cell Carcinoma</a:t>
            </a:r>
          </a:p>
          <a:p>
            <a:pPr algn="ctr" defTabSz="914196"/>
            <a:r>
              <a:rPr lang="en-US" sz="1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p63 (p40)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9708" y="5130460"/>
            <a:ext cx="1901770" cy="677104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algn="ctr" defTabSz="914196"/>
            <a:r>
              <a:rPr lang="en-US" sz="1900" dirty="0">
                <a:latin typeface="Franklin Gothic Book" panose="020B0503020102020204" pitchFamily="34" charset="0"/>
              </a:rPr>
              <a:t>Adenocarcinoma</a:t>
            </a:r>
          </a:p>
          <a:p>
            <a:pPr algn="ctr" defTabSz="914196"/>
            <a:r>
              <a:rPr lang="en-US" sz="1900" dirty="0">
                <a:latin typeface="Franklin Gothic Book" panose="020B0503020102020204" pitchFamily="34" charset="0"/>
              </a:rPr>
              <a:t>TTF-1, Napsin </a:t>
            </a:r>
          </a:p>
        </p:txBody>
      </p:sp>
      <p:sp>
        <p:nvSpPr>
          <p:cNvPr id="15" name="Left Brace 14"/>
          <p:cNvSpPr/>
          <p:nvPr/>
        </p:nvSpPr>
        <p:spPr>
          <a:xfrm rot="16200000">
            <a:off x="6705600" y="332413"/>
            <a:ext cx="381000" cy="35814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91424" tIns="45718" rIns="91424" bIns="45718" rtlCol="0" anchor="ctr"/>
          <a:lstStyle/>
          <a:p>
            <a:pPr algn="ctr" defTabSz="914196"/>
            <a:endParaRPr lang="en-US" sz="1900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NSCLC is now divided into squamous and non-squamous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8E2A07-D3E2-8407-A44D-FD857BA4256C}"/>
              </a:ext>
            </a:extLst>
          </p:cNvPr>
          <p:cNvGrpSpPr/>
          <p:nvPr/>
        </p:nvGrpSpPr>
        <p:grpSpPr>
          <a:xfrm>
            <a:off x="7826276" y="2320316"/>
            <a:ext cx="510480" cy="332640"/>
            <a:chOff x="7826276" y="2320316"/>
            <a:chExt cx="51048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B89212-C5B5-D671-1B9A-9CBCB595F36F}"/>
                    </a:ext>
                  </a:extLst>
                </p14:cNvPr>
                <p14:cNvContentPartPr/>
                <p14:nvPr/>
              </p14:nvContentPartPr>
              <p14:xfrm>
                <a:off x="7895396" y="2320316"/>
                <a:ext cx="159840" cy="332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B89212-C5B5-D671-1B9A-9CBCB595F36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877396" y="2302676"/>
                  <a:ext cx="1954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A02809F-63FA-C58E-955C-EA2CC886F08E}"/>
                    </a:ext>
                  </a:extLst>
                </p14:cNvPr>
                <p14:cNvContentPartPr/>
                <p14:nvPr/>
              </p14:nvContentPartPr>
              <p14:xfrm>
                <a:off x="7826276" y="2436956"/>
                <a:ext cx="363600" cy="20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A02809F-63FA-C58E-955C-EA2CC886F08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08276" y="2419316"/>
                  <a:ext cx="3992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D78FEA2-43E8-C015-28AA-DDB8CF0C767F}"/>
                    </a:ext>
                  </a:extLst>
                </p14:cNvPr>
                <p14:cNvContentPartPr/>
                <p14:nvPr/>
              </p14:nvContentPartPr>
              <p14:xfrm>
                <a:off x="7865516" y="2457836"/>
                <a:ext cx="471240" cy="167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D78FEA2-43E8-C015-28AA-DDB8CF0C767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47876" y="2440196"/>
                  <a:ext cx="506880" cy="202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180428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/>
          <p:cNvSpPr>
            <a:spLocks noChangeShapeType="1"/>
          </p:cNvSpPr>
          <p:nvPr/>
        </p:nvSpPr>
        <p:spPr bwMode="auto">
          <a:xfrm>
            <a:off x="4357688" y="4268803"/>
            <a:ext cx="1276350" cy="962025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9219" name="Line 3"/>
          <p:cNvSpPr>
            <a:spLocks noChangeShapeType="1"/>
          </p:cNvSpPr>
          <p:nvPr/>
        </p:nvSpPr>
        <p:spPr bwMode="auto">
          <a:xfrm flipV="1">
            <a:off x="4476751" y="2716215"/>
            <a:ext cx="1187450" cy="811212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5083182" y="6934213"/>
            <a:ext cx="5203825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</a:pPr>
            <a:endParaRPr lang="en-GB" sz="1400" b="1" dirty="0">
              <a:latin typeface="Franklin Gothic Book" panose="020B0503020102020204" pitchFamily="34" charset="0"/>
              <a:cs typeface="Arial" pitchFamily="34" charset="0"/>
            </a:endParaRPr>
          </a:p>
        </p:txBody>
      </p:sp>
      <p:sp>
        <p:nvSpPr>
          <p:cNvPr id="9222" name="AutoShape 6"/>
          <p:cNvSpPr>
            <a:spLocks noChangeArrowheads="1"/>
          </p:cNvSpPr>
          <p:nvPr/>
        </p:nvSpPr>
        <p:spPr bwMode="auto">
          <a:xfrm>
            <a:off x="5691189" y="2030431"/>
            <a:ext cx="4745216" cy="91656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square" lIns="18000" tIns="44450" rIns="18000" bIns="44450">
            <a:spAutoFit/>
          </a:bodyPr>
          <a:lstStyle/>
          <a:p>
            <a:pPr algn="ctr" defTabSz="892175" eaLnBrk="0" hangingPunct="0"/>
            <a:r>
              <a:rPr lang="en-US" sz="2400" dirty="0">
                <a:solidFill>
                  <a:schemeClr val="bg1"/>
                </a:solidFill>
                <a:latin typeface="Franklin Gothic Book" panose="020B0503020102020204" pitchFamily="34" charset="0"/>
                <a:cs typeface="Arial" pitchFamily="34" charset="0"/>
              </a:rPr>
              <a:t>Paclitaxel / Carboplatin  </a:t>
            </a:r>
          </a:p>
          <a:p>
            <a:pPr algn="ctr" defTabSz="892175" eaLnBrk="0" hangingPunct="0"/>
            <a:r>
              <a:rPr lang="en-US" sz="2400" dirty="0">
                <a:solidFill>
                  <a:schemeClr val="bg1"/>
                </a:solidFill>
                <a:latin typeface="Franklin Gothic Book" panose="020B0503020102020204" pitchFamily="34" charset="0"/>
                <a:cs typeface="Arial" pitchFamily="34" charset="0"/>
              </a:rPr>
              <a:t>q 3 weeks x 6 cycles</a:t>
            </a:r>
          </a:p>
        </p:txBody>
      </p:sp>
      <p:sp>
        <p:nvSpPr>
          <p:cNvPr id="9223" name="AutoShape 7"/>
          <p:cNvSpPr>
            <a:spLocks noChangeArrowheads="1"/>
          </p:cNvSpPr>
          <p:nvPr/>
        </p:nvSpPr>
        <p:spPr bwMode="auto">
          <a:xfrm>
            <a:off x="5684838" y="4087814"/>
            <a:ext cx="4754562" cy="214243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algn="ctr">
            <a:noFill/>
            <a:round/>
            <a:headEnd/>
            <a:tailEnd/>
          </a:ln>
        </p:spPr>
        <p:txBody>
          <a:bodyPr wrap="square" lIns="18000" tIns="44450" rIns="18000" bIns="44450">
            <a:spAutoFit/>
          </a:bodyPr>
          <a:lstStyle/>
          <a:p>
            <a:pPr algn="ctr" defTabSz="892175" eaLnBrk="0" hangingPunct="0"/>
            <a:r>
              <a:rPr lang="en-US" sz="2400" dirty="0">
                <a:latin typeface="Franklin Gothic Book" panose="020B0503020102020204" pitchFamily="34" charset="0"/>
                <a:cs typeface="Arial" pitchFamily="34" charset="0"/>
              </a:rPr>
              <a:t>Paclitaxel / Carboplatin </a:t>
            </a:r>
          </a:p>
          <a:p>
            <a:pPr algn="ctr" defTabSz="892175" eaLnBrk="0" hangingPunct="0"/>
            <a:r>
              <a:rPr lang="en-US" sz="2400" dirty="0">
                <a:latin typeface="Franklin Gothic Book" panose="020B0503020102020204" pitchFamily="34" charset="0"/>
                <a:cs typeface="Arial" pitchFamily="34" charset="0"/>
              </a:rPr>
              <a:t>q 3 weeks x 6 cycles</a:t>
            </a:r>
          </a:p>
          <a:p>
            <a:pPr algn="ctr" defTabSz="892175" eaLnBrk="0" hangingPunct="0"/>
            <a:r>
              <a:rPr lang="en-US" sz="2400" dirty="0">
                <a:latin typeface="Franklin Gothic Book" panose="020B0503020102020204" pitchFamily="34" charset="0"/>
                <a:cs typeface="Arial" pitchFamily="34" charset="0"/>
              </a:rPr>
              <a:t>+</a:t>
            </a:r>
          </a:p>
          <a:p>
            <a:pPr algn="ctr" defTabSz="892175" eaLnBrk="0" hangingPunct="0"/>
            <a:r>
              <a:rPr lang="en-US" sz="2400" dirty="0">
                <a:latin typeface="Franklin Gothic Book" panose="020B0503020102020204" pitchFamily="34" charset="0"/>
                <a:cs typeface="Arial" pitchFamily="34" charset="0"/>
              </a:rPr>
              <a:t> Bevacizumab </a:t>
            </a:r>
            <a:br>
              <a:rPr lang="en-US" sz="2400" dirty="0">
                <a:latin typeface="Franklin Gothic Book" panose="020B0503020102020204" pitchFamily="34" charset="0"/>
                <a:cs typeface="Arial" pitchFamily="34" charset="0"/>
              </a:rPr>
            </a:br>
            <a:r>
              <a:rPr lang="en-US" sz="2400" dirty="0">
                <a:latin typeface="Franklin Gothic Book" panose="020B0503020102020204" pitchFamily="34" charset="0"/>
                <a:cs typeface="Arial" pitchFamily="34" charset="0"/>
              </a:rPr>
              <a:t>(15mg/kg q 3 </a:t>
            </a:r>
            <a:r>
              <a:rPr lang="en-US" sz="2400" dirty="0" err="1">
                <a:latin typeface="Franklin Gothic Book" panose="020B0503020102020204" pitchFamily="34" charset="0"/>
                <a:cs typeface="Arial" pitchFamily="34" charset="0"/>
              </a:rPr>
              <a:t>wks</a:t>
            </a:r>
            <a:r>
              <a:rPr lang="en-US" sz="2400" dirty="0">
                <a:latin typeface="Franklin Gothic Book" panose="020B0503020102020204" pitchFamily="34" charset="0"/>
                <a:cs typeface="Arial" pitchFamily="34" charset="0"/>
              </a:rPr>
              <a:t>) to PD</a:t>
            </a:r>
          </a:p>
        </p:txBody>
      </p:sp>
      <p:sp>
        <p:nvSpPr>
          <p:cNvPr id="9224" name="AutoShape 8"/>
          <p:cNvSpPr>
            <a:spLocks noChangeArrowheads="1"/>
          </p:cNvSpPr>
          <p:nvPr/>
        </p:nvSpPr>
        <p:spPr bwMode="auto">
          <a:xfrm>
            <a:off x="533400" y="1927767"/>
            <a:ext cx="3824288" cy="373605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wrap="square" lIns="18000" tIns="44450" rIns="18000" bIns="44450">
            <a:spAutoFit/>
          </a:bodyPr>
          <a:lstStyle/>
          <a:p>
            <a:pPr marL="174625" indent="-174625" defTabSz="892175" eaLnBrk="0" hangingPunct="0">
              <a:spcBef>
                <a:spcPct val="15000"/>
              </a:spcBef>
            </a:pPr>
            <a:r>
              <a:rPr lang="en-US" sz="2400" u="sng" dirty="0">
                <a:latin typeface="Franklin Gothic Book" panose="020B0503020102020204" pitchFamily="34" charset="0"/>
                <a:cs typeface="Arial" pitchFamily="34" charset="0"/>
              </a:rPr>
              <a:t>Eligibility:</a:t>
            </a:r>
          </a:p>
          <a:p>
            <a:pPr marL="174625" indent="-174625" defTabSz="892175" eaLnBrk="0" hangingPunct="0">
              <a:spcBef>
                <a:spcPct val="15000"/>
              </a:spcBef>
              <a:buFontTx/>
              <a:buChar char="•"/>
            </a:pPr>
            <a:r>
              <a:rPr lang="en-US" sz="2400" dirty="0">
                <a:latin typeface="Franklin Gothic Book" panose="020B0503020102020204" pitchFamily="34" charset="0"/>
                <a:cs typeface="Arial" pitchFamily="34" charset="0"/>
              </a:rPr>
              <a:t>Metastatic or recurrent NSCLC</a:t>
            </a:r>
          </a:p>
          <a:p>
            <a:pPr marL="174625" indent="-174625" defTabSz="892175" eaLnBrk="0" hangingPunct="0">
              <a:spcBef>
                <a:spcPct val="15000"/>
              </a:spcBef>
              <a:buFontTx/>
              <a:buChar char="•"/>
            </a:pPr>
            <a:r>
              <a:rPr lang="en-US" sz="2400" dirty="0">
                <a:latin typeface="Franklin Gothic Book" panose="020B0503020102020204" pitchFamily="34" charset="0"/>
                <a:cs typeface="Arial" pitchFamily="34" charset="0"/>
              </a:rPr>
              <a:t>No prior chemotherapy</a:t>
            </a:r>
          </a:p>
          <a:p>
            <a:pPr marL="174625" indent="-174625" defTabSz="892175" eaLnBrk="0" hangingPunct="0">
              <a:spcBef>
                <a:spcPct val="15000"/>
              </a:spcBef>
              <a:buFontTx/>
              <a:buChar char="•"/>
            </a:pPr>
            <a:r>
              <a:rPr lang="en-US" sz="2400" dirty="0">
                <a:latin typeface="Franklin Gothic Book" panose="020B0503020102020204" pitchFamily="34" charset="0"/>
                <a:cs typeface="Arial" pitchFamily="34" charset="0"/>
              </a:rPr>
              <a:t>PS 0-1</a:t>
            </a:r>
          </a:p>
          <a:p>
            <a:pPr marL="174625" indent="-174625" defTabSz="892175" eaLnBrk="0" hangingPunct="0">
              <a:spcBef>
                <a:spcPct val="15000"/>
              </a:spcBef>
              <a:buFontTx/>
              <a:buChar char="•"/>
            </a:pPr>
            <a:r>
              <a:rPr lang="en-US" sz="2400" b="1" dirty="0">
                <a:latin typeface="Franklin Gothic Book" panose="020B0503020102020204" pitchFamily="34" charset="0"/>
                <a:cs typeface="Arial" pitchFamily="34" charset="0"/>
              </a:rPr>
              <a:t>Non-squamous NSCLC</a:t>
            </a:r>
          </a:p>
          <a:p>
            <a:pPr marL="174625" indent="-174625" defTabSz="892175" eaLnBrk="0" hangingPunct="0">
              <a:spcBef>
                <a:spcPct val="15000"/>
              </a:spcBef>
              <a:buFontTx/>
              <a:buChar char="•"/>
            </a:pPr>
            <a:r>
              <a:rPr lang="en-US" sz="2400" b="1" dirty="0">
                <a:latin typeface="Franklin Gothic Book" panose="020B0503020102020204" pitchFamily="34" charset="0"/>
                <a:cs typeface="Arial" pitchFamily="34" charset="0"/>
              </a:rPr>
              <a:t>No </a:t>
            </a:r>
            <a:r>
              <a:rPr lang="en-US" sz="2400" b="1" dirty="0" err="1">
                <a:latin typeface="Franklin Gothic Book" panose="020B0503020102020204" pitchFamily="34" charset="0"/>
                <a:cs typeface="Arial" pitchFamily="34" charset="0"/>
              </a:rPr>
              <a:t>Hx</a:t>
            </a:r>
            <a:r>
              <a:rPr lang="en-US" sz="2400" b="1" dirty="0">
                <a:latin typeface="Franklin Gothic Book" panose="020B0503020102020204" pitchFamily="34" charset="0"/>
                <a:cs typeface="Arial" pitchFamily="34" charset="0"/>
              </a:rPr>
              <a:t> of hemoptysis</a:t>
            </a:r>
          </a:p>
          <a:p>
            <a:pPr marL="174625" indent="-174625" defTabSz="892175" eaLnBrk="0" hangingPunct="0">
              <a:spcBef>
                <a:spcPct val="15000"/>
              </a:spcBef>
              <a:buFontTx/>
              <a:buChar char="•"/>
            </a:pPr>
            <a:r>
              <a:rPr lang="en-US" sz="2400" dirty="0">
                <a:latin typeface="Franklin Gothic Book" panose="020B0503020102020204" pitchFamily="34" charset="0"/>
                <a:cs typeface="Arial" pitchFamily="34" charset="0"/>
              </a:rPr>
              <a:t>No CNS metastases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4175125" y="6257925"/>
            <a:ext cx="1846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dirty="0">
              <a:latin typeface="Franklin Gothic Book" panose="020B0503020102020204" pitchFamily="34" charset="0"/>
              <a:cs typeface="Arial" pitchFamily="34" charset="0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6934200" y="6400815"/>
            <a:ext cx="70183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tabLst>
                <a:tab pos="92075" algn="l"/>
              </a:tabLst>
            </a:pPr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Sandler et al.</a:t>
            </a:r>
            <a:r>
              <a:rPr lang="en-US" altLang="ja-JP" sz="1400" dirty="0">
                <a:latin typeface="Franklin Gothic Book" panose="020B0503020102020204" pitchFamily="34" charset="0"/>
                <a:ea typeface="ＭＳ Ｐゴシック" pitchFamily="48" charset="-128"/>
                <a:cs typeface="Arial" pitchFamily="34" charset="0"/>
              </a:rPr>
              <a:t> </a:t>
            </a:r>
            <a:r>
              <a:rPr lang="en-US" altLang="ja-JP" sz="1400" i="1" dirty="0">
                <a:latin typeface="Franklin Gothic Book" panose="020B0503020102020204" pitchFamily="34" charset="0"/>
                <a:ea typeface="ＭＳ Ｐゴシック" pitchFamily="48" charset="-128"/>
                <a:cs typeface="Arial" pitchFamily="34" charset="0"/>
              </a:rPr>
              <a:t>N Engl J Med.</a:t>
            </a:r>
            <a:r>
              <a:rPr lang="en-US" sz="1400" i="1" dirty="0">
                <a:latin typeface="Franklin Gothic Book" panose="020B0503020102020204" pitchFamily="34" charset="0"/>
                <a:cs typeface="Arial" pitchFamily="34" charset="0"/>
              </a:rPr>
              <a:t> </a:t>
            </a:r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2006;355:2542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552" cy="1051560"/>
          </a:xfrm>
          <a:noFill/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Does adding bevacizumab to carboplatin</a:t>
            </a:r>
            <a:r>
              <a:rPr lang="en-US" altLang="ja-JP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/p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aclitaxel improve outcomes?</a:t>
            </a:r>
          </a:p>
        </p:txBody>
      </p:sp>
    </p:spTree>
    <p:extLst>
      <p:ext uri="{BB962C8B-B14F-4D97-AF65-F5344CB8AC3E}">
        <p14:creationId xmlns:p14="http://schemas.microsoft.com/office/powerpoint/2010/main" val="274314899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6934200" y="6400815"/>
            <a:ext cx="70183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tabLst>
                <a:tab pos="92075" algn="l"/>
              </a:tabLst>
            </a:pPr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Sandler et al.</a:t>
            </a:r>
            <a:r>
              <a:rPr lang="en-US" altLang="ja-JP" sz="1400" dirty="0">
                <a:latin typeface="Franklin Gothic Book" panose="020B0503020102020204" pitchFamily="34" charset="0"/>
                <a:ea typeface="ＭＳ Ｐゴシック" pitchFamily="48" charset="-128"/>
                <a:cs typeface="Arial" pitchFamily="34" charset="0"/>
              </a:rPr>
              <a:t> </a:t>
            </a:r>
            <a:r>
              <a:rPr lang="en-US" altLang="ja-JP" sz="1400" i="1" dirty="0">
                <a:latin typeface="Franklin Gothic Book" panose="020B0503020102020204" pitchFamily="34" charset="0"/>
                <a:ea typeface="ＭＳ Ｐゴシック" pitchFamily="48" charset="-128"/>
                <a:cs typeface="Arial" pitchFamily="34" charset="0"/>
              </a:rPr>
              <a:t>N Engl J Med.</a:t>
            </a:r>
            <a:r>
              <a:rPr lang="en-US" sz="1400" i="1" dirty="0">
                <a:latin typeface="Franklin Gothic Book" panose="020B0503020102020204" pitchFamily="34" charset="0"/>
                <a:cs typeface="Arial" pitchFamily="34" charset="0"/>
              </a:rPr>
              <a:t> </a:t>
            </a:r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2006;355:2542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930401" y="1143015"/>
            <a:ext cx="8737600" cy="7694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buClr>
                <a:srgbClr val="C51D1D"/>
              </a:buClr>
            </a:pPr>
            <a:r>
              <a:rPr lang="en-US" altLang="ja-JP" sz="2200" b="1" dirty="0">
                <a:latin typeface="Franklin Gothic Book" panose="020B0503020102020204" pitchFamily="34" charset="0"/>
                <a:ea typeface="ＭＳ Ｐゴシック" pitchFamily="48" charset="-128"/>
                <a:cs typeface="Arial" pitchFamily="34" charset="0"/>
              </a:rPr>
              <a:t>Response rate: 	15% for carbo/paclitaxel </a:t>
            </a:r>
          </a:p>
          <a:p>
            <a:pPr eaLnBrk="0" hangingPunct="0">
              <a:buClr>
                <a:srgbClr val="C51D1D"/>
              </a:buClr>
            </a:pPr>
            <a:r>
              <a:rPr lang="en-US" altLang="ja-JP" sz="2200" b="1" dirty="0">
                <a:latin typeface="Franklin Gothic Book" panose="020B0503020102020204" pitchFamily="34" charset="0"/>
                <a:ea typeface="ＭＳ Ｐゴシック" pitchFamily="48" charset="-128"/>
                <a:cs typeface="Arial" pitchFamily="34" charset="0"/>
              </a:rPr>
              <a:t>		    	35% for carbo/paclitaxel + bevacizumab</a:t>
            </a:r>
            <a:endParaRPr lang="en-US" sz="2200" b="1" dirty="0">
              <a:latin typeface="Franklin Gothic Book" panose="020B0503020102020204" pitchFamily="34" charset="0"/>
              <a:ea typeface="ＭＳ Ｐゴシック" pitchFamily="48" charset="-128"/>
              <a:cs typeface="Arial" pitchFamily="34" charset="0"/>
            </a:endParaRPr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 flipV="1">
            <a:off x="6764340" y="2703519"/>
            <a:ext cx="1587" cy="2676525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 flipH="1">
            <a:off x="6691324" y="5422903"/>
            <a:ext cx="73025" cy="1588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 flipH="1">
            <a:off x="6696086" y="4943475"/>
            <a:ext cx="68263" cy="1588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 flipH="1" flipV="1">
            <a:off x="6689729" y="4351344"/>
            <a:ext cx="74613" cy="1587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 flipH="1">
            <a:off x="6697683" y="3771902"/>
            <a:ext cx="66675" cy="1588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 flipH="1" flipV="1">
            <a:off x="6689729" y="3240092"/>
            <a:ext cx="74613" cy="1587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 flipH="1">
            <a:off x="6689729" y="2703516"/>
            <a:ext cx="74613" cy="1587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53" name="Freeform 13"/>
          <p:cNvSpPr>
            <a:spLocks/>
          </p:cNvSpPr>
          <p:nvPr/>
        </p:nvSpPr>
        <p:spPr bwMode="auto">
          <a:xfrm>
            <a:off x="6764345" y="2579692"/>
            <a:ext cx="3538537" cy="2889251"/>
          </a:xfrm>
          <a:custGeom>
            <a:avLst/>
            <a:gdLst>
              <a:gd name="T0" fmla="*/ 0 w 649"/>
              <a:gd name="T1" fmla="*/ 0 h 405"/>
              <a:gd name="T2" fmla="*/ 0 w 649"/>
              <a:gd name="T3" fmla="*/ 405 h 405"/>
              <a:gd name="T4" fmla="*/ 649 w 649"/>
              <a:gd name="T5" fmla="*/ 405 h 405"/>
              <a:gd name="T6" fmla="*/ 0 60000 65536"/>
              <a:gd name="T7" fmla="*/ 0 60000 65536"/>
              <a:gd name="T8" fmla="*/ 0 60000 65536"/>
              <a:gd name="T9" fmla="*/ 0 w 649"/>
              <a:gd name="T10" fmla="*/ 0 h 405"/>
              <a:gd name="T11" fmla="*/ 649 w 649"/>
              <a:gd name="T12" fmla="*/ 405 h 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9" h="405">
                <a:moveTo>
                  <a:pt x="0" y="0"/>
                </a:moveTo>
                <a:lnTo>
                  <a:pt x="0" y="405"/>
                </a:lnTo>
                <a:lnTo>
                  <a:pt x="649" y="405"/>
                </a:lnTo>
              </a:path>
            </a:pathLst>
          </a:custGeom>
          <a:noFill/>
          <a:ln w="27051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54" name="Freeform 14"/>
          <p:cNvSpPr>
            <a:spLocks/>
          </p:cNvSpPr>
          <p:nvPr/>
        </p:nvSpPr>
        <p:spPr bwMode="auto">
          <a:xfrm>
            <a:off x="6896106" y="2703515"/>
            <a:ext cx="3275013" cy="2411412"/>
          </a:xfrm>
          <a:custGeom>
            <a:avLst/>
            <a:gdLst>
              <a:gd name="T0" fmla="*/ 7 w 601"/>
              <a:gd name="T1" fmla="*/ 4 h 338"/>
              <a:gd name="T2" fmla="*/ 15 w 601"/>
              <a:gd name="T3" fmla="*/ 6 h 338"/>
              <a:gd name="T4" fmla="*/ 17 w 601"/>
              <a:gd name="T5" fmla="*/ 10 h 338"/>
              <a:gd name="T6" fmla="*/ 24 w 601"/>
              <a:gd name="T7" fmla="*/ 16 h 338"/>
              <a:gd name="T8" fmla="*/ 27 w 601"/>
              <a:gd name="T9" fmla="*/ 20 h 338"/>
              <a:gd name="T10" fmla="*/ 31 w 601"/>
              <a:gd name="T11" fmla="*/ 24 h 338"/>
              <a:gd name="T12" fmla="*/ 33 w 601"/>
              <a:gd name="T13" fmla="*/ 28 h 338"/>
              <a:gd name="T14" fmla="*/ 36 w 601"/>
              <a:gd name="T15" fmla="*/ 30 h 338"/>
              <a:gd name="T16" fmla="*/ 40 w 601"/>
              <a:gd name="T17" fmla="*/ 36 h 338"/>
              <a:gd name="T18" fmla="*/ 43 w 601"/>
              <a:gd name="T19" fmla="*/ 39 h 338"/>
              <a:gd name="T20" fmla="*/ 48 w 601"/>
              <a:gd name="T21" fmla="*/ 45 h 338"/>
              <a:gd name="T22" fmla="*/ 51 w 601"/>
              <a:gd name="T23" fmla="*/ 50 h 338"/>
              <a:gd name="T24" fmla="*/ 52 w 601"/>
              <a:gd name="T25" fmla="*/ 57 h 338"/>
              <a:gd name="T26" fmla="*/ 55 w 601"/>
              <a:gd name="T27" fmla="*/ 61 h 338"/>
              <a:gd name="T28" fmla="*/ 57 w 601"/>
              <a:gd name="T29" fmla="*/ 66 h 338"/>
              <a:gd name="T30" fmla="*/ 63 w 601"/>
              <a:gd name="T31" fmla="*/ 69 h 338"/>
              <a:gd name="T32" fmla="*/ 67 w 601"/>
              <a:gd name="T33" fmla="*/ 77 h 338"/>
              <a:gd name="T34" fmla="*/ 71 w 601"/>
              <a:gd name="T35" fmla="*/ 81 h 338"/>
              <a:gd name="T36" fmla="*/ 73 w 601"/>
              <a:gd name="T37" fmla="*/ 85 h 338"/>
              <a:gd name="T38" fmla="*/ 82 w 601"/>
              <a:gd name="T39" fmla="*/ 90 h 338"/>
              <a:gd name="T40" fmla="*/ 86 w 601"/>
              <a:gd name="T41" fmla="*/ 94 h 338"/>
              <a:gd name="T42" fmla="*/ 89 w 601"/>
              <a:gd name="T43" fmla="*/ 98 h 338"/>
              <a:gd name="T44" fmla="*/ 90 w 601"/>
              <a:gd name="T45" fmla="*/ 104 h 338"/>
              <a:gd name="T46" fmla="*/ 96 w 601"/>
              <a:gd name="T47" fmla="*/ 110 h 338"/>
              <a:gd name="T48" fmla="*/ 98 w 601"/>
              <a:gd name="T49" fmla="*/ 116 h 338"/>
              <a:gd name="T50" fmla="*/ 101 w 601"/>
              <a:gd name="T51" fmla="*/ 119 h 338"/>
              <a:gd name="T52" fmla="*/ 105 w 601"/>
              <a:gd name="T53" fmla="*/ 125 h 338"/>
              <a:gd name="T54" fmla="*/ 107 w 601"/>
              <a:gd name="T55" fmla="*/ 129 h 338"/>
              <a:gd name="T56" fmla="*/ 109 w 601"/>
              <a:gd name="T57" fmla="*/ 135 h 338"/>
              <a:gd name="T58" fmla="*/ 114 w 601"/>
              <a:gd name="T59" fmla="*/ 138 h 338"/>
              <a:gd name="T60" fmla="*/ 119 w 601"/>
              <a:gd name="T61" fmla="*/ 143 h 338"/>
              <a:gd name="T62" fmla="*/ 121 w 601"/>
              <a:gd name="T63" fmla="*/ 148 h 338"/>
              <a:gd name="T64" fmla="*/ 124 w 601"/>
              <a:gd name="T65" fmla="*/ 153 h 338"/>
              <a:gd name="T66" fmla="*/ 127 w 601"/>
              <a:gd name="T67" fmla="*/ 156 h 338"/>
              <a:gd name="T68" fmla="*/ 130 w 601"/>
              <a:gd name="T69" fmla="*/ 162 h 338"/>
              <a:gd name="T70" fmla="*/ 136 w 601"/>
              <a:gd name="T71" fmla="*/ 167 h 338"/>
              <a:gd name="T72" fmla="*/ 138 w 601"/>
              <a:gd name="T73" fmla="*/ 172 h 338"/>
              <a:gd name="T74" fmla="*/ 144 w 601"/>
              <a:gd name="T75" fmla="*/ 175 h 338"/>
              <a:gd name="T76" fmla="*/ 145 w 601"/>
              <a:gd name="T77" fmla="*/ 183 h 338"/>
              <a:gd name="T78" fmla="*/ 154 w 601"/>
              <a:gd name="T79" fmla="*/ 187 h 338"/>
              <a:gd name="T80" fmla="*/ 161 w 601"/>
              <a:gd name="T81" fmla="*/ 195 h 338"/>
              <a:gd name="T82" fmla="*/ 165 w 601"/>
              <a:gd name="T83" fmla="*/ 199 h 338"/>
              <a:gd name="T84" fmla="*/ 169 w 601"/>
              <a:gd name="T85" fmla="*/ 207 h 338"/>
              <a:gd name="T86" fmla="*/ 183 w 601"/>
              <a:gd name="T87" fmla="*/ 211 h 338"/>
              <a:gd name="T88" fmla="*/ 190 w 601"/>
              <a:gd name="T89" fmla="*/ 217 h 338"/>
              <a:gd name="T90" fmla="*/ 199 w 601"/>
              <a:gd name="T91" fmla="*/ 224 h 338"/>
              <a:gd name="T92" fmla="*/ 208 w 601"/>
              <a:gd name="T93" fmla="*/ 234 h 338"/>
              <a:gd name="T94" fmla="*/ 223 w 601"/>
              <a:gd name="T95" fmla="*/ 239 h 338"/>
              <a:gd name="T96" fmla="*/ 233 w 601"/>
              <a:gd name="T97" fmla="*/ 247 h 338"/>
              <a:gd name="T98" fmla="*/ 244 w 601"/>
              <a:gd name="T99" fmla="*/ 254 h 338"/>
              <a:gd name="T100" fmla="*/ 258 w 601"/>
              <a:gd name="T101" fmla="*/ 265 h 338"/>
              <a:gd name="T102" fmla="*/ 272 w 601"/>
              <a:gd name="T103" fmla="*/ 272 h 338"/>
              <a:gd name="T104" fmla="*/ 292 w 601"/>
              <a:gd name="T105" fmla="*/ 282 h 338"/>
              <a:gd name="T106" fmla="*/ 321 w 601"/>
              <a:gd name="T107" fmla="*/ 291 h 338"/>
              <a:gd name="T108" fmla="*/ 353 w 601"/>
              <a:gd name="T109" fmla="*/ 311 h 338"/>
              <a:gd name="T110" fmla="*/ 601 w 601"/>
              <a:gd name="T111" fmla="*/ 338 h 338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601"/>
              <a:gd name="T169" fmla="*/ 0 h 338"/>
              <a:gd name="T170" fmla="*/ 601 w 601"/>
              <a:gd name="T171" fmla="*/ 338 h 338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601" h="338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5" y="1"/>
                </a:lnTo>
                <a:lnTo>
                  <a:pt x="5" y="3"/>
                </a:lnTo>
                <a:lnTo>
                  <a:pt x="7" y="3"/>
                </a:lnTo>
                <a:lnTo>
                  <a:pt x="7" y="4"/>
                </a:lnTo>
                <a:lnTo>
                  <a:pt x="7" y="5"/>
                </a:lnTo>
                <a:lnTo>
                  <a:pt x="9" y="5"/>
                </a:lnTo>
                <a:lnTo>
                  <a:pt x="9" y="6"/>
                </a:lnTo>
                <a:lnTo>
                  <a:pt x="11" y="6"/>
                </a:lnTo>
                <a:lnTo>
                  <a:pt x="15" y="6"/>
                </a:lnTo>
                <a:lnTo>
                  <a:pt x="15" y="7"/>
                </a:lnTo>
                <a:lnTo>
                  <a:pt x="16" y="7"/>
                </a:lnTo>
                <a:lnTo>
                  <a:pt x="16" y="8"/>
                </a:lnTo>
                <a:lnTo>
                  <a:pt x="16" y="9"/>
                </a:lnTo>
                <a:lnTo>
                  <a:pt x="17" y="9"/>
                </a:lnTo>
                <a:lnTo>
                  <a:pt x="17" y="10"/>
                </a:lnTo>
                <a:lnTo>
                  <a:pt x="19" y="10"/>
                </a:lnTo>
                <a:lnTo>
                  <a:pt x="19" y="11"/>
                </a:lnTo>
                <a:lnTo>
                  <a:pt x="20" y="11"/>
                </a:lnTo>
                <a:lnTo>
                  <a:pt x="20" y="14"/>
                </a:lnTo>
                <a:lnTo>
                  <a:pt x="21" y="14"/>
                </a:lnTo>
                <a:lnTo>
                  <a:pt x="21" y="16"/>
                </a:lnTo>
                <a:lnTo>
                  <a:pt x="24" y="16"/>
                </a:lnTo>
                <a:lnTo>
                  <a:pt x="24" y="17"/>
                </a:lnTo>
                <a:lnTo>
                  <a:pt x="26" y="17"/>
                </a:lnTo>
                <a:lnTo>
                  <a:pt x="26" y="18"/>
                </a:lnTo>
                <a:lnTo>
                  <a:pt x="27" y="18"/>
                </a:lnTo>
                <a:lnTo>
                  <a:pt x="27" y="20"/>
                </a:lnTo>
                <a:lnTo>
                  <a:pt x="28" y="20"/>
                </a:lnTo>
                <a:lnTo>
                  <a:pt x="28" y="21"/>
                </a:lnTo>
                <a:lnTo>
                  <a:pt x="30" y="21"/>
                </a:lnTo>
                <a:lnTo>
                  <a:pt x="30" y="22"/>
                </a:lnTo>
                <a:lnTo>
                  <a:pt x="30" y="24"/>
                </a:lnTo>
                <a:lnTo>
                  <a:pt x="31" y="24"/>
                </a:lnTo>
                <a:lnTo>
                  <a:pt x="31" y="25"/>
                </a:lnTo>
                <a:lnTo>
                  <a:pt x="32" y="25"/>
                </a:lnTo>
                <a:lnTo>
                  <a:pt x="32" y="26"/>
                </a:lnTo>
                <a:lnTo>
                  <a:pt x="32" y="27"/>
                </a:lnTo>
                <a:lnTo>
                  <a:pt x="33" y="27"/>
                </a:lnTo>
                <a:lnTo>
                  <a:pt x="33" y="28"/>
                </a:lnTo>
                <a:lnTo>
                  <a:pt x="34" y="28"/>
                </a:lnTo>
                <a:lnTo>
                  <a:pt x="34" y="29"/>
                </a:lnTo>
                <a:lnTo>
                  <a:pt x="35" y="29"/>
                </a:lnTo>
                <a:lnTo>
                  <a:pt x="35" y="30"/>
                </a:lnTo>
                <a:lnTo>
                  <a:pt x="36" y="30"/>
                </a:lnTo>
                <a:lnTo>
                  <a:pt x="36" y="31"/>
                </a:lnTo>
                <a:lnTo>
                  <a:pt x="37" y="31"/>
                </a:lnTo>
                <a:lnTo>
                  <a:pt x="37" y="33"/>
                </a:lnTo>
                <a:lnTo>
                  <a:pt x="39" y="33"/>
                </a:lnTo>
                <a:lnTo>
                  <a:pt x="39" y="34"/>
                </a:lnTo>
                <a:lnTo>
                  <a:pt x="40" y="34"/>
                </a:lnTo>
                <a:lnTo>
                  <a:pt x="40" y="36"/>
                </a:lnTo>
                <a:lnTo>
                  <a:pt x="41" y="36"/>
                </a:lnTo>
                <a:lnTo>
                  <a:pt x="41" y="37"/>
                </a:lnTo>
                <a:lnTo>
                  <a:pt x="42" y="37"/>
                </a:lnTo>
                <a:lnTo>
                  <a:pt x="42" y="38"/>
                </a:lnTo>
                <a:lnTo>
                  <a:pt x="43" y="38"/>
                </a:lnTo>
                <a:lnTo>
                  <a:pt x="43" y="39"/>
                </a:lnTo>
                <a:lnTo>
                  <a:pt x="43" y="41"/>
                </a:lnTo>
                <a:lnTo>
                  <a:pt x="44" y="41"/>
                </a:lnTo>
                <a:lnTo>
                  <a:pt x="44" y="42"/>
                </a:lnTo>
                <a:lnTo>
                  <a:pt x="47" y="42"/>
                </a:lnTo>
                <a:lnTo>
                  <a:pt x="47" y="43"/>
                </a:lnTo>
                <a:lnTo>
                  <a:pt x="48" y="43"/>
                </a:lnTo>
                <a:lnTo>
                  <a:pt x="48" y="45"/>
                </a:lnTo>
                <a:lnTo>
                  <a:pt x="49" y="45"/>
                </a:lnTo>
                <a:lnTo>
                  <a:pt x="49" y="47"/>
                </a:lnTo>
                <a:lnTo>
                  <a:pt x="50" y="47"/>
                </a:lnTo>
                <a:lnTo>
                  <a:pt x="50" y="49"/>
                </a:lnTo>
                <a:lnTo>
                  <a:pt x="50" y="50"/>
                </a:lnTo>
                <a:lnTo>
                  <a:pt x="51" y="50"/>
                </a:lnTo>
                <a:lnTo>
                  <a:pt x="51" y="52"/>
                </a:lnTo>
                <a:lnTo>
                  <a:pt x="51" y="53"/>
                </a:lnTo>
                <a:lnTo>
                  <a:pt x="52" y="53"/>
                </a:lnTo>
                <a:lnTo>
                  <a:pt x="52" y="56"/>
                </a:lnTo>
                <a:lnTo>
                  <a:pt x="52" y="57"/>
                </a:lnTo>
                <a:lnTo>
                  <a:pt x="53" y="57"/>
                </a:lnTo>
                <a:lnTo>
                  <a:pt x="53" y="58"/>
                </a:lnTo>
                <a:lnTo>
                  <a:pt x="54" y="58"/>
                </a:lnTo>
                <a:lnTo>
                  <a:pt x="54" y="59"/>
                </a:lnTo>
                <a:lnTo>
                  <a:pt x="54" y="61"/>
                </a:lnTo>
                <a:lnTo>
                  <a:pt x="55" y="61"/>
                </a:lnTo>
                <a:lnTo>
                  <a:pt x="55" y="62"/>
                </a:lnTo>
                <a:lnTo>
                  <a:pt x="56" y="62"/>
                </a:lnTo>
                <a:lnTo>
                  <a:pt x="56" y="63"/>
                </a:lnTo>
                <a:lnTo>
                  <a:pt x="57" y="63"/>
                </a:lnTo>
                <a:lnTo>
                  <a:pt x="57" y="65"/>
                </a:lnTo>
                <a:lnTo>
                  <a:pt x="57" y="66"/>
                </a:lnTo>
                <a:lnTo>
                  <a:pt x="58" y="66"/>
                </a:lnTo>
                <a:lnTo>
                  <a:pt x="58" y="67"/>
                </a:lnTo>
                <a:lnTo>
                  <a:pt x="62" y="67"/>
                </a:lnTo>
                <a:lnTo>
                  <a:pt x="62" y="68"/>
                </a:lnTo>
                <a:lnTo>
                  <a:pt x="62" y="69"/>
                </a:lnTo>
                <a:lnTo>
                  <a:pt x="63" y="69"/>
                </a:lnTo>
                <a:lnTo>
                  <a:pt x="63" y="70"/>
                </a:lnTo>
                <a:lnTo>
                  <a:pt x="64" y="70"/>
                </a:lnTo>
                <a:lnTo>
                  <a:pt x="64" y="74"/>
                </a:lnTo>
                <a:lnTo>
                  <a:pt x="66" y="74"/>
                </a:lnTo>
                <a:lnTo>
                  <a:pt x="66" y="76"/>
                </a:lnTo>
                <a:lnTo>
                  <a:pt x="67" y="76"/>
                </a:lnTo>
                <a:lnTo>
                  <a:pt x="67" y="77"/>
                </a:lnTo>
                <a:lnTo>
                  <a:pt x="67" y="78"/>
                </a:lnTo>
                <a:lnTo>
                  <a:pt x="70" y="78"/>
                </a:lnTo>
                <a:lnTo>
                  <a:pt x="70" y="79"/>
                </a:lnTo>
                <a:lnTo>
                  <a:pt x="70" y="81"/>
                </a:lnTo>
                <a:lnTo>
                  <a:pt x="71" y="81"/>
                </a:lnTo>
                <a:lnTo>
                  <a:pt x="71" y="82"/>
                </a:lnTo>
                <a:lnTo>
                  <a:pt x="71" y="83"/>
                </a:lnTo>
                <a:lnTo>
                  <a:pt x="72" y="83"/>
                </a:lnTo>
                <a:lnTo>
                  <a:pt x="72" y="84"/>
                </a:lnTo>
                <a:lnTo>
                  <a:pt x="73" y="84"/>
                </a:lnTo>
                <a:lnTo>
                  <a:pt x="73" y="85"/>
                </a:lnTo>
                <a:lnTo>
                  <a:pt x="74" y="85"/>
                </a:lnTo>
                <a:lnTo>
                  <a:pt x="74" y="86"/>
                </a:lnTo>
                <a:lnTo>
                  <a:pt x="75" y="86"/>
                </a:lnTo>
                <a:lnTo>
                  <a:pt x="75" y="87"/>
                </a:lnTo>
                <a:lnTo>
                  <a:pt x="81" y="87"/>
                </a:lnTo>
                <a:lnTo>
                  <a:pt x="81" y="90"/>
                </a:lnTo>
                <a:lnTo>
                  <a:pt x="82" y="90"/>
                </a:lnTo>
                <a:lnTo>
                  <a:pt x="82" y="91"/>
                </a:lnTo>
                <a:lnTo>
                  <a:pt x="83" y="91"/>
                </a:lnTo>
                <a:lnTo>
                  <a:pt x="83" y="92"/>
                </a:lnTo>
                <a:lnTo>
                  <a:pt x="83" y="93"/>
                </a:lnTo>
                <a:lnTo>
                  <a:pt x="86" y="93"/>
                </a:lnTo>
                <a:lnTo>
                  <a:pt x="86" y="94"/>
                </a:lnTo>
                <a:lnTo>
                  <a:pt x="87" y="94"/>
                </a:lnTo>
                <a:lnTo>
                  <a:pt x="87" y="96"/>
                </a:lnTo>
                <a:lnTo>
                  <a:pt x="87" y="97"/>
                </a:lnTo>
                <a:lnTo>
                  <a:pt x="88" y="97"/>
                </a:lnTo>
                <a:lnTo>
                  <a:pt x="88" y="98"/>
                </a:lnTo>
                <a:lnTo>
                  <a:pt x="89" y="98"/>
                </a:lnTo>
                <a:lnTo>
                  <a:pt x="89" y="100"/>
                </a:lnTo>
                <a:lnTo>
                  <a:pt x="89" y="102"/>
                </a:lnTo>
                <a:lnTo>
                  <a:pt x="90" y="102"/>
                </a:lnTo>
                <a:lnTo>
                  <a:pt x="90" y="103"/>
                </a:lnTo>
                <a:lnTo>
                  <a:pt x="90" y="104"/>
                </a:lnTo>
                <a:lnTo>
                  <a:pt x="91" y="104"/>
                </a:lnTo>
                <a:lnTo>
                  <a:pt x="91" y="105"/>
                </a:lnTo>
                <a:lnTo>
                  <a:pt x="94" y="105"/>
                </a:lnTo>
                <a:lnTo>
                  <a:pt x="94" y="108"/>
                </a:lnTo>
                <a:lnTo>
                  <a:pt x="95" y="108"/>
                </a:lnTo>
                <a:lnTo>
                  <a:pt x="95" y="110"/>
                </a:lnTo>
                <a:lnTo>
                  <a:pt x="96" y="110"/>
                </a:lnTo>
                <a:lnTo>
                  <a:pt x="96" y="113"/>
                </a:lnTo>
                <a:lnTo>
                  <a:pt x="97" y="113"/>
                </a:lnTo>
                <a:lnTo>
                  <a:pt x="97" y="114"/>
                </a:lnTo>
                <a:lnTo>
                  <a:pt x="97" y="115"/>
                </a:lnTo>
                <a:lnTo>
                  <a:pt x="98" y="115"/>
                </a:lnTo>
                <a:lnTo>
                  <a:pt x="98" y="116"/>
                </a:lnTo>
                <a:lnTo>
                  <a:pt x="99" y="116"/>
                </a:lnTo>
                <a:lnTo>
                  <a:pt x="99" y="117"/>
                </a:lnTo>
                <a:lnTo>
                  <a:pt x="99" y="118"/>
                </a:lnTo>
                <a:lnTo>
                  <a:pt x="100" y="118"/>
                </a:lnTo>
                <a:lnTo>
                  <a:pt x="100" y="119"/>
                </a:lnTo>
                <a:lnTo>
                  <a:pt x="101" y="119"/>
                </a:lnTo>
                <a:lnTo>
                  <a:pt x="101" y="120"/>
                </a:lnTo>
                <a:lnTo>
                  <a:pt x="102" y="120"/>
                </a:lnTo>
                <a:lnTo>
                  <a:pt x="102" y="122"/>
                </a:lnTo>
                <a:lnTo>
                  <a:pt x="102" y="124"/>
                </a:lnTo>
                <a:lnTo>
                  <a:pt x="105" y="124"/>
                </a:lnTo>
                <a:lnTo>
                  <a:pt x="105" y="125"/>
                </a:lnTo>
                <a:lnTo>
                  <a:pt x="105" y="126"/>
                </a:lnTo>
                <a:lnTo>
                  <a:pt x="106" y="126"/>
                </a:lnTo>
                <a:lnTo>
                  <a:pt x="106" y="127"/>
                </a:lnTo>
                <a:lnTo>
                  <a:pt x="106" y="129"/>
                </a:lnTo>
                <a:lnTo>
                  <a:pt x="107" y="129"/>
                </a:lnTo>
                <a:lnTo>
                  <a:pt x="107" y="131"/>
                </a:lnTo>
                <a:lnTo>
                  <a:pt x="108" y="131"/>
                </a:lnTo>
                <a:lnTo>
                  <a:pt x="108" y="132"/>
                </a:lnTo>
                <a:lnTo>
                  <a:pt x="108" y="134"/>
                </a:lnTo>
                <a:lnTo>
                  <a:pt x="109" y="134"/>
                </a:lnTo>
                <a:lnTo>
                  <a:pt x="109" y="135"/>
                </a:lnTo>
                <a:lnTo>
                  <a:pt x="110" y="135"/>
                </a:lnTo>
                <a:lnTo>
                  <a:pt x="110" y="136"/>
                </a:lnTo>
                <a:lnTo>
                  <a:pt x="111" y="136"/>
                </a:lnTo>
                <a:lnTo>
                  <a:pt x="111" y="137"/>
                </a:lnTo>
                <a:lnTo>
                  <a:pt x="113" y="137"/>
                </a:lnTo>
                <a:lnTo>
                  <a:pt x="113" y="138"/>
                </a:lnTo>
                <a:lnTo>
                  <a:pt x="114" y="138"/>
                </a:lnTo>
                <a:lnTo>
                  <a:pt x="114" y="139"/>
                </a:lnTo>
                <a:lnTo>
                  <a:pt x="115" y="139"/>
                </a:lnTo>
                <a:lnTo>
                  <a:pt x="115" y="141"/>
                </a:lnTo>
                <a:lnTo>
                  <a:pt x="117" y="141"/>
                </a:lnTo>
                <a:lnTo>
                  <a:pt x="117" y="142"/>
                </a:lnTo>
                <a:lnTo>
                  <a:pt x="119" y="142"/>
                </a:lnTo>
                <a:lnTo>
                  <a:pt x="119" y="143"/>
                </a:lnTo>
                <a:lnTo>
                  <a:pt x="119" y="145"/>
                </a:lnTo>
                <a:lnTo>
                  <a:pt x="120" y="145"/>
                </a:lnTo>
                <a:lnTo>
                  <a:pt x="120" y="147"/>
                </a:lnTo>
                <a:lnTo>
                  <a:pt x="121" y="147"/>
                </a:lnTo>
                <a:lnTo>
                  <a:pt x="121" y="148"/>
                </a:lnTo>
                <a:lnTo>
                  <a:pt x="121" y="150"/>
                </a:lnTo>
                <a:lnTo>
                  <a:pt x="122" y="150"/>
                </a:lnTo>
                <a:lnTo>
                  <a:pt x="122" y="151"/>
                </a:lnTo>
                <a:lnTo>
                  <a:pt x="124" y="151"/>
                </a:lnTo>
                <a:lnTo>
                  <a:pt x="124" y="152"/>
                </a:lnTo>
                <a:lnTo>
                  <a:pt x="124" y="153"/>
                </a:lnTo>
                <a:lnTo>
                  <a:pt x="125" y="153"/>
                </a:lnTo>
                <a:lnTo>
                  <a:pt x="125" y="154"/>
                </a:lnTo>
                <a:lnTo>
                  <a:pt x="126" y="154"/>
                </a:lnTo>
                <a:lnTo>
                  <a:pt x="126" y="155"/>
                </a:lnTo>
                <a:lnTo>
                  <a:pt x="126" y="156"/>
                </a:lnTo>
                <a:lnTo>
                  <a:pt x="127" y="156"/>
                </a:lnTo>
                <a:lnTo>
                  <a:pt x="127" y="158"/>
                </a:lnTo>
                <a:lnTo>
                  <a:pt x="127" y="159"/>
                </a:lnTo>
                <a:lnTo>
                  <a:pt x="129" y="159"/>
                </a:lnTo>
                <a:lnTo>
                  <a:pt x="129" y="161"/>
                </a:lnTo>
                <a:lnTo>
                  <a:pt x="130" y="161"/>
                </a:lnTo>
                <a:lnTo>
                  <a:pt x="130" y="162"/>
                </a:lnTo>
                <a:lnTo>
                  <a:pt x="131" y="162"/>
                </a:lnTo>
                <a:lnTo>
                  <a:pt x="131" y="163"/>
                </a:lnTo>
                <a:lnTo>
                  <a:pt x="132" y="163"/>
                </a:lnTo>
                <a:lnTo>
                  <a:pt x="132" y="165"/>
                </a:lnTo>
                <a:lnTo>
                  <a:pt x="134" y="165"/>
                </a:lnTo>
                <a:lnTo>
                  <a:pt x="134" y="167"/>
                </a:lnTo>
                <a:lnTo>
                  <a:pt x="136" y="167"/>
                </a:lnTo>
                <a:lnTo>
                  <a:pt x="136" y="168"/>
                </a:lnTo>
                <a:lnTo>
                  <a:pt x="137" y="168"/>
                </a:lnTo>
                <a:lnTo>
                  <a:pt x="137" y="169"/>
                </a:lnTo>
                <a:lnTo>
                  <a:pt x="138" y="169"/>
                </a:lnTo>
                <a:lnTo>
                  <a:pt x="138" y="171"/>
                </a:lnTo>
                <a:lnTo>
                  <a:pt x="138" y="172"/>
                </a:lnTo>
                <a:lnTo>
                  <a:pt x="142" y="172"/>
                </a:lnTo>
                <a:lnTo>
                  <a:pt x="142" y="173"/>
                </a:lnTo>
                <a:lnTo>
                  <a:pt x="142" y="174"/>
                </a:lnTo>
                <a:lnTo>
                  <a:pt x="143" y="174"/>
                </a:lnTo>
                <a:lnTo>
                  <a:pt x="143" y="175"/>
                </a:lnTo>
                <a:lnTo>
                  <a:pt x="144" y="175"/>
                </a:lnTo>
                <a:lnTo>
                  <a:pt x="144" y="177"/>
                </a:lnTo>
                <a:lnTo>
                  <a:pt x="144" y="179"/>
                </a:lnTo>
                <a:lnTo>
                  <a:pt x="145" y="179"/>
                </a:lnTo>
                <a:lnTo>
                  <a:pt x="145" y="182"/>
                </a:lnTo>
                <a:lnTo>
                  <a:pt x="145" y="183"/>
                </a:lnTo>
                <a:lnTo>
                  <a:pt x="146" y="183"/>
                </a:lnTo>
                <a:lnTo>
                  <a:pt x="146" y="184"/>
                </a:lnTo>
                <a:lnTo>
                  <a:pt x="148" y="184"/>
                </a:lnTo>
                <a:lnTo>
                  <a:pt x="148" y="186"/>
                </a:lnTo>
                <a:lnTo>
                  <a:pt x="151" y="186"/>
                </a:lnTo>
                <a:lnTo>
                  <a:pt x="151" y="187"/>
                </a:lnTo>
                <a:lnTo>
                  <a:pt x="154" y="187"/>
                </a:lnTo>
                <a:lnTo>
                  <a:pt x="154" y="188"/>
                </a:lnTo>
                <a:lnTo>
                  <a:pt x="156" y="188"/>
                </a:lnTo>
                <a:lnTo>
                  <a:pt x="156" y="191"/>
                </a:lnTo>
                <a:lnTo>
                  <a:pt x="157" y="191"/>
                </a:lnTo>
                <a:lnTo>
                  <a:pt x="157" y="193"/>
                </a:lnTo>
                <a:lnTo>
                  <a:pt x="161" y="193"/>
                </a:lnTo>
                <a:lnTo>
                  <a:pt x="161" y="195"/>
                </a:lnTo>
                <a:lnTo>
                  <a:pt x="163" y="195"/>
                </a:lnTo>
                <a:lnTo>
                  <a:pt x="163" y="196"/>
                </a:lnTo>
                <a:lnTo>
                  <a:pt x="163" y="197"/>
                </a:lnTo>
                <a:lnTo>
                  <a:pt x="164" y="197"/>
                </a:lnTo>
                <a:lnTo>
                  <a:pt x="164" y="199"/>
                </a:lnTo>
                <a:lnTo>
                  <a:pt x="165" y="199"/>
                </a:lnTo>
                <a:lnTo>
                  <a:pt x="165" y="200"/>
                </a:lnTo>
                <a:lnTo>
                  <a:pt x="167" y="200"/>
                </a:lnTo>
                <a:lnTo>
                  <a:pt x="167" y="203"/>
                </a:lnTo>
                <a:lnTo>
                  <a:pt x="167" y="204"/>
                </a:lnTo>
                <a:lnTo>
                  <a:pt x="169" y="204"/>
                </a:lnTo>
                <a:lnTo>
                  <a:pt x="169" y="207"/>
                </a:lnTo>
                <a:lnTo>
                  <a:pt x="175" y="207"/>
                </a:lnTo>
                <a:lnTo>
                  <a:pt x="175" y="208"/>
                </a:lnTo>
                <a:lnTo>
                  <a:pt x="178" y="208"/>
                </a:lnTo>
                <a:lnTo>
                  <a:pt x="178" y="209"/>
                </a:lnTo>
                <a:lnTo>
                  <a:pt x="181" y="209"/>
                </a:lnTo>
                <a:lnTo>
                  <a:pt x="181" y="211"/>
                </a:lnTo>
                <a:lnTo>
                  <a:pt x="183" y="211"/>
                </a:lnTo>
                <a:lnTo>
                  <a:pt x="183" y="212"/>
                </a:lnTo>
                <a:lnTo>
                  <a:pt x="184" y="212"/>
                </a:lnTo>
                <a:lnTo>
                  <a:pt x="184" y="214"/>
                </a:lnTo>
                <a:lnTo>
                  <a:pt x="188" y="214"/>
                </a:lnTo>
                <a:lnTo>
                  <a:pt x="188" y="216"/>
                </a:lnTo>
                <a:lnTo>
                  <a:pt x="190" y="216"/>
                </a:lnTo>
                <a:lnTo>
                  <a:pt x="190" y="217"/>
                </a:lnTo>
                <a:lnTo>
                  <a:pt x="192" y="217"/>
                </a:lnTo>
                <a:lnTo>
                  <a:pt x="192" y="220"/>
                </a:lnTo>
                <a:lnTo>
                  <a:pt x="196" y="220"/>
                </a:lnTo>
                <a:lnTo>
                  <a:pt x="196" y="222"/>
                </a:lnTo>
                <a:lnTo>
                  <a:pt x="197" y="222"/>
                </a:lnTo>
                <a:lnTo>
                  <a:pt x="197" y="224"/>
                </a:lnTo>
                <a:lnTo>
                  <a:pt x="199" y="224"/>
                </a:lnTo>
                <a:lnTo>
                  <a:pt x="199" y="225"/>
                </a:lnTo>
                <a:lnTo>
                  <a:pt x="200" y="225"/>
                </a:lnTo>
                <a:lnTo>
                  <a:pt x="200" y="230"/>
                </a:lnTo>
                <a:lnTo>
                  <a:pt x="205" y="230"/>
                </a:lnTo>
                <a:lnTo>
                  <a:pt x="205" y="232"/>
                </a:lnTo>
                <a:lnTo>
                  <a:pt x="208" y="232"/>
                </a:lnTo>
                <a:lnTo>
                  <a:pt x="208" y="234"/>
                </a:lnTo>
                <a:lnTo>
                  <a:pt x="208" y="236"/>
                </a:lnTo>
                <a:lnTo>
                  <a:pt x="210" y="236"/>
                </a:lnTo>
                <a:lnTo>
                  <a:pt x="210" y="237"/>
                </a:lnTo>
                <a:lnTo>
                  <a:pt x="218" y="237"/>
                </a:lnTo>
                <a:lnTo>
                  <a:pt x="218" y="239"/>
                </a:lnTo>
                <a:lnTo>
                  <a:pt x="223" y="239"/>
                </a:lnTo>
                <a:lnTo>
                  <a:pt x="223" y="241"/>
                </a:lnTo>
                <a:lnTo>
                  <a:pt x="228" y="241"/>
                </a:lnTo>
                <a:lnTo>
                  <a:pt x="228" y="243"/>
                </a:lnTo>
                <a:lnTo>
                  <a:pt x="231" y="243"/>
                </a:lnTo>
                <a:lnTo>
                  <a:pt x="231" y="245"/>
                </a:lnTo>
                <a:lnTo>
                  <a:pt x="233" y="245"/>
                </a:lnTo>
                <a:lnTo>
                  <a:pt x="233" y="247"/>
                </a:lnTo>
                <a:lnTo>
                  <a:pt x="233" y="249"/>
                </a:lnTo>
                <a:lnTo>
                  <a:pt x="234" y="249"/>
                </a:lnTo>
                <a:lnTo>
                  <a:pt x="234" y="252"/>
                </a:lnTo>
                <a:lnTo>
                  <a:pt x="237" y="252"/>
                </a:lnTo>
                <a:lnTo>
                  <a:pt x="237" y="254"/>
                </a:lnTo>
                <a:lnTo>
                  <a:pt x="244" y="254"/>
                </a:lnTo>
                <a:lnTo>
                  <a:pt x="244" y="256"/>
                </a:lnTo>
                <a:lnTo>
                  <a:pt x="250" y="256"/>
                </a:lnTo>
                <a:lnTo>
                  <a:pt x="250" y="260"/>
                </a:lnTo>
                <a:lnTo>
                  <a:pt x="258" y="260"/>
                </a:lnTo>
                <a:lnTo>
                  <a:pt x="258" y="263"/>
                </a:lnTo>
                <a:lnTo>
                  <a:pt x="258" y="265"/>
                </a:lnTo>
                <a:lnTo>
                  <a:pt x="263" y="265"/>
                </a:lnTo>
                <a:lnTo>
                  <a:pt x="263" y="267"/>
                </a:lnTo>
                <a:lnTo>
                  <a:pt x="268" y="267"/>
                </a:lnTo>
                <a:lnTo>
                  <a:pt x="268" y="270"/>
                </a:lnTo>
                <a:lnTo>
                  <a:pt x="269" y="270"/>
                </a:lnTo>
                <a:lnTo>
                  <a:pt x="269" y="272"/>
                </a:lnTo>
                <a:lnTo>
                  <a:pt x="272" y="272"/>
                </a:lnTo>
                <a:lnTo>
                  <a:pt x="272" y="274"/>
                </a:lnTo>
                <a:lnTo>
                  <a:pt x="274" y="274"/>
                </a:lnTo>
                <a:lnTo>
                  <a:pt x="274" y="277"/>
                </a:lnTo>
                <a:lnTo>
                  <a:pt x="282" y="277"/>
                </a:lnTo>
                <a:lnTo>
                  <a:pt x="282" y="279"/>
                </a:lnTo>
                <a:lnTo>
                  <a:pt x="292" y="279"/>
                </a:lnTo>
                <a:lnTo>
                  <a:pt x="292" y="282"/>
                </a:lnTo>
                <a:lnTo>
                  <a:pt x="298" y="282"/>
                </a:lnTo>
                <a:lnTo>
                  <a:pt x="298" y="285"/>
                </a:lnTo>
                <a:lnTo>
                  <a:pt x="298" y="288"/>
                </a:lnTo>
                <a:lnTo>
                  <a:pt x="303" y="288"/>
                </a:lnTo>
                <a:lnTo>
                  <a:pt x="303" y="291"/>
                </a:lnTo>
                <a:lnTo>
                  <a:pt x="321" y="291"/>
                </a:lnTo>
                <a:lnTo>
                  <a:pt x="321" y="295"/>
                </a:lnTo>
                <a:lnTo>
                  <a:pt x="326" y="295"/>
                </a:lnTo>
                <a:lnTo>
                  <a:pt x="326" y="300"/>
                </a:lnTo>
                <a:lnTo>
                  <a:pt x="331" y="300"/>
                </a:lnTo>
                <a:lnTo>
                  <a:pt x="331" y="306"/>
                </a:lnTo>
                <a:lnTo>
                  <a:pt x="353" y="306"/>
                </a:lnTo>
                <a:lnTo>
                  <a:pt x="353" y="311"/>
                </a:lnTo>
                <a:lnTo>
                  <a:pt x="366" y="311"/>
                </a:lnTo>
                <a:lnTo>
                  <a:pt x="366" y="318"/>
                </a:lnTo>
                <a:lnTo>
                  <a:pt x="374" y="318"/>
                </a:lnTo>
                <a:lnTo>
                  <a:pt x="374" y="325"/>
                </a:lnTo>
                <a:lnTo>
                  <a:pt x="432" y="325"/>
                </a:lnTo>
                <a:lnTo>
                  <a:pt x="432" y="338"/>
                </a:lnTo>
                <a:lnTo>
                  <a:pt x="601" y="338"/>
                </a:lnTo>
              </a:path>
            </a:pathLst>
          </a:custGeom>
          <a:noFill/>
          <a:ln w="41275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55" name="Freeform 15"/>
          <p:cNvSpPr>
            <a:spLocks/>
          </p:cNvSpPr>
          <p:nvPr/>
        </p:nvSpPr>
        <p:spPr bwMode="auto">
          <a:xfrm>
            <a:off x="6896120" y="2703519"/>
            <a:ext cx="3209925" cy="2676525"/>
          </a:xfrm>
          <a:custGeom>
            <a:avLst/>
            <a:gdLst>
              <a:gd name="T0" fmla="*/ 4 w 589"/>
              <a:gd name="T1" fmla="*/ 2 h 375"/>
              <a:gd name="T2" fmla="*/ 7 w 589"/>
              <a:gd name="T3" fmla="*/ 5 h 375"/>
              <a:gd name="T4" fmla="*/ 10 w 589"/>
              <a:gd name="T5" fmla="*/ 7 h 375"/>
              <a:gd name="T6" fmla="*/ 14 w 589"/>
              <a:gd name="T7" fmla="*/ 11 h 375"/>
              <a:gd name="T8" fmla="*/ 18 w 589"/>
              <a:gd name="T9" fmla="*/ 14 h 375"/>
              <a:gd name="T10" fmla="*/ 23 w 589"/>
              <a:gd name="T11" fmla="*/ 18 h 375"/>
              <a:gd name="T12" fmla="*/ 28 w 589"/>
              <a:gd name="T13" fmla="*/ 22 h 375"/>
              <a:gd name="T14" fmla="*/ 34 w 589"/>
              <a:gd name="T15" fmla="*/ 26 h 375"/>
              <a:gd name="T16" fmla="*/ 40 w 589"/>
              <a:gd name="T17" fmla="*/ 29 h 375"/>
              <a:gd name="T18" fmla="*/ 42 w 589"/>
              <a:gd name="T19" fmla="*/ 32 h 375"/>
              <a:gd name="T20" fmla="*/ 50 w 589"/>
              <a:gd name="T21" fmla="*/ 37 h 375"/>
              <a:gd name="T22" fmla="*/ 52 w 589"/>
              <a:gd name="T23" fmla="*/ 40 h 375"/>
              <a:gd name="T24" fmla="*/ 54 w 589"/>
              <a:gd name="T25" fmla="*/ 43 h 375"/>
              <a:gd name="T26" fmla="*/ 57 w 589"/>
              <a:gd name="T27" fmla="*/ 46 h 375"/>
              <a:gd name="T28" fmla="*/ 60 w 589"/>
              <a:gd name="T29" fmla="*/ 49 h 375"/>
              <a:gd name="T30" fmla="*/ 68 w 589"/>
              <a:gd name="T31" fmla="*/ 53 h 375"/>
              <a:gd name="T32" fmla="*/ 71 w 589"/>
              <a:gd name="T33" fmla="*/ 57 h 375"/>
              <a:gd name="T34" fmla="*/ 74 w 589"/>
              <a:gd name="T35" fmla="*/ 60 h 375"/>
              <a:gd name="T36" fmla="*/ 81 w 589"/>
              <a:gd name="T37" fmla="*/ 63 h 375"/>
              <a:gd name="T38" fmla="*/ 85 w 589"/>
              <a:gd name="T39" fmla="*/ 66 h 375"/>
              <a:gd name="T40" fmla="*/ 90 w 589"/>
              <a:gd name="T41" fmla="*/ 70 h 375"/>
              <a:gd name="T42" fmla="*/ 95 w 589"/>
              <a:gd name="T43" fmla="*/ 74 h 375"/>
              <a:gd name="T44" fmla="*/ 96 w 589"/>
              <a:gd name="T45" fmla="*/ 77 h 375"/>
              <a:gd name="T46" fmla="*/ 100 w 589"/>
              <a:gd name="T47" fmla="*/ 80 h 375"/>
              <a:gd name="T48" fmla="*/ 101 w 589"/>
              <a:gd name="T49" fmla="*/ 83 h 375"/>
              <a:gd name="T50" fmla="*/ 104 w 589"/>
              <a:gd name="T51" fmla="*/ 86 h 375"/>
              <a:gd name="T52" fmla="*/ 106 w 589"/>
              <a:gd name="T53" fmla="*/ 90 h 375"/>
              <a:gd name="T54" fmla="*/ 107 w 589"/>
              <a:gd name="T55" fmla="*/ 95 h 375"/>
              <a:gd name="T56" fmla="*/ 110 w 589"/>
              <a:gd name="T57" fmla="*/ 100 h 375"/>
              <a:gd name="T58" fmla="*/ 115 w 589"/>
              <a:gd name="T59" fmla="*/ 105 h 375"/>
              <a:gd name="T60" fmla="*/ 119 w 589"/>
              <a:gd name="T61" fmla="*/ 109 h 375"/>
              <a:gd name="T62" fmla="*/ 123 w 589"/>
              <a:gd name="T63" fmla="*/ 112 h 375"/>
              <a:gd name="T64" fmla="*/ 130 w 589"/>
              <a:gd name="T65" fmla="*/ 116 h 375"/>
              <a:gd name="T66" fmla="*/ 132 w 589"/>
              <a:gd name="T67" fmla="*/ 121 h 375"/>
              <a:gd name="T68" fmla="*/ 136 w 589"/>
              <a:gd name="T69" fmla="*/ 125 h 375"/>
              <a:gd name="T70" fmla="*/ 141 w 589"/>
              <a:gd name="T71" fmla="*/ 129 h 375"/>
              <a:gd name="T72" fmla="*/ 144 w 589"/>
              <a:gd name="T73" fmla="*/ 133 h 375"/>
              <a:gd name="T74" fmla="*/ 146 w 589"/>
              <a:gd name="T75" fmla="*/ 140 h 375"/>
              <a:gd name="T76" fmla="*/ 148 w 589"/>
              <a:gd name="T77" fmla="*/ 145 h 375"/>
              <a:gd name="T78" fmla="*/ 155 w 589"/>
              <a:gd name="T79" fmla="*/ 149 h 375"/>
              <a:gd name="T80" fmla="*/ 160 w 589"/>
              <a:gd name="T81" fmla="*/ 156 h 375"/>
              <a:gd name="T82" fmla="*/ 164 w 589"/>
              <a:gd name="T83" fmla="*/ 160 h 375"/>
              <a:gd name="T84" fmla="*/ 167 w 589"/>
              <a:gd name="T85" fmla="*/ 166 h 375"/>
              <a:gd name="T86" fmla="*/ 172 w 589"/>
              <a:gd name="T87" fmla="*/ 172 h 375"/>
              <a:gd name="T88" fmla="*/ 177 w 589"/>
              <a:gd name="T89" fmla="*/ 176 h 375"/>
              <a:gd name="T90" fmla="*/ 184 w 589"/>
              <a:gd name="T91" fmla="*/ 180 h 375"/>
              <a:gd name="T92" fmla="*/ 188 w 589"/>
              <a:gd name="T93" fmla="*/ 185 h 375"/>
              <a:gd name="T94" fmla="*/ 196 w 589"/>
              <a:gd name="T95" fmla="*/ 190 h 375"/>
              <a:gd name="T96" fmla="*/ 200 w 589"/>
              <a:gd name="T97" fmla="*/ 198 h 375"/>
              <a:gd name="T98" fmla="*/ 203 w 589"/>
              <a:gd name="T99" fmla="*/ 204 h 375"/>
              <a:gd name="T100" fmla="*/ 214 w 589"/>
              <a:gd name="T101" fmla="*/ 210 h 375"/>
              <a:gd name="T102" fmla="*/ 225 w 589"/>
              <a:gd name="T103" fmla="*/ 215 h 375"/>
              <a:gd name="T104" fmla="*/ 231 w 589"/>
              <a:gd name="T105" fmla="*/ 224 h 375"/>
              <a:gd name="T106" fmla="*/ 234 w 589"/>
              <a:gd name="T107" fmla="*/ 230 h 375"/>
              <a:gd name="T108" fmla="*/ 243 w 589"/>
              <a:gd name="T109" fmla="*/ 238 h 375"/>
              <a:gd name="T110" fmla="*/ 255 w 589"/>
              <a:gd name="T111" fmla="*/ 245 h 375"/>
              <a:gd name="T112" fmla="*/ 269 w 589"/>
              <a:gd name="T113" fmla="*/ 252 h 375"/>
              <a:gd name="T114" fmla="*/ 295 w 589"/>
              <a:gd name="T115" fmla="*/ 261 h 375"/>
              <a:gd name="T116" fmla="*/ 319 w 589"/>
              <a:gd name="T117" fmla="*/ 271 h 375"/>
              <a:gd name="T118" fmla="*/ 338 w 589"/>
              <a:gd name="T119" fmla="*/ 287 h 375"/>
              <a:gd name="T120" fmla="*/ 502 w 589"/>
              <a:gd name="T121" fmla="*/ 306 h 375"/>
              <a:gd name="T122" fmla="*/ 589 w 589"/>
              <a:gd name="T123" fmla="*/ 342 h 375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589"/>
              <a:gd name="T187" fmla="*/ 0 h 375"/>
              <a:gd name="T188" fmla="*/ 589 w 589"/>
              <a:gd name="T189" fmla="*/ 375 h 375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589" h="375">
                <a:moveTo>
                  <a:pt x="0" y="0"/>
                </a:move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8" y="6"/>
                </a:lnTo>
                <a:lnTo>
                  <a:pt x="8" y="7"/>
                </a:lnTo>
                <a:lnTo>
                  <a:pt x="10" y="7"/>
                </a:lnTo>
                <a:lnTo>
                  <a:pt x="10" y="9"/>
                </a:lnTo>
                <a:lnTo>
                  <a:pt x="11" y="9"/>
                </a:lnTo>
                <a:lnTo>
                  <a:pt x="11" y="10"/>
                </a:lnTo>
                <a:lnTo>
                  <a:pt x="12" y="10"/>
                </a:lnTo>
                <a:lnTo>
                  <a:pt x="12" y="11"/>
                </a:lnTo>
                <a:lnTo>
                  <a:pt x="14" y="11"/>
                </a:lnTo>
                <a:lnTo>
                  <a:pt x="14" y="12"/>
                </a:lnTo>
                <a:lnTo>
                  <a:pt x="16" y="12"/>
                </a:lnTo>
                <a:lnTo>
                  <a:pt x="16" y="13"/>
                </a:lnTo>
                <a:lnTo>
                  <a:pt x="18" y="13"/>
                </a:lnTo>
                <a:lnTo>
                  <a:pt x="18" y="14"/>
                </a:lnTo>
                <a:lnTo>
                  <a:pt x="18" y="16"/>
                </a:lnTo>
                <a:lnTo>
                  <a:pt x="20" y="16"/>
                </a:lnTo>
                <a:lnTo>
                  <a:pt x="20" y="17"/>
                </a:lnTo>
                <a:lnTo>
                  <a:pt x="21" y="17"/>
                </a:lnTo>
                <a:lnTo>
                  <a:pt x="21" y="18"/>
                </a:lnTo>
                <a:lnTo>
                  <a:pt x="23" y="18"/>
                </a:lnTo>
                <a:lnTo>
                  <a:pt x="23" y="19"/>
                </a:lnTo>
                <a:lnTo>
                  <a:pt x="24" y="19"/>
                </a:lnTo>
                <a:lnTo>
                  <a:pt x="24" y="20"/>
                </a:lnTo>
                <a:lnTo>
                  <a:pt x="27" y="20"/>
                </a:lnTo>
                <a:lnTo>
                  <a:pt x="27" y="22"/>
                </a:lnTo>
                <a:lnTo>
                  <a:pt x="28" y="22"/>
                </a:lnTo>
                <a:lnTo>
                  <a:pt x="28" y="24"/>
                </a:lnTo>
                <a:lnTo>
                  <a:pt x="31" y="24"/>
                </a:lnTo>
                <a:lnTo>
                  <a:pt x="31" y="25"/>
                </a:lnTo>
                <a:lnTo>
                  <a:pt x="32" y="25"/>
                </a:lnTo>
                <a:lnTo>
                  <a:pt x="32" y="26"/>
                </a:lnTo>
                <a:lnTo>
                  <a:pt x="34" y="26"/>
                </a:lnTo>
                <a:lnTo>
                  <a:pt x="37" y="26"/>
                </a:lnTo>
                <a:lnTo>
                  <a:pt x="37" y="27"/>
                </a:lnTo>
                <a:lnTo>
                  <a:pt x="39" y="27"/>
                </a:lnTo>
                <a:lnTo>
                  <a:pt x="39" y="29"/>
                </a:lnTo>
                <a:lnTo>
                  <a:pt x="40" y="29"/>
                </a:lnTo>
                <a:lnTo>
                  <a:pt x="40" y="30"/>
                </a:lnTo>
                <a:lnTo>
                  <a:pt x="41" y="30"/>
                </a:lnTo>
                <a:lnTo>
                  <a:pt x="41" y="31"/>
                </a:lnTo>
                <a:lnTo>
                  <a:pt x="41" y="32"/>
                </a:lnTo>
                <a:lnTo>
                  <a:pt x="42" y="32"/>
                </a:lnTo>
                <a:lnTo>
                  <a:pt x="42" y="33"/>
                </a:lnTo>
                <a:lnTo>
                  <a:pt x="47" y="33"/>
                </a:lnTo>
                <a:lnTo>
                  <a:pt x="47" y="35"/>
                </a:lnTo>
                <a:lnTo>
                  <a:pt x="49" y="35"/>
                </a:lnTo>
                <a:lnTo>
                  <a:pt x="49" y="37"/>
                </a:lnTo>
                <a:lnTo>
                  <a:pt x="50" y="37"/>
                </a:lnTo>
                <a:lnTo>
                  <a:pt x="50" y="38"/>
                </a:lnTo>
                <a:lnTo>
                  <a:pt x="51" y="38"/>
                </a:lnTo>
                <a:lnTo>
                  <a:pt x="51" y="39"/>
                </a:lnTo>
                <a:lnTo>
                  <a:pt x="52" y="39"/>
                </a:lnTo>
                <a:lnTo>
                  <a:pt x="52" y="40"/>
                </a:lnTo>
                <a:lnTo>
                  <a:pt x="52" y="41"/>
                </a:lnTo>
                <a:lnTo>
                  <a:pt x="53" y="41"/>
                </a:lnTo>
                <a:lnTo>
                  <a:pt x="53" y="42"/>
                </a:lnTo>
                <a:lnTo>
                  <a:pt x="54" y="42"/>
                </a:lnTo>
                <a:lnTo>
                  <a:pt x="54" y="43"/>
                </a:lnTo>
                <a:lnTo>
                  <a:pt x="54" y="44"/>
                </a:lnTo>
                <a:lnTo>
                  <a:pt x="55" y="44"/>
                </a:lnTo>
                <a:lnTo>
                  <a:pt x="55" y="45"/>
                </a:lnTo>
                <a:lnTo>
                  <a:pt x="56" y="45"/>
                </a:lnTo>
                <a:lnTo>
                  <a:pt x="56" y="46"/>
                </a:lnTo>
                <a:lnTo>
                  <a:pt x="57" y="46"/>
                </a:lnTo>
                <a:lnTo>
                  <a:pt x="57" y="47"/>
                </a:lnTo>
                <a:lnTo>
                  <a:pt x="57" y="48"/>
                </a:lnTo>
                <a:lnTo>
                  <a:pt x="58" y="48"/>
                </a:lnTo>
                <a:lnTo>
                  <a:pt x="58" y="49"/>
                </a:lnTo>
                <a:lnTo>
                  <a:pt x="60" y="49"/>
                </a:lnTo>
                <a:lnTo>
                  <a:pt x="60" y="51"/>
                </a:lnTo>
                <a:lnTo>
                  <a:pt x="60" y="52"/>
                </a:lnTo>
                <a:lnTo>
                  <a:pt x="66" y="52"/>
                </a:lnTo>
                <a:lnTo>
                  <a:pt x="66" y="53"/>
                </a:lnTo>
                <a:lnTo>
                  <a:pt x="68" y="53"/>
                </a:lnTo>
                <a:lnTo>
                  <a:pt x="68" y="54"/>
                </a:lnTo>
                <a:lnTo>
                  <a:pt x="69" y="54"/>
                </a:lnTo>
                <a:lnTo>
                  <a:pt x="69" y="56"/>
                </a:lnTo>
                <a:lnTo>
                  <a:pt x="71" y="56"/>
                </a:lnTo>
                <a:lnTo>
                  <a:pt x="71" y="57"/>
                </a:lnTo>
                <a:lnTo>
                  <a:pt x="71" y="58"/>
                </a:lnTo>
                <a:lnTo>
                  <a:pt x="72" y="58"/>
                </a:lnTo>
                <a:lnTo>
                  <a:pt x="72" y="59"/>
                </a:lnTo>
                <a:lnTo>
                  <a:pt x="74" y="59"/>
                </a:lnTo>
                <a:lnTo>
                  <a:pt x="74" y="60"/>
                </a:lnTo>
                <a:lnTo>
                  <a:pt x="74" y="61"/>
                </a:lnTo>
                <a:lnTo>
                  <a:pt x="75" y="61"/>
                </a:lnTo>
                <a:lnTo>
                  <a:pt x="75" y="62"/>
                </a:lnTo>
                <a:lnTo>
                  <a:pt x="77" y="62"/>
                </a:lnTo>
                <a:lnTo>
                  <a:pt x="77" y="63"/>
                </a:lnTo>
                <a:lnTo>
                  <a:pt x="81" y="63"/>
                </a:lnTo>
                <a:lnTo>
                  <a:pt x="81" y="64"/>
                </a:lnTo>
                <a:lnTo>
                  <a:pt x="81" y="65"/>
                </a:lnTo>
                <a:lnTo>
                  <a:pt x="84" y="65"/>
                </a:lnTo>
                <a:lnTo>
                  <a:pt x="84" y="66"/>
                </a:lnTo>
                <a:lnTo>
                  <a:pt x="85" y="66"/>
                </a:lnTo>
                <a:lnTo>
                  <a:pt x="85" y="67"/>
                </a:lnTo>
                <a:lnTo>
                  <a:pt x="87" y="67"/>
                </a:lnTo>
                <a:lnTo>
                  <a:pt x="87" y="68"/>
                </a:lnTo>
                <a:lnTo>
                  <a:pt x="88" y="68"/>
                </a:lnTo>
                <a:lnTo>
                  <a:pt x="88" y="70"/>
                </a:lnTo>
                <a:lnTo>
                  <a:pt x="90" y="70"/>
                </a:lnTo>
                <a:lnTo>
                  <a:pt x="90" y="71"/>
                </a:lnTo>
                <a:lnTo>
                  <a:pt x="90" y="72"/>
                </a:lnTo>
                <a:lnTo>
                  <a:pt x="94" y="72"/>
                </a:lnTo>
                <a:lnTo>
                  <a:pt x="94" y="74"/>
                </a:lnTo>
                <a:lnTo>
                  <a:pt x="95" y="74"/>
                </a:lnTo>
                <a:lnTo>
                  <a:pt x="95" y="75"/>
                </a:lnTo>
                <a:lnTo>
                  <a:pt x="95" y="76"/>
                </a:lnTo>
                <a:lnTo>
                  <a:pt x="96" y="76"/>
                </a:lnTo>
                <a:lnTo>
                  <a:pt x="96" y="77"/>
                </a:lnTo>
                <a:lnTo>
                  <a:pt x="96" y="78"/>
                </a:lnTo>
                <a:lnTo>
                  <a:pt x="97" y="78"/>
                </a:lnTo>
                <a:lnTo>
                  <a:pt x="97" y="79"/>
                </a:lnTo>
                <a:lnTo>
                  <a:pt x="99" y="79"/>
                </a:lnTo>
                <a:lnTo>
                  <a:pt x="99" y="80"/>
                </a:lnTo>
                <a:lnTo>
                  <a:pt x="100" y="80"/>
                </a:lnTo>
                <a:lnTo>
                  <a:pt x="100" y="81"/>
                </a:lnTo>
                <a:lnTo>
                  <a:pt x="100" y="82"/>
                </a:lnTo>
                <a:lnTo>
                  <a:pt x="101" y="82"/>
                </a:lnTo>
                <a:lnTo>
                  <a:pt x="101" y="83"/>
                </a:lnTo>
                <a:lnTo>
                  <a:pt x="101" y="84"/>
                </a:lnTo>
                <a:lnTo>
                  <a:pt x="102" y="84"/>
                </a:lnTo>
                <a:lnTo>
                  <a:pt x="102" y="85"/>
                </a:lnTo>
                <a:lnTo>
                  <a:pt x="103" y="85"/>
                </a:lnTo>
                <a:lnTo>
                  <a:pt x="103" y="86"/>
                </a:lnTo>
                <a:lnTo>
                  <a:pt x="104" y="86"/>
                </a:lnTo>
                <a:lnTo>
                  <a:pt x="104" y="88"/>
                </a:lnTo>
                <a:lnTo>
                  <a:pt x="105" y="88"/>
                </a:lnTo>
                <a:lnTo>
                  <a:pt x="105" y="89"/>
                </a:lnTo>
                <a:lnTo>
                  <a:pt x="105" y="90"/>
                </a:lnTo>
                <a:lnTo>
                  <a:pt x="106" y="90"/>
                </a:lnTo>
                <a:lnTo>
                  <a:pt x="106" y="91"/>
                </a:lnTo>
                <a:lnTo>
                  <a:pt x="106" y="93"/>
                </a:lnTo>
                <a:lnTo>
                  <a:pt x="107" y="93"/>
                </a:lnTo>
                <a:lnTo>
                  <a:pt x="107" y="95"/>
                </a:lnTo>
                <a:lnTo>
                  <a:pt x="107" y="97"/>
                </a:lnTo>
                <a:lnTo>
                  <a:pt x="109" y="97"/>
                </a:lnTo>
                <a:lnTo>
                  <a:pt x="109" y="99"/>
                </a:lnTo>
                <a:lnTo>
                  <a:pt x="109" y="100"/>
                </a:lnTo>
                <a:lnTo>
                  <a:pt x="110" y="100"/>
                </a:lnTo>
                <a:lnTo>
                  <a:pt x="110" y="101"/>
                </a:lnTo>
                <a:lnTo>
                  <a:pt x="111" y="101"/>
                </a:lnTo>
                <a:lnTo>
                  <a:pt x="111" y="102"/>
                </a:lnTo>
                <a:lnTo>
                  <a:pt x="114" y="102"/>
                </a:lnTo>
                <a:lnTo>
                  <a:pt x="114" y="105"/>
                </a:lnTo>
                <a:lnTo>
                  <a:pt x="115" y="105"/>
                </a:lnTo>
                <a:lnTo>
                  <a:pt x="115" y="106"/>
                </a:lnTo>
                <a:lnTo>
                  <a:pt x="117" y="106"/>
                </a:lnTo>
                <a:lnTo>
                  <a:pt x="117" y="107"/>
                </a:lnTo>
                <a:lnTo>
                  <a:pt x="118" y="107"/>
                </a:lnTo>
                <a:lnTo>
                  <a:pt x="118" y="109"/>
                </a:lnTo>
                <a:lnTo>
                  <a:pt x="119" y="109"/>
                </a:lnTo>
                <a:lnTo>
                  <a:pt x="119" y="110"/>
                </a:lnTo>
                <a:lnTo>
                  <a:pt x="120" y="110"/>
                </a:lnTo>
                <a:lnTo>
                  <a:pt x="120" y="111"/>
                </a:lnTo>
                <a:lnTo>
                  <a:pt x="122" y="111"/>
                </a:lnTo>
                <a:lnTo>
                  <a:pt x="122" y="112"/>
                </a:lnTo>
                <a:lnTo>
                  <a:pt x="123" y="112"/>
                </a:lnTo>
                <a:lnTo>
                  <a:pt x="123" y="113"/>
                </a:lnTo>
                <a:lnTo>
                  <a:pt x="123" y="114"/>
                </a:lnTo>
                <a:lnTo>
                  <a:pt x="124" y="114"/>
                </a:lnTo>
                <a:lnTo>
                  <a:pt x="124" y="116"/>
                </a:lnTo>
                <a:lnTo>
                  <a:pt x="130" y="116"/>
                </a:lnTo>
                <a:lnTo>
                  <a:pt x="130" y="117"/>
                </a:lnTo>
                <a:lnTo>
                  <a:pt x="130" y="119"/>
                </a:lnTo>
                <a:lnTo>
                  <a:pt x="131" y="119"/>
                </a:lnTo>
                <a:lnTo>
                  <a:pt x="131" y="121"/>
                </a:lnTo>
                <a:lnTo>
                  <a:pt x="132" y="121"/>
                </a:lnTo>
                <a:lnTo>
                  <a:pt x="132" y="122"/>
                </a:lnTo>
                <a:lnTo>
                  <a:pt x="135" y="122"/>
                </a:lnTo>
                <a:lnTo>
                  <a:pt x="135" y="123"/>
                </a:lnTo>
                <a:lnTo>
                  <a:pt x="136" y="123"/>
                </a:lnTo>
                <a:lnTo>
                  <a:pt x="136" y="125"/>
                </a:lnTo>
                <a:lnTo>
                  <a:pt x="136" y="127"/>
                </a:lnTo>
                <a:lnTo>
                  <a:pt x="139" y="127"/>
                </a:lnTo>
                <a:lnTo>
                  <a:pt x="139" y="128"/>
                </a:lnTo>
                <a:lnTo>
                  <a:pt x="140" y="128"/>
                </a:lnTo>
                <a:lnTo>
                  <a:pt x="140" y="129"/>
                </a:lnTo>
                <a:lnTo>
                  <a:pt x="141" y="129"/>
                </a:lnTo>
                <a:lnTo>
                  <a:pt x="141" y="130"/>
                </a:lnTo>
                <a:lnTo>
                  <a:pt x="143" y="130"/>
                </a:lnTo>
                <a:lnTo>
                  <a:pt x="143" y="131"/>
                </a:lnTo>
                <a:lnTo>
                  <a:pt x="144" y="131"/>
                </a:lnTo>
                <a:lnTo>
                  <a:pt x="144" y="133"/>
                </a:lnTo>
                <a:lnTo>
                  <a:pt x="144" y="136"/>
                </a:lnTo>
                <a:lnTo>
                  <a:pt x="145" y="136"/>
                </a:lnTo>
                <a:lnTo>
                  <a:pt x="145" y="138"/>
                </a:lnTo>
                <a:lnTo>
                  <a:pt x="145" y="140"/>
                </a:lnTo>
                <a:lnTo>
                  <a:pt x="146" y="140"/>
                </a:lnTo>
                <a:lnTo>
                  <a:pt x="146" y="141"/>
                </a:lnTo>
                <a:lnTo>
                  <a:pt x="146" y="144"/>
                </a:lnTo>
                <a:lnTo>
                  <a:pt x="147" y="144"/>
                </a:lnTo>
                <a:lnTo>
                  <a:pt x="147" y="145"/>
                </a:lnTo>
                <a:lnTo>
                  <a:pt x="148" y="145"/>
                </a:lnTo>
                <a:lnTo>
                  <a:pt x="148" y="146"/>
                </a:lnTo>
                <a:lnTo>
                  <a:pt x="149" y="146"/>
                </a:lnTo>
                <a:lnTo>
                  <a:pt x="149" y="148"/>
                </a:lnTo>
                <a:lnTo>
                  <a:pt x="154" y="148"/>
                </a:lnTo>
                <a:lnTo>
                  <a:pt x="154" y="149"/>
                </a:lnTo>
                <a:lnTo>
                  <a:pt x="155" y="149"/>
                </a:lnTo>
                <a:lnTo>
                  <a:pt x="155" y="152"/>
                </a:lnTo>
                <a:lnTo>
                  <a:pt x="157" y="152"/>
                </a:lnTo>
                <a:lnTo>
                  <a:pt x="157" y="153"/>
                </a:lnTo>
                <a:lnTo>
                  <a:pt x="158" y="153"/>
                </a:lnTo>
                <a:lnTo>
                  <a:pt x="158" y="156"/>
                </a:lnTo>
                <a:lnTo>
                  <a:pt x="160" y="156"/>
                </a:lnTo>
                <a:lnTo>
                  <a:pt x="160" y="157"/>
                </a:lnTo>
                <a:lnTo>
                  <a:pt x="163" y="157"/>
                </a:lnTo>
                <a:lnTo>
                  <a:pt x="163" y="158"/>
                </a:lnTo>
                <a:lnTo>
                  <a:pt x="163" y="160"/>
                </a:lnTo>
                <a:lnTo>
                  <a:pt x="164" y="160"/>
                </a:lnTo>
                <a:lnTo>
                  <a:pt x="164" y="161"/>
                </a:lnTo>
                <a:lnTo>
                  <a:pt x="164" y="165"/>
                </a:lnTo>
                <a:lnTo>
                  <a:pt x="166" y="165"/>
                </a:lnTo>
                <a:lnTo>
                  <a:pt x="166" y="166"/>
                </a:lnTo>
                <a:lnTo>
                  <a:pt x="167" y="166"/>
                </a:lnTo>
                <a:lnTo>
                  <a:pt x="167" y="169"/>
                </a:lnTo>
                <a:lnTo>
                  <a:pt x="168" y="169"/>
                </a:lnTo>
                <a:lnTo>
                  <a:pt x="168" y="170"/>
                </a:lnTo>
                <a:lnTo>
                  <a:pt x="169" y="170"/>
                </a:lnTo>
                <a:lnTo>
                  <a:pt x="169" y="172"/>
                </a:lnTo>
                <a:lnTo>
                  <a:pt x="172" y="172"/>
                </a:lnTo>
                <a:lnTo>
                  <a:pt x="172" y="173"/>
                </a:lnTo>
                <a:lnTo>
                  <a:pt x="173" y="173"/>
                </a:lnTo>
                <a:lnTo>
                  <a:pt x="173" y="175"/>
                </a:lnTo>
                <a:lnTo>
                  <a:pt x="175" y="175"/>
                </a:lnTo>
                <a:lnTo>
                  <a:pt x="175" y="176"/>
                </a:lnTo>
                <a:lnTo>
                  <a:pt x="177" y="176"/>
                </a:lnTo>
                <a:lnTo>
                  <a:pt x="177" y="177"/>
                </a:lnTo>
                <a:lnTo>
                  <a:pt x="178" y="177"/>
                </a:lnTo>
                <a:lnTo>
                  <a:pt x="178" y="179"/>
                </a:lnTo>
                <a:lnTo>
                  <a:pt x="179" y="179"/>
                </a:lnTo>
                <a:lnTo>
                  <a:pt x="179" y="180"/>
                </a:lnTo>
                <a:lnTo>
                  <a:pt x="184" y="180"/>
                </a:lnTo>
                <a:lnTo>
                  <a:pt x="184" y="182"/>
                </a:lnTo>
                <a:lnTo>
                  <a:pt x="186" y="182"/>
                </a:lnTo>
                <a:lnTo>
                  <a:pt x="186" y="183"/>
                </a:lnTo>
                <a:lnTo>
                  <a:pt x="186" y="185"/>
                </a:lnTo>
                <a:lnTo>
                  <a:pt x="188" y="185"/>
                </a:lnTo>
                <a:lnTo>
                  <a:pt x="188" y="186"/>
                </a:lnTo>
                <a:lnTo>
                  <a:pt x="191" y="186"/>
                </a:lnTo>
                <a:lnTo>
                  <a:pt x="191" y="188"/>
                </a:lnTo>
                <a:lnTo>
                  <a:pt x="195" y="188"/>
                </a:lnTo>
                <a:lnTo>
                  <a:pt x="195" y="190"/>
                </a:lnTo>
                <a:lnTo>
                  <a:pt x="196" y="190"/>
                </a:lnTo>
                <a:lnTo>
                  <a:pt x="196" y="193"/>
                </a:lnTo>
                <a:lnTo>
                  <a:pt x="197" y="193"/>
                </a:lnTo>
                <a:lnTo>
                  <a:pt x="197" y="194"/>
                </a:lnTo>
                <a:lnTo>
                  <a:pt x="198" y="194"/>
                </a:lnTo>
                <a:lnTo>
                  <a:pt x="198" y="198"/>
                </a:lnTo>
                <a:lnTo>
                  <a:pt x="200" y="198"/>
                </a:lnTo>
                <a:lnTo>
                  <a:pt x="200" y="199"/>
                </a:lnTo>
                <a:lnTo>
                  <a:pt x="201" y="199"/>
                </a:lnTo>
                <a:lnTo>
                  <a:pt x="201" y="203"/>
                </a:lnTo>
                <a:lnTo>
                  <a:pt x="202" y="203"/>
                </a:lnTo>
                <a:lnTo>
                  <a:pt x="202" y="204"/>
                </a:lnTo>
                <a:lnTo>
                  <a:pt x="203" y="204"/>
                </a:lnTo>
                <a:lnTo>
                  <a:pt x="203" y="206"/>
                </a:lnTo>
                <a:lnTo>
                  <a:pt x="208" y="206"/>
                </a:lnTo>
                <a:lnTo>
                  <a:pt x="208" y="208"/>
                </a:lnTo>
                <a:lnTo>
                  <a:pt x="213" y="208"/>
                </a:lnTo>
                <a:lnTo>
                  <a:pt x="213" y="210"/>
                </a:lnTo>
                <a:lnTo>
                  <a:pt x="214" y="210"/>
                </a:lnTo>
                <a:lnTo>
                  <a:pt x="214" y="212"/>
                </a:lnTo>
                <a:lnTo>
                  <a:pt x="215" y="212"/>
                </a:lnTo>
                <a:lnTo>
                  <a:pt x="215" y="213"/>
                </a:lnTo>
                <a:lnTo>
                  <a:pt x="219" y="213"/>
                </a:lnTo>
                <a:lnTo>
                  <a:pt x="219" y="215"/>
                </a:lnTo>
                <a:lnTo>
                  <a:pt x="225" y="215"/>
                </a:lnTo>
                <a:lnTo>
                  <a:pt x="225" y="217"/>
                </a:lnTo>
                <a:lnTo>
                  <a:pt x="226" y="217"/>
                </a:lnTo>
                <a:lnTo>
                  <a:pt x="226" y="219"/>
                </a:lnTo>
                <a:lnTo>
                  <a:pt x="229" y="219"/>
                </a:lnTo>
                <a:lnTo>
                  <a:pt x="229" y="224"/>
                </a:lnTo>
                <a:lnTo>
                  <a:pt x="231" y="224"/>
                </a:lnTo>
                <a:lnTo>
                  <a:pt x="231" y="226"/>
                </a:lnTo>
                <a:lnTo>
                  <a:pt x="232" y="226"/>
                </a:lnTo>
                <a:lnTo>
                  <a:pt x="232" y="228"/>
                </a:lnTo>
                <a:lnTo>
                  <a:pt x="233" y="228"/>
                </a:lnTo>
                <a:lnTo>
                  <a:pt x="233" y="230"/>
                </a:lnTo>
                <a:lnTo>
                  <a:pt x="234" y="230"/>
                </a:lnTo>
                <a:lnTo>
                  <a:pt x="234" y="232"/>
                </a:lnTo>
                <a:lnTo>
                  <a:pt x="235" y="232"/>
                </a:lnTo>
                <a:lnTo>
                  <a:pt x="235" y="234"/>
                </a:lnTo>
                <a:lnTo>
                  <a:pt x="237" y="234"/>
                </a:lnTo>
                <a:lnTo>
                  <a:pt x="237" y="238"/>
                </a:lnTo>
                <a:lnTo>
                  <a:pt x="243" y="238"/>
                </a:lnTo>
                <a:lnTo>
                  <a:pt x="243" y="240"/>
                </a:lnTo>
                <a:lnTo>
                  <a:pt x="245" y="240"/>
                </a:lnTo>
                <a:lnTo>
                  <a:pt x="245" y="243"/>
                </a:lnTo>
                <a:lnTo>
                  <a:pt x="252" y="243"/>
                </a:lnTo>
                <a:lnTo>
                  <a:pt x="252" y="245"/>
                </a:lnTo>
                <a:lnTo>
                  <a:pt x="255" y="245"/>
                </a:lnTo>
                <a:lnTo>
                  <a:pt x="255" y="247"/>
                </a:lnTo>
                <a:lnTo>
                  <a:pt x="256" y="247"/>
                </a:lnTo>
                <a:lnTo>
                  <a:pt x="256" y="250"/>
                </a:lnTo>
                <a:lnTo>
                  <a:pt x="267" y="250"/>
                </a:lnTo>
                <a:lnTo>
                  <a:pt x="267" y="252"/>
                </a:lnTo>
                <a:lnTo>
                  <a:pt x="269" y="252"/>
                </a:lnTo>
                <a:lnTo>
                  <a:pt x="269" y="255"/>
                </a:lnTo>
                <a:lnTo>
                  <a:pt x="285" y="255"/>
                </a:lnTo>
                <a:lnTo>
                  <a:pt x="285" y="258"/>
                </a:lnTo>
                <a:lnTo>
                  <a:pt x="294" y="258"/>
                </a:lnTo>
                <a:lnTo>
                  <a:pt x="294" y="261"/>
                </a:lnTo>
                <a:lnTo>
                  <a:pt x="295" y="261"/>
                </a:lnTo>
                <a:lnTo>
                  <a:pt x="295" y="264"/>
                </a:lnTo>
                <a:lnTo>
                  <a:pt x="299" y="264"/>
                </a:lnTo>
                <a:lnTo>
                  <a:pt x="299" y="268"/>
                </a:lnTo>
                <a:lnTo>
                  <a:pt x="301" y="268"/>
                </a:lnTo>
                <a:lnTo>
                  <a:pt x="301" y="271"/>
                </a:lnTo>
                <a:lnTo>
                  <a:pt x="319" y="271"/>
                </a:lnTo>
                <a:lnTo>
                  <a:pt x="319" y="279"/>
                </a:lnTo>
                <a:lnTo>
                  <a:pt x="325" y="279"/>
                </a:lnTo>
                <a:lnTo>
                  <a:pt x="325" y="283"/>
                </a:lnTo>
                <a:lnTo>
                  <a:pt x="332" y="283"/>
                </a:lnTo>
                <a:lnTo>
                  <a:pt x="332" y="287"/>
                </a:lnTo>
                <a:lnTo>
                  <a:pt x="338" y="287"/>
                </a:lnTo>
                <a:lnTo>
                  <a:pt x="338" y="292"/>
                </a:lnTo>
                <a:lnTo>
                  <a:pt x="390" y="292"/>
                </a:lnTo>
                <a:lnTo>
                  <a:pt x="390" y="299"/>
                </a:lnTo>
                <a:lnTo>
                  <a:pt x="464" y="299"/>
                </a:lnTo>
                <a:lnTo>
                  <a:pt x="464" y="306"/>
                </a:lnTo>
                <a:lnTo>
                  <a:pt x="502" y="306"/>
                </a:lnTo>
                <a:lnTo>
                  <a:pt x="502" y="315"/>
                </a:lnTo>
                <a:lnTo>
                  <a:pt x="515" y="315"/>
                </a:lnTo>
                <a:lnTo>
                  <a:pt x="515" y="325"/>
                </a:lnTo>
                <a:lnTo>
                  <a:pt x="542" y="325"/>
                </a:lnTo>
                <a:lnTo>
                  <a:pt x="542" y="342"/>
                </a:lnTo>
                <a:lnTo>
                  <a:pt x="589" y="342"/>
                </a:lnTo>
                <a:lnTo>
                  <a:pt x="589" y="375"/>
                </a:lnTo>
              </a:path>
            </a:pathLst>
          </a:custGeom>
          <a:noFill/>
          <a:ln w="41275">
            <a:solidFill>
              <a:srgbClr val="2CB0CF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56" name="Line 16"/>
          <p:cNvSpPr>
            <a:spLocks noChangeShapeType="1"/>
          </p:cNvSpPr>
          <p:nvPr/>
        </p:nvSpPr>
        <p:spPr bwMode="auto">
          <a:xfrm>
            <a:off x="6896100" y="5486404"/>
            <a:ext cx="1588" cy="92075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57" name="Line 17"/>
          <p:cNvSpPr>
            <a:spLocks noChangeShapeType="1"/>
          </p:cNvSpPr>
          <p:nvPr/>
        </p:nvSpPr>
        <p:spPr bwMode="auto">
          <a:xfrm>
            <a:off x="7393007" y="5486404"/>
            <a:ext cx="1587" cy="92075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58" name="Line 18"/>
          <p:cNvSpPr>
            <a:spLocks noChangeShapeType="1"/>
          </p:cNvSpPr>
          <p:nvPr/>
        </p:nvSpPr>
        <p:spPr bwMode="auto">
          <a:xfrm>
            <a:off x="7888304" y="5486404"/>
            <a:ext cx="1587" cy="92075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>
            <a:off x="8388351" y="5486404"/>
            <a:ext cx="1588" cy="92075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60" name="Line 20"/>
          <p:cNvSpPr>
            <a:spLocks noChangeShapeType="1"/>
          </p:cNvSpPr>
          <p:nvPr/>
        </p:nvSpPr>
        <p:spPr bwMode="auto">
          <a:xfrm>
            <a:off x="8885241" y="5486404"/>
            <a:ext cx="1587" cy="92075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61" name="Line 21"/>
          <p:cNvSpPr>
            <a:spLocks noChangeShapeType="1"/>
          </p:cNvSpPr>
          <p:nvPr/>
        </p:nvSpPr>
        <p:spPr bwMode="auto">
          <a:xfrm>
            <a:off x="9378970" y="5486404"/>
            <a:ext cx="3175" cy="92075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>
            <a:off x="9883776" y="5486404"/>
            <a:ext cx="1588" cy="92075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63" name="Rectangle 23"/>
          <p:cNvSpPr>
            <a:spLocks noChangeArrowheads="1"/>
          </p:cNvSpPr>
          <p:nvPr/>
        </p:nvSpPr>
        <p:spPr bwMode="auto">
          <a:xfrm>
            <a:off x="6862781" y="5649913"/>
            <a:ext cx="10579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264" name="Rectangle 24"/>
          <p:cNvSpPr>
            <a:spLocks noChangeArrowheads="1"/>
          </p:cNvSpPr>
          <p:nvPr/>
        </p:nvSpPr>
        <p:spPr bwMode="auto">
          <a:xfrm>
            <a:off x="7372369" y="5649913"/>
            <a:ext cx="10579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6</a:t>
            </a:r>
          </a:p>
        </p:txBody>
      </p:sp>
      <p:sp>
        <p:nvSpPr>
          <p:cNvPr id="10265" name="Rectangle 25"/>
          <p:cNvSpPr>
            <a:spLocks noChangeArrowheads="1"/>
          </p:cNvSpPr>
          <p:nvPr/>
        </p:nvSpPr>
        <p:spPr bwMode="auto">
          <a:xfrm>
            <a:off x="7829563" y="5649913"/>
            <a:ext cx="2115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12</a:t>
            </a:r>
          </a:p>
        </p:txBody>
      </p:sp>
      <p:sp>
        <p:nvSpPr>
          <p:cNvPr id="10266" name="Rectangle 26"/>
          <p:cNvSpPr>
            <a:spLocks noChangeArrowheads="1"/>
          </p:cNvSpPr>
          <p:nvPr/>
        </p:nvSpPr>
        <p:spPr bwMode="auto">
          <a:xfrm>
            <a:off x="8329622" y="5649913"/>
            <a:ext cx="210379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18</a:t>
            </a:r>
          </a:p>
        </p:txBody>
      </p:sp>
      <p:sp>
        <p:nvSpPr>
          <p:cNvPr id="10267" name="Rectangle 27"/>
          <p:cNvSpPr>
            <a:spLocks noChangeArrowheads="1"/>
          </p:cNvSpPr>
          <p:nvPr/>
        </p:nvSpPr>
        <p:spPr bwMode="auto">
          <a:xfrm>
            <a:off x="8826519" y="5649913"/>
            <a:ext cx="20371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24</a:t>
            </a:r>
          </a:p>
        </p:txBody>
      </p:sp>
      <p:sp>
        <p:nvSpPr>
          <p:cNvPr id="10268" name="Rectangle 28"/>
          <p:cNvSpPr>
            <a:spLocks noChangeArrowheads="1"/>
          </p:cNvSpPr>
          <p:nvPr/>
        </p:nvSpPr>
        <p:spPr bwMode="auto">
          <a:xfrm>
            <a:off x="9323404" y="5649913"/>
            <a:ext cx="2115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30</a:t>
            </a:r>
          </a:p>
        </p:txBody>
      </p:sp>
      <p:sp>
        <p:nvSpPr>
          <p:cNvPr id="10269" name="Rectangle 29"/>
          <p:cNvSpPr>
            <a:spLocks noChangeArrowheads="1"/>
          </p:cNvSpPr>
          <p:nvPr/>
        </p:nvSpPr>
        <p:spPr bwMode="auto">
          <a:xfrm>
            <a:off x="9823469" y="5649913"/>
            <a:ext cx="2115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36</a:t>
            </a:r>
          </a:p>
        </p:txBody>
      </p:sp>
      <p:sp>
        <p:nvSpPr>
          <p:cNvPr id="10270" name="Rectangle 30"/>
          <p:cNvSpPr>
            <a:spLocks noChangeArrowheads="1"/>
          </p:cNvSpPr>
          <p:nvPr/>
        </p:nvSpPr>
        <p:spPr bwMode="auto">
          <a:xfrm>
            <a:off x="6551619" y="5326063"/>
            <a:ext cx="10579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271" name="Rectangle 31"/>
          <p:cNvSpPr>
            <a:spLocks noChangeArrowheads="1"/>
          </p:cNvSpPr>
          <p:nvPr/>
        </p:nvSpPr>
        <p:spPr bwMode="auto">
          <a:xfrm>
            <a:off x="6461135" y="4835525"/>
            <a:ext cx="2115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20</a:t>
            </a:r>
          </a:p>
        </p:txBody>
      </p:sp>
      <p:sp>
        <p:nvSpPr>
          <p:cNvPr id="10272" name="Rectangle 32"/>
          <p:cNvSpPr>
            <a:spLocks noChangeArrowheads="1"/>
          </p:cNvSpPr>
          <p:nvPr/>
        </p:nvSpPr>
        <p:spPr bwMode="auto">
          <a:xfrm>
            <a:off x="6448444" y="4256088"/>
            <a:ext cx="2115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40</a:t>
            </a:r>
          </a:p>
        </p:txBody>
      </p:sp>
      <p:sp>
        <p:nvSpPr>
          <p:cNvPr id="10273" name="Rectangle 33"/>
          <p:cNvSpPr>
            <a:spLocks noChangeArrowheads="1"/>
          </p:cNvSpPr>
          <p:nvPr/>
        </p:nvSpPr>
        <p:spPr bwMode="auto">
          <a:xfrm>
            <a:off x="6448444" y="3689351"/>
            <a:ext cx="2115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60</a:t>
            </a:r>
          </a:p>
        </p:txBody>
      </p:sp>
      <p:sp>
        <p:nvSpPr>
          <p:cNvPr id="10274" name="Rectangle 34"/>
          <p:cNvSpPr>
            <a:spLocks noChangeArrowheads="1"/>
          </p:cNvSpPr>
          <p:nvPr/>
        </p:nvSpPr>
        <p:spPr bwMode="auto">
          <a:xfrm>
            <a:off x="6448444" y="3143251"/>
            <a:ext cx="2115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80</a:t>
            </a:r>
          </a:p>
        </p:txBody>
      </p:sp>
      <p:sp>
        <p:nvSpPr>
          <p:cNvPr id="10275" name="Rectangle 35"/>
          <p:cNvSpPr>
            <a:spLocks noChangeArrowheads="1"/>
          </p:cNvSpPr>
          <p:nvPr/>
        </p:nvSpPr>
        <p:spPr bwMode="auto">
          <a:xfrm>
            <a:off x="6356351" y="2597151"/>
            <a:ext cx="31162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100</a:t>
            </a:r>
          </a:p>
        </p:txBody>
      </p:sp>
      <p:sp>
        <p:nvSpPr>
          <p:cNvPr id="10276" name="Rectangle 36"/>
          <p:cNvSpPr>
            <a:spLocks noChangeArrowheads="1"/>
          </p:cNvSpPr>
          <p:nvPr/>
        </p:nvSpPr>
        <p:spPr bwMode="auto">
          <a:xfrm>
            <a:off x="8197854" y="5854700"/>
            <a:ext cx="57387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1" dirty="0">
                <a:latin typeface="Franklin Gothic Book" panose="020B0503020102020204" pitchFamily="34" charset="0"/>
                <a:cs typeface="Arial" pitchFamily="34" charset="0"/>
              </a:rPr>
              <a:t>Months</a:t>
            </a:r>
          </a:p>
        </p:txBody>
      </p:sp>
      <p:sp>
        <p:nvSpPr>
          <p:cNvPr id="10277" name="Text Box 37"/>
          <p:cNvSpPr txBox="1">
            <a:spLocks noChangeArrowheads="1"/>
          </p:cNvSpPr>
          <p:nvPr/>
        </p:nvSpPr>
        <p:spPr bwMode="auto">
          <a:xfrm>
            <a:off x="8193098" y="3417902"/>
            <a:ext cx="2547937" cy="923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marL="285750" indent="-285750" eaLnBrk="0" hangingPunct="0">
              <a:lnSpc>
                <a:spcPct val="90000"/>
              </a:lnSpc>
            </a:pPr>
            <a:r>
              <a:rPr lang="en-US" sz="1200" b="1" i="1" dirty="0">
                <a:latin typeface="Franklin Gothic Book" panose="020B0503020102020204" pitchFamily="34" charset="0"/>
                <a:cs typeface="Arial" pitchFamily="34" charset="0"/>
              </a:rPr>
              <a:t>P</a:t>
            </a: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=0.003; HR=0.79 </a:t>
            </a:r>
          </a:p>
          <a:p>
            <a:pPr marL="285750" indent="-285750" eaLnBrk="0" hangingPunct="0">
              <a:lnSpc>
                <a:spcPct val="90000"/>
              </a:lnSpc>
            </a:pP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Median OS: 12.3 months vs. </a:t>
            </a:r>
            <a:b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</a:b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              10.3 months</a:t>
            </a:r>
          </a:p>
          <a:p>
            <a:pPr marL="285750" indent="-285750" eaLnBrk="0" hangingPunct="0">
              <a:lnSpc>
                <a:spcPct val="90000"/>
              </a:lnSpc>
            </a:pP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1-Year OS: 51% vs. 44%</a:t>
            </a:r>
          </a:p>
          <a:p>
            <a:pPr marL="285750" indent="-285750" eaLnBrk="0" hangingPunct="0">
              <a:lnSpc>
                <a:spcPct val="90000"/>
              </a:lnSpc>
            </a:pP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2-Year OS: 23% vs. 15%</a:t>
            </a:r>
          </a:p>
        </p:txBody>
      </p:sp>
      <p:sp>
        <p:nvSpPr>
          <p:cNvPr id="10278" name="Text Box 38"/>
          <p:cNvSpPr txBox="1">
            <a:spLocks noChangeArrowheads="1"/>
          </p:cNvSpPr>
          <p:nvPr/>
        </p:nvSpPr>
        <p:spPr bwMode="auto">
          <a:xfrm rot="-5400000">
            <a:off x="5054608" y="3648177"/>
            <a:ext cx="23590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 dirty="0">
                <a:latin typeface="Franklin Gothic Book" panose="020B0503020102020204" pitchFamily="34" charset="0"/>
                <a:cs typeface="Arial" pitchFamily="34" charset="0"/>
              </a:rPr>
              <a:t>Patients Surviving (%)</a:t>
            </a:r>
          </a:p>
        </p:txBody>
      </p:sp>
      <p:sp>
        <p:nvSpPr>
          <p:cNvPr id="10279" name="Text Box 39"/>
          <p:cNvSpPr txBox="1">
            <a:spLocks noChangeArrowheads="1"/>
          </p:cNvSpPr>
          <p:nvPr/>
        </p:nvSpPr>
        <p:spPr bwMode="auto">
          <a:xfrm>
            <a:off x="7586663" y="2017728"/>
            <a:ext cx="218707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ja-JP" sz="2400" b="1" u="sng" dirty="0">
                <a:latin typeface="Franklin Gothic Book" panose="020B0503020102020204" pitchFamily="34" charset="0"/>
                <a:ea typeface="ＭＳ Ｐゴシック" pitchFamily="48" charset="-128"/>
                <a:cs typeface="Arial" pitchFamily="34" charset="0"/>
              </a:rPr>
              <a:t>Overall Survival</a:t>
            </a:r>
            <a:endParaRPr lang="en-US" sz="2400" b="1" u="sng" dirty="0">
              <a:latin typeface="Franklin Gothic Book" panose="020B0503020102020204" pitchFamily="34" charset="0"/>
              <a:ea typeface="ＭＳ Ｐゴシック" pitchFamily="48" charset="-128"/>
              <a:cs typeface="Arial" pitchFamily="34" charset="0"/>
            </a:endParaRPr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 flipV="1">
            <a:off x="2432050" y="2670180"/>
            <a:ext cx="0" cy="2663825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 flipH="1">
            <a:off x="2354276" y="5334000"/>
            <a:ext cx="77787" cy="0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82" name="Line 42"/>
          <p:cNvSpPr>
            <a:spLocks noChangeShapeType="1"/>
          </p:cNvSpPr>
          <p:nvPr/>
        </p:nvSpPr>
        <p:spPr bwMode="auto">
          <a:xfrm flipH="1">
            <a:off x="2349501" y="4800600"/>
            <a:ext cx="82550" cy="0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83" name="Line 43"/>
          <p:cNvSpPr>
            <a:spLocks noChangeShapeType="1"/>
          </p:cNvSpPr>
          <p:nvPr/>
        </p:nvSpPr>
        <p:spPr bwMode="auto">
          <a:xfrm flipH="1" flipV="1">
            <a:off x="2352685" y="4267200"/>
            <a:ext cx="79375" cy="0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84" name="Line 44"/>
          <p:cNvSpPr>
            <a:spLocks noChangeShapeType="1"/>
          </p:cNvSpPr>
          <p:nvPr/>
        </p:nvSpPr>
        <p:spPr bwMode="auto">
          <a:xfrm flipH="1" flipV="1">
            <a:off x="2355850" y="3735388"/>
            <a:ext cx="76200" cy="0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85" name="Line 45"/>
          <p:cNvSpPr>
            <a:spLocks noChangeShapeType="1"/>
          </p:cNvSpPr>
          <p:nvPr/>
        </p:nvSpPr>
        <p:spPr bwMode="auto">
          <a:xfrm flipH="1" flipV="1">
            <a:off x="2352685" y="3200400"/>
            <a:ext cx="79375" cy="0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86" name="Line 46"/>
          <p:cNvSpPr>
            <a:spLocks noChangeShapeType="1"/>
          </p:cNvSpPr>
          <p:nvPr/>
        </p:nvSpPr>
        <p:spPr bwMode="auto">
          <a:xfrm flipH="1" flipV="1">
            <a:off x="2352685" y="2670175"/>
            <a:ext cx="79375" cy="0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87" name="Rectangle 47"/>
          <p:cNvSpPr>
            <a:spLocks noChangeArrowheads="1"/>
          </p:cNvSpPr>
          <p:nvPr/>
        </p:nvSpPr>
        <p:spPr bwMode="auto">
          <a:xfrm>
            <a:off x="2181243" y="5237163"/>
            <a:ext cx="10579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288" name="Rectangle 48"/>
          <p:cNvSpPr>
            <a:spLocks noChangeArrowheads="1"/>
          </p:cNvSpPr>
          <p:nvPr/>
        </p:nvSpPr>
        <p:spPr bwMode="auto">
          <a:xfrm>
            <a:off x="2101863" y="4705351"/>
            <a:ext cx="2115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20</a:t>
            </a:r>
          </a:p>
        </p:txBody>
      </p:sp>
      <p:sp>
        <p:nvSpPr>
          <p:cNvPr id="10289" name="Rectangle 49"/>
          <p:cNvSpPr>
            <a:spLocks noChangeArrowheads="1"/>
          </p:cNvSpPr>
          <p:nvPr/>
        </p:nvSpPr>
        <p:spPr bwMode="auto">
          <a:xfrm>
            <a:off x="2101863" y="4160839"/>
            <a:ext cx="2115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40</a:t>
            </a:r>
          </a:p>
        </p:txBody>
      </p:sp>
      <p:sp>
        <p:nvSpPr>
          <p:cNvPr id="10290" name="Rectangle 50"/>
          <p:cNvSpPr>
            <a:spLocks noChangeArrowheads="1"/>
          </p:cNvSpPr>
          <p:nvPr/>
        </p:nvSpPr>
        <p:spPr bwMode="auto">
          <a:xfrm>
            <a:off x="2089157" y="3638550"/>
            <a:ext cx="2115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60</a:t>
            </a:r>
          </a:p>
        </p:txBody>
      </p:sp>
      <p:sp>
        <p:nvSpPr>
          <p:cNvPr id="10291" name="Rectangle 51"/>
          <p:cNvSpPr>
            <a:spLocks noChangeArrowheads="1"/>
          </p:cNvSpPr>
          <p:nvPr/>
        </p:nvSpPr>
        <p:spPr bwMode="auto">
          <a:xfrm>
            <a:off x="2101863" y="3105151"/>
            <a:ext cx="2115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80</a:t>
            </a:r>
          </a:p>
        </p:txBody>
      </p:sp>
      <p:sp>
        <p:nvSpPr>
          <p:cNvPr id="10292" name="Rectangle 52"/>
          <p:cNvSpPr>
            <a:spLocks noChangeArrowheads="1"/>
          </p:cNvSpPr>
          <p:nvPr/>
        </p:nvSpPr>
        <p:spPr bwMode="auto">
          <a:xfrm>
            <a:off x="2033589" y="2562225"/>
            <a:ext cx="31162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100</a:t>
            </a:r>
          </a:p>
        </p:txBody>
      </p:sp>
      <p:sp>
        <p:nvSpPr>
          <p:cNvPr id="10293" name="Freeform 53"/>
          <p:cNvSpPr>
            <a:spLocks/>
          </p:cNvSpPr>
          <p:nvPr/>
        </p:nvSpPr>
        <p:spPr bwMode="auto">
          <a:xfrm>
            <a:off x="2432051" y="2563817"/>
            <a:ext cx="3632200" cy="2876551"/>
          </a:xfrm>
          <a:custGeom>
            <a:avLst/>
            <a:gdLst>
              <a:gd name="T0" fmla="*/ 0 w 649"/>
              <a:gd name="T1" fmla="*/ 0 h 405"/>
              <a:gd name="T2" fmla="*/ 0 w 649"/>
              <a:gd name="T3" fmla="*/ 405 h 405"/>
              <a:gd name="T4" fmla="*/ 649 w 649"/>
              <a:gd name="T5" fmla="*/ 405 h 405"/>
              <a:gd name="T6" fmla="*/ 0 60000 65536"/>
              <a:gd name="T7" fmla="*/ 0 60000 65536"/>
              <a:gd name="T8" fmla="*/ 0 60000 65536"/>
              <a:gd name="T9" fmla="*/ 0 w 649"/>
              <a:gd name="T10" fmla="*/ 0 h 405"/>
              <a:gd name="T11" fmla="*/ 649 w 649"/>
              <a:gd name="T12" fmla="*/ 405 h 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9" h="405">
                <a:moveTo>
                  <a:pt x="0" y="0"/>
                </a:moveTo>
                <a:lnTo>
                  <a:pt x="0" y="405"/>
                </a:lnTo>
                <a:lnTo>
                  <a:pt x="649" y="405"/>
                </a:lnTo>
              </a:path>
            </a:pathLst>
          </a:custGeom>
          <a:noFill/>
          <a:ln w="27051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94" name="Rectangle 54"/>
          <p:cNvSpPr>
            <a:spLocks noChangeArrowheads="1"/>
          </p:cNvSpPr>
          <p:nvPr/>
        </p:nvSpPr>
        <p:spPr bwMode="auto">
          <a:xfrm rot="-5400000">
            <a:off x="1065719" y="3855474"/>
            <a:ext cx="1630959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1" dirty="0">
                <a:latin typeface="Franklin Gothic Book" panose="020B0503020102020204" pitchFamily="34" charset="0"/>
                <a:cs typeface="Arial" pitchFamily="34" charset="0"/>
              </a:rPr>
              <a:t>Patients With PFS (%)</a:t>
            </a:r>
          </a:p>
        </p:txBody>
      </p:sp>
      <p:sp>
        <p:nvSpPr>
          <p:cNvPr id="10295" name="Freeform 55"/>
          <p:cNvSpPr>
            <a:spLocks/>
          </p:cNvSpPr>
          <p:nvPr/>
        </p:nvSpPr>
        <p:spPr bwMode="auto">
          <a:xfrm>
            <a:off x="2563814" y="2670179"/>
            <a:ext cx="2462212" cy="2635251"/>
          </a:xfrm>
          <a:custGeom>
            <a:avLst/>
            <a:gdLst>
              <a:gd name="T0" fmla="*/ 8 w 440"/>
              <a:gd name="T1" fmla="*/ 4 h 371"/>
              <a:gd name="T2" fmla="*/ 11 w 440"/>
              <a:gd name="T3" fmla="*/ 8 h 371"/>
              <a:gd name="T4" fmla="*/ 16 w 440"/>
              <a:gd name="T5" fmla="*/ 14 h 371"/>
              <a:gd name="T6" fmla="*/ 19 w 440"/>
              <a:gd name="T7" fmla="*/ 21 h 371"/>
              <a:gd name="T8" fmla="*/ 20 w 440"/>
              <a:gd name="T9" fmla="*/ 31 h 371"/>
              <a:gd name="T10" fmla="*/ 22 w 440"/>
              <a:gd name="T11" fmla="*/ 52 h 371"/>
              <a:gd name="T12" fmla="*/ 24 w 440"/>
              <a:gd name="T13" fmla="*/ 69 h 371"/>
              <a:gd name="T14" fmla="*/ 26 w 440"/>
              <a:gd name="T15" fmla="*/ 75 h 371"/>
              <a:gd name="T16" fmla="*/ 29 w 440"/>
              <a:gd name="T17" fmla="*/ 82 h 371"/>
              <a:gd name="T18" fmla="*/ 31 w 440"/>
              <a:gd name="T19" fmla="*/ 88 h 371"/>
              <a:gd name="T20" fmla="*/ 36 w 440"/>
              <a:gd name="T21" fmla="*/ 92 h 371"/>
              <a:gd name="T22" fmla="*/ 42 w 440"/>
              <a:gd name="T23" fmla="*/ 98 h 371"/>
              <a:gd name="T24" fmla="*/ 44 w 440"/>
              <a:gd name="T25" fmla="*/ 105 h 371"/>
              <a:gd name="T26" fmla="*/ 47 w 440"/>
              <a:gd name="T27" fmla="*/ 111 h 371"/>
              <a:gd name="T28" fmla="*/ 49 w 440"/>
              <a:gd name="T29" fmla="*/ 120 h 371"/>
              <a:gd name="T30" fmla="*/ 51 w 440"/>
              <a:gd name="T31" fmla="*/ 125 h 371"/>
              <a:gd name="T32" fmla="*/ 55 w 440"/>
              <a:gd name="T33" fmla="*/ 132 h 371"/>
              <a:gd name="T34" fmla="*/ 57 w 440"/>
              <a:gd name="T35" fmla="*/ 138 h 371"/>
              <a:gd name="T36" fmla="*/ 61 w 440"/>
              <a:gd name="T37" fmla="*/ 146 h 371"/>
              <a:gd name="T38" fmla="*/ 63 w 440"/>
              <a:gd name="T39" fmla="*/ 150 h 371"/>
              <a:gd name="T40" fmla="*/ 65 w 440"/>
              <a:gd name="T41" fmla="*/ 154 h 371"/>
              <a:gd name="T42" fmla="*/ 68 w 440"/>
              <a:gd name="T43" fmla="*/ 160 h 371"/>
              <a:gd name="T44" fmla="*/ 70 w 440"/>
              <a:gd name="T45" fmla="*/ 169 h 371"/>
              <a:gd name="T46" fmla="*/ 72 w 440"/>
              <a:gd name="T47" fmla="*/ 173 h 371"/>
              <a:gd name="T48" fmla="*/ 74 w 440"/>
              <a:gd name="T49" fmla="*/ 180 h 371"/>
              <a:gd name="T50" fmla="*/ 76 w 440"/>
              <a:gd name="T51" fmla="*/ 190 h 371"/>
              <a:gd name="T52" fmla="*/ 79 w 440"/>
              <a:gd name="T53" fmla="*/ 195 h 371"/>
              <a:gd name="T54" fmla="*/ 82 w 440"/>
              <a:gd name="T55" fmla="*/ 202 h 371"/>
              <a:gd name="T56" fmla="*/ 84 w 440"/>
              <a:gd name="T57" fmla="*/ 209 h 371"/>
              <a:gd name="T58" fmla="*/ 87 w 440"/>
              <a:gd name="T59" fmla="*/ 212 h 371"/>
              <a:gd name="T60" fmla="*/ 90 w 440"/>
              <a:gd name="T61" fmla="*/ 218 h 371"/>
              <a:gd name="T62" fmla="*/ 93 w 440"/>
              <a:gd name="T63" fmla="*/ 228 h 371"/>
              <a:gd name="T64" fmla="*/ 95 w 440"/>
              <a:gd name="T65" fmla="*/ 238 h 371"/>
              <a:gd name="T66" fmla="*/ 99 w 440"/>
              <a:gd name="T67" fmla="*/ 247 h 371"/>
              <a:gd name="T68" fmla="*/ 101 w 440"/>
              <a:gd name="T69" fmla="*/ 253 h 371"/>
              <a:gd name="T70" fmla="*/ 104 w 440"/>
              <a:gd name="T71" fmla="*/ 256 h 371"/>
              <a:gd name="T72" fmla="*/ 106 w 440"/>
              <a:gd name="T73" fmla="*/ 262 h 371"/>
              <a:gd name="T74" fmla="*/ 112 w 440"/>
              <a:gd name="T75" fmla="*/ 265 h 371"/>
              <a:gd name="T76" fmla="*/ 114 w 440"/>
              <a:gd name="T77" fmla="*/ 270 h 371"/>
              <a:gd name="T78" fmla="*/ 116 w 440"/>
              <a:gd name="T79" fmla="*/ 277 h 371"/>
              <a:gd name="T80" fmla="*/ 119 w 440"/>
              <a:gd name="T81" fmla="*/ 285 h 371"/>
              <a:gd name="T82" fmla="*/ 123 w 440"/>
              <a:gd name="T83" fmla="*/ 293 h 371"/>
              <a:gd name="T84" fmla="*/ 127 w 440"/>
              <a:gd name="T85" fmla="*/ 299 h 371"/>
              <a:gd name="T86" fmla="*/ 132 w 440"/>
              <a:gd name="T87" fmla="*/ 304 h 371"/>
              <a:gd name="T88" fmla="*/ 134 w 440"/>
              <a:gd name="T89" fmla="*/ 309 h 371"/>
              <a:gd name="T90" fmla="*/ 139 w 440"/>
              <a:gd name="T91" fmla="*/ 313 h 371"/>
              <a:gd name="T92" fmla="*/ 144 w 440"/>
              <a:gd name="T93" fmla="*/ 319 h 371"/>
              <a:gd name="T94" fmla="*/ 151 w 440"/>
              <a:gd name="T95" fmla="*/ 323 h 371"/>
              <a:gd name="T96" fmla="*/ 159 w 440"/>
              <a:gd name="T97" fmla="*/ 329 h 371"/>
              <a:gd name="T98" fmla="*/ 166 w 440"/>
              <a:gd name="T99" fmla="*/ 336 h 371"/>
              <a:gd name="T100" fmla="*/ 172 w 440"/>
              <a:gd name="T101" fmla="*/ 341 h 371"/>
              <a:gd name="T102" fmla="*/ 194 w 440"/>
              <a:gd name="T103" fmla="*/ 347 h 371"/>
              <a:gd name="T104" fmla="*/ 217 w 440"/>
              <a:gd name="T105" fmla="*/ 354 h 371"/>
              <a:gd name="T106" fmla="*/ 236 w 440"/>
              <a:gd name="T107" fmla="*/ 361 h 371"/>
              <a:gd name="T108" fmla="*/ 263 w 440"/>
              <a:gd name="T109" fmla="*/ 368 h 371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440"/>
              <a:gd name="T166" fmla="*/ 0 h 371"/>
              <a:gd name="T167" fmla="*/ 440 w 440"/>
              <a:gd name="T168" fmla="*/ 371 h 371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440" h="371">
                <a:moveTo>
                  <a:pt x="0" y="0"/>
                </a:moveTo>
                <a:lnTo>
                  <a:pt x="0" y="0"/>
                </a:lnTo>
                <a:lnTo>
                  <a:pt x="0" y="1"/>
                </a:lnTo>
                <a:lnTo>
                  <a:pt x="5" y="1"/>
                </a:lnTo>
                <a:lnTo>
                  <a:pt x="5" y="3"/>
                </a:lnTo>
                <a:lnTo>
                  <a:pt x="8" y="3"/>
                </a:lnTo>
                <a:lnTo>
                  <a:pt x="8" y="4"/>
                </a:lnTo>
                <a:lnTo>
                  <a:pt x="8" y="6"/>
                </a:lnTo>
                <a:lnTo>
                  <a:pt x="10" y="6"/>
                </a:lnTo>
                <a:lnTo>
                  <a:pt x="10" y="7"/>
                </a:lnTo>
                <a:lnTo>
                  <a:pt x="10" y="8"/>
                </a:lnTo>
                <a:lnTo>
                  <a:pt x="11" y="8"/>
                </a:lnTo>
                <a:lnTo>
                  <a:pt x="11" y="9"/>
                </a:lnTo>
                <a:lnTo>
                  <a:pt x="11" y="11"/>
                </a:lnTo>
                <a:lnTo>
                  <a:pt x="13" y="11"/>
                </a:lnTo>
                <a:lnTo>
                  <a:pt x="13" y="12"/>
                </a:lnTo>
                <a:lnTo>
                  <a:pt x="16" y="12"/>
                </a:lnTo>
                <a:lnTo>
                  <a:pt x="16" y="14"/>
                </a:lnTo>
                <a:lnTo>
                  <a:pt x="17" y="14"/>
                </a:lnTo>
                <a:lnTo>
                  <a:pt x="17" y="15"/>
                </a:lnTo>
                <a:lnTo>
                  <a:pt x="17" y="18"/>
                </a:lnTo>
                <a:lnTo>
                  <a:pt x="18" y="18"/>
                </a:lnTo>
                <a:lnTo>
                  <a:pt x="18" y="21"/>
                </a:lnTo>
                <a:lnTo>
                  <a:pt x="19" y="21"/>
                </a:lnTo>
                <a:lnTo>
                  <a:pt x="19" y="22"/>
                </a:lnTo>
                <a:lnTo>
                  <a:pt x="19" y="23"/>
                </a:lnTo>
                <a:lnTo>
                  <a:pt x="20" y="23"/>
                </a:lnTo>
                <a:lnTo>
                  <a:pt x="20" y="28"/>
                </a:lnTo>
                <a:lnTo>
                  <a:pt x="20" y="31"/>
                </a:lnTo>
                <a:lnTo>
                  <a:pt x="21" y="31"/>
                </a:lnTo>
                <a:lnTo>
                  <a:pt x="21" y="36"/>
                </a:lnTo>
                <a:lnTo>
                  <a:pt x="21" y="43"/>
                </a:lnTo>
                <a:lnTo>
                  <a:pt x="22" y="43"/>
                </a:lnTo>
                <a:lnTo>
                  <a:pt x="22" y="52"/>
                </a:lnTo>
                <a:lnTo>
                  <a:pt x="22" y="57"/>
                </a:lnTo>
                <a:lnTo>
                  <a:pt x="23" y="57"/>
                </a:lnTo>
                <a:lnTo>
                  <a:pt x="23" y="64"/>
                </a:lnTo>
                <a:lnTo>
                  <a:pt x="24" y="64"/>
                </a:lnTo>
                <a:lnTo>
                  <a:pt x="24" y="66"/>
                </a:lnTo>
                <a:lnTo>
                  <a:pt x="24" y="69"/>
                </a:lnTo>
                <a:lnTo>
                  <a:pt x="25" y="69"/>
                </a:lnTo>
                <a:lnTo>
                  <a:pt x="25" y="72"/>
                </a:lnTo>
                <a:lnTo>
                  <a:pt x="25" y="73"/>
                </a:lnTo>
                <a:lnTo>
                  <a:pt x="26" y="73"/>
                </a:lnTo>
                <a:lnTo>
                  <a:pt x="26" y="75"/>
                </a:lnTo>
                <a:lnTo>
                  <a:pt x="26" y="77"/>
                </a:lnTo>
                <a:lnTo>
                  <a:pt x="27" y="77"/>
                </a:lnTo>
                <a:lnTo>
                  <a:pt x="27" y="79"/>
                </a:lnTo>
                <a:lnTo>
                  <a:pt x="28" y="79"/>
                </a:lnTo>
                <a:lnTo>
                  <a:pt x="28" y="80"/>
                </a:lnTo>
                <a:lnTo>
                  <a:pt x="29" y="80"/>
                </a:lnTo>
                <a:lnTo>
                  <a:pt x="29" y="82"/>
                </a:lnTo>
                <a:lnTo>
                  <a:pt x="29" y="84"/>
                </a:lnTo>
                <a:lnTo>
                  <a:pt x="30" y="84"/>
                </a:lnTo>
                <a:lnTo>
                  <a:pt x="30" y="87"/>
                </a:lnTo>
                <a:lnTo>
                  <a:pt x="31" y="87"/>
                </a:lnTo>
                <a:lnTo>
                  <a:pt x="31" y="88"/>
                </a:lnTo>
                <a:lnTo>
                  <a:pt x="31" y="89"/>
                </a:lnTo>
                <a:lnTo>
                  <a:pt x="32" y="89"/>
                </a:lnTo>
                <a:lnTo>
                  <a:pt x="32" y="90"/>
                </a:lnTo>
                <a:lnTo>
                  <a:pt x="34" y="90"/>
                </a:lnTo>
                <a:lnTo>
                  <a:pt x="34" y="91"/>
                </a:lnTo>
                <a:lnTo>
                  <a:pt x="36" y="91"/>
                </a:lnTo>
                <a:lnTo>
                  <a:pt x="36" y="92"/>
                </a:lnTo>
                <a:lnTo>
                  <a:pt x="36" y="95"/>
                </a:lnTo>
                <a:lnTo>
                  <a:pt x="37" y="95"/>
                </a:lnTo>
                <a:lnTo>
                  <a:pt x="37" y="96"/>
                </a:lnTo>
                <a:lnTo>
                  <a:pt x="38" y="96"/>
                </a:lnTo>
                <a:lnTo>
                  <a:pt x="38" y="98"/>
                </a:lnTo>
                <a:lnTo>
                  <a:pt x="42" y="98"/>
                </a:lnTo>
                <a:lnTo>
                  <a:pt x="42" y="99"/>
                </a:lnTo>
                <a:lnTo>
                  <a:pt x="42" y="100"/>
                </a:lnTo>
                <a:lnTo>
                  <a:pt x="43" y="100"/>
                </a:lnTo>
                <a:lnTo>
                  <a:pt x="43" y="102"/>
                </a:lnTo>
                <a:lnTo>
                  <a:pt x="44" y="102"/>
                </a:lnTo>
                <a:lnTo>
                  <a:pt x="44" y="105"/>
                </a:lnTo>
                <a:lnTo>
                  <a:pt x="45" y="105"/>
                </a:lnTo>
                <a:lnTo>
                  <a:pt x="45" y="108"/>
                </a:lnTo>
                <a:lnTo>
                  <a:pt x="46" y="108"/>
                </a:lnTo>
                <a:lnTo>
                  <a:pt x="46" y="111"/>
                </a:lnTo>
                <a:lnTo>
                  <a:pt x="47" y="111"/>
                </a:lnTo>
                <a:lnTo>
                  <a:pt x="47" y="113"/>
                </a:lnTo>
                <a:lnTo>
                  <a:pt x="47" y="116"/>
                </a:lnTo>
                <a:lnTo>
                  <a:pt x="48" y="116"/>
                </a:lnTo>
                <a:lnTo>
                  <a:pt x="48" y="118"/>
                </a:lnTo>
                <a:lnTo>
                  <a:pt x="49" y="118"/>
                </a:lnTo>
                <a:lnTo>
                  <a:pt x="49" y="120"/>
                </a:lnTo>
                <a:lnTo>
                  <a:pt x="50" y="120"/>
                </a:lnTo>
                <a:lnTo>
                  <a:pt x="50" y="121"/>
                </a:lnTo>
                <a:lnTo>
                  <a:pt x="50" y="122"/>
                </a:lnTo>
                <a:lnTo>
                  <a:pt x="51" y="122"/>
                </a:lnTo>
                <a:lnTo>
                  <a:pt x="51" y="125"/>
                </a:lnTo>
                <a:lnTo>
                  <a:pt x="51" y="126"/>
                </a:lnTo>
                <a:lnTo>
                  <a:pt x="54" y="126"/>
                </a:lnTo>
                <a:lnTo>
                  <a:pt x="54" y="129"/>
                </a:lnTo>
                <a:lnTo>
                  <a:pt x="55" y="129"/>
                </a:lnTo>
                <a:lnTo>
                  <a:pt x="55" y="131"/>
                </a:lnTo>
                <a:lnTo>
                  <a:pt x="55" y="132"/>
                </a:lnTo>
                <a:lnTo>
                  <a:pt x="56" y="132"/>
                </a:lnTo>
                <a:lnTo>
                  <a:pt x="56" y="135"/>
                </a:lnTo>
                <a:lnTo>
                  <a:pt x="56" y="136"/>
                </a:lnTo>
                <a:lnTo>
                  <a:pt x="57" y="136"/>
                </a:lnTo>
                <a:lnTo>
                  <a:pt x="57" y="138"/>
                </a:lnTo>
                <a:lnTo>
                  <a:pt x="57" y="140"/>
                </a:lnTo>
                <a:lnTo>
                  <a:pt x="59" y="140"/>
                </a:lnTo>
                <a:lnTo>
                  <a:pt x="59" y="142"/>
                </a:lnTo>
                <a:lnTo>
                  <a:pt x="60" y="142"/>
                </a:lnTo>
                <a:lnTo>
                  <a:pt x="60" y="144"/>
                </a:lnTo>
                <a:lnTo>
                  <a:pt x="61" y="144"/>
                </a:lnTo>
                <a:lnTo>
                  <a:pt x="61" y="146"/>
                </a:lnTo>
                <a:lnTo>
                  <a:pt x="61" y="147"/>
                </a:lnTo>
                <a:lnTo>
                  <a:pt x="62" y="147"/>
                </a:lnTo>
                <a:lnTo>
                  <a:pt x="62" y="148"/>
                </a:lnTo>
                <a:lnTo>
                  <a:pt x="62" y="150"/>
                </a:lnTo>
                <a:lnTo>
                  <a:pt x="63" y="150"/>
                </a:lnTo>
                <a:lnTo>
                  <a:pt x="63" y="151"/>
                </a:lnTo>
                <a:lnTo>
                  <a:pt x="64" y="151"/>
                </a:lnTo>
                <a:lnTo>
                  <a:pt x="64" y="152"/>
                </a:lnTo>
                <a:lnTo>
                  <a:pt x="65" y="152"/>
                </a:lnTo>
                <a:lnTo>
                  <a:pt x="65" y="153"/>
                </a:lnTo>
                <a:lnTo>
                  <a:pt x="65" y="154"/>
                </a:lnTo>
                <a:lnTo>
                  <a:pt x="66" y="154"/>
                </a:lnTo>
                <a:lnTo>
                  <a:pt x="66" y="157"/>
                </a:lnTo>
                <a:lnTo>
                  <a:pt x="67" y="157"/>
                </a:lnTo>
                <a:lnTo>
                  <a:pt x="67" y="159"/>
                </a:lnTo>
                <a:lnTo>
                  <a:pt x="68" y="159"/>
                </a:lnTo>
                <a:lnTo>
                  <a:pt x="68" y="160"/>
                </a:lnTo>
                <a:lnTo>
                  <a:pt x="68" y="161"/>
                </a:lnTo>
                <a:lnTo>
                  <a:pt x="69" y="161"/>
                </a:lnTo>
                <a:lnTo>
                  <a:pt x="69" y="162"/>
                </a:lnTo>
                <a:lnTo>
                  <a:pt x="70" y="162"/>
                </a:lnTo>
                <a:lnTo>
                  <a:pt x="70" y="167"/>
                </a:lnTo>
                <a:lnTo>
                  <a:pt x="70" y="169"/>
                </a:lnTo>
                <a:lnTo>
                  <a:pt x="71" y="169"/>
                </a:lnTo>
                <a:lnTo>
                  <a:pt x="71" y="171"/>
                </a:lnTo>
                <a:lnTo>
                  <a:pt x="71" y="172"/>
                </a:lnTo>
                <a:lnTo>
                  <a:pt x="72" y="172"/>
                </a:lnTo>
                <a:lnTo>
                  <a:pt x="72" y="173"/>
                </a:lnTo>
                <a:lnTo>
                  <a:pt x="72" y="174"/>
                </a:lnTo>
                <a:lnTo>
                  <a:pt x="73" y="174"/>
                </a:lnTo>
                <a:lnTo>
                  <a:pt x="73" y="175"/>
                </a:lnTo>
                <a:lnTo>
                  <a:pt x="73" y="179"/>
                </a:lnTo>
                <a:lnTo>
                  <a:pt x="74" y="179"/>
                </a:lnTo>
                <a:lnTo>
                  <a:pt x="74" y="180"/>
                </a:lnTo>
                <a:lnTo>
                  <a:pt x="75" y="180"/>
                </a:lnTo>
                <a:lnTo>
                  <a:pt x="75" y="184"/>
                </a:lnTo>
                <a:lnTo>
                  <a:pt x="75" y="186"/>
                </a:lnTo>
                <a:lnTo>
                  <a:pt x="76" y="186"/>
                </a:lnTo>
                <a:lnTo>
                  <a:pt x="76" y="190"/>
                </a:lnTo>
                <a:lnTo>
                  <a:pt x="76" y="191"/>
                </a:lnTo>
                <a:lnTo>
                  <a:pt x="77" y="191"/>
                </a:lnTo>
                <a:lnTo>
                  <a:pt x="77" y="192"/>
                </a:lnTo>
                <a:lnTo>
                  <a:pt x="78" y="192"/>
                </a:lnTo>
                <a:lnTo>
                  <a:pt x="78" y="194"/>
                </a:lnTo>
                <a:lnTo>
                  <a:pt x="79" y="194"/>
                </a:lnTo>
                <a:lnTo>
                  <a:pt x="79" y="195"/>
                </a:lnTo>
                <a:lnTo>
                  <a:pt x="80" y="195"/>
                </a:lnTo>
                <a:lnTo>
                  <a:pt x="80" y="199"/>
                </a:lnTo>
                <a:lnTo>
                  <a:pt x="80" y="201"/>
                </a:lnTo>
                <a:lnTo>
                  <a:pt x="81" y="201"/>
                </a:lnTo>
                <a:lnTo>
                  <a:pt x="81" y="202"/>
                </a:lnTo>
                <a:lnTo>
                  <a:pt x="82" y="202"/>
                </a:lnTo>
                <a:lnTo>
                  <a:pt x="82" y="203"/>
                </a:lnTo>
                <a:lnTo>
                  <a:pt x="83" y="203"/>
                </a:lnTo>
                <a:lnTo>
                  <a:pt x="83" y="205"/>
                </a:lnTo>
                <a:lnTo>
                  <a:pt x="83" y="206"/>
                </a:lnTo>
                <a:lnTo>
                  <a:pt x="84" y="206"/>
                </a:lnTo>
                <a:lnTo>
                  <a:pt x="84" y="209"/>
                </a:lnTo>
                <a:lnTo>
                  <a:pt x="85" y="209"/>
                </a:lnTo>
                <a:lnTo>
                  <a:pt x="85" y="210"/>
                </a:lnTo>
                <a:lnTo>
                  <a:pt x="86" y="210"/>
                </a:lnTo>
                <a:lnTo>
                  <a:pt x="86" y="211"/>
                </a:lnTo>
                <a:lnTo>
                  <a:pt x="86" y="212"/>
                </a:lnTo>
                <a:lnTo>
                  <a:pt x="87" y="212"/>
                </a:lnTo>
                <a:lnTo>
                  <a:pt x="87" y="213"/>
                </a:lnTo>
                <a:lnTo>
                  <a:pt x="88" y="213"/>
                </a:lnTo>
                <a:lnTo>
                  <a:pt x="88" y="216"/>
                </a:lnTo>
                <a:lnTo>
                  <a:pt x="89" y="216"/>
                </a:lnTo>
                <a:lnTo>
                  <a:pt x="89" y="217"/>
                </a:lnTo>
                <a:lnTo>
                  <a:pt x="90" y="217"/>
                </a:lnTo>
                <a:lnTo>
                  <a:pt x="90" y="218"/>
                </a:lnTo>
                <a:lnTo>
                  <a:pt x="90" y="224"/>
                </a:lnTo>
                <a:lnTo>
                  <a:pt x="91" y="224"/>
                </a:lnTo>
                <a:lnTo>
                  <a:pt x="91" y="227"/>
                </a:lnTo>
                <a:lnTo>
                  <a:pt x="92" y="227"/>
                </a:lnTo>
                <a:lnTo>
                  <a:pt x="92" y="228"/>
                </a:lnTo>
                <a:lnTo>
                  <a:pt x="93" y="228"/>
                </a:lnTo>
                <a:lnTo>
                  <a:pt x="93" y="229"/>
                </a:lnTo>
                <a:lnTo>
                  <a:pt x="93" y="233"/>
                </a:lnTo>
                <a:lnTo>
                  <a:pt x="94" y="233"/>
                </a:lnTo>
                <a:lnTo>
                  <a:pt x="94" y="235"/>
                </a:lnTo>
                <a:lnTo>
                  <a:pt x="95" y="235"/>
                </a:lnTo>
                <a:lnTo>
                  <a:pt x="95" y="238"/>
                </a:lnTo>
                <a:lnTo>
                  <a:pt x="96" y="238"/>
                </a:lnTo>
                <a:lnTo>
                  <a:pt x="96" y="241"/>
                </a:lnTo>
                <a:lnTo>
                  <a:pt x="97" y="241"/>
                </a:lnTo>
                <a:lnTo>
                  <a:pt x="97" y="246"/>
                </a:lnTo>
                <a:lnTo>
                  <a:pt x="98" y="246"/>
                </a:lnTo>
                <a:lnTo>
                  <a:pt x="98" y="247"/>
                </a:lnTo>
                <a:lnTo>
                  <a:pt x="99" y="247"/>
                </a:lnTo>
                <a:lnTo>
                  <a:pt x="99" y="249"/>
                </a:lnTo>
                <a:lnTo>
                  <a:pt x="100" y="249"/>
                </a:lnTo>
                <a:lnTo>
                  <a:pt x="100" y="250"/>
                </a:lnTo>
                <a:lnTo>
                  <a:pt x="100" y="252"/>
                </a:lnTo>
                <a:lnTo>
                  <a:pt x="101" y="252"/>
                </a:lnTo>
                <a:lnTo>
                  <a:pt x="101" y="253"/>
                </a:lnTo>
                <a:lnTo>
                  <a:pt x="102" y="253"/>
                </a:lnTo>
                <a:lnTo>
                  <a:pt x="102" y="254"/>
                </a:lnTo>
                <a:lnTo>
                  <a:pt x="103" y="254"/>
                </a:lnTo>
                <a:lnTo>
                  <a:pt x="103" y="255"/>
                </a:lnTo>
                <a:lnTo>
                  <a:pt x="103" y="256"/>
                </a:lnTo>
                <a:lnTo>
                  <a:pt x="104" y="256"/>
                </a:lnTo>
                <a:lnTo>
                  <a:pt x="104" y="257"/>
                </a:lnTo>
                <a:lnTo>
                  <a:pt x="105" y="257"/>
                </a:lnTo>
                <a:lnTo>
                  <a:pt x="105" y="259"/>
                </a:lnTo>
                <a:lnTo>
                  <a:pt x="105" y="260"/>
                </a:lnTo>
                <a:lnTo>
                  <a:pt x="106" y="260"/>
                </a:lnTo>
                <a:lnTo>
                  <a:pt x="106" y="262"/>
                </a:lnTo>
                <a:lnTo>
                  <a:pt x="107" y="262"/>
                </a:lnTo>
                <a:lnTo>
                  <a:pt x="107" y="263"/>
                </a:lnTo>
                <a:lnTo>
                  <a:pt x="108" y="263"/>
                </a:lnTo>
                <a:lnTo>
                  <a:pt x="108" y="264"/>
                </a:lnTo>
                <a:lnTo>
                  <a:pt x="110" y="264"/>
                </a:lnTo>
                <a:lnTo>
                  <a:pt x="110" y="265"/>
                </a:lnTo>
                <a:lnTo>
                  <a:pt x="112" y="265"/>
                </a:lnTo>
                <a:lnTo>
                  <a:pt x="112" y="267"/>
                </a:lnTo>
                <a:lnTo>
                  <a:pt x="112" y="268"/>
                </a:lnTo>
                <a:lnTo>
                  <a:pt x="113" y="268"/>
                </a:lnTo>
                <a:lnTo>
                  <a:pt x="113" y="269"/>
                </a:lnTo>
                <a:lnTo>
                  <a:pt x="114" y="269"/>
                </a:lnTo>
                <a:lnTo>
                  <a:pt x="114" y="270"/>
                </a:lnTo>
                <a:lnTo>
                  <a:pt x="115" y="270"/>
                </a:lnTo>
                <a:lnTo>
                  <a:pt x="115" y="272"/>
                </a:lnTo>
                <a:lnTo>
                  <a:pt x="115" y="274"/>
                </a:lnTo>
                <a:lnTo>
                  <a:pt x="116" y="274"/>
                </a:lnTo>
                <a:lnTo>
                  <a:pt x="116" y="277"/>
                </a:lnTo>
                <a:lnTo>
                  <a:pt x="116" y="281"/>
                </a:lnTo>
                <a:lnTo>
                  <a:pt x="117" y="281"/>
                </a:lnTo>
                <a:lnTo>
                  <a:pt x="117" y="282"/>
                </a:lnTo>
                <a:lnTo>
                  <a:pt x="118" y="282"/>
                </a:lnTo>
                <a:lnTo>
                  <a:pt x="118" y="284"/>
                </a:lnTo>
                <a:lnTo>
                  <a:pt x="119" y="284"/>
                </a:lnTo>
                <a:lnTo>
                  <a:pt x="119" y="285"/>
                </a:lnTo>
                <a:lnTo>
                  <a:pt x="120" y="285"/>
                </a:lnTo>
                <a:lnTo>
                  <a:pt x="120" y="288"/>
                </a:lnTo>
                <a:lnTo>
                  <a:pt x="121" y="288"/>
                </a:lnTo>
                <a:lnTo>
                  <a:pt x="121" y="291"/>
                </a:lnTo>
                <a:lnTo>
                  <a:pt x="123" y="291"/>
                </a:lnTo>
                <a:lnTo>
                  <a:pt x="123" y="293"/>
                </a:lnTo>
                <a:lnTo>
                  <a:pt x="123" y="295"/>
                </a:lnTo>
                <a:lnTo>
                  <a:pt x="124" y="295"/>
                </a:lnTo>
                <a:lnTo>
                  <a:pt x="124" y="296"/>
                </a:lnTo>
                <a:lnTo>
                  <a:pt x="125" y="296"/>
                </a:lnTo>
                <a:lnTo>
                  <a:pt x="125" y="298"/>
                </a:lnTo>
                <a:lnTo>
                  <a:pt x="127" y="298"/>
                </a:lnTo>
                <a:lnTo>
                  <a:pt x="127" y="299"/>
                </a:lnTo>
                <a:lnTo>
                  <a:pt x="128" y="299"/>
                </a:lnTo>
                <a:lnTo>
                  <a:pt x="128" y="300"/>
                </a:lnTo>
                <a:lnTo>
                  <a:pt x="128" y="301"/>
                </a:lnTo>
                <a:lnTo>
                  <a:pt x="130" y="301"/>
                </a:lnTo>
                <a:lnTo>
                  <a:pt x="130" y="304"/>
                </a:lnTo>
                <a:lnTo>
                  <a:pt x="132" y="304"/>
                </a:lnTo>
                <a:lnTo>
                  <a:pt x="132" y="305"/>
                </a:lnTo>
                <a:lnTo>
                  <a:pt x="133" y="305"/>
                </a:lnTo>
                <a:lnTo>
                  <a:pt x="133" y="306"/>
                </a:lnTo>
                <a:lnTo>
                  <a:pt x="133" y="308"/>
                </a:lnTo>
                <a:lnTo>
                  <a:pt x="134" y="308"/>
                </a:lnTo>
                <a:lnTo>
                  <a:pt x="134" y="309"/>
                </a:lnTo>
                <a:lnTo>
                  <a:pt x="137" y="309"/>
                </a:lnTo>
                <a:lnTo>
                  <a:pt x="137" y="310"/>
                </a:lnTo>
                <a:lnTo>
                  <a:pt x="138" y="310"/>
                </a:lnTo>
                <a:lnTo>
                  <a:pt x="138" y="311"/>
                </a:lnTo>
                <a:lnTo>
                  <a:pt x="139" y="311"/>
                </a:lnTo>
                <a:lnTo>
                  <a:pt x="139" y="313"/>
                </a:lnTo>
                <a:lnTo>
                  <a:pt x="139" y="314"/>
                </a:lnTo>
                <a:lnTo>
                  <a:pt x="140" y="314"/>
                </a:lnTo>
                <a:lnTo>
                  <a:pt x="140" y="315"/>
                </a:lnTo>
                <a:lnTo>
                  <a:pt x="143" y="315"/>
                </a:lnTo>
                <a:lnTo>
                  <a:pt x="143" y="318"/>
                </a:lnTo>
                <a:lnTo>
                  <a:pt x="144" y="318"/>
                </a:lnTo>
                <a:lnTo>
                  <a:pt x="144" y="319"/>
                </a:lnTo>
                <a:lnTo>
                  <a:pt x="145" y="319"/>
                </a:lnTo>
                <a:lnTo>
                  <a:pt x="145" y="320"/>
                </a:lnTo>
                <a:lnTo>
                  <a:pt x="147" y="320"/>
                </a:lnTo>
                <a:lnTo>
                  <a:pt x="147" y="322"/>
                </a:lnTo>
                <a:lnTo>
                  <a:pt x="149" y="322"/>
                </a:lnTo>
                <a:lnTo>
                  <a:pt x="149" y="323"/>
                </a:lnTo>
                <a:lnTo>
                  <a:pt x="151" y="323"/>
                </a:lnTo>
                <a:lnTo>
                  <a:pt x="151" y="324"/>
                </a:lnTo>
                <a:lnTo>
                  <a:pt x="155" y="324"/>
                </a:lnTo>
                <a:lnTo>
                  <a:pt x="155" y="326"/>
                </a:lnTo>
                <a:lnTo>
                  <a:pt x="158" y="326"/>
                </a:lnTo>
                <a:lnTo>
                  <a:pt x="158" y="327"/>
                </a:lnTo>
                <a:lnTo>
                  <a:pt x="159" y="327"/>
                </a:lnTo>
                <a:lnTo>
                  <a:pt x="159" y="329"/>
                </a:lnTo>
                <a:lnTo>
                  <a:pt x="159" y="330"/>
                </a:lnTo>
                <a:lnTo>
                  <a:pt x="162" y="330"/>
                </a:lnTo>
                <a:lnTo>
                  <a:pt x="162" y="333"/>
                </a:lnTo>
                <a:lnTo>
                  <a:pt x="163" y="333"/>
                </a:lnTo>
                <a:lnTo>
                  <a:pt x="163" y="336"/>
                </a:lnTo>
                <a:lnTo>
                  <a:pt x="166" y="336"/>
                </a:lnTo>
                <a:lnTo>
                  <a:pt x="166" y="337"/>
                </a:lnTo>
                <a:lnTo>
                  <a:pt x="167" y="337"/>
                </a:lnTo>
                <a:lnTo>
                  <a:pt x="167" y="338"/>
                </a:lnTo>
                <a:lnTo>
                  <a:pt x="170" y="338"/>
                </a:lnTo>
                <a:lnTo>
                  <a:pt x="170" y="340"/>
                </a:lnTo>
                <a:lnTo>
                  <a:pt x="172" y="340"/>
                </a:lnTo>
                <a:lnTo>
                  <a:pt x="172" y="341"/>
                </a:lnTo>
                <a:lnTo>
                  <a:pt x="178" y="341"/>
                </a:lnTo>
                <a:lnTo>
                  <a:pt x="178" y="344"/>
                </a:lnTo>
                <a:lnTo>
                  <a:pt x="185" y="344"/>
                </a:lnTo>
                <a:lnTo>
                  <a:pt x="185" y="346"/>
                </a:lnTo>
                <a:lnTo>
                  <a:pt x="190" y="346"/>
                </a:lnTo>
                <a:lnTo>
                  <a:pt x="190" y="347"/>
                </a:lnTo>
                <a:lnTo>
                  <a:pt x="194" y="347"/>
                </a:lnTo>
                <a:lnTo>
                  <a:pt x="194" y="349"/>
                </a:lnTo>
                <a:lnTo>
                  <a:pt x="202" y="349"/>
                </a:lnTo>
                <a:lnTo>
                  <a:pt x="202" y="351"/>
                </a:lnTo>
                <a:lnTo>
                  <a:pt x="213" y="351"/>
                </a:lnTo>
                <a:lnTo>
                  <a:pt x="213" y="352"/>
                </a:lnTo>
                <a:lnTo>
                  <a:pt x="217" y="352"/>
                </a:lnTo>
                <a:lnTo>
                  <a:pt x="217" y="354"/>
                </a:lnTo>
                <a:lnTo>
                  <a:pt x="220" y="354"/>
                </a:lnTo>
                <a:lnTo>
                  <a:pt x="220" y="356"/>
                </a:lnTo>
                <a:lnTo>
                  <a:pt x="222" y="356"/>
                </a:lnTo>
                <a:lnTo>
                  <a:pt x="222" y="359"/>
                </a:lnTo>
                <a:lnTo>
                  <a:pt x="226" y="359"/>
                </a:lnTo>
                <a:lnTo>
                  <a:pt x="226" y="361"/>
                </a:lnTo>
                <a:lnTo>
                  <a:pt x="236" y="361"/>
                </a:lnTo>
                <a:lnTo>
                  <a:pt x="236" y="363"/>
                </a:lnTo>
                <a:lnTo>
                  <a:pt x="241" y="363"/>
                </a:lnTo>
                <a:lnTo>
                  <a:pt x="241" y="364"/>
                </a:lnTo>
                <a:lnTo>
                  <a:pt x="253" y="364"/>
                </a:lnTo>
                <a:lnTo>
                  <a:pt x="253" y="366"/>
                </a:lnTo>
                <a:lnTo>
                  <a:pt x="263" y="366"/>
                </a:lnTo>
                <a:lnTo>
                  <a:pt x="263" y="368"/>
                </a:lnTo>
                <a:lnTo>
                  <a:pt x="297" y="368"/>
                </a:lnTo>
                <a:lnTo>
                  <a:pt x="297" y="370"/>
                </a:lnTo>
                <a:lnTo>
                  <a:pt x="330" y="370"/>
                </a:lnTo>
                <a:lnTo>
                  <a:pt x="330" y="371"/>
                </a:lnTo>
                <a:lnTo>
                  <a:pt x="440" y="371"/>
                </a:lnTo>
              </a:path>
            </a:pathLst>
          </a:custGeom>
          <a:noFill/>
          <a:ln w="41275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96" name="Freeform 56"/>
          <p:cNvSpPr>
            <a:spLocks/>
          </p:cNvSpPr>
          <p:nvPr/>
        </p:nvSpPr>
        <p:spPr bwMode="auto">
          <a:xfrm>
            <a:off x="2563813" y="2670180"/>
            <a:ext cx="3363912" cy="2663825"/>
          </a:xfrm>
          <a:custGeom>
            <a:avLst/>
            <a:gdLst>
              <a:gd name="T0" fmla="*/ 5 w 601"/>
              <a:gd name="T1" fmla="*/ 4 h 375"/>
              <a:gd name="T2" fmla="*/ 8 w 601"/>
              <a:gd name="T3" fmla="*/ 7 h 375"/>
              <a:gd name="T4" fmla="*/ 12 w 601"/>
              <a:gd name="T5" fmla="*/ 11 h 375"/>
              <a:gd name="T6" fmla="*/ 16 w 601"/>
              <a:gd name="T7" fmla="*/ 15 h 375"/>
              <a:gd name="T8" fmla="*/ 20 w 601"/>
              <a:gd name="T9" fmla="*/ 23 h 375"/>
              <a:gd name="T10" fmla="*/ 22 w 601"/>
              <a:gd name="T11" fmla="*/ 27 h 375"/>
              <a:gd name="T12" fmla="*/ 24 w 601"/>
              <a:gd name="T13" fmla="*/ 42 h 375"/>
              <a:gd name="T14" fmla="*/ 27 w 601"/>
              <a:gd name="T15" fmla="*/ 48 h 375"/>
              <a:gd name="T16" fmla="*/ 31 w 601"/>
              <a:gd name="T17" fmla="*/ 55 h 375"/>
              <a:gd name="T18" fmla="*/ 37 w 601"/>
              <a:gd name="T19" fmla="*/ 59 h 375"/>
              <a:gd name="T20" fmla="*/ 41 w 601"/>
              <a:gd name="T21" fmla="*/ 63 h 375"/>
              <a:gd name="T22" fmla="*/ 44 w 601"/>
              <a:gd name="T23" fmla="*/ 69 h 375"/>
              <a:gd name="T24" fmla="*/ 46 w 601"/>
              <a:gd name="T25" fmla="*/ 73 h 375"/>
              <a:gd name="T26" fmla="*/ 49 w 601"/>
              <a:gd name="T27" fmla="*/ 79 h 375"/>
              <a:gd name="T28" fmla="*/ 51 w 601"/>
              <a:gd name="T29" fmla="*/ 86 h 375"/>
              <a:gd name="T30" fmla="*/ 57 w 601"/>
              <a:gd name="T31" fmla="*/ 90 h 375"/>
              <a:gd name="T32" fmla="*/ 60 w 601"/>
              <a:gd name="T33" fmla="*/ 94 h 375"/>
              <a:gd name="T34" fmla="*/ 65 w 601"/>
              <a:gd name="T35" fmla="*/ 98 h 375"/>
              <a:gd name="T36" fmla="*/ 67 w 601"/>
              <a:gd name="T37" fmla="*/ 105 h 375"/>
              <a:gd name="T38" fmla="*/ 70 w 601"/>
              <a:gd name="T39" fmla="*/ 108 h 375"/>
              <a:gd name="T40" fmla="*/ 72 w 601"/>
              <a:gd name="T41" fmla="*/ 115 h 375"/>
              <a:gd name="T42" fmla="*/ 76 w 601"/>
              <a:gd name="T43" fmla="*/ 119 h 375"/>
              <a:gd name="T44" fmla="*/ 81 w 601"/>
              <a:gd name="T45" fmla="*/ 123 h 375"/>
              <a:gd name="T46" fmla="*/ 83 w 601"/>
              <a:gd name="T47" fmla="*/ 126 h 375"/>
              <a:gd name="T48" fmla="*/ 86 w 601"/>
              <a:gd name="T49" fmla="*/ 132 h 375"/>
              <a:gd name="T50" fmla="*/ 90 w 601"/>
              <a:gd name="T51" fmla="*/ 140 h 375"/>
              <a:gd name="T52" fmla="*/ 91 w 601"/>
              <a:gd name="T53" fmla="*/ 144 h 375"/>
              <a:gd name="T54" fmla="*/ 94 w 601"/>
              <a:gd name="T55" fmla="*/ 153 h 375"/>
              <a:gd name="T56" fmla="*/ 96 w 601"/>
              <a:gd name="T57" fmla="*/ 158 h 375"/>
              <a:gd name="T58" fmla="*/ 100 w 601"/>
              <a:gd name="T59" fmla="*/ 164 h 375"/>
              <a:gd name="T60" fmla="*/ 102 w 601"/>
              <a:gd name="T61" fmla="*/ 172 h 375"/>
              <a:gd name="T62" fmla="*/ 105 w 601"/>
              <a:gd name="T63" fmla="*/ 175 h 375"/>
              <a:gd name="T64" fmla="*/ 107 w 601"/>
              <a:gd name="T65" fmla="*/ 186 h 375"/>
              <a:gd name="T66" fmla="*/ 109 w 601"/>
              <a:gd name="T67" fmla="*/ 194 h 375"/>
              <a:gd name="T68" fmla="*/ 111 w 601"/>
              <a:gd name="T69" fmla="*/ 205 h 375"/>
              <a:gd name="T70" fmla="*/ 115 w 601"/>
              <a:gd name="T71" fmla="*/ 210 h 375"/>
              <a:gd name="T72" fmla="*/ 118 w 601"/>
              <a:gd name="T73" fmla="*/ 218 h 375"/>
              <a:gd name="T74" fmla="*/ 121 w 601"/>
              <a:gd name="T75" fmla="*/ 223 h 375"/>
              <a:gd name="T76" fmla="*/ 123 w 601"/>
              <a:gd name="T77" fmla="*/ 231 h 375"/>
              <a:gd name="T78" fmla="*/ 126 w 601"/>
              <a:gd name="T79" fmla="*/ 234 h 375"/>
              <a:gd name="T80" fmla="*/ 133 w 601"/>
              <a:gd name="T81" fmla="*/ 240 h 375"/>
              <a:gd name="T82" fmla="*/ 137 w 601"/>
              <a:gd name="T83" fmla="*/ 244 h 375"/>
              <a:gd name="T84" fmla="*/ 139 w 601"/>
              <a:gd name="T85" fmla="*/ 249 h 375"/>
              <a:gd name="T86" fmla="*/ 144 w 601"/>
              <a:gd name="T87" fmla="*/ 256 h 375"/>
              <a:gd name="T88" fmla="*/ 147 w 601"/>
              <a:gd name="T89" fmla="*/ 264 h 375"/>
              <a:gd name="T90" fmla="*/ 152 w 601"/>
              <a:gd name="T91" fmla="*/ 267 h 375"/>
              <a:gd name="T92" fmla="*/ 155 w 601"/>
              <a:gd name="T93" fmla="*/ 274 h 375"/>
              <a:gd name="T94" fmla="*/ 159 w 601"/>
              <a:gd name="T95" fmla="*/ 278 h 375"/>
              <a:gd name="T96" fmla="*/ 162 w 601"/>
              <a:gd name="T97" fmla="*/ 285 h 375"/>
              <a:gd name="T98" fmla="*/ 170 w 601"/>
              <a:gd name="T99" fmla="*/ 288 h 375"/>
              <a:gd name="T100" fmla="*/ 173 w 601"/>
              <a:gd name="T101" fmla="*/ 295 h 375"/>
              <a:gd name="T102" fmla="*/ 177 w 601"/>
              <a:gd name="T103" fmla="*/ 299 h 375"/>
              <a:gd name="T104" fmla="*/ 181 w 601"/>
              <a:gd name="T105" fmla="*/ 304 h 375"/>
              <a:gd name="T106" fmla="*/ 186 w 601"/>
              <a:gd name="T107" fmla="*/ 309 h 375"/>
              <a:gd name="T108" fmla="*/ 193 w 601"/>
              <a:gd name="T109" fmla="*/ 314 h 375"/>
              <a:gd name="T110" fmla="*/ 202 w 601"/>
              <a:gd name="T111" fmla="*/ 319 h 375"/>
              <a:gd name="T112" fmla="*/ 208 w 601"/>
              <a:gd name="T113" fmla="*/ 324 h 375"/>
              <a:gd name="T114" fmla="*/ 221 w 601"/>
              <a:gd name="T115" fmla="*/ 329 h 375"/>
              <a:gd name="T116" fmla="*/ 242 w 601"/>
              <a:gd name="T117" fmla="*/ 336 h 375"/>
              <a:gd name="T118" fmla="*/ 264 w 601"/>
              <a:gd name="T119" fmla="*/ 342 h 375"/>
              <a:gd name="T120" fmla="*/ 280 w 601"/>
              <a:gd name="T121" fmla="*/ 350 h 375"/>
              <a:gd name="T122" fmla="*/ 557 w 601"/>
              <a:gd name="T123" fmla="*/ 356 h 375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601"/>
              <a:gd name="T187" fmla="*/ 0 h 375"/>
              <a:gd name="T188" fmla="*/ 601 w 601"/>
              <a:gd name="T189" fmla="*/ 375 h 375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601" h="375">
                <a:moveTo>
                  <a:pt x="0" y="0"/>
                </a:move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6" y="6"/>
                </a:lnTo>
                <a:lnTo>
                  <a:pt x="7" y="6"/>
                </a:lnTo>
                <a:lnTo>
                  <a:pt x="7" y="7"/>
                </a:lnTo>
                <a:lnTo>
                  <a:pt x="8" y="7"/>
                </a:lnTo>
                <a:lnTo>
                  <a:pt x="8" y="8"/>
                </a:lnTo>
                <a:lnTo>
                  <a:pt x="9" y="8"/>
                </a:lnTo>
                <a:lnTo>
                  <a:pt x="9" y="9"/>
                </a:lnTo>
                <a:lnTo>
                  <a:pt x="11" y="9"/>
                </a:lnTo>
                <a:lnTo>
                  <a:pt x="11" y="10"/>
                </a:lnTo>
                <a:lnTo>
                  <a:pt x="12" y="10"/>
                </a:lnTo>
                <a:lnTo>
                  <a:pt x="12" y="11"/>
                </a:lnTo>
                <a:lnTo>
                  <a:pt x="13" y="11"/>
                </a:lnTo>
                <a:lnTo>
                  <a:pt x="13" y="12"/>
                </a:lnTo>
                <a:lnTo>
                  <a:pt x="15" y="12"/>
                </a:lnTo>
                <a:lnTo>
                  <a:pt x="15" y="13"/>
                </a:lnTo>
                <a:lnTo>
                  <a:pt x="15" y="15"/>
                </a:lnTo>
                <a:lnTo>
                  <a:pt x="16" y="15"/>
                </a:lnTo>
                <a:lnTo>
                  <a:pt x="16" y="17"/>
                </a:lnTo>
                <a:lnTo>
                  <a:pt x="18" y="17"/>
                </a:lnTo>
                <a:lnTo>
                  <a:pt x="18" y="19"/>
                </a:lnTo>
                <a:lnTo>
                  <a:pt x="20" y="19"/>
                </a:lnTo>
                <a:lnTo>
                  <a:pt x="20" y="20"/>
                </a:lnTo>
                <a:lnTo>
                  <a:pt x="20" y="23"/>
                </a:lnTo>
                <a:lnTo>
                  <a:pt x="21" y="23"/>
                </a:lnTo>
                <a:lnTo>
                  <a:pt x="21" y="24"/>
                </a:lnTo>
                <a:lnTo>
                  <a:pt x="21" y="25"/>
                </a:lnTo>
                <a:lnTo>
                  <a:pt x="22" y="25"/>
                </a:lnTo>
                <a:lnTo>
                  <a:pt x="22" y="27"/>
                </a:lnTo>
                <a:lnTo>
                  <a:pt x="22" y="33"/>
                </a:lnTo>
                <a:lnTo>
                  <a:pt x="23" y="33"/>
                </a:lnTo>
                <a:lnTo>
                  <a:pt x="23" y="37"/>
                </a:lnTo>
                <a:lnTo>
                  <a:pt x="24" y="37"/>
                </a:lnTo>
                <a:lnTo>
                  <a:pt x="24" y="39"/>
                </a:lnTo>
                <a:lnTo>
                  <a:pt x="24" y="42"/>
                </a:lnTo>
                <a:lnTo>
                  <a:pt x="25" y="42"/>
                </a:lnTo>
                <a:lnTo>
                  <a:pt x="25" y="44"/>
                </a:lnTo>
                <a:lnTo>
                  <a:pt x="25" y="47"/>
                </a:lnTo>
                <a:lnTo>
                  <a:pt x="27" y="47"/>
                </a:lnTo>
                <a:lnTo>
                  <a:pt x="27" y="48"/>
                </a:lnTo>
                <a:lnTo>
                  <a:pt x="27" y="49"/>
                </a:lnTo>
                <a:lnTo>
                  <a:pt x="29" y="49"/>
                </a:lnTo>
                <a:lnTo>
                  <a:pt x="29" y="50"/>
                </a:lnTo>
                <a:lnTo>
                  <a:pt x="30" y="50"/>
                </a:lnTo>
                <a:lnTo>
                  <a:pt x="30" y="52"/>
                </a:lnTo>
                <a:lnTo>
                  <a:pt x="31" y="52"/>
                </a:lnTo>
                <a:lnTo>
                  <a:pt x="31" y="55"/>
                </a:lnTo>
                <a:lnTo>
                  <a:pt x="31" y="57"/>
                </a:lnTo>
                <a:lnTo>
                  <a:pt x="32" y="57"/>
                </a:lnTo>
                <a:lnTo>
                  <a:pt x="32" y="58"/>
                </a:lnTo>
                <a:lnTo>
                  <a:pt x="35" y="58"/>
                </a:lnTo>
                <a:lnTo>
                  <a:pt x="35" y="59"/>
                </a:lnTo>
                <a:lnTo>
                  <a:pt x="37" y="59"/>
                </a:lnTo>
                <a:lnTo>
                  <a:pt x="37" y="60"/>
                </a:lnTo>
                <a:lnTo>
                  <a:pt x="38" y="60"/>
                </a:lnTo>
                <a:lnTo>
                  <a:pt x="38" y="61"/>
                </a:lnTo>
                <a:lnTo>
                  <a:pt x="39" y="61"/>
                </a:lnTo>
                <a:lnTo>
                  <a:pt x="39" y="62"/>
                </a:lnTo>
                <a:lnTo>
                  <a:pt x="41" y="62"/>
                </a:lnTo>
                <a:lnTo>
                  <a:pt x="41" y="63"/>
                </a:lnTo>
                <a:lnTo>
                  <a:pt x="42" y="63"/>
                </a:lnTo>
                <a:lnTo>
                  <a:pt x="42" y="65"/>
                </a:lnTo>
                <a:lnTo>
                  <a:pt x="42" y="66"/>
                </a:lnTo>
                <a:lnTo>
                  <a:pt x="43" y="66"/>
                </a:lnTo>
                <a:lnTo>
                  <a:pt x="43" y="69"/>
                </a:lnTo>
                <a:lnTo>
                  <a:pt x="44" y="69"/>
                </a:lnTo>
                <a:lnTo>
                  <a:pt x="45" y="69"/>
                </a:lnTo>
                <a:lnTo>
                  <a:pt x="45" y="70"/>
                </a:lnTo>
                <a:lnTo>
                  <a:pt x="45" y="72"/>
                </a:lnTo>
                <a:lnTo>
                  <a:pt x="46" y="72"/>
                </a:lnTo>
                <a:lnTo>
                  <a:pt x="46" y="73"/>
                </a:lnTo>
                <a:lnTo>
                  <a:pt x="46" y="77"/>
                </a:lnTo>
                <a:lnTo>
                  <a:pt x="47" y="77"/>
                </a:lnTo>
                <a:lnTo>
                  <a:pt x="47" y="78"/>
                </a:lnTo>
                <a:lnTo>
                  <a:pt x="48" y="78"/>
                </a:lnTo>
                <a:lnTo>
                  <a:pt x="48" y="79"/>
                </a:lnTo>
                <a:lnTo>
                  <a:pt x="49" y="79"/>
                </a:lnTo>
                <a:lnTo>
                  <a:pt x="49" y="80"/>
                </a:lnTo>
                <a:lnTo>
                  <a:pt x="50" y="80"/>
                </a:lnTo>
                <a:lnTo>
                  <a:pt x="50" y="82"/>
                </a:lnTo>
                <a:lnTo>
                  <a:pt x="51" y="82"/>
                </a:lnTo>
                <a:lnTo>
                  <a:pt x="51" y="85"/>
                </a:lnTo>
                <a:lnTo>
                  <a:pt x="51" y="86"/>
                </a:lnTo>
                <a:lnTo>
                  <a:pt x="52" y="86"/>
                </a:lnTo>
                <a:lnTo>
                  <a:pt x="52" y="87"/>
                </a:lnTo>
                <a:lnTo>
                  <a:pt x="52" y="88"/>
                </a:lnTo>
                <a:lnTo>
                  <a:pt x="54" y="88"/>
                </a:lnTo>
                <a:lnTo>
                  <a:pt x="54" y="90"/>
                </a:lnTo>
                <a:lnTo>
                  <a:pt x="57" y="90"/>
                </a:lnTo>
                <a:lnTo>
                  <a:pt x="57" y="91"/>
                </a:lnTo>
                <a:lnTo>
                  <a:pt x="58" y="91"/>
                </a:lnTo>
                <a:lnTo>
                  <a:pt x="58" y="92"/>
                </a:lnTo>
                <a:lnTo>
                  <a:pt x="59" y="92"/>
                </a:lnTo>
                <a:lnTo>
                  <a:pt x="59" y="93"/>
                </a:lnTo>
                <a:lnTo>
                  <a:pt x="60" y="93"/>
                </a:lnTo>
                <a:lnTo>
                  <a:pt x="60" y="94"/>
                </a:lnTo>
                <a:lnTo>
                  <a:pt x="61" y="94"/>
                </a:lnTo>
                <a:lnTo>
                  <a:pt x="61" y="96"/>
                </a:lnTo>
                <a:lnTo>
                  <a:pt x="62" y="96"/>
                </a:lnTo>
                <a:lnTo>
                  <a:pt x="62" y="97"/>
                </a:lnTo>
                <a:lnTo>
                  <a:pt x="63" y="97"/>
                </a:lnTo>
                <a:lnTo>
                  <a:pt x="63" y="98"/>
                </a:lnTo>
                <a:lnTo>
                  <a:pt x="65" y="98"/>
                </a:lnTo>
                <a:lnTo>
                  <a:pt x="65" y="99"/>
                </a:lnTo>
                <a:lnTo>
                  <a:pt x="65" y="100"/>
                </a:lnTo>
                <a:lnTo>
                  <a:pt x="66" y="100"/>
                </a:lnTo>
                <a:lnTo>
                  <a:pt x="66" y="102"/>
                </a:lnTo>
                <a:lnTo>
                  <a:pt x="67" y="102"/>
                </a:lnTo>
                <a:lnTo>
                  <a:pt x="67" y="105"/>
                </a:lnTo>
                <a:lnTo>
                  <a:pt x="67" y="106"/>
                </a:lnTo>
                <a:lnTo>
                  <a:pt x="68" y="106"/>
                </a:lnTo>
                <a:lnTo>
                  <a:pt x="68" y="107"/>
                </a:lnTo>
                <a:lnTo>
                  <a:pt x="68" y="108"/>
                </a:lnTo>
                <a:lnTo>
                  <a:pt x="70" y="108"/>
                </a:lnTo>
                <a:lnTo>
                  <a:pt x="70" y="110"/>
                </a:lnTo>
                <a:lnTo>
                  <a:pt x="70" y="111"/>
                </a:lnTo>
                <a:lnTo>
                  <a:pt x="72" y="111"/>
                </a:lnTo>
                <a:lnTo>
                  <a:pt x="72" y="112"/>
                </a:lnTo>
                <a:lnTo>
                  <a:pt x="72" y="115"/>
                </a:lnTo>
                <a:lnTo>
                  <a:pt x="73" y="115"/>
                </a:lnTo>
                <a:lnTo>
                  <a:pt x="73" y="116"/>
                </a:lnTo>
                <a:lnTo>
                  <a:pt x="73" y="118"/>
                </a:lnTo>
                <a:lnTo>
                  <a:pt x="75" y="118"/>
                </a:lnTo>
                <a:lnTo>
                  <a:pt x="75" y="119"/>
                </a:lnTo>
                <a:lnTo>
                  <a:pt x="76" y="119"/>
                </a:lnTo>
                <a:lnTo>
                  <a:pt x="76" y="120"/>
                </a:lnTo>
                <a:lnTo>
                  <a:pt x="78" y="120"/>
                </a:lnTo>
                <a:lnTo>
                  <a:pt x="78" y="121"/>
                </a:lnTo>
                <a:lnTo>
                  <a:pt x="79" y="121"/>
                </a:lnTo>
                <a:lnTo>
                  <a:pt x="79" y="122"/>
                </a:lnTo>
                <a:lnTo>
                  <a:pt x="81" y="122"/>
                </a:lnTo>
                <a:lnTo>
                  <a:pt x="81" y="123"/>
                </a:lnTo>
                <a:lnTo>
                  <a:pt x="82" y="123"/>
                </a:lnTo>
                <a:lnTo>
                  <a:pt x="82" y="124"/>
                </a:lnTo>
                <a:lnTo>
                  <a:pt x="82" y="125"/>
                </a:lnTo>
                <a:lnTo>
                  <a:pt x="83" y="125"/>
                </a:lnTo>
                <a:lnTo>
                  <a:pt x="83" y="126"/>
                </a:lnTo>
                <a:lnTo>
                  <a:pt x="83" y="127"/>
                </a:lnTo>
                <a:lnTo>
                  <a:pt x="85" y="127"/>
                </a:lnTo>
                <a:lnTo>
                  <a:pt x="85" y="129"/>
                </a:lnTo>
                <a:lnTo>
                  <a:pt x="85" y="130"/>
                </a:lnTo>
                <a:lnTo>
                  <a:pt x="86" y="130"/>
                </a:lnTo>
                <a:lnTo>
                  <a:pt x="86" y="132"/>
                </a:lnTo>
                <a:lnTo>
                  <a:pt x="88" y="132"/>
                </a:lnTo>
                <a:lnTo>
                  <a:pt x="88" y="135"/>
                </a:lnTo>
                <a:lnTo>
                  <a:pt x="88" y="136"/>
                </a:lnTo>
                <a:lnTo>
                  <a:pt x="89" y="136"/>
                </a:lnTo>
                <a:lnTo>
                  <a:pt x="89" y="140"/>
                </a:lnTo>
                <a:lnTo>
                  <a:pt x="90" y="140"/>
                </a:lnTo>
                <a:lnTo>
                  <a:pt x="90" y="141"/>
                </a:lnTo>
                <a:lnTo>
                  <a:pt x="90" y="142"/>
                </a:lnTo>
                <a:lnTo>
                  <a:pt x="91" y="142"/>
                </a:lnTo>
                <a:lnTo>
                  <a:pt x="91" y="143"/>
                </a:lnTo>
                <a:lnTo>
                  <a:pt x="91" y="144"/>
                </a:lnTo>
                <a:lnTo>
                  <a:pt x="92" y="144"/>
                </a:lnTo>
                <a:lnTo>
                  <a:pt x="92" y="145"/>
                </a:lnTo>
                <a:lnTo>
                  <a:pt x="93" y="145"/>
                </a:lnTo>
                <a:lnTo>
                  <a:pt x="93" y="148"/>
                </a:lnTo>
                <a:lnTo>
                  <a:pt x="93" y="153"/>
                </a:lnTo>
                <a:lnTo>
                  <a:pt x="94" y="153"/>
                </a:lnTo>
                <a:lnTo>
                  <a:pt x="94" y="154"/>
                </a:lnTo>
                <a:lnTo>
                  <a:pt x="95" y="154"/>
                </a:lnTo>
                <a:lnTo>
                  <a:pt x="95" y="155"/>
                </a:lnTo>
                <a:lnTo>
                  <a:pt x="95" y="156"/>
                </a:lnTo>
                <a:lnTo>
                  <a:pt x="96" y="156"/>
                </a:lnTo>
                <a:lnTo>
                  <a:pt x="96" y="158"/>
                </a:lnTo>
                <a:lnTo>
                  <a:pt x="96" y="159"/>
                </a:lnTo>
                <a:lnTo>
                  <a:pt x="97" y="159"/>
                </a:lnTo>
                <a:lnTo>
                  <a:pt x="97" y="161"/>
                </a:lnTo>
                <a:lnTo>
                  <a:pt x="98" y="161"/>
                </a:lnTo>
                <a:lnTo>
                  <a:pt x="98" y="164"/>
                </a:lnTo>
                <a:lnTo>
                  <a:pt x="100" y="164"/>
                </a:lnTo>
                <a:lnTo>
                  <a:pt x="100" y="166"/>
                </a:lnTo>
                <a:lnTo>
                  <a:pt x="100" y="167"/>
                </a:lnTo>
                <a:lnTo>
                  <a:pt x="101" y="167"/>
                </a:lnTo>
                <a:lnTo>
                  <a:pt x="101" y="169"/>
                </a:lnTo>
                <a:lnTo>
                  <a:pt x="102" y="169"/>
                </a:lnTo>
                <a:lnTo>
                  <a:pt x="102" y="172"/>
                </a:lnTo>
                <a:lnTo>
                  <a:pt x="103" y="172"/>
                </a:lnTo>
                <a:lnTo>
                  <a:pt x="103" y="173"/>
                </a:lnTo>
                <a:lnTo>
                  <a:pt x="103" y="174"/>
                </a:lnTo>
                <a:lnTo>
                  <a:pt x="104" y="174"/>
                </a:lnTo>
                <a:lnTo>
                  <a:pt x="104" y="175"/>
                </a:lnTo>
                <a:lnTo>
                  <a:pt x="105" y="175"/>
                </a:lnTo>
                <a:lnTo>
                  <a:pt x="105" y="180"/>
                </a:lnTo>
                <a:lnTo>
                  <a:pt x="105" y="181"/>
                </a:lnTo>
                <a:lnTo>
                  <a:pt x="106" y="181"/>
                </a:lnTo>
                <a:lnTo>
                  <a:pt x="106" y="184"/>
                </a:lnTo>
                <a:lnTo>
                  <a:pt x="107" y="184"/>
                </a:lnTo>
                <a:lnTo>
                  <a:pt x="107" y="186"/>
                </a:lnTo>
                <a:lnTo>
                  <a:pt x="107" y="191"/>
                </a:lnTo>
                <a:lnTo>
                  <a:pt x="108" y="191"/>
                </a:lnTo>
                <a:lnTo>
                  <a:pt x="108" y="192"/>
                </a:lnTo>
                <a:lnTo>
                  <a:pt x="108" y="194"/>
                </a:lnTo>
                <a:lnTo>
                  <a:pt x="109" y="194"/>
                </a:lnTo>
                <a:lnTo>
                  <a:pt x="109" y="197"/>
                </a:lnTo>
                <a:lnTo>
                  <a:pt x="110" y="197"/>
                </a:lnTo>
                <a:lnTo>
                  <a:pt x="110" y="200"/>
                </a:lnTo>
                <a:lnTo>
                  <a:pt x="110" y="203"/>
                </a:lnTo>
                <a:lnTo>
                  <a:pt x="111" y="203"/>
                </a:lnTo>
                <a:lnTo>
                  <a:pt x="111" y="205"/>
                </a:lnTo>
                <a:lnTo>
                  <a:pt x="112" y="205"/>
                </a:lnTo>
                <a:lnTo>
                  <a:pt x="112" y="206"/>
                </a:lnTo>
                <a:lnTo>
                  <a:pt x="112" y="208"/>
                </a:lnTo>
                <a:lnTo>
                  <a:pt x="115" y="208"/>
                </a:lnTo>
                <a:lnTo>
                  <a:pt x="115" y="210"/>
                </a:lnTo>
                <a:lnTo>
                  <a:pt x="115" y="214"/>
                </a:lnTo>
                <a:lnTo>
                  <a:pt x="117" y="214"/>
                </a:lnTo>
                <a:lnTo>
                  <a:pt x="117" y="216"/>
                </a:lnTo>
                <a:lnTo>
                  <a:pt x="117" y="217"/>
                </a:lnTo>
                <a:lnTo>
                  <a:pt x="118" y="217"/>
                </a:lnTo>
                <a:lnTo>
                  <a:pt x="118" y="218"/>
                </a:lnTo>
                <a:lnTo>
                  <a:pt x="119" y="218"/>
                </a:lnTo>
                <a:lnTo>
                  <a:pt x="119" y="221"/>
                </a:lnTo>
                <a:lnTo>
                  <a:pt x="120" y="221"/>
                </a:lnTo>
                <a:lnTo>
                  <a:pt x="120" y="222"/>
                </a:lnTo>
                <a:lnTo>
                  <a:pt x="120" y="223"/>
                </a:lnTo>
                <a:lnTo>
                  <a:pt x="121" y="223"/>
                </a:lnTo>
                <a:lnTo>
                  <a:pt x="121" y="226"/>
                </a:lnTo>
                <a:lnTo>
                  <a:pt x="122" y="226"/>
                </a:lnTo>
                <a:lnTo>
                  <a:pt x="122" y="227"/>
                </a:lnTo>
                <a:lnTo>
                  <a:pt x="123" y="227"/>
                </a:lnTo>
                <a:lnTo>
                  <a:pt x="123" y="229"/>
                </a:lnTo>
                <a:lnTo>
                  <a:pt x="123" y="231"/>
                </a:lnTo>
                <a:lnTo>
                  <a:pt x="124" y="231"/>
                </a:lnTo>
                <a:lnTo>
                  <a:pt x="124" y="232"/>
                </a:lnTo>
                <a:lnTo>
                  <a:pt x="124" y="233"/>
                </a:lnTo>
                <a:lnTo>
                  <a:pt x="126" y="233"/>
                </a:lnTo>
                <a:lnTo>
                  <a:pt x="126" y="234"/>
                </a:lnTo>
                <a:lnTo>
                  <a:pt x="126" y="235"/>
                </a:lnTo>
                <a:lnTo>
                  <a:pt x="129" y="235"/>
                </a:lnTo>
                <a:lnTo>
                  <a:pt x="129" y="236"/>
                </a:lnTo>
                <a:lnTo>
                  <a:pt x="132" y="236"/>
                </a:lnTo>
                <a:lnTo>
                  <a:pt x="132" y="237"/>
                </a:lnTo>
                <a:lnTo>
                  <a:pt x="133" y="237"/>
                </a:lnTo>
                <a:lnTo>
                  <a:pt x="133" y="240"/>
                </a:lnTo>
                <a:lnTo>
                  <a:pt x="135" y="240"/>
                </a:lnTo>
                <a:lnTo>
                  <a:pt x="135" y="242"/>
                </a:lnTo>
                <a:lnTo>
                  <a:pt x="136" y="242"/>
                </a:lnTo>
                <a:lnTo>
                  <a:pt x="136" y="243"/>
                </a:lnTo>
                <a:lnTo>
                  <a:pt x="137" y="243"/>
                </a:lnTo>
                <a:lnTo>
                  <a:pt x="137" y="244"/>
                </a:lnTo>
                <a:lnTo>
                  <a:pt x="137" y="246"/>
                </a:lnTo>
                <a:lnTo>
                  <a:pt x="138" y="246"/>
                </a:lnTo>
                <a:lnTo>
                  <a:pt x="138" y="247"/>
                </a:lnTo>
                <a:lnTo>
                  <a:pt x="139" y="247"/>
                </a:lnTo>
                <a:lnTo>
                  <a:pt x="139" y="248"/>
                </a:lnTo>
                <a:lnTo>
                  <a:pt x="139" y="249"/>
                </a:lnTo>
                <a:lnTo>
                  <a:pt x="141" y="249"/>
                </a:lnTo>
                <a:lnTo>
                  <a:pt x="141" y="251"/>
                </a:lnTo>
                <a:lnTo>
                  <a:pt x="142" y="251"/>
                </a:lnTo>
                <a:lnTo>
                  <a:pt x="142" y="254"/>
                </a:lnTo>
                <a:lnTo>
                  <a:pt x="143" y="254"/>
                </a:lnTo>
                <a:lnTo>
                  <a:pt x="143" y="256"/>
                </a:lnTo>
                <a:lnTo>
                  <a:pt x="144" y="256"/>
                </a:lnTo>
                <a:lnTo>
                  <a:pt x="144" y="259"/>
                </a:lnTo>
                <a:lnTo>
                  <a:pt x="146" y="259"/>
                </a:lnTo>
                <a:lnTo>
                  <a:pt x="146" y="260"/>
                </a:lnTo>
                <a:lnTo>
                  <a:pt x="146" y="262"/>
                </a:lnTo>
                <a:lnTo>
                  <a:pt x="147" y="262"/>
                </a:lnTo>
                <a:lnTo>
                  <a:pt x="147" y="264"/>
                </a:lnTo>
                <a:lnTo>
                  <a:pt x="147" y="265"/>
                </a:lnTo>
                <a:lnTo>
                  <a:pt x="149" y="265"/>
                </a:lnTo>
                <a:lnTo>
                  <a:pt x="149" y="266"/>
                </a:lnTo>
                <a:lnTo>
                  <a:pt x="151" y="266"/>
                </a:lnTo>
                <a:lnTo>
                  <a:pt x="151" y="267"/>
                </a:lnTo>
                <a:lnTo>
                  <a:pt x="152" y="267"/>
                </a:lnTo>
                <a:lnTo>
                  <a:pt x="152" y="269"/>
                </a:lnTo>
                <a:lnTo>
                  <a:pt x="154" y="269"/>
                </a:lnTo>
                <a:lnTo>
                  <a:pt x="154" y="270"/>
                </a:lnTo>
                <a:lnTo>
                  <a:pt x="154" y="272"/>
                </a:lnTo>
                <a:lnTo>
                  <a:pt x="155" y="272"/>
                </a:lnTo>
                <a:lnTo>
                  <a:pt x="155" y="274"/>
                </a:lnTo>
                <a:lnTo>
                  <a:pt x="156" y="274"/>
                </a:lnTo>
                <a:lnTo>
                  <a:pt x="156" y="275"/>
                </a:lnTo>
                <a:lnTo>
                  <a:pt x="157" y="275"/>
                </a:lnTo>
                <a:lnTo>
                  <a:pt x="157" y="277"/>
                </a:lnTo>
                <a:lnTo>
                  <a:pt x="158" y="277"/>
                </a:lnTo>
                <a:lnTo>
                  <a:pt x="158" y="278"/>
                </a:lnTo>
                <a:lnTo>
                  <a:pt x="159" y="278"/>
                </a:lnTo>
                <a:lnTo>
                  <a:pt x="159" y="280"/>
                </a:lnTo>
                <a:lnTo>
                  <a:pt x="161" y="280"/>
                </a:lnTo>
                <a:lnTo>
                  <a:pt x="161" y="282"/>
                </a:lnTo>
                <a:lnTo>
                  <a:pt x="162" y="282"/>
                </a:lnTo>
                <a:lnTo>
                  <a:pt x="162" y="283"/>
                </a:lnTo>
                <a:lnTo>
                  <a:pt x="162" y="285"/>
                </a:lnTo>
                <a:lnTo>
                  <a:pt x="164" y="285"/>
                </a:lnTo>
                <a:lnTo>
                  <a:pt x="164" y="286"/>
                </a:lnTo>
                <a:lnTo>
                  <a:pt x="164" y="287"/>
                </a:lnTo>
                <a:lnTo>
                  <a:pt x="168" y="287"/>
                </a:lnTo>
                <a:lnTo>
                  <a:pt x="168" y="288"/>
                </a:lnTo>
                <a:lnTo>
                  <a:pt x="170" y="288"/>
                </a:lnTo>
                <a:lnTo>
                  <a:pt x="170" y="291"/>
                </a:lnTo>
                <a:lnTo>
                  <a:pt x="171" y="291"/>
                </a:lnTo>
                <a:lnTo>
                  <a:pt x="171" y="292"/>
                </a:lnTo>
                <a:lnTo>
                  <a:pt x="173" y="292"/>
                </a:lnTo>
                <a:lnTo>
                  <a:pt x="173" y="293"/>
                </a:lnTo>
                <a:lnTo>
                  <a:pt x="173" y="295"/>
                </a:lnTo>
                <a:lnTo>
                  <a:pt x="174" y="295"/>
                </a:lnTo>
                <a:lnTo>
                  <a:pt x="174" y="296"/>
                </a:lnTo>
                <a:lnTo>
                  <a:pt x="175" y="296"/>
                </a:lnTo>
                <a:lnTo>
                  <a:pt x="175" y="297"/>
                </a:lnTo>
                <a:lnTo>
                  <a:pt x="176" y="297"/>
                </a:lnTo>
                <a:lnTo>
                  <a:pt x="176" y="299"/>
                </a:lnTo>
                <a:lnTo>
                  <a:pt x="177" y="299"/>
                </a:lnTo>
                <a:lnTo>
                  <a:pt x="177" y="300"/>
                </a:lnTo>
                <a:lnTo>
                  <a:pt x="178" y="300"/>
                </a:lnTo>
                <a:lnTo>
                  <a:pt x="178" y="301"/>
                </a:lnTo>
                <a:lnTo>
                  <a:pt x="180" y="301"/>
                </a:lnTo>
                <a:lnTo>
                  <a:pt x="180" y="302"/>
                </a:lnTo>
                <a:lnTo>
                  <a:pt x="181" y="302"/>
                </a:lnTo>
                <a:lnTo>
                  <a:pt x="181" y="304"/>
                </a:lnTo>
                <a:lnTo>
                  <a:pt x="182" y="304"/>
                </a:lnTo>
                <a:lnTo>
                  <a:pt x="182" y="305"/>
                </a:lnTo>
                <a:lnTo>
                  <a:pt x="184" y="305"/>
                </a:lnTo>
                <a:lnTo>
                  <a:pt x="184" y="306"/>
                </a:lnTo>
                <a:lnTo>
                  <a:pt x="185" y="306"/>
                </a:lnTo>
                <a:lnTo>
                  <a:pt x="185" y="309"/>
                </a:lnTo>
                <a:lnTo>
                  <a:pt x="186" y="309"/>
                </a:lnTo>
                <a:lnTo>
                  <a:pt x="186" y="310"/>
                </a:lnTo>
                <a:lnTo>
                  <a:pt x="187" y="310"/>
                </a:lnTo>
                <a:lnTo>
                  <a:pt x="187" y="312"/>
                </a:lnTo>
                <a:lnTo>
                  <a:pt x="190" y="312"/>
                </a:lnTo>
                <a:lnTo>
                  <a:pt x="190" y="313"/>
                </a:lnTo>
                <a:lnTo>
                  <a:pt x="193" y="313"/>
                </a:lnTo>
                <a:lnTo>
                  <a:pt x="193" y="314"/>
                </a:lnTo>
                <a:lnTo>
                  <a:pt x="196" y="314"/>
                </a:lnTo>
                <a:lnTo>
                  <a:pt x="196" y="316"/>
                </a:lnTo>
                <a:lnTo>
                  <a:pt x="197" y="316"/>
                </a:lnTo>
                <a:lnTo>
                  <a:pt x="197" y="317"/>
                </a:lnTo>
                <a:lnTo>
                  <a:pt x="199" y="317"/>
                </a:lnTo>
                <a:lnTo>
                  <a:pt x="199" y="319"/>
                </a:lnTo>
                <a:lnTo>
                  <a:pt x="202" y="319"/>
                </a:lnTo>
                <a:lnTo>
                  <a:pt x="202" y="320"/>
                </a:lnTo>
                <a:lnTo>
                  <a:pt x="204" y="320"/>
                </a:lnTo>
                <a:lnTo>
                  <a:pt x="204" y="322"/>
                </a:lnTo>
                <a:lnTo>
                  <a:pt x="205" y="322"/>
                </a:lnTo>
                <a:lnTo>
                  <a:pt x="205" y="323"/>
                </a:lnTo>
                <a:lnTo>
                  <a:pt x="208" y="323"/>
                </a:lnTo>
                <a:lnTo>
                  <a:pt x="208" y="324"/>
                </a:lnTo>
                <a:lnTo>
                  <a:pt x="210" y="324"/>
                </a:lnTo>
                <a:lnTo>
                  <a:pt x="210" y="326"/>
                </a:lnTo>
                <a:lnTo>
                  <a:pt x="217" y="326"/>
                </a:lnTo>
                <a:lnTo>
                  <a:pt x="217" y="327"/>
                </a:lnTo>
                <a:lnTo>
                  <a:pt x="220" y="327"/>
                </a:lnTo>
                <a:lnTo>
                  <a:pt x="220" y="329"/>
                </a:lnTo>
                <a:lnTo>
                  <a:pt x="221" y="329"/>
                </a:lnTo>
                <a:lnTo>
                  <a:pt x="221" y="330"/>
                </a:lnTo>
                <a:lnTo>
                  <a:pt x="230" y="330"/>
                </a:lnTo>
                <a:lnTo>
                  <a:pt x="230" y="332"/>
                </a:lnTo>
                <a:lnTo>
                  <a:pt x="238" y="332"/>
                </a:lnTo>
                <a:lnTo>
                  <a:pt x="238" y="334"/>
                </a:lnTo>
                <a:lnTo>
                  <a:pt x="242" y="334"/>
                </a:lnTo>
                <a:lnTo>
                  <a:pt x="242" y="336"/>
                </a:lnTo>
                <a:lnTo>
                  <a:pt x="248" y="336"/>
                </a:lnTo>
                <a:lnTo>
                  <a:pt x="248" y="338"/>
                </a:lnTo>
                <a:lnTo>
                  <a:pt x="254" y="338"/>
                </a:lnTo>
                <a:lnTo>
                  <a:pt x="254" y="340"/>
                </a:lnTo>
                <a:lnTo>
                  <a:pt x="256" y="340"/>
                </a:lnTo>
                <a:lnTo>
                  <a:pt x="256" y="342"/>
                </a:lnTo>
                <a:lnTo>
                  <a:pt x="264" y="342"/>
                </a:lnTo>
                <a:lnTo>
                  <a:pt x="264" y="344"/>
                </a:lnTo>
                <a:lnTo>
                  <a:pt x="271" y="344"/>
                </a:lnTo>
                <a:lnTo>
                  <a:pt x="271" y="346"/>
                </a:lnTo>
                <a:lnTo>
                  <a:pt x="273" y="346"/>
                </a:lnTo>
                <a:lnTo>
                  <a:pt x="273" y="348"/>
                </a:lnTo>
                <a:lnTo>
                  <a:pt x="280" y="348"/>
                </a:lnTo>
                <a:lnTo>
                  <a:pt x="280" y="350"/>
                </a:lnTo>
                <a:lnTo>
                  <a:pt x="282" y="350"/>
                </a:lnTo>
                <a:lnTo>
                  <a:pt x="282" y="352"/>
                </a:lnTo>
                <a:lnTo>
                  <a:pt x="284" y="352"/>
                </a:lnTo>
                <a:lnTo>
                  <a:pt x="284" y="354"/>
                </a:lnTo>
                <a:lnTo>
                  <a:pt x="296" y="354"/>
                </a:lnTo>
                <a:lnTo>
                  <a:pt x="296" y="356"/>
                </a:lnTo>
                <a:lnTo>
                  <a:pt x="557" y="356"/>
                </a:lnTo>
                <a:lnTo>
                  <a:pt x="557" y="365"/>
                </a:lnTo>
                <a:lnTo>
                  <a:pt x="601" y="365"/>
                </a:lnTo>
                <a:lnTo>
                  <a:pt x="601" y="375"/>
                </a:lnTo>
              </a:path>
            </a:pathLst>
          </a:custGeom>
          <a:noFill/>
          <a:ln w="41275">
            <a:solidFill>
              <a:srgbClr val="2CB0CF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97" name="Line 57"/>
          <p:cNvSpPr>
            <a:spLocks noChangeShapeType="1"/>
          </p:cNvSpPr>
          <p:nvPr/>
        </p:nvSpPr>
        <p:spPr bwMode="auto">
          <a:xfrm>
            <a:off x="2563823" y="5440377"/>
            <a:ext cx="1587" cy="93663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98" name="Line 58"/>
          <p:cNvSpPr>
            <a:spLocks noChangeShapeType="1"/>
          </p:cNvSpPr>
          <p:nvPr/>
        </p:nvSpPr>
        <p:spPr bwMode="auto">
          <a:xfrm>
            <a:off x="3130550" y="5440377"/>
            <a:ext cx="0" cy="93663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299" name="Line 59"/>
          <p:cNvSpPr>
            <a:spLocks noChangeShapeType="1"/>
          </p:cNvSpPr>
          <p:nvPr/>
        </p:nvSpPr>
        <p:spPr bwMode="auto">
          <a:xfrm>
            <a:off x="3694133" y="5440377"/>
            <a:ext cx="1587" cy="93663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300" name="Line 60"/>
          <p:cNvSpPr>
            <a:spLocks noChangeShapeType="1"/>
          </p:cNvSpPr>
          <p:nvPr/>
        </p:nvSpPr>
        <p:spPr bwMode="auto">
          <a:xfrm>
            <a:off x="4265613" y="5440377"/>
            <a:ext cx="0" cy="93663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301" name="Line 61"/>
          <p:cNvSpPr>
            <a:spLocks noChangeShapeType="1"/>
          </p:cNvSpPr>
          <p:nvPr/>
        </p:nvSpPr>
        <p:spPr bwMode="auto">
          <a:xfrm>
            <a:off x="4830773" y="5440377"/>
            <a:ext cx="1587" cy="93663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302" name="Line 62"/>
          <p:cNvSpPr>
            <a:spLocks noChangeShapeType="1"/>
          </p:cNvSpPr>
          <p:nvPr/>
        </p:nvSpPr>
        <p:spPr bwMode="auto">
          <a:xfrm>
            <a:off x="5395932" y="5440377"/>
            <a:ext cx="1587" cy="93663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303" name="Line 63"/>
          <p:cNvSpPr>
            <a:spLocks noChangeShapeType="1"/>
          </p:cNvSpPr>
          <p:nvPr/>
        </p:nvSpPr>
        <p:spPr bwMode="auto">
          <a:xfrm>
            <a:off x="5962650" y="5440377"/>
            <a:ext cx="0" cy="93663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304" name="Rectangle 64"/>
          <p:cNvSpPr>
            <a:spLocks noChangeArrowheads="1"/>
          </p:cNvSpPr>
          <p:nvPr/>
        </p:nvSpPr>
        <p:spPr bwMode="auto">
          <a:xfrm>
            <a:off x="2522553" y="5603875"/>
            <a:ext cx="10579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0</a:t>
            </a:r>
          </a:p>
        </p:txBody>
      </p:sp>
      <p:sp>
        <p:nvSpPr>
          <p:cNvPr id="10305" name="Rectangle 65"/>
          <p:cNvSpPr>
            <a:spLocks noChangeArrowheads="1"/>
          </p:cNvSpPr>
          <p:nvPr/>
        </p:nvSpPr>
        <p:spPr bwMode="auto">
          <a:xfrm>
            <a:off x="3101981" y="5603875"/>
            <a:ext cx="10579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6</a:t>
            </a:r>
          </a:p>
        </p:txBody>
      </p:sp>
      <p:sp>
        <p:nvSpPr>
          <p:cNvPr id="10306" name="Rectangle 66"/>
          <p:cNvSpPr>
            <a:spLocks noChangeArrowheads="1"/>
          </p:cNvSpPr>
          <p:nvPr/>
        </p:nvSpPr>
        <p:spPr bwMode="auto">
          <a:xfrm>
            <a:off x="3625869" y="5603875"/>
            <a:ext cx="2115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12</a:t>
            </a:r>
          </a:p>
        </p:txBody>
      </p:sp>
      <p:sp>
        <p:nvSpPr>
          <p:cNvPr id="10307" name="Rectangle 67"/>
          <p:cNvSpPr>
            <a:spLocks noChangeArrowheads="1"/>
          </p:cNvSpPr>
          <p:nvPr/>
        </p:nvSpPr>
        <p:spPr bwMode="auto">
          <a:xfrm>
            <a:off x="4197356" y="5603875"/>
            <a:ext cx="210379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18</a:t>
            </a:r>
          </a:p>
        </p:txBody>
      </p:sp>
      <p:sp>
        <p:nvSpPr>
          <p:cNvPr id="10308" name="Rectangle 68"/>
          <p:cNvSpPr>
            <a:spLocks noChangeArrowheads="1"/>
          </p:cNvSpPr>
          <p:nvPr/>
        </p:nvSpPr>
        <p:spPr bwMode="auto">
          <a:xfrm>
            <a:off x="4762513" y="5603875"/>
            <a:ext cx="20371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24</a:t>
            </a:r>
          </a:p>
        </p:txBody>
      </p:sp>
      <p:sp>
        <p:nvSpPr>
          <p:cNvPr id="10309" name="Rectangle 69"/>
          <p:cNvSpPr>
            <a:spLocks noChangeArrowheads="1"/>
          </p:cNvSpPr>
          <p:nvPr/>
        </p:nvSpPr>
        <p:spPr bwMode="auto">
          <a:xfrm>
            <a:off x="5327669" y="5603875"/>
            <a:ext cx="2115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30</a:t>
            </a:r>
          </a:p>
        </p:txBody>
      </p:sp>
      <p:sp>
        <p:nvSpPr>
          <p:cNvPr id="10310" name="Rectangle 70"/>
          <p:cNvSpPr>
            <a:spLocks noChangeArrowheads="1"/>
          </p:cNvSpPr>
          <p:nvPr/>
        </p:nvSpPr>
        <p:spPr bwMode="auto">
          <a:xfrm>
            <a:off x="5892819" y="5603875"/>
            <a:ext cx="2115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  <a:cs typeface="Arial" pitchFamily="34" charset="0"/>
              </a:rPr>
              <a:t>36</a:t>
            </a:r>
          </a:p>
        </p:txBody>
      </p:sp>
      <p:sp>
        <p:nvSpPr>
          <p:cNvPr id="10311" name="Rectangle 71"/>
          <p:cNvSpPr>
            <a:spLocks noChangeArrowheads="1"/>
          </p:cNvSpPr>
          <p:nvPr/>
        </p:nvSpPr>
        <p:spPr bwMode="auto">
          <a:xfrm>
            <a:off x="3916376" y="5851525"/>
            <a:ext cx="57387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1" dirty="0">
                <a:latin typeface="Franklin Gothic Book" panose="020B0503020102020204" pitchFamily="34" charset="0"/>
                <a:cs typeface="Arial" pitchFamily="34" charset="0"/>
              </a:rPr>
              <a:t>Months</a:t>
            </a:r>
          </a:p>
        </p:txBody>
      </p:sp>
      <p:sp>
        <p:nvSpPr>
          <p:cNvPr id="10312" name="Text Box 72"/>
          <p:cNvSpPr txBox="1">
            <a:spLocks noChangeArrowheads="1"/>
          </p:cNvSpPr>
          <p:nvPr/>
        </p:nvSpPr>
        <p:spPr bwMode="auto">
          <a:xfrm>
            <a:off x="3759201" y="3417902"/>
            <a:ext cx="2794000" cy="923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marL="285750" indent="-285750" eaLnBrk="0" hangingPunct="0">
              <a:lnSpc>
                <a:spcPct val="90000"/>
              </a:lnSpc>
              <a:spcBef>
                <a:spcPct val="20000"/>
              </a:spcBef>
            </a:pPr>
            <a:r>
              <a:rPr lang="en-US" sz="1200" b="1" i="1" dirty="0">
                <a:latin typeface="Franklin Gothic Book" panose="020B0503020102020204" pitchFamily="34" charset="0"/>
                <a:cs typeface="Arial" pitchFamily="34" charset="0"/>
              </a:rPr>
              <a:t>P</a:t>
            </a: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&lt;0.001; HR=0.66 </a:t>
            </a:r>
          </a:p>
          <a:p>
            <a:pPr marL="285750" indent="-285750" eaLnBrk="0" hangingPunct="0">
              <a:lnSpc>
                <a:spcPct val="90000"/>
              </a:lnSpc>
            </a:pP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Median PFS: 6.2 months vs. </a:t>
            </a:r>
            <a:b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</a:b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               4.5 months</a:t>
            </a:r>
          </a:p>
          <a:p>
            <a:pPr marL="285750" indent="-285750" eaLnBrk="0" hangingPunct="0">
              <a:lnSpc>
                <a:spcPct val="90000"/>
              </a:lnSpc>
            </a:pP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6-Month PFS: 55% vs. 33%</a:t>
            </a:r>
          </a:p>
          <a:p>
            <a:pPr marL="285750" indent="-285750" eaLnBrk="0" hangingPunct="0">
              <a:lnSpc>
                <a:spcPct val="90000"/>
              </a:lnSpc>
            </a:pP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1-Year PFS: 15% vs. 6%</a:t>
            </a:r>
          </a:p>
        </p:txBody>
      </p:sp>
      <p:sp>
        <p:nvSpPr>
          <p:cNvPr id="10313" name="Text Box 73"/>
          <p:cNvSpPr txBox="1">
            <a:spLocks noChangeArrowheads="1"/>
          </p:cNvSpPr>
          <p:nvPr/>
        </p:nvSpPr>
        <p:spPr bwMode="auto">
          <a:xfrm>
            <a:off x="2477836" y="2019315"/>
            <a:ext cx="345966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ja-JP" sz="2400" b="1" u="sng" dirty="0">
                <a:latin typeface="Franklin Gothic Book" panose="020B0503020102020204" pitchFamily="34" charset="0"/>
                <a:ea typeface="ＭＳ Ｐゴシック" pitchFamily="48" charset="-128"/>
                <a:cs typeface="Arial" pitchFamily="34" charset="0"/>
              </a:rPr>
              <a:t>Progression-Free Survival</a:t>
            </a:r>
            <a:endParaRPr lang="en-US" sz="2400" b="1" u="sng" dirty="0">
              <a:latin typeface="Franklin Gothic Book" panose="020B0503020102020204" pitchFamily="34" charset="0"/>
              <a:ea typeface="ＭＳ Ｐゴシック" pitchFamily="48" charset="-128"/>
              <a:cs typeface="Arial" pitchFamily="34" charset="0"/>
            </a:endParaRPr>
          </a:p>
        </p:txBody>
      </p:sp>
      <p:sp>
        <p:nvSpPr>
          <p:cNvPr id="10314" name="Rectangle 74"/>
          <p:cNvSpPr>
            <a:spLocks noChangeArrowheads="1"/>
          </p:cNvSpPr>
          <p:nvPr/>
        </p:nvSpPr>
        <p:spPr bwMode="auto">
          <a:xfrm>
            <a:off x="8286770" y="2581275"/>
            <a:ext cx="2182813" cy="70008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315" name="Line 75"/>
          <p:cNvSpPr>
            <a:spLocks noChangeShapeType="1"/>
          </p:cNvSpPr>
          <p:nvPr/>
        </p:nvSpPr>
        <p:spPr bwMode="auto">
          <a:xfrm>
            <a:off x="8364548" y="2716213"/>
            <a:ext cx="200025" cy="0"/>
          </a:xfrm>
          <a:prstGeom prst="line">
            <a:avLst/>
          </a:prstGeom>
          <a:noFill/>
          <a:ln w="41275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316" name="Line 76"/>
          <p:cNvSpPr>
            <a:spLocks noChangeShapeType="1"/>
          </p:cNvSpPr>
          <p:nvPr/>
        </p:nvSpPr>
        <p:spPr bwMode="auto">
          <a:xfrm>
            <a:off x="8364548" y="2954344"/>
            <a:ext cx="200025" cy="1587"/>
          </a:xfrm>
          <a:prstGeom prst="line">
            <a:avLst/>
          </a:prstGeom>
          <a:noFill/>
          <a:ln w="41275">
            <a:solidFill>
              <a:srgbClr val="2CB0CF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317" name="Rectangle 77"/>
          <p:cNvSpPr>
            <a:spLocks noChangeArrowheads="1"/>
          </p:cNvSpPr>
          <p:nvPr/>
        </p:nvSpPr>
        <p:spPr bwMode="auto">
          <a:xfrm>
            <a:off x="8639180" y="2625726"/>
            <a:ext cx="143686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Carboplatin</a:t>
            </a:r>
            <a:r>
              <a:rPr lang="en-US" altLang="ja-JP" sz="1200" b="1" dirty="0">
                <a:latin typeface="Franklin Gothic Book" panose="020B0503020102020204" pitchFamily="34" charset="0"/>
                <a:ea typeface="ＭＳ Ｐゴシック" pitchFamily="48" charset="-128"/>
                <a:cs typeface="Arial" pitchFamily="34" charset="0"/>
              </a:rPr>
              <a:t>/</a:t>
            </a: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paclitaxel</a:t>
            </a:r>
          </a:p>
        </p:txBody>
      </p:sp>
      <p:sp>
        <p:nvSpPr>
          <p:cNvPr id="10318" name="Rectangle 78"/>
          <p:cNvSpPr>
            <a:spLocks noChangeArrowheads="1"/>
          </p:cNvSpPr>
          <p:nvPr/>
        </p:nvSpPr>
        <p:spPr bwMode="auto">
          <a:xfrm>
            <a:off x="8653463" y="2898775"/>
            <a:ext cx="1935162" cy="335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Carboplatin</a:t>
            </a:r>
            <a:r>
              <a:rPr lang="en-US" altLang="ja-JP" sz="1200" b="1" dirty="0">
                <a:latin typeface="Franklin Gothic Book" panose="020B0503020102020204" pitchFamily="34" charset="0"/>
                <a:ea typeface="ＭＳ Ｐゴシック" pitchFamily="48" charset="-128"/>
                <a:cs typeface="Arial" pitchFamily="34" charset="0"/>
              </a:rPr>
              <a:t>/</a:t>
            </a: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paclitaxel + </a:t>
            </a:r>
            <a:b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</a:b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bevacizumab</a:t>
            </a:r>
          </a:p>
        </p:txBody>
      </p:sp>
      <p:sp>
        <p:nvSpPr>
          <p:cNvPr id="10319" name="Rectangle 79"/>
          <p:cNvSpPr>
            <a:spLocks noChangeArrowheads="1"/>
          </p:cNvSpPr>
          <p:nvPr/>
        </p:nvSpPr>
        <p:spPr bwMode="auto">
          <a:xfrm>
            <a:off x="3867170" y="2578100"/>
            <a:ext cx="2182813" cy="70008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320" name="Line 80"/>
          <p:cNvSpPr>
            <a:spLocks noChangeShapeType="1"/>
          </p:cNvSpPr>
          <p:nvPr/>
        </p:nvSpPr>
        <p:spPr bwMode="auto">
          <a:xfrm>
            <a:off x="3944951" y="2713039"/>
            <a:ext cx="200025" cy="0"/>
          </a:xfrm>
          <a:prstGeom prst="line">
            <a:avLst/>
          </a:prstGeom>
          <a:noFill/>
          <a:ln w="41275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321" name="Line 81"/>
          <p:cNvSpPr>
            <a:spLocks noChangeShapeType="1"/>
          </p:cNvSpPr>
          <p:nvPr/>
        </p:nvSpPr>
        <p:spPr bwMode="auto">
          <a:xfrm>
            <a:off x="3944951" y="2951168"/>
            <a:ext cx="200025" cy="1587"/>
          </a:xfrm>
          <a:prstGeom prst="line">
            <a:avLst/>
          </a:prstGeom>
          <a:noFill/>
          <a:ln w="41275">
            <a:solidFill>
              <a:srgbClr val="2CB0CF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0322" name="Rectangle 82"/>
          <p:cNvSpPr>
            <a:spLocks noChangeArrowheads="1"/>
          </p:cNvSpPr>
          <p:nvPr/>
        </p:nvSpPr>
        <p:spPr bwMode="auto">
          <a:xfrm>
            <a:off x="4219595" y="2622550"/>
            <a:ext cx="143686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Carboplatin</a:t>
            </a:r>
            <a:r>
              <a:rPr lang="en-US" altLang="ja-JP" sz="1200" b="1" dirty="0">
                <a:latin typeface="Franklin Gothic Book" panose="020B0503020102020204" pitchFamily="34" charset="0"/>
                <a:ea typeface="ＭＳ Ｐゴシック" pitchFamily="48" charset="-128"/>
                <a:cs typeface="Arial" pitchFamily="34" charset="0"/>
              </a:rPr>
              <a:t>/</a:t>
            </a: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paclitaxel</a:t>
            </a:r>
          </a:p>
        </p:txBody>
      </p:sp>
      <p:sp>
        <p:nvSpPr>
          <p:cNvPr id="10323" name="Rectangle 83"/>
          <p:cNvSpPr>
            <a:spLocks noChangeArrowheads="1"/>
          </p:cNvSpPr>
          <p:nvPr/>
        </p:nvSpPr>
        <p:spPr bwMode="auto">
          <a:xfrm>
            <a:off x="4233863" y="2895600"/>
            <a:ext cx="1935162" cy="335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Carboplatin</a:t>
            </a:r>
            <a:r>
              <a:rPr lang="en-US" altLang="ja-JP" sz="1200" b="1" dirty="0">
                <a:latin typeface="Franklin Gothic Book" panose="020B0503020102020204" pitchFamily="34" charset="0"/>
                <a:ea typeface="ＭＳ Ｐゴシック" pitchFamily="48" charset="-128"/>
                <a:cs typeface="Arial" pitchFamily="34" charset="0"/>
              </a:rPr>
              <a:t>/</a:t>
            </a: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paclitaxel + </a:t>
            </a:r>
            <a:b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</a:br>
            <a:r>
              <a:rPr lang="en-US" sz="1200" b="1" dirty="0">
                <a:latin typeface="Franklin Gothic Book" panose="020B0503020102020204" pitchFamily="34" charset="0"/>
                <a:cs typeface="Arial" pitchFamily="34" charset="0"/>
              </a:rPr>
              <a:t>bevacizumab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7698D9-8494-CD66-2C74-61717D970DA9}"/>
              </a:ext>
            </a:extLst>
          </p:cNvPr>
          <p:cNvCxnSpPr/>
          <p:nvPr/>
        </p:nvCxnSpPr>
        <p:spPr>
          <a:xfrm>
            <a:off x="1195754" y="1143015"/>
            <a:ext cx="971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82D563-3B49-8448-FD38-EF7A4B653B39}"/>
              </a:ext>
            </a:extLst>
          </p:cNvPr>
          <p:cNvCxnSpPr/>
          <p:nvPr/>
        </p:nvCxnSpPr>
        <p:spPr>
          <a:xfrm>
            <a:off x="1163465" y="1926474"/>
            <a:ext cx="9716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552" cy="1051560"/>
          </a:xfrm>
          <a:noFill/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Adding bevacizumab to carboplatin</a:t>
            </a:r>
            <a:r>
              <a:rPr lang="en-US" altLang="ja-JP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/p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aclitaxel improves efficacy</a:t>
            </a:r>
          </a:p>
        </p:txBody>
      </p:sp>
    </p:spTree>
    <p:extLst>
      <p:ext uri="{BB962C8B-B14F-4D97-AF65-F5344CB8AC3E}">
        <p14:creationId xmlns:p14="http://schemas.microsoft.com/office/powerpoint/2010/main" val="2364906737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33600" y="1502926"/>
            <a:ext cx="8077200" cy="5244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057400" y="3407926"/>
            <a:ext cx="8153400" cy="228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57400" y="5922526"/>
            <a:ext cx="8153400" cy="228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Adding bevacizumab to carboplatin</a:t>
            </a:r>
            <a:r>
              <a:rPr lang="en-US" altLang="ja-JP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/p</a:t>
            </a:r>
            <a: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aclitaxel increases toxicity</a:t>
            </a:r>
          </a:p>
        </p:txBody>
      </p:sp>
      <p:sp>
        <p:nvSpPr>
          <p:cNvPr id="31747" name="Citation (added)"/>
          <p:cNvSpPr txBox="1"/>
          <p:nvPr/>
        </p:nvSpPr>
        <p:spPr>
          <a:xfrm>
            <a:off x="9308592" y="6446520"/>
            <a:ext cx="25328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Sandler et al, NEJM 2006</a:t>
            </a:r>
          </a:p>
        </p:txBody>
      </p:sp>
    </p:spTree>
    <p:extLst>
      <p:ext uri="{BB962C8B-B14F-4D97-AF65-F5344CB8AC3E}">
        <p14:creationId xmlns:p14="http://schemas.microsoft.com/office/powerpoint/2010/main" val="3790283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4800" y="2057399"/>
            <a:ext cx="5640918" cy="3124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45718" y="2057398"/>
            <a:ext cx="5694145" cy="3328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807296" y="6488683"/>
            <a:ext cx="30524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Reck et al, JCO 2009, 27:1227-1234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826" y="228600"/>
            <a:ext cx="11546926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Adding bevacizumab to cisplatin</a:t>
            </a:r>
            <a:r>
              <a:rPr lang="en-US" altLang="ja-JP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/gemcitabine</a:t>
            </a:r>
            <a: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improves p</a:t>
            </a:r>
            <a:r>
              <a:rPr lang="en-GB" sz="32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rogression</a:t>
            </a:r>
            <a:r>
              <a:rPr lang="en-GB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free survival</a:t>
            </a:r>
            <a:endParaRPr lang="en-US" sz="3200" b="0" dirty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455124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674600" y="6488668"/>
            <a:ext cx="3681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Reck et al, Annals of Oncology 2010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E375F-DC17-45C6-8A8E-EA927C894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648841"/>
            <a:ext cx="7315200" cy="4886325"/>
          </a:xfrm>
          <a:prstGeom prst="rect">
            <a:avLst/>
          </a:prstGeom>
        </p:spPr>
      </p:pic>
      <p:graphicFrame>
        <p:nvGraphicFramePr>
          <p:cNvPr id="90126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092392"/>
              </p:ext>
            </p:extLst>
          </p:nvPr>
        </p:nvGraphicFramePr>
        <p:xfrm>
          <a:off x="6188951" y="1769920"/>
          <a:ext cx="4352925" cy="2170176"/>
        </p:xfrm>
        <a:graphic>
          <a:graphicData uri="http://schemas.openxmlformats.org/drawingml/2006/table">
            <a:tbl>
              <a:tblPr/>
              <a:tblGrid>
                <a:gridCol w="1052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marR="0" lvl="0" indent="0" algn="l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  <a:cs typeface="Tahoma" pitchFamily="34" charset="0"/>
                      </a:endParaRPr>
                    </a:p>
                  </a:txBody>
                  <a:tcPr marL="0" marR="0" marT="27432" marB="2743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</a:b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Placebo</a:t>
                      </a:r>
                      <a:b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</a:b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+ CG</a:t>
                      </a:r>
                    </a:p>
                  </a:txBody>
                  <a:tcPr marL="0" marR="0" marT="27432" marB="27432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Bev </a:t>
                      </a:r>
                      <a:b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</a:b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7.5mg/kg</a:t>
                      </a:r>
                      <a:b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</a:b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+ CG</a:t>
                      </a:r>
                    </a:p>
                  </a:txBody>
                  <a:tcPr marL="0" marR="0" marT="27432" marB="27432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 Bev</a:t>
                      </a:r>
                      <a:b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</a:b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15mg/kg</a:t>
                      </a:r>
                      <a:b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</a:b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+ CG</a:t>
                      </a:r>
                    </a:p>
                  </a:txBody>
                  <a:tcPr marL="0" marR="0" marT="27432" marB="27432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44">
                <a:tc>
                  <a:txBody>
                    <a:bodyPr/>
                    <a:lstStyle/>
                    <a:p>
                      <a:pPr marL="0" marR="0" lvl="0" indent="0" algn="l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HR</a:t>
                      </a:r>
                      <a:b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</a:b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(95% CI)</a:t>
                      </a:r>
                    </a:p>
                  </a:txBody>
                  <a:tcPr marL="0" marR="0" marT="27432" marB="27432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  <a:cs typeface="Tahoma" pitchFamily="34" charset="0"/>
                      </a:endParaRPr>
                    </a:p>
                  </a:txBody>
                  <a:tcPr marL="0" marR="0" marT="27432" marB="27432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0.93 </a:t>
                      </a:r>
                      <a:b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</a:b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(0.78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Imago" pitchFamily="2" charset="0"/>
                          <a:cs typeface="Tahoma" pitchFamily="34" charset="0"/>
                        </a:rPr>
                        <a:t>–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1.11)</a:t>
                      </a:r>
                    </a:p>
                  </a:txBody>
                  <a:tcPr marL="0" marR="0" marT="27432" marB="27432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1.03</a:t>
                      </a:r>
                      <a:b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</a:b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(0.86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Imago" pitchFamily="2" charset="0"/>
                          <a:cs typeface="Tahoma" pitchFamily="34" charset="0"/>
                        </a:rPr>
                        <a:t>–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1.23)</a:t>
                      </a:r>
                    </a:p>
                  </a:txBody>
                  <a:tcPr marL="0" marR="0" marT="27432" marB="27432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pPr marL="0" marR="0" lvl="0" indent="0" algn="l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p value</a:t>
                      </a:r>
                    </a:p>
                  </a:txBody>
                  <a:tcPr marL="0" marR="0" marT="27432" marB="27432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  <a:cs typeface="Tahoma" pitchFamily="34" charset="0"/>
                      </a:endParaRPr>
                    </a:p>
                  </a:txBody>
                  <a:tcPr marL="0" marR="0" marT="27432" marB="27432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0.42</a:t>
                      </a:r>
                    </a:p>
                  </a:txBody>
                  <a:tcPr marL="0" marR="0" marT="27432" marB="27432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0.76</a:t>
                      </a:r>
                    </a:p>
                  </a:txBody>
                  <a:tcPr marL="0" marR="0" marT="27432" marB="27432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544">
                <a:tc>
                  <a:txBody>
                    <a:bodyPr/>
                    <a:lstStyle/>
                    <a:p>
                      <a:pPr marL="0" marR="0" lvl="0" indent="0" algn="l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Median OS (months)</a:t>
                      </a:r>
                    </a:p>
                  </a:txBody>
                  <a:tcPr marL="0" marR="0" marT="27432" marB="27432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13.1</a:t>
                      </a:r>
                    </a:p>
                  </a:txBody>
                  <a:tcPr marL="0" marR="0" marT="27432" marB="27432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13.6</a:t>
                      </a:r>
                    </a:p>
                  </a:txBody>
                  <a:tcPr marL="0" marR="0" marT="27432" marB="27432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43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  <a:cs typeface="Tahoma" pitchFamily="34" charset="0"/>
                        </a:rPr>
                        <a:t>13.4</a:t>
                      </a:r>
                    </a:p>
                  </a:txBody>
                  <a:tcPr marL="0" marR="0" marT="27432" marB="27432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DF33F81-A8DE-4A05-9B3B-B7CF6E390A47}"/>
              </a:ext>
            </a:extLst>
          </p:cNvPr>
          <p:cNvSpPr/>
          <p:nvPr/>
        </p:nvSpPr>
        <p:spPr>
          <a:xfrm>
            <a:off x="6674600" y="3934841"/>
            <a:ext cx="44506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F77CC-D991-4B66-A481-E4BC1860C3E4}"/>
              </a:ext>
            </a:extLst>
          </p:cNvPr>
          <p:cNvSpPr txBox="1"/>
          <p:nvPr/>
        </p:nvSpPr>
        <p:spPr>
          <a:xfrm>
            <a:off x="7315200" y="4092003"/>
            <a:ext cx="3657599" cy="4001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Franklin Gothic Book" panose="020B0503020102020204" pitchFamily="34" charset="0"/>
              </a:rPr>
              <a:t>No Clear Improvement in OS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 anchorCtr="1">
            <a:noAutofit/>
          </a:bodyPr>
          <a:lstStyle/>
          <a:p>
            <a:pPr marL="0" indent="0" algn="l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But, adding bevacizumab to cisplatin</a:t>
            </a:r>
            <a:r>
              <a:rPr lang="en-US" altLang="ja-JP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/gemcitabine</a:t>
            </a:r>
            <a: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</a:t>
            </a:r>
            <a:r>
              <a:rPr lang="en-US" sz="3200" b="0" u="sng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does not</a:t>
            </a:r>
            <a: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improve overall</a:t>
            </a:r>
            <a:r>
              <a:rPr lang="en-GB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survival</a:t>
            </a:r>
            <a:endParaRPr lang="en-GB" sz="3200" b="0" i="1" dirty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618456300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3109" y="133602"/>
            <a:ext cx="9545782" cy="532904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55 year-old person with Stage IV NSCLC</a:t>
            </a:r>
          </a:p>
          <a:p>
            <a:pPr lvl="1"/>
            <a:r>
              <a:rPr lang="en-US" dirty="0"/>
              <a:t>Adenocarcinoma histology</a:t>
            </a:r>
          </a:p>
          <a:p>
            <a:pPr lvl="1"/>
            <a:r>
              <a:rPr lang="en-US" dirty="0"/>
              <a:t>No targetable oncogenic driver identified</a:t>
            </a:r>
          </a:p>
          <a:p>
            <a:pPr lvl="1"/>
            <a:r>
              <a:rPr lang="en-US" dirty="0"/>
              <a:t>Asymptomatic</a:t>
            </a:r>
          </a:p>
          <a:p>
            <a:pPr lvl="1"/>
            <a:r>
              <a:rPr lang="en-US" dirty="0"/>
              <a:t>No brain metastases</a:t>
            </a:r>
          </a:p>
          <a:p>
            <a:pPr lvl="1"/>
            <a:r>
              <a:rPr lang="en-US" dirty="0"/>
              <a:t>PD-L1 negative</a:t>
            </a:r>
          </a:p>
          <a:p>
            <a:pPr lvl="1"/>
            <a:r>
              <a:rPr lang="en-US" dirty="0"/>
              <a:t>Rheumatoid arthritis requiring steroids, anti-TNF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What is the right first-line chemotherapy?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Gemcitabine, cisplatin, and bevacizumab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Carboplatin, paclitaxel, and bevacizumab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Docetaxel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Gemcitabine and vinorelbine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8213" y="5657671"/>
            <a:ext cx="10282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Franklin Gothic Book" panose="020B0503020102020204" pitchFamily="34" charset="0"/>
              </a:rPr>
              <a:t>Carboplatin, paclitaxel, bevacizumab is primary regimen for use of bevacizumab</a:t>
            </a:r>
          </a:p>
          <a:p>
            <a:pPr algn="ctr"/>
            <a:r>
              <a:rPr lang="en-US" sz="2400" u="sng" dirty="0">
                <a:latin typeface="Franklin Gothic Book" panose="020B0503020102020204" pitchFamily="34" charset="0"/>
              </a:rPr>
              <a:t>(in clinic…we sometimes add it to a number of regimens)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83541B9-BE9B-B1FB-2C50-E62B27EAB6DD}"/>
                  </a:ext>
                </a:extLst>
              </p14:cNvPr>
              <p14:cNvContentPartPr/>
              <p14:nvPr/>
            </p14:nvContentPartPr>
            <p14:xfrm>
              <a:off x="1858045" y="4324119"/>
              <a:ext cx="6224400" cy="229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83541B9-BE9B-B1FB-2C50-E62B27EAB6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04405" y="4216479"/>
                <a:ext cx="633204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250EED7-B5F9-DAD0-DF57-609AB2869A5A}"/>
                  </a:ext>
                </a:extLst>
              </p14:cNvPr>
              <p14:cNvContentPartPr/>
              <p14:nvPr/>
            </p14:nvContentPartPr>
            <p14:xfrm>
              <a:off x="4599085" y="4384959"/>
              <a:ext cx="2057760" cy="80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250EED7-B5F9-DAD0-DF57-609AB2869A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5445" y="4276959"/>
                <a:ext cx="216540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7F67DBA-EFED-9D97-674A-6E8C4EC34C56}"/>
                  </a:ext>
                </a:extLst>
              </p14:cNvPr>
              <p14:cNvContentPartPr/>
              <p14:nvPr/>
            </p14:nvContentPartPr>
            <p14:xfrm>
              <a:off x="6648565" y="4335279"/>
              <a:ext cx="1266480" cy="50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7F67DBA-EFED-9D97-674A-6E8C4EC34C5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4565" y="4227639"/>
                <a:ext cx="1374120" cy="26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69413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Squamous histology tumor</a:t>
            </a:r>
          </a:p>
          <a:p>
            <a:pPr lvl="1"/>
            <a:r>
              <a:rPr lang="en-US"/>
              <a:t>Severe or fatal pulmonary hemorrhage happens in 31% of patients with squamous histology tumor</a:t>
            </a:r>
          </a:p>
          <a:p>
            <a:r>
              <a:rPr lang="en-US"/>
              <a:t>Patients with more than ½ teaspoon of hemoptysis</a:t>
            </a:r>
          </a:p>
          <a:p>
            <a:pPr>
              <a:buNone/>
            </a:pPr>
            <a:endParaRPr lang="en-US" u="sng"/>
          </a:p>
          <a:p>
            <a:pPr>
              <a:buNone/>
            </a:pPr>
            <a:r>
              <a:rPr lang="en-US" u="sng"/>
              <a:t>Boards</a:t>
            </a:r>
            <a:r>
              <a:rPr lang="en-US"/>
              <a:t> </a:t>
            </a:r>
            <a:r>
              <a:rPr lang="en-US" u="sng"/>
              <a:t>tip</a:t>
            </a:r>
            <a:r>
              <a:rPr lang="en-US"/>
              <a:t>: the only bevacizumab combinations that will be right have carbo/paclitaxel/</a:t>
            </a:r>
            <a:r>
              <a:rPr lang="en-US" err="1"/>
              <a:t>bev</a:t>
            </a:r>
            <a:r>
              <a:rPr lang="en-US"/>
              <a:t> (+/- atezolizumab)</a:t>
            </a:r>
          </a:p>
          <a:p>
            <a:pPr>
              <a:buNone/>
            </a:pPr>
            <a:r>
              <a:rPr lang="en-US"/>
              <a:t>Lore: “good for CNS…”  “good for EGFR mut NSCLC”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Don’t use bevacizumab:</a:t>
            </a:r>
          </a:p>
        </p:txBody>
      </p:sp>
      <p:sp>
        <p:nvSpPr>
          <p:cNvPr id="4" name="Citation (added)"/>
          <p:cNvSpPr txBox="1"/>
          <p:nvPr/>
        </p:nvSpPr>
        <p:spPr>
          <a:xfrm>
            <a:off x="9404604" y="6355080"/>
            <a:ext cx="24368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Johnson et al, JCO 2004</a:t>
            </a:r>
          </a:p>
        </p:txBody>
      </p:sp>
    </p:spTree>
    <p:extLst>
      <p:ext uri="{BB962C8B-B14F-4D97-AF65-F5344CB8AC3E}">
        <p14:creationId xmlns:p14="http://schemas.microsoft.com/office/powerpoint/2010/main" val="18346617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8136" y="228604"/>
            <a:ext cx="10398868" cy="589756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55 year-old person with Stage IV NSCLC</a:t>
            </a:r>
          </a:p>
          <a:p>
            <a:pPr lvl="1"/>
            <a:r>
              <a:rPr lang="en-US" dirty="0"/>
              <a:t>Adenocarcinoma histology</a:t>
            </a:r>
          </a:p>
          <a:p>
            <a:pPr lvl="1"/>
            <a:r>
              <a:rPr lang="en-US" dirty="0"/>
              <a:t>PD-L1 negative and No targetable oncogenes</a:t>
            </a:r>
          </a:p>
          <a:p>
            <a:pPr lvl="1"/>
            <a:r>
              <a:rPr lang="en-US" dirty="0"/>
              <a:t>No brain metastases</a:t>
            </a:r>
          </a:p>
          <a:p>
            <a:pPr lvl="1"/>
            <a:r>
              <a:rPr lang="en-US" dirty="0"/>
              <a:t>Good performance status</a:t>
            </a:r>
          </a:p>
          <a:p>
            <a:pPr lvl="1"/>
            <a:r>
              <a:rPr lang="en-US" dirty="0"/>
              <a:t>Hemoptysis on 3 occasions, total ~ 15 cc blood</a:t>
            </a:r>
          </a:p>
          <a:p>
            <a:pPr lvl="1"/>
            <a:r>
              <a:rPr lang="en-US" dirty="0"/>
              <a:t>Rheumatoid arthritis requiring steroids, anti-TNF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What is the most appropriate chemotherapy 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Cisplatin and gemcitabine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Cisplatin and pemetrexed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Carboplatin, paclitaxel, bevacizumab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Carboplatin, paclitaxel, erlotinib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C3C418-6DFB-5F82-0E4A-D33FB4B05773}"/>
                  </a:ext>
                </a:extLst>
              </p14:cNvPr>
              <p14:cNvContentPartPr/>
              <p14:nvPr/>
            </p14:nvContentPartPr>
            <p14:xfrm>
              <a:off x="2074405" y="2880836"/>
              <a:ext cx="154404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C3C418-6DFB-5F82-0E4A-D33FB4B057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6405" y="2862836"/>
                <a:ext cx="1579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98A580F-0993-30F0-ECBF-68A9260BA80A}"/>
                  </a:ext>
                </a:extLst>
              </p14:cNvPr>
              <p14:cNvContentPartPr/>
              <p14:nvPr/>
            </p14:nvContentPartPr>
            <p14:xfrm>
              <a:off x="2015365" y="1130516"/>
              <a:ext cx="2311200" cy="19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98A580F-0993-30F0-ECBF-68A9260BA8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97365" y="1112516"/>
                <a:ext cx="23468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1D7498B-DA92-CB7E-B4D0-22288E19D9A6}"/>
                  </a:ext>
                </a:extLst>
              </p14:cNvPr>
              <p14:cNvContentPartPr/>
              <p14:nvPr/>
            </p14:nvContentPartPr>
            <p14:xfrm>
              <a:off x="8818645" y="2939876"/>
              <a:ext cx="273600" cy="265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1D7498B-DA92-CB7E-B4D0-22288E19D9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00645" y="2921876"/>
                <a:ext cx="309240" cy="30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2045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1290" name="AutoShape 10"/>
          <p:cNvCxnSpPr>
            <a:cxnSpLocks noChangeShapeType="1"/>
          </p:cNvCxnSpPr>
          <p:nvPr/>
        </p:nvCxnSpPr>
        <p:spPr bwMode="auto">
          <a:xfrm rot="16200000" flipH="1">
            <a:off x="4638675" y="3743325"/>
            <a:ext cx="1208088" cy="884238"/>
          </a:xfrm>
          <a:prstGeom prst="bentConnector3">
            <a:avLst>
              <a:gd name="adj1" fmla="val 98658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481289" name="AutoShape 9"/>
          <p:cNvCxnSpPr>
            <a:cxnSpLocks noChangeShapeType="1"/>
          </p:cNvCxnSpPr>
          <p:nvPr/>
        </p:nvCxnSpPr>
        <p:spPr bwMode="auto">
          <a:xfrm rot="5400000" flipH="1" flipV="1">
            <a:off x="4644242" y="2593183"/>
            <a:ext cx="1220787" cy="908050"/>
          </a:xfrm>
          <a:prstGeom prst="bentConnector3">
            <a:avLst>
              <a:gd name="adj1" fmla="val 100445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481283" name="Text Box 3"/>
          <p:cNvSpPr txBox="1">
            <a:spLocks noChangeArrowheads="1"/>
          </p:cNvSpPr>
          <p:nvPr/>
        </p:nvSpPr>
        <p:spPr bwMode="auto">
          <a:xfrm>
            <a:off x="5803920" y="4330716"/>
            <a:ext cx="4443413" cy="1141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</a:pPr>
            <a:r>
              <a:rPr lang="en-US" sz="2200" dirty="0">
                <a:latin typeface="Franklin Gothic Book" panose="020B0503020102020204" pitchFamily="34" charset="0"/>
                <a:sym typeface="Symbol" pitchFamily="18" charset="2"/>
              </a:rPr>
              <a:t>Cisplatin 75 </a:t>
            </a:r>
            <a:r>
              <a:rPr lang="en-US" sz="2200" dirty="0">
                <a:latin typeface="Franklin Gothic Book" panose="020B0503020102020204" pitchFamily="34" charset="0"/>
              </a:rPr>
              <a:t>mg/m</a:t>
            </a:r>
            <a:r>
              <a:rPr lang="en-US" sz="2200" baseline="30000" dirty="0">
                <a:latin typeface="Franklin Gothic Book" panose="020B0503020102020204" pitchFamily="34" charset="0"/>
              </a:rPr>
              <a:t>2</a:t>
            </a:r>
            <a:r>
              <a:rPr lang="en-US" sz="2200" dirty="0">
                <a:latin typeface="Franklin Gothic Book" panose="020B0503020102020204" pitchFamily="34" charset="0"/>
                <a:sym typeface="Symbol" pitchFamily="18" charset="2"/>
              </a:rPr>
              <a:t> day 1 +</a:t>
            </a:r>
          </a:p>
          <a:p>
            <a:pPr algn="l">
              <a:spcBef>
                <a:spcPct val="10000"/>
              </a:spcBef>
            </a:pPr>
            <a:r>
              <a:rPr lang="en-US" sz="2200" dirty="0">
                <a:latin typeface="Franklin Gothic Book" panose="020B0503020102020204" pitchFamily="34" charset="0"/>
                <a:sym typeface="Symbol" pitchFamily="18" charset="2"/>
              </a:rPr>
              <a:t>Pemetrexed 500 mg/m</a:t>
            </a:r>
            <a:r>
              <a:rPr lang="en-US" sz="2200" baseline="30000" dirty="0">
                <a:latin typeface="Franklin Gothic Book" panose="020B0503020102020204" pitchFamily="34" charset="0"/>
                <a:sym typeface="Symbol" pitchFamily="18" charset="2"/>
              </a:rPr>
              <a:t>2</a:t>
            </a:r>
            <a:r>
              <a:rPr lang="en-US" sz="2200" dirty="0">
                <a:latin typeface="Franklin Gothic Book" panose="020B0503020102020204" pitchFamily="34" charset="0"/>
                <a:sym typeface="Symbol" pitchFamily="18" charset="2"/>
              </a:rPr>
              <a:t> day 1</a:t>
            </a:r>
            <a:br>
              <a:rPr lang="en-US" sz="2200" dirty="0">
                <a:latin typeface="Franklin Gothic Book" panose="020B0503020102020204" pitchFamily="34" charset="0"/>
                <a:sym typeface="Symbol" pitchFamily="18" charset="2"/>
              </a:rPr>
            </a:br>
            <a:r>
              <a:rPr lang="en-US" sz="2200" dirty="0">
                <a:latin typeface="Franklin Gothic Book" panose="020B0503020102020204" pitchFamily="34" charset="0"/>
                <a:sym typeface="Symbol" pitchFamily="18" charset="2"/>
              </a:rPr>
              <a:t>                  </a:t>
            </a:r>
            <a:r>
              <a:rPr lang="en-US" sz="2000" dirty="0">
                <a:latin typeface="Franklin Gothic Book" panose="020B0503020102020204" pitchFamily="34" charset="0"/>
                <a:sym typeface="Symbol" pitchFamily="18" charset="2"/>
              </a:rPr>
              <a:t>(n=862)</a:t>
            </a:r>
            <a:endParaRPr lang="en-US" sz="2200" dirty="0">
              <a:latin typeface="Franklin Gothic Book" panose="020B0503020102020204" pitchFamily="34" charset="0"/>
              <a:sym typeface="Symbol" pitchFamily="18" charset="2"/>
            </a:endParaRPr>
          </a:p>
        </p:txBody>
      </p:sp>
      <p:sp>
        <p:nvSpPr>
          <p:cNvPr id="481284" name="Text Box 4"/>
          <p:cNvSpPr txBox="1">
            <a:spLocks noChangeArrowheads="1"/>
          </p:cNvSpPr>
          <p:nvPr/>
        </p:nvSpPr>
        <p:spPr bwMode="auto">
          <a:xfrm>
            <a:off x="2590800" y="2667012"/>
            <a:ext cx="2362200" cy="175432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19063" indent="-119063">
              <a:buClr>
                <a:srgbClr val="CC0000"/>
              </a:buClr>
            </a:pPr>
            <a:r>
              <a:rPr lang="en-US" b="1" dirty="0">
                <a:latin typeface="Franklin Gothic Book" panose="020B0503020102020204" pitchFamily="34" charset="0"/>
              </a:rPr>
              <a:t>Patients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Franklin Gothic Book" panose="020B0503020102020204" pitchFamily="34" charset="0"/>
              </a:rPr>
              <a:t>NSCLC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Franklin Gothic Book" panose="020B0503020102020204" pitchFamily="34" charset="0"/>
              </a:rPr>
              <a:t>chemo-naïve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Franklin Gothic Book" panose="020B0503020102020204" pitchFamily="34" charset="0"/>
              </a:rPr>
              <a:t>stage </a:t>
            </a:r>
            <a:r>
              <a:rPr lang="en-US" dirty="0" err="1">
                <a:latin typeface="Franklin Gothic Book" panose="020B0503020102020204" pitchFamily="34" charset="0"/>
              </a:rPr>
              <a:t>IIIb</a:t>
            </a:r>
            <a:r>
              <a:rPr lang="en-US" dirty="0">
                <a:latin typeface="Franklin Gothic Book" panose="020B0503020102020204" pitchFamily="34" charset="0"/>
              </a:rPr>
              <a:t> or stage IV 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latin typeface="Franklin Gothic Book" panose="020B0503020102020204" pitchFamily="34" charset="0"/>
              </a:rPr>
              <a:t>ECOG PS of 0–1</a:t>
            </a:r>
          </a:p>
          <a:p>
            <a:pPr marL="119063" indent="-119063">
              <a:buClr>
                <a:srgbClr val="CC0000"/>
              </a:buClr>
            </a:pPr>
            <a:endParaRPr lang="en-US" b="1" dirty="0">
              <a:solidFill>
                <a:schemeClr val="accent2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81288" name="Text Box 8"/>
          <p:cNvSpPr txBox="1">
            <a:spLocks noChangeArrowheads="1"/>
          </p:cNvSpPr>
          <p:nvPr/>
        </p:nvSpPr>
        <p:spPr bwMode="auto">
          <a:xfrm>
            <a:off x="5803919" y="1893888"/>
            <a:ext cx="4608513" cy="1175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10000"/>
              </a:spcBef>
            </a:pPr>
            <a:r>
              <a:rPr lang="en-US" sz="2200" dirty="0">
                <a:latin typeface="Franklin Gothic Book" panose="020B0503020102020204" pitchFamily="34" charset="0"/>
                <a:sym typeface="Symbol" pitchFamily="18" charset="2"/>
              </a:rPr>
              <a:t>Cisplatin 75 </a:t>
            </a:r>
            <a:r>
              <a:rPr lang="en-US" sz="2200" dirty="0">
                <a:latin typeface="Franklin Gothic Book" panose="020B0503020102020204" pitchFamily="34" charset="0"/>
              </a:rPr>
              <a:t>mg/m</a:t>
            </a:r>
            <a:r>
              <a:rPr lang="en-US" sz="2200" baseline="30000" dirty="0">
                <a:latin typeface="Franklin Gothic Book" panose="020B0503020102020204" pitchFamily="34" charset="0"/>
              </a:rPr>
              <a:t>2</a:t>
            </a:r>
            <a:r>
              <a:rPr lang="en-US" sz="2200" dirty="0">
                <a:latin typeface="Franklin Gothic Book" panose="020B0503020102020204" pitchFamily="34" charset="0"/>
                <a:sym typeface="Symbol" pitchFamily="18" charset="2"/>
              </a:rPr>
              <a:t> day 1</a:t>
            </a:r>
            <a:r>
              <a:rPr lang="en-US" sz="2200" dirty="0">
                <a:latin typeface="Franklin Gothic Book" panose="020B0503020102020204" pitchFamily="34" charset="0"/>
              </a:rPr>
              <a:t> +</a:t>
            </a:r>
          </a:p>
          <a:p>
            <a:pPr algn="l">
              <a:spcBef>
                <a:spcPct val="10000"/>
              </a:spcBef>
            </a:pPr>
            <a:r>
              <a:rPr lang="en-US" sz="2200" dirty="0">
                <a:latin typeface="Franklin Gothic Book" panose="020B0503020102020204" pitchFamily="34" charset="0"/>
              </a:rPr>
              <a:t>Gemcitabine 1250 mg/m</a:t>
            </a:r>
            <a:r>
              <a:rPr lang="en-US" sz="2200" baseline="30000" dirty="0">
                <a:latin typeface="Franklin Gothic Book" panose="020B0503020102020204" pitchFamily="34" charset="0"/>
              </a:rPr>
              <a:t>2</a:t>
            </a:r>
            <a:r>
              <a:rPr lang="en-US" sz="2200" dirty="0">
                <a:latin typeface="Franklin Gothic Book" panose="020B0503020102020204" pitchFamily="34" charset="0"/>
              </a:rPr>
              <a:t> days 1,8</a:t>
            </a:r>
          </a:p>
          <a:p>
            <a:pPr algn="l">
              <a:spcBef>
                <a:spcPct val="10000"/>
              </a:spcBef>
            </a:pPr>
            <a:r>
              <a:rPr lang="en-US" sz="2200" dirty="0">
                <a:latin typeface="Franklin Gothic Book" panose="020B0503020102020204" pitchFamily="34" charset="0"/>
              </a:rPr>
              <a:t>                     (n=863)</a:t>
            </a:r>
            <a:endParaRPr lang="en-US" sz="2000" dirty="0">
              <a:latin typeface="Franklin Gothic Book" panose="020B0503020102020204" pitchFamily="34" charset="0"/>
              <a:sym typeface="Symbol" pitchFamily="18" charset="2"/>
            </a:endParaRPr>
          </a:p>
        </p:txBody>
      </p:sp>
      <p:sp>
        <p:nvSpPr>
          <p:cNvPr id="481293" name="Rectangle 13"/>
          <p:cNvSpPr>
            <a:spLocks noChangeArrowheads="1"/>
          </p:cNvSpPr>
          <p:nvPr/>
        </p:nvSpPr>
        <p:spPr bwMode="auto">
          <a:xfrm>
            <a:off x="6048395" y="6400800"/>
            <a:ext cx="4619625" cy="315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ct val="25000"/>
              </a:spcAft>
              <a:buClr>
                <a:schemeClr val="accent1"/>
              </a:buClr>
              <a:buSzPct val="85000"/>
            </a:pPr>
            <a:r>
              <a:rPr lang="it-IT" sz="1400" dirty="0">
                <a:latin typeface="Franklin Gothic Book" panose="020B0503020102020204" pitchFamily="34" charset="0"/>
              </a:rPr>
              <a:t>Scagliotti GV, et al. JCO 2008;26:3543-3551.</a:t>
            </a:r>
          </a:p>
        </p:txBody>
      </p:sp>
      <p:sp>
        <p:nvSpPr>
          <p:cNvPr id="433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CA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Is Cisplatin/Pemetrexed </a:t>
            </a:r>
            <a:r>
              <a:rPr lang="en-CA" sz="2800" b="0" u="sng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non-inferior</a:t>
            </a:r>
            <a:r>
              <a:rPr lang="en-CA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to Cisplatin/Gemcitabine?</a:t>
            </a:r>
            <a:endParaRPr lang="en-US" sz="2800" b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212707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1" name="Line 4"/>
          <p:cNvSpPr>
            <a:spLocks noChangeShapeType="1"/>
          </p:cNvSpPr>
          <p:nvPr/>
        </p:nvSpPr>
        <p:spPr bwMode="auto">
          <a:xfrm>
            <a:off x="4930775" y="2606675"/>
            <a:ext cx="53340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34" name="Line 6"/>
          <p:cNvSpPr>
            <a:spLocks noChangeShapeType="1"/>
          </p:cNvSpPr>
          <p:nvPr/>
        </p:nvSpPr>
        <p:spPr bwMode="auto">
          <a:xfrm>
            <a:off x="3074988" y="1946275"/>
            <a:ext cx="0" cy="299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35" name="Line 7"/>
          <p:cNvSpPr>
            <a:spLocks noChangeShapeType="1"/>
          </p:cNvSpPr>
          <p:nvPr/>
        </p:nvSpPr>
        <p:spPr bwMode="auto">
          <a:xfrm>
            <a:off x="2970213" y="4832351"/>
            <a:ext cx="63611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36" name="Rectangle 34"/>
          <p:cNvSpPr>
            <a:spLocks noChangeArrowheads="1"/>
          </p:cNvSpPr>
          <p:nvPr/>
        </p:nvSpPr>
        <p:spPr bwMode="auto">
          <a:xfrm>
            <a:off x="2520966" y="1824053"/>
            <a:ext cx="32861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1.0</a:t>
            </a:r>
          </a:p>
        </p:txBody>
      </p:sp>
      <p:sp>
        <p:nvSpPr>
          <p:cNvPr id="483337" name="Rectangle 34"/>
          <p:cNvSpPr>
            <a:spLocks noChangeArrowheads="1"/>
          </p:cNvSpPr>
          <p:nvPr/>
        </p:nvSpPr>
        <p:spPr bwMode="auto">
          <a:xfrm>
            <a:off x="2519363" y="2109802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0.9</a:t>
            </a:r>
          </a:p>
        </p:txBody>
      </p:sp>
      <p:sp>
        <p:nvSpPr>
          <p:cNvPr id="483338" name="Rectangle 34"/>
          <p:cNvSpPr>
            <a:spLocks noChangeArrowheads="1"/>
          </p:cNvSpPr>
          <p:nvPr/>
        </p:nvSpPr>
        <p:spPr bwMode="auto">
          <a:xfrm>
            <a:off x="2519363" y="2397140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0.8</a:t>
            </a:r>
          </a:p>
        </p:txBody>
      </p:sp>
      <p:sp>
        <p:nvSpPr>
          <p:cNvPr id="483339" name="Rectangle 34"/>
          <p:cNvSpPr>
            <a:spLocks noChangeArrowheads="1"/>
          </p:cNvSpPr>
          <p:nvPr/>
        </p:nvSpPr>
        <p:spPr bwMode="auto">
          <a:xfrm>
            <a:off x="2519363" y="2682889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0.7</a:t>
            </a:r>
          </a:p>
        </p:txBody>
      </p:sp>
      <p:sp>
        <p:nvSpPr>
          <p:cNvPr id="483340" name="Rectangle 34"/>
          <p:cNvSpPr>
            <a:spLocks noChangeArrowheads="1"/>
          </p:cNvSpPr>
          <p:nvPr/>
        </p:nvSpPr>
        <p:spPr bwMode="auto">
          <a:xfrm>
            <a:off x="2519363" y="2970228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0.6</a:t>
            </a:r>
          </a:p>
        </p:txBody>
      </p:sp>
      <p:sp>
        <p:nvSpPr>
          <p:cNvPr id="483341" name="Rectangle 34"/>
          <p:cNvSpPr>
            <a:spLocks noChangeArrowheads="1"/>
          </p:cNvSpPr>
          <p:nvPr/>
        </p:nvSpPr>
        <p:spPr bwMode="auto">
          <a:xfrm>
            <a:off x="2519363" y="3257564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0.5</a:t>
            </a:r>
          </a:p>
        </p:txBody>
      </p:sp>
      <p:sp>
        <p:nvSpPr>
          <p:cNvPr id="483342" name="Rectangle 34"/>
          <p:cNvSpPr>
            <a:spLocks noChangeArrowheads="1"/>
          </p:cNvSpPr>
          <p:nvPr/>
        </p:nvSpPr>
        <p:spPr bwMode="auto">
          <a:xfrm>
            <a:off x="2519363" y="3543314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0.4</a:t>
            </a:r>
          </a:p>
        </p:txBody>
      </p:sp>
      <p:sp>
        <p:nvSpPr>
          <p:cNvPr id="483343" name="Rectangle 34"/>
          <p:cNvSpPr>
            <a:spLocks noChangeArrowheads="1"/>
          </p:cNvSpPr>
          <p:nvPr/>
        </p:nvSpPr>
        <p:spPr bwMode="auto">
          <a:xfrm>
            <a:off x="2519363" y="3830653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0.3</a:t>
            </a:r>
          </a:p>
        </p:txBody>
      </p:sp>
      <p:sp>
        <p:nvSpPr>
          <p:cNvPr id="483344" name="Rectangle 34"/>
          <p:cNvSpPr>
            <a:spLocks noChangeArrowheads="1"/>
          </p:cNvSpPr>
          <p:nvPr/>
        </p:nvSpPr>
        <p:spPr bwMode="auto">
          <a:xfrm>
            <a:off x="2519363" y="4116402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0.2</a:t>
            </a:r>
          </a:p>
        </p:txBody>
      </p:sp>
      <p:sp>
        <p:nvSpPr>
          <p:cNvPr id="483345" name="Rectangle 34"/>
          <p:cNvSpPr>
            <a:spLocks noChangeArrowheads="1"/>
          </p:cNvSpPr>
          <p:nvPr/>
        </p:nvSpPr>
        <p:spPr bwMode="auto">
          <a:xfrm>
            <a:off x="2528404" y="4403740"/>
            <a:ext cx="32117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0.1</a:t>
            </a:r>
          </a:p>
        </p:txBody>
      </p:sp>
      <p:sp>
        <p:nvSpPr>
          <p:cNvPr id="483346" name="Rectangle 34"/>
          <p:cNvSpPr>
            <a:spLocks noChangeArrowheads="1"/>
          </p:cNvSpPr>
          <p:nvPr/>
        </p:nvSpPr>
        <p:spPr bwMode="auto">
          <a:xfrm>
            <a:off x="2519363" y="4691078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0.0</a:t>
            </a:r>
          </a:p>
        </p:txBody>
      </p:sp>
      <p:sp>
        <p:nvSpPr>
          <p:cNvPr id="483347" name="Rectangle 34"/>
          <p:cNvSpPr>
            <a:spLocks noChangeArrowheads="1"/>
          </p:cNvSpPr>
          <p:nvPr/>
        </p:nvSpPr>
        <p:spPr bwMode="auto">
          <a:xfrm>
            <a:off x="3011488" y="4980002"/>
            <a:ext cx="13625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0</a:t>
            </a:r>
          </a:p>
        </p:txBody>
      </p:sp>
      <p:sp>
        <p:nvSpPr>
          <p:cNvPr id="483348" name="Rectangle 34"/>
          <p:cNvSpPr>
            <a:spLocks noChangeArrowheads="1"/>
          </p:cNvSpPr>
          <p:nvPr/>
        </p:nvSpPr>
        <p:spPr bwMode="auto">
          <a:xfrm>
            <a:off x="4225925" y="4980002"/>
            <a:ext cx="13625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6</a:t>
            </a:r>
          </a:p>
        </p:txBody>
      </p:sp>
      <p:sp>
        <p:nvSpPr>
          <p:cNvPr id="483349" name="Rectangle 34"/>
          <p:cNvSpPr>
            <a:spLocks noChangeArrowheads="1"/>
          </p:cNvSpPr>
          <p:nvPr/>
        </p:nvSpPr>
        <p:spPr bwMode="auto">
          <a:xfrm>
            <a:off x="5376863" y="4980002"/>
            <a:ext cx="27251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12</a:t>
            </a:r>
          </a:p>
        </p:txBody>
      </p:sp>
      <p:sp>
        <p:nvSpPr>
          <p:cNvPr id="483350" name="Rectangle 34"/>
          <p:cNvSpPr>
            <a:spLocks noChangeArrowheads="1"/>
          </p:cNvSpPr>
          <p:nvPr/>
        </p:nvSpPr>
        <p:spPr bwMode="auto">
          <a:xfrm>
            <a:off x="6591300" y="4980002"/>
            <a:ext cx="27090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18</a:t>
            </a:r>
          </a:p>
        </p:txBody>
      </p:sp>
      <p:sp>
        <p:nvSpPr>
          <p:cNvPr id="483351" name="Rectangle 34"/>
          <p:cNvSpPr>
            <a:spLocks noChangeArrowheads="1"/>
          </p:cNvSpPr>
          <p:nvPr/>
        </p:nvSpPr>
        <p:spPr bwMode="auto">
          <a:xfrm>
            <a:off x="7805738" y="4980002"/>
            <a:ext cx="2623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24</a:t>
            </a:r>
          </a:p>
        </p:txBody>
      </p:sp>
      <p:sp>
        <p:nvSpPr>
          <p:cNvPr id="483352" name="Rectangle 34"/>
          <p:cNvSpPr>
            <a:spLocks noChangeArrowheads="1"/>
          </p:cNvSpPr>
          <p:nvPr/>
        </p:nvSpPr>
        <p:spPr bwMode="auto">
          <a:xfrm>
            <a:off x="9021763" y="4980002"/>
            <a:ext cx="27251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30</a:t>
            </a:r>
          </a:p>
        </p:txBody>
      </p:sp>
      <p:sp>
        <p:nvSpPr>
          <p:cNvPr id="483353" name="Rectangle 34"/>
          <p:cNvSpPr>
            <a:spLocks noChangeArrowheads="1"/>
          </p:cNvSpPr>
          <p:nvPr/>
        </p:nvSpPr>
        <p:spPr bwMode="auto">
          <a:xfrm rot="-5400000">
            <a:off x="1262887" y="3177803"/>
            <a:ext cx="18478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Survival Probability</a:t>
            </a:r>
          </a:p>
        </p:txBody>
      </p:sp>
      <p:sp>
        <p:nvSpPr>
          <p:cNvPr id="483354" name="Line 26"/>
          <p:cNvSpPr>
            <a:spLocks noChangeShapeType="1"/>
          </p:cNvSpPr>
          <p:nvPr/>
        </p:nvSpPr>
        <p:spPr bwMode="auto">
          <a:xfrm flipH="1">
            <a:off x="2959101" y="1957388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55" name="Line 27"/>
          <p:cNvSpPr>
            <a:spLocks noChangeShapeType="1"/>
          </p:cNvSpPr>
          <p:nvPr/>
        </p:nvSpPr>
        <p:spPr bwMode="auto">
          <a:xfrm flipH="1">
            <a:off x="2959101" y="2244725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56" name="Line 28"/>
          <p:cNvSpPr>
            <a:spLocks noChangeShapeType="1"/>
          </p:cNvSpPr>
          <p:nvPr/>
        </p:nvSpPr>
        <p:spPr bwMode="auto">
          <a:xfrm flipH="1">
            <a:off x="2959101" y="2532063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57" name="Line 29"/>
          <p:cNvSpPr>
            <a:spLocks noChangeShapeType="1"/>
          </p:cNvSpPr>
          <p:nvPr/>
        </p:nvSpPr>
        <p:spPr bwMode="auto">
          <a:xfrm flipH="1">
            <a:off x="2959101" y="2819400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58" name="Line 30"/>
          <p:cNvSpPr>
            <a:spLocks noChangeShapeType="1"/>
          </p:cNvSpPr>
          <p:nvPr/>
        </p:nvSpPr>
        <p:spPr bwMode="auto">
          <a:xfrm flipH="1">
            <a:off x="2959101" y="3106739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59" name="Line 31"/>
          <p:cNvSpPr>
            <a:spLocks noChangeShapeType="1"/>
          </p:cNvSpPr>
          <p:nvPr/>
        </p:nvSpPr>
        <p:spPr bwMode="auto">
          <a:xfrm flipH="1">
            <a:off x="2959101" y="3394075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60" name="Line 32"/>
          <p:cNvSpPr>
            <a:spLocks noChangeShapeType="1"/>
          </p:cNvSpPr>
          <p:nvPr/>
        </p:nvSpPr>
        <p:spPr bwMode="auto">
          <a:xfrm flipH="1">
            <a:off x="2959101" y="3681413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61" name="Line 33"/>
          <p:cNvSpPr>
            <a:spLocks noChangeShapeType="1"/>
          </p:cNvSpPr>
          <p:nvPr/>
        </p:nvSpPr>
        <p:spPr bwMode="auto">
          <a:xfrm flipH="1">
            <a:off x="2959101" y="3968751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62" name="Line 34"/>
          <p:cNvSpPr>
            <a:spLocks noChangeShapeType="1"/>
          </p:cNvSpPr>
          <p:nvPr/>
        </p:nvSpPr>
        <p:spPr bwMode="auto">
          <a:xfrm flipH="1">
            <a:off x="2959101" y="4256088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63" name="Line 35"/>
          <p:cNvSpPr>
            <a:spLocks noChangeShapeType="1"/>
          </p:cNvSpPr>
          <p:nvPr/>
        </p:nvSpPr>
        <p:spPr bwMode="auto">
          <a:xfrm flipH="1">
            <a:off x="2959101" y="4543425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64" name="Line 36"/>
          <p:cNvSpPr>
            <a:spLocks noChangeShapeType="1"/>
          </p:cNvSpPr>
          <p:nvPr/>
        </p:nvSpPr>
        <p:spPr bwMode="auto">
          <a:xfrm>
            <a:off x="4283075" y="4824428"/>
            <a:ext cx="0" cy="104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65" name="Line 37"/>
          <p:cNvSpPr>
            <a:spLocks noChangeShapeType="1"/>
          </p:cNvSpPr>
          <p:nvPr/>
        </p:nvSpPr>
        <p:spPr bwMode="auto">
          <a:xfrm>
            <a:off x="5499100" y="4824428"/>
            <a:ext cx="0" cy="104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66" name="Line 38"/>
          <p:cNvSpPr>
            <a:spLocks noChangeShapeType="1"/>
          </p:cNvSpPr>
          <p:nvPr/>
        </p:nvSpPr>
        <p:spPr bwMode="auto">
          <a:xfrm>
            <a:off x="6715125" y="4824428"/>
            <a:ext cx="0" cy="104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67" name="Line 39"/>
          <p:cNvSpPr>
            <a:spLocks noChangeShapeType="1"/>
          </p:cNvSpPr>
          <p:nvPr/>
        </p:nvSpPr>
        <p:spPr bwMode="auto">
          <a:xfrm>
            <a:off x="7931150" y="4824428"/>
            <a:ext cx="0" cy="104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368" name="Line 40"/>
          <p:cNvSpPr>
            <a:spLocks noChangeShapeType="1"/>
          </p:cNvSpPr>
          <p:nvPr/>
        </p:nvSpPr>
        <p:spPr bwMode="auto">
          <a:xfrm>
            <a:off x="9147175" y="4824428"/>
            <a:ext cx="0" cy="104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407" name="Rectangle 34"/>
          <p:cNvSpPr>
            <a:spLocks noChangeArrowheads="1"/>
          </p:cNvSpPr>
          <p:nvPr/>
        </p:nvSpPr>
        <p:spPr bwMode="auto">
          <a:xfrm>
            <a:off x="5359416" y="5314965"/>
            <a:ext cx="175900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Survival  (months)</a:t>
            </a:r>
          </a:p>
        </p:txBody>
      </p:sp>
      <p:graphicFrame>
        <p:nvGraphicFramePr>
          <p:cNvPr id="483502" name="Group 1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403"/>
              </p:ext>
            </p:extLst>
          </p:nvPr>
        </p:nvGraphicFramePr>
        <p:xfrm>
          <a:off x="5607064" y="1914527"/>
          <a:ext cx="5060935" cy="146367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545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Median (months)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Cisplatin/pemetrexed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10.3 (9.8-11.2)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Cisplatin/gemcitabine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10.3 (9.6-10.9)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CP vs CG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Adjusted HR (95% CI)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0.94 (0.84-1.05)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3485" name="Freeform 157"/>
          <p:cNvSpPr>
            <a:spLocks/>
          </p:cNvSpPr>
          <p:nvPr/>
        </p:nvSpPr>
        <p:spPr bwMode="auto">
          <a:xfrm>
            <a:off x="3081339" y="1957403"/>
            <a:ext cx="5956300" cy="2536825"/>
          </a:xfrm>
          <a:custGeom>
            <a:avLst/>
            <a:gdLst/>
            <a:ahLst/>
            <a:cxnLst>
              <a:cxn ang="0">
                <a:pos x="3589" y="1598"/>
              </a:cxn>
              <a:cxn ang="0">
                <a:pos x="3462" y="1558"/>
              </a:cxn>
              <a:cxn ang="0">
                <a:pos x="3422" y="1531"/>
              </a:cxn>
              <a:cxn ang="0">
                <a:pos x="3286" y="1505"/>
              </a:cxn>
              <a:cxn ang="0">
                <a:pos x="3136" y="1478"/>
              </a:cxn>
              <a:cxn ang="0">
                <a:pos x="3076" y="1461"/>
              </a:cxn>
              <a:cxn ang="0">
                <a:pos x="2846" y="1458"/>
              </a:cxn>
              <a:cxn ang="0">
                <a:pos x="2743" y="1421"/>
              </a:cxn>
              <a:cxn ang="0">
                <a:pos x="2593" y="1408"/>
              </a:cxn>
              <a:cxn ang="0">
                <a:pos x="2487" y="1381"/>
              </a:cxn>
              <a:cxn ang="0">
                <a:pos x="2410" y="1378"/>
              </a:cxn>
              <a:cxn ang="0">
                <a:pos x="2294" y="1335"/>
              </a:cxn>
              <a:cxn ang="0">
                <a:pos x="2187" y="1315"/>
              </a:cxn>
              <a:cxn ang="0">
                <a:pos x="2071" y="1272"/>
              </a:cxn>
              <a:cxn ang="0">
                <a:pos x="1944" y="1235"/>
              </a:cxn>
              <a:cxn ang="0">
                <a:pos x="1894" y="1208"/>
              </a:cxn>
              <a:cxn ang="0">
                <a:pos x="1824" y="1165"/>
              </a:cxn>
              <a:cxn ang="0">
                <a:pos x="1751" y="1135"/>
              </a:cxn>
              <a:cxn ang="0">
                <a:pos x="1694" y="1105"/>
              </a:cxn>
              <a:cxn ang="0">
                <a:pos x="1608" y="1055"/>
              </a:cxn>
              <a:cxn ang="0">
                <a:pos x="1531" y="1029"/>
              </a:cxn>
              <a:cxn ang="0">
                <a:pos x="1458" y="989"/>
              </a:cxn>
              <a:cxn ang="0">
                <a:pos x="1398" y="955"/>
              </a:cxn>
              <a:cxn ang="0">
                <a:pos x="1268" y="875"/>
              </a:cxn>
              <a:cxn ang="0">
                <a:pos x="1215" y="825"/>
              </a:cxn>
              <a:cxn ang="0">
                <a:pos x="1128" y="765"/>
              </a:cxn>
              <a:cxn ang="0">
                <a:pos x="995" y="666"/>
              </a:cxn>
              <a:cxn ang="0">
                <a:pos x="882" y="586"/>
              </a:cxn>
              <a:cxn ang="0">
                <a:pos x="765" y="489"/>
              </a:cxn>
              <a:cxn ang="0">
                <a:pos x="686" y="409"/>
              </a:cxn>
              <a:cxn ang="0">
                <a:pos x="546" y="319"/>
              </a:cxn>
              <a:cxn ang="0">
                <a:pos x="379" y="189"/>
              </a:cxn>
              <a:cxn ang="0">
                <a:pos x="273" y="140"/>
              </a:cxn>
              <a:cxn ang="0">
                <a:pos x="183" y="103"/>
              </a:cxn>
              <a:cxn ang="0">
                <a:pos x="46" y="23"/>
              </a:cxn>
            </a:cxnLst>
            <a:rect l="0" t="0" r="r" b="b"/>
            <a:pathLst>
              <a:path w="3752" h="1598">
                <a:moveTo>
                  <a:pt x="3752" y="1598"/>
                </a:moveTo>
                <a:lnTo>
                  <a:pt x="3589" y="1598"/>
                </a:lnTo>
                <a:lnTo>
                  <a:pt x="3589" y="1558"/>
                </a:lnTo>
                <a:lnTo>
                  <a:pt x="3462" y="1558"/>
                </a:lnTo>
                <a:lnTo>
                  <a:pt x="3462" y="1531"/>
                </a:lnTo>
                <a:lnTo>
                  <a:pt x="3422" y="1531"/>
                </a:lnTo>
                <a:lnTo>
                  <a:pt x="3422" y="1505"/>
                </a:lnTo>
                <a:lnTo>
                  <a:pt x="3286" y="1505"/>
                </a:lnTo>
                <a:lnTo>
                  <a:pt x="3203" y="1491"/>
                </a:lnTo>
                <a:lnTo>
                  <a:pt x="3136" y="1478"/>
                </a:lnTo>
                <a:lnTo>
                  <a:pt x="3089" y="1478"/>
                </a:lnTo>
                <a:lnTo>
                  <a:pt x="3076" y="1461"/>
                </a:lnTo>
                <a:lnTo>
                  <a:pt x="2999" y="1461"/>
                </a:lnTo>
                <a:lnTo>
                  <a:pt x="2846" y="1458"/>
                </a:lnTo>
                <a:lnTo>
                  <a:pt x="2816" y="1435"/>
                </a:lnTo>
                <a:lnTo>
                  <a:pt x="2743" y="1421"/>
                </a:lnTo>
                <a:lnTo>
                  <a:pt x="2643" y="1418"/>
                </a:lnTo>
                <a:lnTo>
                  <a:pt x="2593" y="1408"/>
                </a:lnTo>
                <a:lnTo>
                  <a:pt x="2560" y="1391"/>
                </a:lnTo>
                <a:lnTo>
                  <a:pt x="2487" y="1381"/>
                </a:lnTo>
                <a:lnTo>
                  <a:pt x="2437" y="1381"/>
                </a:lnTo>
                <a:lnTo>
                  <a:pt x="2410" y="1378"/>
                </a:lnTo>
                <a:lnTo>
                  <a:pt x="2357" y="1351"/>
                </a:lnTo>
                <a:lnTo>
                  <a:pt x="2294" y="1335"/>
                </a:lnTo>
                <a:lnTo>
                  <a:pt x="2224" y="1322"/>
                </a:lnTo>
                <a:lnTo>
                  <a:pt x="2187" y="1315"/>
                </a:lnTo>
                <a:lnTo>
                  <a:pt x="2170" y="1302"/>
                </a:lnTo>
                <a:lnTo>
                  <a:pt x="2071" y="1272"/>
                </a:lnTo>
                <a:lnTo>
                  <a:pt x="1977" y="1245"/>
                </a:lnTo>
                <a:lnTo>
                  <a:pt x="1944" y="1235"/>
                </a:lnTo>
                <a:lnTo>
                  <a:pt x="1914" y="1222"/>
                </a:lnTo>
                <a:lnTo>
                  <a:pt x="1894" y="1208"/>
                </a:lnTo>
                <a:lnTo>
                  <a:pt x="1844" y="1175"/>
                </a:lnTo>
                <a:lnTo>
                  <a:pt x="1824" y="1165"/>
                </a:lnTo>
                <a:lnTo>
                  <a:pt x="1781" y="1135"/>
                </a:lnTo>
                <a:lnTo>
                  <a:pt x="1751" y="1135"/>
                </a:lnTo>
                <a:lnTo>
                  <a:pt x="1718" y="1118"/>
                </a:lnTo>
                <a:lnTo>
                  <a:pt x="1694" y="1105"/>
                </a:lnTo>
                <a:lnTo>
                  <a:pt x="1641" y="1078"/>
                </a:lnTo>
                <a:lnTo>
                  <a:pt x="1608" y="1055"/>
                </a:lnTo>
                <a:lnTo>
                  <a:pt x="1571" y="1039"/>
                </a:lnTo>
                <a:lnTo>
                  <a:pt x="1531" y="1029"/>
                </a:lnTo>
                <a:lnTo>
                  <a:pt x="1498" y="995"/>
                </a:lnTo>
                <a:lnTo>
                  <a:pt x="1458" y="989"/>
                </a:lnTo>
                <a:lnTo>
                  <a:pt x="1431" y="972"/>
                </a:lnTo>
                <a:lnTo>
                  <a:pt x="1398" y="955"/>
                </a:lnTo>
                <a:lnTo>
                  <a:pt x="1375" y="949"/>
                </a:lnTo>
                <a:lnTo>
                  <a:pt x="1268" y="875"/>
                </a:lnTo>
                <a:lnTo>
                  <a:pt x="1245" y="842"/>
                </a:lnTo>
                <a:lnTo>
                  <a:pt x="1215" y="825"/>
                </a:lnTo>
                <a:lnTo>
                  <a:pt x="1175" y="789"/>
                </a:lnTo>
                <a:lnTo>
                  <a:pt x="1128" y="765"/>
                </a:lnTo>
                <a:lnTo>
                  <a:pt x="1068" y="722"/>
                </a:lnTo>
                <a:lnTo>
                  <a:pt x="995" y="666"/>
                </a:lnTo>
                <a:lnTo>
                  <a:pt x="962" y="646"/>
                </a:lnTo>
                <a:lnTo>
                  <a:pt x="882" y="586"/>
                </a:lnTo>
                <a:lnTo>
                  <a:pt x="792" y="526"/>
                </a:lnTo>
                <a:lnTo>
                  <a:pt x="765" y="489"/>
                </a:lnTo>
                <a:lnTo>
                  <a:pt x="709" y="436"/>
                </a:lnTo>
                <a:lnTo>
                  <a:pt x="686" y="409"/>
                </a:lnTo>
                <a:lnTo>
                  <a:pt x="606" y="356"/>
                </a:lnTo>
                <a:lnTo>
                  <a:pt x="546" y="319"/>
                </a:lnTo>
                <a:lnTo>
                  <a:pt x="449" y="253"/>
                </a:lnTo>
                <a:lnTo>
                  <a:pt x="379" y="189"/>
                </a:lnTo>
                <a:lnTo>
                  <a:pt x="316" y="156"/>
                </a:lnTo>
                <a:lnTo>
                  <a:pt x="273" y="140"/>
                </a:lnTo>
                <a:lnTo>
                  <a:pt x="219" y="106"/>
                </a:lnTo>
                <a:lnTo>
                  <a:pt x="183" y="103"/>
                </a:lnTo>
                <a:lnTo>
                  <a:pt x="159" y="80"/>
                </a:lnTo>
                <a:lnTo>
                  <a:pt x="46" y="23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rgbClr val="0066FF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484" name="Freeform 156"/>
          <p:cNvSpPr>
            <a:spLocks/>
          </p:cNvSpPr>
          <p:nvPr/>
        </p:nvSpPr>
        <p:spPr bwMode="auto">
          <a:xfrm>
            <a:off x="3086120" y="1957391"/>
            <a:ext cx="6010275" cy="2578100"/>
          </a:xfrm>
          <a:custGeom>
            <a:avLst/>
            <a:gdLst/>
            <a:ahLst/>
            <a:cxnLst>
              <a:cxn ang="0">
                <a:pos x="63" y="36"/>
              </a:cxn>
              <a:cxn ang="0">
                <a:pos x="156" y="76"/>
              </a:cxn>
              <a:cxn ang="0">
                <a:pos x="203" y="106"/>
              </a:cxn>
              <a:cxn ang="0">
                <a:pos x="253" y="136"/>
              </a:cxn>
              <a:cxn ang="0">
                <a:pos x="316" y="156"/>
              </a:cxn>
              <a:cxn ang="0">
                <a:pos x="380" y="213"/>
              </a:cxn>
              <a:cxn ang="0">
                <a:pos x="439" y="256"/>
              </a:cxn>
              <a:cxn ang="0">
                <a:pos x="556" y="339"/>
              </a:cxn>
              <a:cxn ang="0">
                <a:pos x="666" y="396"/>
              </a:cxn>
              <a:cxn ang="0">
                <a:pos x="732" y="469"/>
              </a:cxn>
              <a:cxn ang="0">
                <a:pos x="772" y="506"/>
              </a:cxn>
              <a:cxn ang="0">
                <a:pos x="816" y="556"/>
              </a:cxn>
              <a:cxn ang="0">
                <a:pos x="916" y="626"/>
              </a:cxn>
              <a:cxn ang="0">
                <a:pos x="956" y="649"/>
              </a:cxn>
              <a:cxn ang="0">
                <a:pos x="1039" y="709"/>
              </a:cxn>
              <a:cxn ang="0">
                <a:pos x="1085" y="752"/>
              </a:cxn>
              <a:cxn ang="0">
                <a:pos x="1129" y="782"/>
              </a:cxn>
              <a:cxn ang="0">
                <a:pos x="1182" y="819"/>
              </a:cxn>
              <a:cxn ang="0">
                <a:pos x="1249" y="859"/>
              </a:cxn>
              <a:cxn ang="0">
                <a:pos x="1372" y="949"/>
              </a:cxn>
              <a:cxn ang="0">
                <a:pos x="1418" y="985"/>
              </a:cxn>
              <a:cxn ang="0">
                <a:pos x="1482" y="1032"/>
              </a:cxn>
              <a:cxn ang="0">
                <a:pos x="1532" y="1058"/>
              </a:cxn>
              <a:cxn ang="0">
                <a:pos x="1581" y="1082"/>
              </a:cxn>
              <a:cxn ang="0">
                <a:pos x="1708" y="1158"/>
              </a:cxn>
              <a:cxn ang="0">
                <a:pos x="1765" y="1208"/>
              </a:cxn>
              <a:cxn ang="0">
                <a:pos x="1861" y="1245"/>
              </a:cxn>
              <a:cxn ang="0">
                <a:pos x="1928" y="1278"/>
              </a:cxn>
              <a:cxn ang="0">
                <a:pos x="1984" y="1292"/>
              </a:cxn>
              <a:cxn ang="0">
                <a:pos x="2131" y="1325"/>
              </a:cxn>
              <a:cxn ang="0">
                <a:pos x="2247" y="1351"/>
              </a:cxn>
              <a:cxn ang="0">
                <a:pos x="2311" y="1378"/>
              </a:cxn>
              <a:cxn ang="0">
                <a:pos x="2351" y="1388"/>
              </a:cxn>
              <a:cxn ang="0">
                <a:pos x="2500" y="1418"/>
              </a:cxn>
              <a:cxn ang="0">
                <a:pos x="2550" y="1435"/>
              </a:cxn>
              <a:cxn ang="0">
                <a:pos x="2687" y="1455"/>
              </a:cxn>
              <a:cxn ang="0">
                <a:pos x="2773" y="1468"/>
              </a:cxn>
              <a:cxn ang="0">
                <a:pos x="2863" y="1505"/>
              </a:cxn>
              <a:cxn ang="0">
                <a:pos x="2977" y="1535"/>
              </a:cxn>
              <a:cxn ang="0">
                <a:pos x="3060" y="1558"/>
              </a:cxn>
              <a:cxn ang="0">
                <a:pos x="3106" y="1581"/>
              </a:cxn>
              <a:cxn ang="0">
                <a:pos x="3329" y="1591"/>
              </a:cxn>
              <a:cxn ang="0">
                <a:pos x="3466" y="1624"/>
              </a:cxn>
            </a:cxnLst>
            <a:rect l="0" t="0" r="r" b="b"/>
            <a:pathLst>
              <a:path w="3786" h="1624">
                <a:moveTo>
                  <a:pt x="0" y="0"/>
                </a:moveTo>
                <a:lnTo>
                  <a:pt x="63" y="36"/>
                </a:lnTo>
                <a:lnTo>
                  <a:pt x="136" y="73"/>
                </a:lnTo>
                <a:lnTo>
                  <a:pt x="156" y="76"/>
                </a:lnTo>
                <a:lnTo>
                  <a:pt x="176" y="83"/>
                </a:lnTo>
                <a:lnTo>
                  <a:pt x="203" y="106"/>
                </a:lnTo>
                <a:lnTo>
                  <a:pt x="223" y="116"/>
                </a:lnTo>
                <a:lnTo>
                  <a:pt x="253" y="136"/>
                </a:lnTo>
                <a:lnTo>
                  <a:pt x="276" y="146"/>
                </a:lnTo>
                <a:lnTo>
                  <a:pt x="316" y="156"/>
                </a:lnTo>
                <a:lnTo>
                  <a:pt x="353" y="186"/>
                </a:lnTo>
                <a:lnTo>
                  <a:pt x="380" y="213"/>
                </a:lnTo>
                <a:lnTo>
                  <a:pt x="416" y="239"/>
                </a:lnTo>
                <a:lnTo>
                  <a:pt x="439" y="256"/>
                </a:lnTo>
                <a:lnTo>
                  <a:pt x="526" y="309"/>
                </a:lnTo>
                <a:lnTo>
                  <a:pt x="556" y="339"/>
                </a:lnTo>
                <a:lnTo>
                  <a:pt x="619" y="379"/>
                </a:lnTo>
                <a:lnTo>
                  <a:pt x="666" y="396"/>
                </a:lnTo>
                <a:lnTo>
                  <a:pt x="686" y="439"/>
                </a:lnTo>
                <a:lnTo>
                  <a:pt x="732" y="469"/>
                </a:lnTo>
                <a:lnTo>
                  <a:pt x="746" y="486"/>
                </a:lnTo>
                <a:lnTo>
                  <a:pt x="772" y="506"/>
                </a:lnTo>
                <a:lnTo>
                  <a:pt x="796" y="546"/>
                </a:lnTo>
                <a:lnTo>
                  <a:pt x="816" y="556"/>
                </a:lnTo>
                <a:lnTo>
                  <a:pt x="859" y="582"/>
                </a:lnTo>
                <a:lnTo>
                  <a:pt x="916" y="626"/>
                </a:lnTo>
                <a:lnTo>
                  <a:pt x="922" y="646"/>
                </a:lnTo>
                <a:lnTo>
                  <a:pt x="956" y="649"/>
                </a:lnTo>
                <a:lnTo>
                  <a:pt x="999" y="692"/>
                </a:lnTo>
                <a:lnTo>
                  <a:pt x="1039" y="709"/>
                </a:lnTo>
                <a:lnTo>
                  <a:pt x="1065" y="732"/>
                </a:lnTo>
                <a:lnTo>
                  <a:pt x="1085" y="752"/>
                </a:lnTo>
                <a:lnTo>
                  <a:pt x="1102" y="762"/>
                </a:lnTo>
                <a:lnTo>
                  <a:pt x="1129" y="782"/>
                </a:lnTo>
                <a:lnTo>
                  <a:pt x="1169" y="802"/>
                </a:lnTo>
                <a:lnTo>
                  <a:pt x="1182" y="819"/>
                </a:lnTo>
                <a:lnTo>
                  <a:pt x="1202" y="835"/>
                </a:lnTo>
                <a:lnTo>
                  <a:pt x="1249" y="859"/>
                </a:lnTo>
                <a:lnTo>
                  <a:pt x="1305" y="905"/>
                </a:lnTo>
                <a:lnTo>
                  <a:pt x="1372" y="949"/>
                </a:lnTo>
                <a:lnTo>
                  <a:pt x="1385" y="972"/>
                </a:lnTo>
                <a:lnTo>
                  <a:pt x="1418" y="985"/>
                </a:lnTo>
                <a:lnTo>
                  <a:pt x="1455" y="1019"/>
                </a:lnTo>
                <a:lnTo>
                  <a:pt x="1482" y="1032"/>
                </a:lnTo>
                <a:lnTo>
                  <a:pt x="1512" y="1045"/>
                </a:lnTo>
                <a:lnTo>
                  <a:pt x="1532" y="1058"/>
                </a:lnTo>
                <a:lnTo>
                  <a:pt x="1548" y="1075"/>
                </a:lnTo>
                <a:lnTo>
                  <a:pt x="1581" y="1082"/>
                </a:lnTo>
                <a:lnTo>
                  <a:pt x="1635" y="1115"/>
                </a:lnTo>
                <a:lnTo>
                  <a:pt x="1708" y="1158"/>
                </a:lnTo>
                <a:lnTo>
                  <a:pt x="1741" y="1182"/>
                </a:lnTo>
                <a:lnTo>
                  <a:pt x="1765" y="1208"/>
                </a:lnTo>
                <a:lnTo>
                  <a:pt x="1795" y="1215"/>
                </a:lnTo>
                <a:lnTo>
                  <a:pt x="1861" y="1245"/>
                </a:lnTo>
                <a:lnTo>
                  <a:pt x="1891" y="1262"/>
                </a:lnTo>
                <a:lnTo>
                  <a:pt x="1928" y="1278"/>
                </a:lnTo>
                <a:lnTo>
                  <a:pt x="1948" y="1285"/>
                </a:lnTo>
                <a:lnTo>
                  <a:pt x="1984" y="1292"/>
                </a:lnTo>
                <a:lnTo>
                  <a:pt x="2058" y="1312"/>
                </a:lnTo>
                <a:lnTo>
                  <a:pt x="2131" y="1325"/>
                </a:lnTo>
                <a:lnTo>
                  <a:pt x="2194" y="1338"/>
                </a:lnTo>
                <a:lnTo>
                  <a:pt x="2247" y="1351"/>
                </a:lnTo>
                <a:lnTo>
                  <a:pt x="2291" y="1368"/>
                </a:lnTo>
                <a:lnTo>
                  <a:pt x="2311" y="1378"/>
                </a:lnTo>
                <a:lnTo>
                  <a:pt x="2331" y="1388"/>
                </a:lnTo>
                <a:lnTo>
                  <a:pt x="2351" y="1388"/>
                </a:lnTo>
                <a:lnTo>
                  <a:pt x="2371" y="1398"/>
                </a:lnTo>
                <a:lnTo>
                  <a:pt x="2500" y="1418"/>
                </a:lnTo>
                <a:lnTo>
                  <a:pt x="2527" y="1425"/>
                </a:lnTo>
                <a:lnTo>
                  <a:pt x="2550" y="1435"/>
                </a:lnTo>
                <a:lnTo>
                  <a:pt x="2660" y="1438"/>
                </a:lnTo>
                <a:lnTo>
                  <a:pt x="2687" y="1455"/>
                </a:lnTo>
                <a:lnTo>
                  <a:pt x="2713" y="1465"/>
                </a:lnTo>
                <a:lnTo>
                  <a:pt x="2773" y="1468"/>
                </a:lnTo>
                <a:lnTo>
                  <a:pt x="2830" y="1495"/>
                </a:lnTo>
                <a:lnTo>
                  <a:pt x="2863" y="1505"/>
                </a:lnTo>
                <a:lnTo>
                  <a:pt x="2913" y="1531"/>
                </a:lnTo>
                <a:lnTo>
                  <a:pt x="2977" y="1535"/>
                </a:lnTo>
                <a:lnTo>
                  <a:pt x="3020" y="1551"/>
                </a:lnTo>
                <a:lnTo>
                  <a:pt x="3060" y="1558"/>
                </a:lnTo>
                <a:lnTo>
                  <a:pt x="3080" y="1558"/>
                </a:lnTo>
                <a:lnTo>
                  <a:pt x="3106" y="1581"/>
                </a:lnTo>
                <a:lnTo>
                  <a:pt x="3223" y="1578"/>
                </a:lnTo>
                <a:lnTo>
                  <a:pt x="3329" y="1591"/>
                </a:lnTo>
                <a:lnTo>
                  <a:pt x="3446" y="1601"/>
                </a:lnTo>
                <a:lnTo>
                  <a:pt x="3466" y="1624"/>
                </a:lnTo>
                <a:lnTo>
                  <a:pt x="3786" y="1624"/>
                </a:lnTo>
              </a:path>
            </a:pathLst>
          </a:custGeom>
          <a:noFill/>
          <a:ln w="28575" cap="flat" cmpd="sng">
            <a:solidFill>
              <a:srgbClr val="FF99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83487" name="Line 4"/>
          <p:cNvSpPr>
            <a:spLocks noChangeShapeType="1"/>
          </p:cNvSpPr>
          <p:nvPr/>
        </p:nvSpPr>
        <p:spPr bwMode="auto">
          <a:xfrm>
            <a:off x="4930775" y="2343151"/>
            <a:ext cx="533400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6048395" y="6400800"/>
            <a:ext cx="4619625" cy="315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ct val="25000"/>
              </a:spcAft>
              <a:buClr>
                <a:schemeClr val="accent1"/>
              </a:buClr>
              <a:buSzPct val="85000"/>
            </a:pPr>
            <a:r>
              <a:rPr lang="it-IT" sz="1400" dirty="0">
                <a:latin typeface="Franklin Gothic Book" panose="020B0503020102020204" pitchFamily="34" charset="0"/>
              </a:rPr>
              <a:t>Scagliotti GV, et al. JCO 2008;26:3543-3551.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93C002-55AF-4FF7-AACE-BC85C538F97E}"/>
              </a:ext>
            </a:extLst>
          </p:cNvPr>
          <p:cNvSpPr txBox="1"/>
          <p:nvPr/>
        </p:nvSpPr>
        <p:spPr>
          <a:xfrm>
            <a:off x="1219200" y="6172200"/>
            <a:ext cx="2233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*non-inferiority study</a:t>
            </a:r>
          </a:p>
        </p:txBody>
      </p:sp>
      <p:sp>
        <p:nvSpPr>
          <p:cNvPr id="435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CA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Cis/Pem is non-inferior to Cis/Gem in Overall Survival for overall population with NSCLC</a:t>
            </a:r>
            <a:endParaRPr lang="en-US" sz="2800" b="0" dirty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862774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6" name="Line 4"/>
          <p:cNvSpPr>
            <a:spLocks noChangeShapeType="1"/>
          </p:cNvSpPr>
          <p:nvPr/>
        </p:nvSpPr>
        <p:spPr bwMode="auto">
          <a:xfrm>
            <a:off x="4664075" y="2292351"/>
            <a:ext cx="53340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887" name="Line 7"/>
          <p:cNvSpPr>
            <a:spLocks noChangeShapeType="1"/>
          </p:cNvSpPr>
          <p:nvPr/>
        </p:nvSpPr>
        <p:spPr bwMode="auto">
          <a:xfrm>
            <a:off x="3074988" y="2065339"/>
            <a:ext cx="0" cy="299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888" name="Line 8"/>
          <p:cNvSpPr>
            <a:spLocks noChangeShapeType="1"/>
          </p:cNvSpPr>
          <p:nvPr/>
        </p:nvSpPr>
        <p:spPr bwMode="auto">
          <a:xfrm>
            <a:off x="2970213" y="4951413"/>
            <a:ext cx="63611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889" name="Rectangle 34"/>
          <p:cNvSpPr>
            <a:spLocks noChangeArrowheads="1"/>
          </p:cNvSpPr>
          <p:nvPr/>
        </p:nvSpPr>
        <p:spPr bwMode="auto">
          <a:xfrm>
            <a:off x="2520966" y="1943112"/>
            <a:ext cx="32861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1.0</a:t>
            </a:r>
          </a:p>
        </p:txBody>
      </p:sp>
      <p:sp>
        <p:nvSpPr>
          <p:cNvPr id="762890" name="Rectangle 34"/>
          <p:cNvSpPr>
            <a:spLocks noChangeArrowheads="1"/>
          </p:cNvSpPr>
          <p:nvPr/>
        </p:nvSpPr>
        <p:spPr bwMode="auto">
          <a:xfrm>
            <a:off x="2519363" y="2228864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0.9</a:t>
            </a:r>
          </a:p>
        </p:txBody>
      </p:sp>
      <p:sp>
        <p:nvSpPr>
          <p:cNvPr id="762891" name="Rectangle 34"/>
          <p:cNvSpPr>
            <a:spLocks noChangeArrowheads="1"/>
          </p:cNvSpPr>
          <p:nvPr/>
        </p:nvSpPr>
        <p:spPr bwMode="auto">
          <a:xfrm>
            <a:off x="2519363" y="2516202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0.8</a:t>
            </a:r>
          </a:p>
        </p:txBody>
      </p:sp>
      <p:sp>
        <p:nvSpPr>
          <p:cNvPr id="762892" name="Rectangle 34"/>
          <p:cNvSpPr>
            <a:spLocks noChangeArrowheads="1"/>
          </p:cNvSpPr>
          <p:nvPr/>
        </p:nvSpPr>
        <p:spPr bwMode="auto">
          <a:xfrm>
            <a:off x="2519363" y="2801953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0.7</a:t>
            </a:r>
          </a:p>
        </p:txBody>
      </p:sp>
      <p:sp>
        <p:nvSpPr>
          <p:cNvPr id="762893" name="Rectangle 34"/>
          <p:cNvSpPr>
            <a:spLocks noChangeArrowheads="1"/>
          </p:cNvSpPr>
          <p:nvPr/>
        </p:nvSpPr>
        <p:spPr bwMode="auto">
          <a:xfrm>
            <a:off x="2519363" y="3089289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0.6</a:t>
            </a:r>
          </a:p>
        </p:txBody>
      </p:sp>
      <p:sp>
        <p:nvSpPr>
          <p:cNvPr id="762894" name="Rectangle 34"/>
          <p:cNvSpPr>
            <a:spLocks noChangeArrowheads="1"/>
          </p:cNvSpPr>
          <p:nvPr/>
        </p:nvSpPr>
        <p:spPr bwMode="auto">
          <a:xfrm>
            <a:off x="2519363" y="3376628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0.5</a:t>
            </a:r>
          </a:p>
        </p:txBody>
      </p:sp>
      <p:sp>
        <p:nvSpPr>
          <p:cNvPr id="762895" name="Rectangle 34"/>
          <p:cNvSpPr>
            <a:spLocks noChangeArrowheads="1"/>
          </p:cNvSpPr>
          <p:nvPr/>
        </p:nvSpPr>
        <p:spPr bwMode="auto">
          <a:xfrm>
            <a:off x="2519363" y="3662376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0.4</a:t>
            </a:r>
          </a:p>
        </p:txBody>
      </p:sp>
      <p:sp>
        <p:nvSpPr>
          <p:cNvPr id="762896" name="Rectangle 34"/>
          <p:cNvSpPr>
            <a:spLocks noChangeArrowheads="1"/>
          </p:cNvSpPr>
          <p:nvPr/>
        </p:nvSpPr>
        <p:spPr bwMode="auto">
          <a:xfrm>
            <a:off x="2519363" y="3949714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0.3</a:t>
            </a:r>
          </a:p>
        </p:txBody>
      </p:sp>
      <p:sp>
        <p:nvSpPr>
          <p:cNvPr id="762897" name="Rectangle 34"/>
          <p:cNvSpPr>
            <a:spLocks noChangeArrowheads="1"/>
          </p:cNvSpPr>
          <p:nvPr/>
        </p:nvSpPr>
        <p:spPr bwMode="auto">
          <a:xfrm>
            <a:off x="2519363" y="4235464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0.2</a:t>
            </a:r>
          </a:p>
        </p:txBody>
      </p:sp>
      <p:sp>
        <p:nvSpPr>
          <p:cNvPr id="762898" name="Rectangle 34"/>
          <p:cNvSpPr>
            <a:spLocks noChangeArrowheads="1"/>
          </p:cNvSpPr>
          <p:nvPr/>
        </p:nvSpPr>
        <p:spPr bwMode="auto">
          <a:xfrm>
            <a:off x="2528404" y="4522802"/>
            <a:ext cx="32117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0.1</a:t>
            </a:r>
          </a:p>
        </p:txBody>
      </p:sp>
      <p:sp>
        <p:nvSpPr>
          <p:cNvPr id="762899" name="Rectangle 34"/>
          <p:cNvSpPr>
            <a:spLocks noChangeArrowheads="1"/>
          </p:cNvSpPr>
          <p:nvPr/>
        </p:nvSpPr>
        <p:spPr bwMode="auto">
          <a:xfrm>
            <a:off x="2519363" y="4810138"/>
            <a:ext cx="33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r" eaLnBrk="0" hangingPunct="0"/>
            <a:r>
              <a:rPr lang="en-US" b="1" dirty="0">
                <a:latin typeface="Franklin Gothic Book" panose="020B0503020102020204" pitchFamily="34" charset="0"/>
              </a:rPr>
              <a:t>0.0</a:t>
            </a:r>
          </a:p>
        </p:txBody>
      </p:sp>
      <p:sp>
        <p:nvSpPr>
          <p:cNvPr id="762900" name="Rectangle 34"/>
          <p:cNvSpPr>
            <a:spLocks noChangeArrowheads="1"/>
          </p:cNvSpPr>
          <p:nvPr/>
        </p:nvSpPr>
        <p:spPr bwMode="auto">
          <a:xfrm>
            <a:off x="3011488" y="5099064"/>
            <a:ext cx="13625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0</a:t>
            </a:r>
          </a:p>
        </p:txBody>
      </p:sp>
      <p:sp>
        <p:nvSpPr>
          <p:cNvPr id="762901" name="Rectangle 34"/>
          <p:cNvSpPr>
            <a:spLocks noChangeArrowheads="1"/>
          </p:cNvSpPr>
          <p:nvPr/>
        </p:nvSpPr>
        <p:spPr bwMode="auto">
          <a:xfrm>
            <a:off x="4124325" y="5099064"/>
            <a:ext cx="13625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6</a:t>
            </a:r>
          </a:p>
        </p:txBody>
      </p:sp>
      <p:sp>
        <p:nvSpPr>
          <p:cNvPr id="762902" name="Rectangle 34"/>
          <p:cNvSpPr>
            <a:spLocks noChangeArrowheads="1"/>
          </p:cNvSpPr>
          <p:nvPr/>
        </p:nvSpPr>
        <p:spPr bwMode="auto">
          <a:xfrm>
            <a:off x="5167313" y="5099064"/>
            <a:ext cx="27251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12</a:t>
            </a:r>
          </a:p>
        </p:txBody>
      </p:sp>
      <p:sp>
        <p:nvSpPr>
          <p:cNvPr id="762903" name="Rectangle 34"/>
          <p:cNvSpPr>
            <a:spLocks noChangeArrowheads="1"/>
          </p:cNvSpPr>
          <p:nvPr/>
        </p:nvSpPr>
        <p:spPr bwMode="auto">
          <a:xfrm>
            <a:off x="6286500" y="5099064"/>
            <a:ext cx="27090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18</a:t>
            </a:r>
          </a:p>
        </p:txBody>
      </p:sp>
      <p:sp>
        <p:nvSpPr>
          <p:cNvPr id="762904" name="Rectangle 34"/>
          <p:cNvSpPr>
            <a:spLocks noChangeArrowheads="1"/>
          </p:cNvSpPr>
          <p:nvPr/>
        </p:nvSpPr>
        <p:spPr bwMode="auto">
          <a:xfrm>
            <a:off x="7381875" y="5099064"/>
            <a:ext cx="26238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24</a:t>
            </a:r>
          </a:p>
        </p:txBody>
      </p:sp>
      <p:sp>
        <p:nvSpPr>
          <p:cNvPr id="762905" name="Rectangle 34"/>
          <p:cNvSpPr>
            <a:spLocks noChangeArrowheads="1"/>
          </p:cNvSpPr>
          <p:nvPr/>
        </p:nvSpPr>
        <p:spPr bwMode="auto">
          <a:xfrm>
            <a:off x="8496300" y="5099064"/>
            <a:ext cx="27251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30</a:t>
            </a:r>
          </a:p>
        </p:txBody>
      </p:sp>
      <p:sp>
        <p:nvSpPr>
          <p:cNvPr id="762907" name="Line 27"/>
          <p:cNvSpPr>
            <a:spLocks noChangeShapeType="1"/>
          </p:cNvSpPr>
          <p:nvPr/>
        </p:nvSpPr>
        <p:spPr bwMode="auto">
          <a:xfrm flipH="1">
            <a:off x="2959101" y="2076451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08" name="Line 28"/>
          <p:cNvSpPr>
            <a:spLocks noChangeShapeType="1"/>
          </p:cNvSpPr>
          <p:nvPr/>
        </p:nvSpPr>
        <p:spPr bwMode="auto">
          <a:xfrm flipH="1">
            <a:off x="2959101" y="2363788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09" name="Line 29"/>
          <p:cNvSpPr>
            <a:spLocks noChangeShapeType="1"/>
          </p:cNvSpPr>
          <p:nvPr/>
        </p:nvSpPr>
        <p:spPr bwMode="auto">
          <a:xfrm flipH="1">
            <a:off x="2959101" y="2651125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10" name="Line 30"/>
          <p:cNvSpPr>
            <a:spLocks noChangeShapeType="1"/>
          </p:cNvSpPr>
          <p:nvPr/>
        </p:nvSpPr>
        <p:spPr bwMode="auto">
          <a:xfrm flipH="1">
            <a:off x="2959101" y="2938463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11" name="Line 31"/>
          <p:cNvSpPr>
            <a:spLocks noChangeShapeType="1"/>
          </p:cNvSpPr>
          <p:nvPr/>
        </p:nvSpPr>
        <p:spPr bwMode="auto">
          <a:xfrm flipH="1">
            <a:off x="2959101" y="3225800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12" name="Line 32"/>
          <p:cNvSpPr>
            <a:spLocks noChangeShapeType="1"/>
          </p:cNvSpPr>
          <p:nvPr/>
        </p:nvSpPr>
        <p:spPr bwMode="auto">
          <a:xfrm flipH="1">
            <a:off x="2959101" y="3513139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13" name="Line 33"/>
          <p:cNvSpPr>
            <a:spLocks noChangeShapeType="1"/>
          </p:cNvSpPr>
          <p:nvPr/>
        </p:nvSpPr>
        <p:spPr bwMode="auto">
          <a:xfrm flipH="1">
            <a:off x="2959101" y="3800475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14" name="Line 34"/>
          <p:cNvSpPr>
            <a:spLocks noChangeShapeType="1"/>
          </p:cNvSpPr>
          <p:nvPr/>
        </p:nvSpPr>
        <p:spPr bwMode="auto">
          <a:xfrm flipH="1">
            <a:off x="2959101" y="4087813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15" name="Line 35"/>
          <p:cNvSpPr>
            <a:spLocks noChangeShapeType="1"/>
          </p:cNvSpPr>
          <p:nvPr/>
        </p:nvSpPr>
        <p:spPr bwMode="auto">
          <a:xfrm flipH="1">
            <a:off x="2959101" y="4375151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16" name="Line 36"/>
          <p:cNvSpPr>
            <a:spLocks noChangeShapeType="1"/>
          </p:cNvSpPr>
          <p:nvPr/>
        </p:nvSpPr>
        <p:spPr bwMode="auto">
          <a:xfrm flipH="1">
            <a:off x="2959101" y="4662488"/>
            <a:ext cx="1095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17" name="Line 37"/>
          <p:cNvSpPr>
            <a:spLocks noChangeShapeType="1"/>
          </p:cNvSpPr>
          <p:nvPr/>
        </p:nvSpPr>
        <p:spPr bwMode="auto">
          <a:xfrm>
            <a:off x="4186238" y="4943490"/>
            <a:ext cx="0" cy="104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18" name="Line 38"/>
          <p:cNvSpPr>
            <a:spLocks noChangeShapeType="1"/>
          </p:cNvSpPr>
          <p:nvPr/>
        </p:nvSpPr>
        <p:spPr bwMode="auto">
          <a:xfrm>
            <a:off x="5297488" y="4943490"/>
            <a:ext cx="0" cy="104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19" name="Line 39"/>
          <p:cNvSpPr>
            <a:spLocks noChangeShapeType="1"/>
          </p:cNvSpPr>
          <p:nvPr/>
        </p:nvSpPr>
        <p:spPr bwMode="auto">
          <a:xfrm>
            <a:off x="6408738" y="4943490"/>
            <a:ext cx="0" cy="104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20" name="Line 40"/>
          <p:cNvSpPr>
            <a:spLocks noChangeShapeType="1"/>
          </p:cNvSpPr>
          <p:nvPr/>
        </p:nvSpPr>
        <p:spPr bwMode="auto">
          <a:xfrm>
            <a:off x="7519988" y="4943490"/>
            <a:ext cx="0" cy="104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21" name="Line 41"/>
          <p:cNvSpPr>
            <a:spLocks noChangeShapeType="1"/>
          </p:cNvSpPr>
          <p:nvPr/>
        </p:nvSpPr>
        <p:spPr bwMode="auto">
          <a:xfrm>
            <a:off x="8631238" y="4943490"/>
            <a:ext cx="0" cy="104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49" name="Rectangle 34"/>
          <p:cNvSpPr>
            <a:spLocks noChangeArrowheads="1"/>
          </p:cNvSpPr>
          <p:nvPr/>
        </p:nvSpPr>
        <p:spPr bwMode="auto">
          <a:xfrm>
            <a:off x="4908748" y="5361816"/>
            <a:ext cx="17013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b="1" dirty="0">
                <a:latin typeface="Franklin Gothic Book" panose="020B0503020102020204" pitchFamily="34" charset="0"/>
              </a:rPr>
              <a:t>Survival (months)</a:t>
            </a:r>
          </a:p>
        </p:txBody>
      </p:sp>
      <p:graphicFrame>
        <p:nvGraphicFramePr>
          <p:cNvPr id="762998" name="Group 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925418"/>
              </p:ext>
            </p:extLst>
          </p:nvPr>
        </p:nvGraphicFramePr>
        <p:xfrm>
          <a:off x="5353049" y="1600203"/>
          <a:ext cx="5746209" cy="146367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881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4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Median </a:t>
                      </a:r>
                      <a:endParaRPr kumimoji="0" 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Cisplatin/pemetrexed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11.8 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Cisplatin/gemcitabine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10.4 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CP vs CG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Adjusted HR (95% CI)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>
                          <a:ln>
                            <a:noFill/>
                          </a:ln>
                          <a:effectLst/>
                          <a:latin typeface="Franklin Gothic Book" panose="020B0503020102020204" pitchFamily="34" charset="0"/>
                        </a:rPr>
                        <a:t>0.81 (0.70-0.94)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2978" name="Line 4"/>
          <p:cNvSpPr>
            <a:spLocks noChangeShapeType="1"/>
          </p:cNvSpPr>
          <p:nvPr/>
        </p:nvSpPr>
        <p:spPr bwMode="auto">
          <a:xfrm>
            <a:off x="4664075" y="2028825"/>
            <a:ext cx="533400" cy="0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81" name="Freeform 101"/>
          <p:cNvSpPr>
            <a:spLocks/>
          </p:cNvSpPr>
          <p:nvPr/>
        </p:nvSpPr>
        <p:spPr bwMode="auto">
          <a:xfrm>
            <a:off x="3084513" y="2078044"/>
            <a:ext cx="5440362" cy="2465387"/>
          </a:xfrm>
          <a:custGeom>
            <a:avLst/>
            <a:gdLst/>
            <a:ahLst/>
            <a:cxnLst>
              <a:cxn ang="0">
                <a:pos x="3282" y="1553"/>
              </a:cxn>
              <a:cxn ang="0">
                <a:pos x="3162" y="1492"/>
              </a:cxn>
              <a:cxn ang="0">
                <a:pos x="3119" y="1449"/>
              </a:cxn>
              <a:cxn ang="0">
                <a:pos x="2924" y="1411"/>
              </a:cxn>
              <a:cxn ang="0">
                <a:pos x="2866" y="1393"/>
              </a:cxn>
              <a:cxn ang="0">
                <a:pos x="2741" y="1371"/>
              </a:cxn>
              <a:cxn ang="0">
                <a:pos x="2581" y="1341"/>
              </a:cxn>
              <a:cxn ang="0">
                <a:pos x="2473" y="1318"/>
              </a:cxn>
              <a:cxn ang="0">
                <a:pos x="2389" y="1306"/>
              </a:cxn>
              <a:cxn ang="0">
                <a:pos x="2342" y="1280"/>
              </a:cxn>
              <a:cxn ang="0">
                <a:pos x="2281" y="1263"/>
              </a:cxn>
              <a:cxn ang="0">
                <a:pos x="2194" y="1251"/>
              </a:cxn>
              <a:cxn ang="0">
                <a:pos x="2077" y="1199"/>
              </a:cxn>
              <a:cxn ang="0">
                <a:pos x="1967" y="1164"/>
              </a:cxn>
              <a:cxn ang="0">
                <a:pos x="1877" y="1155"/>
              </a:cxn>
              <a:cxn ang="0">
                <a:pos x="1786" y="1123"/>
              </a:cxn>
              <a:cxn ang="0">
                <a:pos x="1752" y="1105"/>
              </a:cxn>
              <a:cxn ang="0">
                <a:pos x="1693" y="1068"/>
              </a:cxn>
              <a:cxn ang="0">
                <a:pos x="1638" y="1021"/>
              </a:cxn>
              <a:cxn ang="0">
                <a:pos x="1583" y="1001"/>
              </a:cxn>
              <a:cxn ang="0">
                <a:pos x="1496" y="966"/>
              </a:cxn>
              <a:cxn ang="0">
                <a:pos x="1391" y="916"/>
              </a:cxn>
              <a:cxn ang="0">
                <a:pos x="1306" y="867"/>
              </a:cxn>
              <a:cxn ang="0">
                <a:pos x="1181" y="797"/>
              </a:cxn>
              <a:cxn ang="0">
                <a:pos x="1094" y="721"/>
              </a:cxn>
              <a:cxn ang="0">
                <a:pos x="954" y="649"/>
              </a:cxn>
              <a:cxn ang="0">
                <a:pos x="806" y="532"/>
              </a:cxn>
              <a:cxn ang="0">
                <a:pos x="736" y="518"/>
              </a:cxn>
              <a:cxn ang="0">
                <a:pos x="690" y="448"/>
              </a:cxn>
              <a:cxn ang="0">
                <a:pos x="649" y="387"/>
              </a:cxn>
              <a:cxn ang="0">
                <a:pos x="597" y="337"/>
              </a:cxn>
              <a:cxn ang="0">
                <a:pos x="512" y="271"/>
              </a:cxn>
              <a:cxn ang="0">
                <a:pos x="390" y="207"/>
              </a:cxn>
              <a:cxn ang="0">
                <a:pos x="262" y="111"/>
              </a:cxn>
              <a:cxn ang="0">
                <a:pos x="189" y="87"/>
              </a:cxn>
              <a:cxn ang="0">
                <a:pos x="143" y="58"/>
              </a:cxn>
              <a:cxn ang="0">
                <a:pos x="0" y="0"/>
              </a:cxn>
            </a:cxnLst>
            <a:rect l="0" t="0" r="r" b="b"/>
            <a:pathLst>
              <a:path w="3427" h="1553">
                <a:moveTo>
                  <a:pt x="3427" y="1553"/>
                </a:moveTo>
                <a:lnTo>
                  <a:pt x="3282" y="1553"/>
                </a:lnTo>
                <a:lnTo>
                  <a:pt x="3282" y="1492"/>
                </a:lnTo>
                <a:lnTo>
                  <a:pt x="3162" y="1492"/>
                </a:lnTo>
                <a:lnTo>
                  <a:pt x="3162" y="1449"/>
                </a:lnTo>
                <a:lnTo>
                  <a:pt x="3119" y="1449"/>
                </a:lnTo>
                <a:lnTo>
                  <a:pt x="3119" y="1411"/>
                </a:lnTo>
                <a:lnTo>
                  <a:pt x="2924" y="1411"/>
                </a:lnTo>
                <a:lnTo>
                  <a:pt x="2924" y="1393"/>
                </a:lnTo>
                <a:lnTo>
                  <a:pt x="2866" y="1393"/>
                </a:lnTo>
                <a:lnTo>
                  <a:pt x="2819" y="1382"/>
                </a:lnTo>
                <a:lnTo>
                  <a:pt x="2741" y="1371"/>
                </a:lnTo>
                <a:lnTo>
                  <a:pt x="2601" y="1360"/>
                </a:lnTo>
                <a:lnTo>
                  <a:pt x="2581" y="1341"/>
                </a:lnTo>
                <a:lnTo>
                  <a:pt x="2514" y="1321"/>
                </a:lnTo>
                <a:lnTo>
                  <a:pt x="2473" y="1318"/>
                </a:lnTo>
                <a:lnTo>
                  <a:pt x="2409" y="1309"/>
                </a:lnTo>
                <a:lnTo>
                  <a:pt x="2389" y="1306"/>
                </a:lnTo>
                <a:lnTo>
                  <a:pt x="2368" y="1303"/>
                </a:lnTo>
                <a:lnTo>
                  <a:pt x="2342" y="1280"/>
                </a:lnTo>
                <a:lnTo>
                  <a:pt x="2298" y="1280"/>
                </a:lnTo>
                <a:lnTo>
                  <a:pt x="2281" y="1263"/>
                </a:lnTo>
                <a:lnTo>
                  <a:pt x="2234" y="1263"/>
                </a:lnTo>
                <a:lnTo>
                  <a:pt x="2194" y="1251"/>
                </a:lnTo>
                <a:lnTo>
                  <a:pt x="2133" y="1216"/>
                </a:lnTo>
                <a:lnTo>
                  <a:pt x="2077" y="1199"/>
                </a:lnTo>
                <a:lnTo>
                  <a:pt x="1993" y="1178"/>
                </a:lnTo>
                <a:lnTo>
                  <a:pt x="1967" y="1164"/>
                </a:lnTo>
                <a:lnTo>
                  <a:pt x="1935" y="1146"/>
                </a:lnTo>
                <a:lnTo>
                  <a:pt x="1877" y="1155"/>
                </a:lnTo>
                <a:lnTo>
                  <a:pt x="1833" y="1146"/>
                </a:lnTo>
                <a:lnTo>
                  <a:pt x="1786" y="1123"/>
                </a:lnTo>
                <a:lnTo>
                  <a:pt x="1778" y="1105"/>
                </a:lnTo>
                <a:lnTo>
                  <a:pt x="1752" y="1105"/>
                </a:lnTo>
                <a:cubicBezTo>
                  <a:pt x="1719" y="1081"/>
                  <a:pt x="1733" y="1082"/>
                  <a:pt x="1717" y="1082"/>
                </a:cubicBezTo>
                <a:cubicBezTo>
                  <a:pt x="1695" y="1067"/>
                  <a:pt x="1704" y="1068"/>
                  <a:pt x="1693" y="1068"/>
                </a:cubicBezTo>
                <a:lnTo>
                  <a:pt x="1658" y="1044"/>
                </a:lnTo>
                <a:lnTo>
                  <a:pt x="1638" y="1021"/>
                </a:lnTo>
                <a:lnTo>
                  <a:pt x="1606" y="1021"/>
                </a:lnTo>
                <a:lnTo>
                  <a:pt x="1583" y="1001"/>
                </a:lnTo>
                <a:lnTo>
                  <a:pt x="1530" y="992"/>
                </a:lnTo>
                <a:lnTo>
                  <a:pt x="1496" y="966"/>
                </a:lnTo>
                <a:lnTo>
                  <a:pt x="1455" y="922"/>
                </a:lnTo>
                <a:lnTo>
                  <a:pt x="1391" y="916"/>
                </a:lnTo>
                <a:lnTo>
                  <a:pt x="1350" y="896"/>
                </a:lnTo>
                <a:lnTo>
                  <a:pt x="1306" y="867"/>
                </a:lnTo>
                <a:lnTo>
                  <a:pt x="1272" y="847"/>
                </a:lnTo>
                <a:cubicBezTo>
                  <a:pt x="1180" y="799"/>
                  <a:pt x="1181" y="834"/>
                  <a:pt x="1181" y="797"/>
                </a:cubicBezTo>
                <a:lnTo>
                  <a:pt x="1132" y="748"/>
                </a:lnTo>
                <a:lnTo>
                  <a:pt x="1094" y="721"/>
                </a:lnTo>
                <a:lnTo>
                  <a:pt x="1053" y="713"/>
                </a:lnTo>
                <a:cubicBezTo>
                  <a:pt x="953" y="651"/>
                  <a:pt x="954" y="690"/>
                  <a:pt x="954" y="649"/>
                </a:cubicBezTo>
                <a:lnTo>
                  <a:pt x="911" y="614"/>
                </a:lnTo>
                <a:lnTo>
                  <a:pt x="806" y="532"/>
                </a:lnTo>
                <a:lnTo>
                  <a:pt x="777" y="538"/>
                </a:lnTo>
                <a:lnTo>
                  <a:pt x="736" y="518"/>
                </a:lnTo>
                <a:lnTo>
                  <a:pt x="728" y="489"/>
                </a:lnTo>
                <a:lnTo>
                  <a:pt x="690" y="448"/>
                </a:lnTo>
                <a:lnTo>
                  <a:pt x="664" y="407"/>
                </a:lnTo>
                <a:lnTo>
                  <a:pt x="649" y="387"/>
                </a:lnTo>
                <a:lnTo>
                  <a:pt x="626" y="367"/>
                </a:lnTo>
                <a:cubicBezTo>
                  <a:pt x="596" y="339"/>
                  <a:pt x="597" y="353"/>
                  <a:pt x="597" y="337"/>
                </a:cubicBezTo>
                <a:lnTo>
                  <a:pt x="570" y="305"/>
                </a:lnTo>
                <a:lnTo>
                  <a:pt x="512" y="271"/>
                </a:lnTo>
                <a:lnTo>
                  <a:pt x="469" y="247"/>
                </a:lnTo>
                <a:lnTo>
                  <a:pt x="390" y="207"/>
                </a:lnTo>
                <a:lnTo>
                  <a:pt x="285" y="140"/>
                </a:lnTo>
                <a:lnTo>
                  <a:pt x="262" y="111"/>
                </a:lnTo>
                <a:lnTo>
                  <a:pt x="213" y="93"/>
                </a:lnTo>
                <a:lnTo>
                  <a:pt x="189" y="87"/>
                </a:lnTo>
                <a:lnTo>
                  <a:pt x="169" y="93"/>
                </a:lnTo>
                <a:lnTo>
                  <a:pt x="143" y="58"/>
                </a:lnTo>
                <a:lnTo>
                  <a:pt x="99" y="44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rgbClr val="0066FF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2982" name="Freeform 102"/>
          <p:cNvSpPr>
            <a:spLocks/>
          </p:cNvSpPr>
          <p:nvPr/>
        </p:nvSpPr>
        <p:spPr bwMode="auto">
          <a:xfrm>
            <a:off x="3084513" y="2073280"/>
            <a:ext cx="5505450" cy="2530475"/>
          </a:xfrm>
          <a:custGeom>
            <a:avLst/>
            <a:gdLst/>
            <a:ahLst/>
            <a:cxnLst>
              <a:cxn ang="0">
                <a:pos x="3154" y="1594"/>
              </a:cxn>
              <a:cxn ang="0">
                <a:pos x="2834" y="1562"/>
              </a:cxn>
              <a:cxn ang="0">
                <a:pos x="2767" y="1542"/>
              </a:cxn>
              <a:cxn ang="0">
                <a:pos x="2665" y="1519"/>
              </a:cxn>
              <a:cxn ang="0">
                <a:pos x="2528" y="1460"/>
              </a:cxn>
              <a:cxn ang="0">
                <a:pos x="2418" y="1431"/>
              </a:cxn>
              <a:cxn ang="0">
                <a:pos x="2296" y="1402"/>
              </a:cxn>
              <a:cxn ang="0">
                <a:pos x="2176" y="1394"/>
              </a:cxn>
              <a:cxn ang="0">
                <a:pos x="2098" y="1370"/>
              </a:cxn>
              <a:cxn ang="0">
                <a:pos x="2005" y="1327"/>
              </a:cxn>
              <a:cxn ang="0">
                <a:pos x="1903" y="1289"/>
              </a:cxn>
              <a:cxn ang="0">
                <a:pos x="1807" y="1266"/>
              </a:cxn>
              <a:cxn ang="0">
                <a:pos x="1740" y="1245"/>
              </a:cxn>
              <a:cxn ang="0">
                <a:pos x="1664" y="1204"/>
              </a:cxn>
              <a:cxn ang="0">
                <a:pos x="1589" y="1187"/>
              </a:cxn>
              <a:cxn ang="0">
                <a:pos x="1475" y="1094"/>
              </a:cxn>
              <a:cxn ang="0">
                <a:pos x="1426" y="1076"/>
              </a:cxn>
              <a:cxn ang="0">
                <a:pos x="1350" y="1036"/>
              </a:cxn>
              <a:cxn ang="0">
                <a:pos x="1312" y="995"/>
              </a:cxn>
              <a:cxn ang="0">
                <a:pos x="1269" y="954"/>
              </a:cxn>
              <a:cxn ang="0">
                <a:pos x="1190" y="899"/>
              </a:cxn>
              <a:cxn ang="0">
                <a:pos x="1167" y="861"/>
              </a:cxn>
              <a:cxn ang="0">
                <a:pos x="1097" y="826"/>
              </a:cxn>
              <a:cxn ang="0">
                <a:pos x="1048" y="777"/>
              </a:cxn>
              <a:cxn ang="0">
                <a:pos x="1001" y="739"/>
              </a:cxn>
              <a:cxn ang="0">
                <a:pos x="963" y="713"/>
              </a:cxn>
              <a:cxn ang="0">
                <a:pos x="917" y="690"/>
              </a:cxn>
              <a:cxn ang="0">
                <a:pos x="864" y="655"/>
              </a:cxn>
              <a:cxn ang="0">
                <a:pos x="789" y="614"/>
              </a:cxn>
              <a:cxn ang="0">
                <a:pos x="678" y="509"/>
              </a:cxn>
              <a:cxn ang="0">
                <a:pos x="605" y="419"/>
              </a:cxn>
              <a:cxn ang="0">
                <a:pos x="541" y="370"/>
              </a:cxn>
              <a:cxn ang="0">
                <a:pos x="477" y="308"/>
              </a:cxn>
              <a:cxn ang="0">
                <a:pos x="405" y="268"/>
              </a:cxn>
              <a:cxn ang="0">
                <a:pos x="367" y="239"/>
              </a:cxn>
              <a:cxn ang="0">
                <a:pos x="306" y="175"/>
              </a:cxn>
              <a:cxn ang="0">
                <a:pos x="253" y="137"/>
              </a:cxn>
              <a:cxn ang="0">
                <a:pos x="154" y="93"/>
              </a:cxn>
              <a:cxn ang="0">
                <a:pos x="70" y="52"/>
              </a:cxn>
            </a:cxnLst>
            <a:rect l="0" t="0" r="r" b="b"/>
            <a:pathLst>
              <a:path w="3468" h="1594">
                <a:moveTo>
                  <a:pt x="3468" y="1594"/>
                </a:moveTo>
                <a:lnTo>
                  <a:pt x="3154" y="1594"/>
                </a:lnTo>
                <a:lnTo>
                  <a:pt x="3154" y="1562"/>
                </a:lnTo>
                <a:lnTo>
                  <a:pt x="2834" y="1562"/>
                </a:lnTo>
                <a:lnTo>
                  <a:pt x="2813" y="1542"/>
                </a:lnTo>
                <a:lnTo>
                  <a:pt x="2767" y="1542"/>
                </a:lnTo>
                <a:lnTo>
                  <a:pt x="2720" y="1519"/>
                </a:lnTo>
                <a:lnTo>
                  <a:pt x="2665" y="1519"/>
                </a:lnTo>
                <a:lnTo>
                  <a:pt x="2639" y="1501"/>
                </a:lnTo>
                <a:lnTo>
                  <a:pt x="2528" y="1460"/>
                </a:lnTo>
                <a:lnTo>
                  <a:pt x="2476" y="1460"/>
                </a:lnTo>
                <a:lnTo>
                  <a:pt x="2418" y="1431"/>
                </a:lnTo>
                <a:lnTo>
                  <a:pt x="2342" y="1434"/>
                </a:lnTo>
                <a:lnTo>
                  <a:pt x="2296" y="1402"/>
                </a:lnTo>
                <a:lnTo>
                  <a:pt x="2261" y="1391"/>
                </a:lnTo>
                <a:lnTo>
                  <a:pt x="2176" y="1394"/>
                </a:lnTo>
                <a:lnTo>
                  <a:pt x="2150" y="1376"/>
                </a:lnTo>
                <a:lnTo>
                  <a:pt x="2098" y="1370"/>
                </a:lnTo>
                <a:lnTo>
                  <a:pt x="2048" y="1332"/>
                </a:lnTo>
                <a:lnTo>
                  <a:pt x="2005" y="1327"/>
                </a:lnTo>
                <a:lnTo>
                  <a:pt x="1941" y="1318"/>
                </a:lnTo>
                <a:lnTo>
                  <a:pt x="1903" y="1289"/>
                </a:lnTo>
                <a:lnTo>
                  <a:pt x="1816" y="1286"/>
                </a:lnTo>
                <a:lnTo>
                  <a:pt x="1807" y="1266"/>
                </a:lnTo>
                <a:lnTo>
                  <a:pt x="1766" y="1266"/>
                </a:lnTo>
                <a:cubicBezTo>
                  <a:pt x="1741" y="1247"/>
                  <a:pt x="1749" y="1254"/>
                  <a:pt x="1740" y="1245"/>
                </a:cubicBezTo>
                <a:lnTo>
                  <a:pt x="1702" y="1239"/>
                </a:lnTo>
                <a:lnTo>
                  <a:pt x="1664" y="1204"/>
                </a:lnTo>
                <a:lnTo>
                  <a:pt x="1624" y="1193"/>
                </a:lnTo>
                <a:lnTo>
                  <a:pt x="1589" y="1187"/>
                </a:lnTo>
                <a:lnTo>
                  <a:pt x="1571" y="1158"/>
                </a:lnTo>
                <a:lnTo>
                  <a:pt x="1475" y="1094"/>
                </a:lnTo>
                <a:lnTo>
                  <a:pt x="1458" y="1082"/>
                </a:lnTo>
                <a:lnTo>
                  <a:pt x="1426" y="1076"/>
                </a:lnTo>
                <a:cubicBezTo>
                  <a:pt x="1396" y="1055"/>
                  <a:pt x="1408" y="1056"/>
                  <a:pt x="1394" y="1056"/>
                </a:cubicBezTo>
                <a:lnTo>
                  <a:pt x="1350" y="1036"/>
                </a:lnTo>
                <a:lnTo>
                  <a:pt x="1327" y="1024"/>
                </a:lnTo>
                <a:lnTo>
                  <a:pt x="1312" y="995"/>
                </a:lnTo>
                <a:cubicBezTo>
                  <a:pt x="1296" y="985"/>
                  <a:pt x="1301" y="989"/>
                  <a:pt x="1295" y="983"/>
                </a:cubicBezTo>
                <a:lnTo>
                  <a:pt x="1269" y="954"/>
                </a:lnTo>
                <a:lnTo>
                  <a:pt x="1251" y="934"/>
                </a:lnTo>
                <a:lnTo>
                  <a:pt x="1190" y="899"/>
                </a:lnTo>
                <a:lnTo>
                  <a:pt x="1170" y="879"/>
                </a:lnTo>
                <a:lnTo>
                  <a:pt x="1167" y="861"/>
                </a:lnTo>
                <a:lnTo>
                  <a:pt x="1138" y="841"/>
                </a:lnTo>
                <a:lnTo>
                  <a:pt x="1097" y="826"/>
                </a:lnTo>
                <a:lnTo>
                  <a:pt x="1068" y="788"/>
                </a:lnTo>
                <a:cubicBezTo>
                  <a:pt x="1047" y="779"/>
                  <a:pt x="1048" y="787"/>
                  <a:pt x="1048" y="777"/>
                </a:cubicBezTo>
                <a:lnTo>
                  <a:pt x="1045" y="756"/>
                </a:lnTo>
                <a:lnTo>
                  <a:pt x="1001" y="739"/>
                </a:lnTo>
                <a:lnTo>
                  <a:pt x="984" y="719"/>
                </a:lnTo>
                <a:lnTo>
                  <a:pt x="963" y="713"/>
                </a:lnTo>
                <a:lnTo>
                  <a:pt x="949" y="695"/>
                </a:lnTo>
                <a:lnTo>
                  <a:pt x="917" y="690"/>
                </a:lnTo>
                <a:lnTo>
                  <a:pt x="885" y="681"/>
                </a:lnTo>
                <a:lnTo>
                  <a:pt x="864" y="655"/>
                </a:lnTo>
                <a:lnTo>
                  <a:pt x="824" y="640"/>
                </a:lnTo>
                <a:lnTo>
                  <a:pt x="789" y="614"/>
                </a:lnTo>
                <a:lnTo>
                  <a:pt x="742" y="559"/>
                </a:lnTo>
                <a:lnTo>
                  <a:pt x="678" y="509"/>
                </a:lnTo>
                <a:lnTo>
                  <a:pt x="655" y="474"/>
                </a:lnTo>
                <a:lnTo>
                  <a:pt x="605" y="419"/>
                </a:lnTo>
                <a:lnTo>
                  <a:pt x="588" y="404"/>
                </a:lnTo>
                <a:lnTo>
                  <a:pt x="541" y="370"/>
                </a:lnTo>
                <a:lnTo>
                  <a:pt x="495" y="332"/>
                </a:lnTo>
                <a:lnTo>
                  <a:pt x="477" y="308"/>
                </a:lnTo>
                <a:lnTo>
                  <a:pt x="440" y="276"/>
                </a:lnTo>
                <a:lnTo>
                  <a:pt x="405" y="268"/>
                </a:lnTo>
                <a:lnTo>
                  <a:pt x="396" y="244"/>
                </a:lnTo>
                <a:lnTo>
                  <a:pt x="367" y="239"/>
                </a:lnTo>
                <a:cubicBezTo>
                  <a:pt x="334" y="206"/>
                  <a:pt x="335" y="222"/>
                  <a:pt x="335" y="204"/>
                </a:cubicBezTo>
                <a:lnTo>
                  <a:pt x="306" y="175"/>
                </a:lnTo>
                <a:lnTo>
                  <a:pt x="274" y="154"/>
                </a:lnTo>
                <a:cubicBezTo>
                  <a:pt x="252" y="139"/>
                  <a:pt x="253" y="148"/>
                  <a:pt x="253" y="137"/>
                </a:cubicBezTo>
                <a:cubicBezTo>
                  <a:pt x="206" y="113"/>
                  <a:pt x="207" y="131"/>
                  <a:pt x="207" y="111"/>
                </a:cubicBezTo>
                <a:lnTo>
                  <a:pt x="154" y="93"/>
                </a:lnTo>
                <a:lnTo>
                  <a:pt x="108" y="76"/>
                </a:lnTo>
                <a:lnTo>
                  <a:pt x="70" y="52"/>
                </a:ln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rgbClr val="FF99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763000" name="Text Box 120"/>
          <p:cNvSpPr txBox="1">
            <a:spLocks noChangeArrowheads="1"/>
          </p:cNvSpPr>
          <p:nvPr/>
        </p:nvSpPr>
        <p:spPr bwMode="auto">
          <a:xfrm rot="10800000">
            <a:off x="2052939" y="1651003"/>
            <a:ext cx="461665" cy="364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latin typeface="Franklin Gothic Book" panose="020B0503020102020204" pitchFamily="34" charset="0"/>
              </a:rPr>
              <a:t>Survival Probability</a:t>
            </a: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6048395" y="6400800"/>
            <a:ext cx="4619625" cy="315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5000"/>
              </a:lnSpc>
              <a:spcAft>
                <a:spcPct val="25000"/>
              </a:spcAft>
              <a:buClr>
                <a:schemeClr val="accent1"/>
              </a:buClr>
              <a:buSzPct val="85000"/>
            </a:pPr>
            <a:r>
              <a:rPr lang="it-IT" sz="1400" dirty="0">
                <a:latin typeface="Franklin Gothic Book" panose="020B0503020102020204" pitchFamily="34" charset="0"/>
              </a:rPr>
              <a:t>Scagliotti GV, et al. JCO 2008;26:3543-3551.</a:t>
            </a:r>
          </a:p>
        </p:txBody>
      </p:sp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CA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For patients with </a:t>
            </a:r>
            <a:r>
              <a:rPr lang="en-CA" sz="2800" b="0" u="sng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non-squamous</a:t>
            </a:r>
            <a:r>
              <a:rPr lang="en-CA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histology, </a:t>
            </a:r>
            <a:r>
              <a:rPr lang="en-CA" sz="2800" b="0" u="sng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Cis/Pemetrexed is superior </a:t>
            </a:r>
            <a:r>
              <a:rPr lang="en-CA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to Cis/Gemcitabine</a:t>
            </a:r>
            <a:endParaRPr lang="en-US" sz="2800" b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91870060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5ABFD6-85F5-F881-9B63-C33D35767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794" y="1459856"/>
            <a:ext cx="6001816" cy="51409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780BDC9-F59D-6A84-0C24-8E3A65185930}"/>
              </a:ext>
            </a:extLst>
          </p:cNvPr>
          <p:cNvCxnSpPr/>
          <p:nvPr/>
        </p:nvCxnSpPr>
        <p:spPr>
          <a:xfrm flipH="1">
            <a:off x="8440704" y="3652739"/>
            <a:ext cx="90252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F04062E-2285-877B-51C9-6CDACD63E369}"/>
              </a:ext>
            </a:extLst>
          </p:cNvPr>
          <p:cNvCxnSpPr/>
          <p:nvPr/>
        </p:nvCxnSpPr>
        <p:spPr>
          <a:xfrm flipH="1">
            <a:off x="8438724" y="4113896"/>
            <a:ext cx="90252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F0DF4B-CE0F-549B-5F95-A7109E39A4E4}"/>
              </a:ext>
            </a:extLst>
          </p:cNvPr>
          <p:cNvCxnSpPr/>
          <p:nvPr/>
        </p:nvCxnSpPr>
        <p:spPr>
          <a:xfrm flipH="1">
            <a:off x="8436744" y="5097566"/>
            <a:ext cx="90252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2FAA0CA-3470-0A8F-31ED-69B0C837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CA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Toxicity of cisplatin/pemetrexed is better than cisplatin/gemcitabine</a:t>
            </a:r>
            <a:endParaRPr lang="en-US" sz="2800" b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  <p:sp>
        <p:nvSpPr>
          <p:cNvPr id="9" name="Citation (added)"/>
          <p:cNvSpPr txBox="1"/>
          <p:nvPr/>
        </p:nvSpPr>
        <p:spPr>
          <a:xfrm>
            <a:off x="9116567" y="6446520"/>
            <a:ext cx="2724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Scagliotti et al, JCO 2008</a:t>
            </a:r>
          </a:p>
        </p:txBody>
      </p:sp>
    </p:spTree>
    <p:extLst>
      <p:ext uri="{BB962C8B-B14F-4D97-AF65-F5344CB8AC3E}">
        <p14:creationId xmlns:p14="http://schemas.microsoft.com/office/powerpoint/2010/main" val="19223215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28601"/>
            <a:ext cx="8229600" cy="49530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800" dirty="0"/>
              <a:t>55 year-old person with Stage IV NSCLC</a:t>
            </a:r>
          </a:p>
          <a:p>
            <a:pPr lvl="1"/>
            <a:r>
              <a:rPr lang="en-US" sz="2400" dirty="0"/>
              <a:t>Adenocarcinoma histology</a:t>
            </a:r>
          </a:p>
          <a:p>
            <a:pPr lvl="1"/>
            <a:r>
              <a:rPr lang="en-US" sz="2400" dirty="0"/>
              <a:t>PD-L1 negative and No targetable oncogenic driver</a:t>
            </a:r>
          </a:p>
          <a:p>
            <a:pPr lvl="1"/>
            <a:r>
              <a:rPr lang="en-US" sz="2400" dirty="0"/>
              <a:t>No brain metastases</a:t>
            </a:r>
          </a:p>
          <a:p>
            <a:pPr lvl="1"/>
            <a:r>
              <a:rPr lang="en-US" sz="2400" dirty="0"/>
              <a:t>Good performance status</a:t>
            </a:r>
          </a:p>
          <a:p>
            <a:pPr lvl="1"/>
            <a:r>
              <a:rPr lang="en-US" sz="2400" dirty="0"/>
              <a:t>Hemoptysis on 3 occasions, total ~ 15 cc blood</a:t>
            </a:r>
          </a:p>
          <a:p>
            <a:pPr lvl="1"/>
            <a:r>
              <a:rPr lang="en-US" sz="2400" dirty="0"/>
              <a:t>Rheumatoid arthritis requiring steroids, anti-TNF</a:t>
            </a:r>
          </a:p>
          <a:p>
            <a:r>
              <a:rPr lang="en-US" sz="2800" dirty="0"/>
              <a:t>What is the most appropriate chemotherapy 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Cisplatin and gemcitabine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Cisplatin and pemetrexed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Carboplatin, paclitaxel, bevacizumab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Carboplatin, paclitaxel, erlotinib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0723" y="5287690"/>
            <a:ext cx="85344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latin typeface="Franklin Gothic Book" panose="020B0503020102020204" pitchFamily="34" charset="0"/>
              </a:rPr>
              <a:t>1.  Pemetrexed/cisplatin is better than gemcitabine/cisplatin for non-squamous NSCLC</a:t>
            </a:r>
            <a:endParaRPr lang="en-US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r>
              <a:rPr lang="en-US" sz="2400" dirty="0">
                <a:latin typeface="Franklin Gothic Book" panose="020B0503020102020204" pitchFamily="34" charset="0"/>
              </a:rPr>
              <a:t>2.  Can’t give bevacizumab if patients have hemoptysis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AD5EA0A-F408-9BBD-42E7-995998DDAA87}"/>
                  </a:ext>
                </a:extLst>
              </p14:cNvPr>
              <p14:cNvContentPartPr/>
              <p14:nvPr/>
            </p14:nvContentPartPr>
            <p14:xfrm>
              <a:off x="2536436" y="3824373"/>
              <a:ext cx="3548160" cy="121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AD5EA0A-F408-9BBD-42E7-995998DDAA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82796" y="3716733"/>
                <a:ext cx="3655800" cy="33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31800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301" y="228601"/>
            <a:ext cx="10447507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/>
              <a:t>55 year-old person with Stage IV NSCLC, completes 4 cycles of carboplatin, paclitaxel with stable disease, grade 2 neuropathy, performance status 2</a:t>
            </a:r>
          </a:p>
          <a:p>
            <a:pPr marL="0" indent="0">
              <a:buNone/>
            </a:pPr>
            <a:endParaRPr lang="en-US" sz="2800"/>
          </a:p>
          <a:p>
            <a:pPr marL="0" indent="0">
              <a:buNone/>
            </a:pPr>
            <a:r>
              <a:rPr lang="en-US" sz="2800"/>
              <a:t>What is the most appropriate next step?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Continue carboplatin, paclitaxel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Begin pemetrexed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Continue paclitaxel until progression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Discontinue therapy and monitor until progressive disease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Begin erlotinib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008E655-5609-91D8-56A1-9E400A6CE4E6}"/>
                  </a:ext>
                </a:extLst>
              </p14:cNvPr>
              <p14:cNvContentPartPr/>
              <p14:nvPr/>
            </p14:nvContentPartPr>
            <p14:xfrm>
              <a:off x="7383836" y="1148156"/>
              <a:ext cx="2634120" cy="99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008E655-5609-91D8-56A1-9E400A6CE4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66196" y="1130516"/>
                <a:ext cx="26697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87FEDA-D1BF-BAF2-2DB1-30819D7E71EF}"/>
                  </a:ext>
                </a:extLst>
              </p14:cNvPr>
              <p14:cNvContentPartPr/>
              <p14:nvPr/>
            </p14:nvContentPartPr>
            <p14:xfrm>
              <a:off x="855236" y="1562516"/>
              <a:ext cx="3053160" cy="40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87FEDA-D1BF-BAF2-2DB1-30819D7E71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7596" y="1544516"/>
                <a:ext cx="3088800" cy="7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57446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8703183"/>
              </p:ext>
            </p:extLst>
          </p:nvPr>
        </p:nvGraphicFramePr>
        <p:xfrm>
          <a:off x="1235413" y="1625600"/>
          <a:ext cx="9479099" cy="35356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936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9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Median</a:t>
                      </a:r>
                      <a:r>
                        <a:rPr lang="en-US" sz="1900" baseline="0" dirty="0"/>
                        <a:t> </a:t>
                      </a:r>
                      <a:r>
                        <a:rPr lang="en-US" sz="1900" dirty="0"/>
                        <a:t>PFS/TTP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Median 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Smith,</a:t>
                      </a:r>
                      <a:r>
                        <a:rPr lang="en-US" sz="1900" baseline="0" dirty="0"/>
                        <a:t> n=308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   MVP x 3</a:t>
                      </a:r>
                    </a:p>
                    <a:p>
                      <a:r>
                        <a:rPr lang="en-US" sz="1900" dirty="0"/>
                        <a:t>   MVP</a:t>
                      </a:r>
                      <a:r>
                        <a:rPr lang="en-US" sz="1900" baseline="0" dirty="0"/>
                        <a:t> x 6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31%</a:t>
                      </a:r>
                    </a:p>
                    <a:p>
                      <a:r>
                        <a:rPr lang="en-US" sz="1900" dirty="0"/>
                        <a:t>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5 </a:t>
                      </a:r>
                      <a:r>
                        <a:rPr lang="en-US" sz="1900" dirty="0" err="1">
                          <a:latin typeface="Franklin Gothic Book" panose="020B0503020102020204" pitchFamily="34" charset="0"/>
                        </a:rPr>
                        <a:t>mo</a:t>
                      </a:r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  <a:p>
                      <a:r>
                        <a:rPr lang="en-US" sz="1900" dirty="0"/>
                        <a:t>5 </a:t>
                      </a:r>
                      <a:r>
                        <a:rPr lang="en-US" sz="1900" dirty="0" err="1"/>
                        <a:t>mo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6 </a:t>
                      </a:r>
                      <a:r>
                        <a:rPr lang="en-US" sz="1900" dirty="0" err="1">
                          <a:latin typeface="Franklin Gothic Book" panose="020B0503020102020204" pitchFamily="34" charset="0"/>
                        </a:rPr>
                        <a:t>mo</a:t>
                      </a:r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  <a:p>
                      <a:r>
                        <a:rPr lang="en-US" sz="1900" dirty="0"/>
                        <a:t>7 </a:t>
                      </a:r>
                      <a:r>
                        <a:rPr lang="en-US" sz="1900" dirty="0" err="1"/>
                        <a:t>mo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Socinski</a:t>
                      </a:r>
                      <a:r>
                        <a:rPr lang="en-US" sz="1900" baseline="0" dirty="0"/>
                        <a:t>, n=230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   Carbo/paclitaxel x 4</a:t>
                      </a:r>
                    </a:p>
                    <a:p>
                      <a:r>
                        <a:rPr lang="en-US" sz="1900" dirty="0"/>
                        <a:t>   Carbo/paclitaxel to 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22%</a:t>
                      </a:r>
                    </a:p>
                    <a:p>
                      <a:r>
                        <a:rPr lang="en-US" sz="1900" dirty="0"/>
                        <a:t>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6.6 </a:t>
                      </a:r>
                      <a:r>
                        <a:rPr lang="en-US" sz="1900" dirty="0" err="1">
                          <a:latin typeface="Franklin Gothic Book" panose="020B0503020102020204" pitchFamily="34" charset="0"/>
                        </a:rPr>
                        <a:t>mo</a:t>
                      </a:r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  <a:p>
                      <a:r>
                        <a:rPr lang="en-US" sz="1900" dirty="0"/>
                        <a:t>8.5 </a:t>
                      </a:r>
                      <a:r>
                        <a:rPr lang="en-US" sz="1900" dirty="0" err="1"/>
                        <a:t>mo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900" dirty="0" err="1">
                          <a:latin typeface="Franklin Gothic Book" panose="020B0503020102020204" pitchFamily="34" charset="0"/>
                        </a:rPr>
                        <a:t>VonPlessen</a:t>
                      </a:r>
                      <a:r>
                        <a:rPr lang="en-US" sz="1900" dirty="0"/>
                        <a:t>, n=297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   Carbo Vin x 3</a:t>
                      </a:r>
                    </a:p>
                    <a:p>
                      <a:r>
                        <a:rPr lang="en-US" sz="1900" dirty="0"/>
                        <a:t>   Carbo Vin x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4 </a:t>
                      </a:r>
                      <a:r>
                        <a:rPr lang="en-US" sz="1900" dirty="0" err="1">
                          <a:latin typeface="Franklin Gothic Book" panose="020B0503020102020204" pitchFamily="34" charset="0"/>
                        </a:rPr>
                        <a:t>mo</a:t>
                      </a:r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  <a:p>
                      <a:r>
                        <a:rPr lang="en-US" sz="1900" dirty="0"/>
                        <a:t>5.2 </a:t>
                      </a:r>
                      <a:r>
                        <a:rPr lang="en-US" sz="1900" dirty="0" err="1"/>
                        <a:t>mo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Franklin Gothic Book" panose="020B0503020102020204" pitchFamily="34" charset="0"/>
                        </a:rPr>
                        <a:t>7 </a:t>
                      </a:r>
                      <a:r>
                        <a:rPr lang="en-US" sz="1900" dirty="0" err="1">
                          <a:latin typeface="Franklin Gothic Book" panose="020B0503020102020204" pitchFamily="34" charset="0"/>
                        </a:rPr>
                        <a:t>mo</a:t>
                      </a:r>
                      <a:endParaRPr lang="en-US" sz="1900" dirty="0">
                        <a:latin typeface="Franklin Gothic Book" panose="020B0503020102020204" pitchFamily="34" charset="0"/>
                      </a:endParaRPr>
                    </a:p>
                    <a:p>
                      <a:r>
                        <a:rPr lang="en-US" sz="1900" dirty="0"/>
                        <a:t>8 </a:t>
                      </a:r>
                      <a:r>
                        <a:rPr lang="en-US" sz="1900" dirty="0" err="1"/>
                        <a:t>mo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5383032"/>
            <a:ext cx="1071339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Widely interpreted to mean that there is little benefit for platinum-based chemotherapy beyond initial 4-6 cycles, prolonged exposure to chemotherapy leads to greater toxicity without additional benefit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Based on poor quality data, initial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platinum-doublet chemotherapy duration is ~ 4 cycles</a:t>
            </a:r>
          </a:p>
        </p:txBody>
      </p:sp>
      <p:sp>
        <p:nvSpPr>
          <p:cNvPr id="6" name="Citation (added)"/>
          <p:cNvSpPr txBox="1"/>
          <p:nvPr/>
        </p:nvSpPr>
        <p:spPr>
          <a:xfrm>
            <a:off x="5276087" y="6519672"/>
            <a:ext cx="65653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Smith et al, JCO 2001; Socinski et al, JCO 2002; von Plessen et al, Br J Cancer 2006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91C8397-5350-CECB-689F-9AAAC4BCACC8}"/>
              </a:ext>
            </a:extLst>
          </p:cNvPr>
          <p:cNvGrpSpPr/>
          <p:nvPr/>
        </p:nvGrpSpPr>
        <p:grpSpPr>
          <a:xfrm>
            <a:off x="98156" y="5692796"/>
            <a:ext cx="502200" cy="461520"/>
            <a:chOff x="98156" y="5692796"/>
            <a:chExt cx="502200" cy="46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C558F4B-18F6-D653-DA20-960B3589004D}"/>
                    </a:ext>
                  </a:extLst>
                </p14:cNvPr>
                <p14:cNvContentPartPr/>
                <p14:nvPr/>
              </p14:nvContentPartPr>
              <p14:xfrm>
                <a:off x="236036" y="5692796"/>
                <a:ext cx="158040" cy="461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C558F4B-18F6-D653-DA20-960B3589004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8036" y="5674796"/>
                  <a:ext cx="19368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69C1653-1128-698A-45C0-159792FD0194}"/>
                    </a:ext>
                  </a:extLst>
                </p14:cNvPr>
                <p14:cNvContentPartPr/>
                <p14:nvPr/>
              </p14:nvContentPartPr>
              <p14:xfrm>
                <a:off x="124436" y="5761556"/>
                <a:ext cx="396720" cy="343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69C1653-1128-698A-45C0-159792FD019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6796" y="5743556"/>
                  <a:ext cx="4323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BBBC01-2C24-4F13-A000-4BA0C21C571D}"/>
                    </a:ext>
                  </a:extLst>
                </p14:cNvPr>
                <p14:cNvContentPartPr/>
                <p14:nvPr/>
              </p14:nvContentPartPr>
              <p14:xfrm>
                <a:off x="98156" y="5909156"/>
                <a:ext cx="502200" cy="129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BBBC01-2C24-4F13-A000-4BA0C21C571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156" y="5891156"/>
                  <a:ext cx="537840" cy="164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897573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829" y="145975"/>
            <a:ext cx="11566187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55 year-old person with Stage IV NSCLC, completes 4 cycles of carboplatin, paclitaxel with stable disease, grade 2 neuropathy, performance status 2</a:t>
            </a:r>
          </a:p>
          <a:p>
            <a:endParaRPr lang="en-US" sz="2300" dirty="0"/>
          </a:p>
          <a:p>
            <a:pPr marL="0" indent="0">
              <a:buNone/>
            </a:pPr>
            <a:r>
              <a:rPr lang="en-US" sz="2300" dirty="0"/>
              <a:t>What is the most appropriate next step?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300" dirty="0"/>
              <a:t>Continue carboplatin, paclitaxel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300" dirty="0"/>
              <a:t>Begin pemetrexed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300" dirty="0"/>
              <a:t>Continue paclitaxel until progression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300" dirty="0"/>
              <a:t>Discontinue therapy and monitor until progressive disease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300" dirty="0"/>
              <a:t>Begin erlotinib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512" y="4392991"/>
            <a:ext cx="10934937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4-6 cycles of chemotherapy is </a:t>
            </a:r>
          </a:p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complete initial chemotherapy for Stage IV NSCLC</a:t>
            </a:r>
          </a:p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(there is switch maintenance chemo, but not for PS 2) </a:t>
            </a:r>
          </a:p>
          <a:p>
            <a:pPr algn="ctr"/>
            <a:endParaRPr lang="en-US" sz="2400" b="1" dirty="0">
              <a:latin typeface="Franklin Gothic Book" panose="020B0503020102020204" pitchFamily="34" charset="0"/>
            </a:endParaRPr>
          </a:p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For more modern regimens, this translates to including </a:t>
            </a:r>
          </a:p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platinum for the first 4-6 cycles</a:t>
            </a:r>
            <a:endParaRPr lang="en-US" dirty="0">
              <a:latin typeface="Franklin Gothic Book" panose="020B05030201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52E319E-9259-8B99-39F4-55C86A0D3F18}"/>
                  </a:ext>
                </a:extLst>
              </p14:cNvPr>
              <p14:cNvContentPartPr/>
              <p14:nvPr/>
            </p14:nvContentPartPr>
            <p14:xfrm>
              <a:off x="727076" y="3361076"/>
              <a:ext cx="7905600" cy="307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52E319E-9259-8B99-39F4-55C86A0D3F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436" y="3253436"/>
                <a:ext cx="8013240" cy="52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93297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412" y="2214171"/>
            <a:ext cx="10558975" cy="4525963"/>
          </a:xfrm>
        </p:spPr>
        <p:txBody>
          <a:bodyPr>
            <a:normAutofit/>
          </a:bodyPr>
          <a:lstStyle/>
          <a:p>
            <a:r>
              <a:rPr lang="en-US"/>
              <a:t>Platinum-doublet chemotherapy is the standard</a:t>
            </a:r>
          </a:p>
          <a:p>
            <a:r>
              <a:rPr lang="en-US"/>
              <a:t>Bevacizumab is contraindicated in patients with squamous histology or hemoptysis</a:t>
            </a:r>
          </a:p>
          <a:p>
            <a:r>
              <a:rPr lang="en-US"/>
              <a:t>Cisplatin-Pemetrexed is better than Cisplatin-Gemcitabine in patients with “non-squamous”</a:t>
            </a:r>
          </a:p>
          <a:p>
            <a:r>
              <a:rPr lang="en-US"/>
              <a:t>Discontinuation of platinum after 4-6 cycles of platinum doublet is routine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History lessons in chemotherapy</a:t>
            </a:r>
            <a:b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(or Initial Therapy for Patients Not Appropriate for Immunotherapy)</a:t>
            </a:r>
            <a:b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 </a:t>
            </a:r>
            <a:b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8436175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01A25-7264-4865-BA96-614398409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104" y="1417639"/>
            <a:ext cx="11828834" cy="4525963"/>
          </a:xfrm>
        </p:spPr>
        <p:txBody>
          <a:bodyPr/>
          <a:lstStyle/>
          <a:p>
            <a:r>
              <a:rPr lang="en-US" dirty="0"/>
              <a:t>Platinum-doublet chemotherapy (with or without bevacizumab) is standard 1</a:t>
            </a:r>
            <a:r>
              <a:rPr lang="en-US" baseline="30000" dirty="0"/>
              <a:t>st</a:t>
            </a:r>
            <a:r>
              <a:rPr lang="en-US" dirty="0"/>
              <a:t> treatment</a:t>
            </a:r>
          </a:p>
          <a:p>
            <a:endParaRPr lang="en-US" dirty="0"/>
          </a:p>
          <a:p>
            <a:r>
              <a:rPr lang="en-US" dirty="0"/>
              <a:t>For “non-squamous” NSCLC, platinum-pemetrexed common</a:t>
            </a:r>
          </a:p>
          <a:p>
            <a:r>
              <a:rPr lang="en-US" dirty="0"/>
              <a:t>For squamous NSCLC, platinum-gemcitabine common</a:t>
            </a:r>
          </a:p>
          <a:p>
            <a:r>
              <a:rPr lang="en-US" dirty="0"/>
              <a:t>Platinum/</a:t>
            </a:r>
            <a:r>
              <a:rPr lang="en-US" dirty="0" err="1"/>
              <a:t>taxane</a:t>
            </a:r>
            <a:r>
              <a:rPr lang="en-US" dirty="0"/>
              <a:t> is used regardless of histology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F06B2D-031A-4ADE-892B-49048B9A1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So, back then…first line treatment</a:t>
            </a:r>
          </a:p>
        </p:txBody>
      </p:sp>
    </p:spTree>
    <p:extLst>
      <p:ext uri="{BB962C8B-B14F-4D97-AF65-F5344CB8AC3E}">
        <p14:creationId xmlns:p14="http://schemas.microsoft.com/office/powerpoint/2010/main" val="1218821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C2C1C-46AB-8A6A-CAD7-0DAC2ED24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036575-11B1-5F77-5CC3-7AC3B9B0AB4B}"/>
              </a:ext>
            </a:extLst>
          </p:cNvPr>
          <p:cNvSpPr/>
          <p:nvPr/>
        </p:nvSpPr>
        <p:spPr>
          <a:xfrm>
            <a:off x="8673110" y="393563"/>
            <a:ext cx="2909290" cy="1524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Franklin Gothic Book" panose="020B0503020102020204" pitchFamily="34" charset="0"/>
              </a:rPr>
              <a:t>Targeted therapy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6CC254-81B9-09D0-0780-9E96012E3FC8}"/>
              </a:ext>
            </a:extLst>
          </p:cNvPr>
          <p:cNvSpPr/>
          <p:nvPr/>
        </p:nvSpPr>
        <p:spPr>
          <a:xfrm>
            <a:off x="4187855" y="409329"/>
            <a:ext cx="4057733" cy="1524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Franklin Gothic Book" panose="020B0503020102020204" pitchFamily="34" charset="0"/>
              </a:rPr>
              <a:t>Chemotherapy </a:t>
            </a:r>
          </a:p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(including VEGF targeting)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0D5D06-F675-E3DF-071E-492B7FDA1523}"/>
              </a:ext>
            </a:extLst>
          </p:cNvPr>
          <p:cNvSpPr/>
          <p:nvPr/>
        </p:nvSpPr>
        <p:spPr>
          <a:xfrm>
            <a:off x="506835" y="393563"/>
            <a:ext cx="3200400" cy="15240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Franklin Gothic Book" panose="020B0503020102020204" pitchFamily="34" charset="0"/>
              </a:rPr>
              <a:t>Immune Checkpoint Inhibitors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E112E-C46C-CF65-E1C2-A76FFE6764E6}"/>
              </a:ext>
            </a:extLst>
          </p:cNvPr>
          <p:cNvSpPr txBox="1"/>
          <p:nvPr/>
        </p:nvSpPr>
        <p:spPr>
          <a:xfrm>
            <a:off x="4174165" y="1917563"/>
            <a:ext cx="4085112" cy="4247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u="sng" dirty="0">
                <a:latin typeface="Franklin Gothic Book" panose="020B0503020102020204" pitchFamily="34" charset="0"/>
              </a:rPr>
              <a:t>“non-squamous” 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Cis/carboplatin + pemetrexed 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carboplatin + paclitaxel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carboplatin + paclitaxel + bevacizumab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carboplatin + albumin-bound paclitaxel 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u="sng" dirty="0">
                <a:latin typeface="Franklin Gothic Book" panose="020B0503020102020204" pitchFamily="34" charset="0"/>
              </a:rPr>
              <a:t>Squamous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carboplatin + paclitaxel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carboplatin + albumin-bound paclitaxel 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Cis/carboplatin + gemcitabine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2</a:t>
            </a:r>
            <a:r>
              <a:rPr lang="en-US" baseline="30000" dirty="0">
                <a:latin typeface="Franklin Gothic Book" panose="020B0503020102020204" pitchFamily="34" charset="0"/>
              </a:rPr>
              <a:t>nd</a:t>
            </a:r>
            <a:r>
              <a:rPr lang="en-US" dirty="0">
                <a:latin typeface="Franklin Gothic Book" panose="020B0503020102020204" pitchFamily="34" charset="0"/>
              </a:rPr>
              <a:t> line chemotherapy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Docetaxel +/- ramucirumab</a:t>
            </a:r>
          </a:p>
        </p:txBody>
      </p:sp>
    </p:spTree>
    <p:extLst>
      <p:ext uri="{BB962C8B-B14F-4D97-AF65-F5344CB8AC3E}">
        <p14:creationId xmlns:p14="http://schemas.microsoft.com/office/powerpoint/2010/main" val="20777955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6D73B-7838-4735-B821-F05E7995E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554" y="274638"/>
            <a:ext cx="5581846" cy="4144961"/>
          </a:xfrm>
        </p:spPr>
        <p:txBody>
          <a:bodyPr/>
          <a:lstStyle/>
          <a:p>
            <a:r>
              <a:rPr lang="en-US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After first line chemotherapy…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B5B1F4-59CB-419D-9992-7FA32CE01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1" y="0"/>
            <a:ext cx="55818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232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9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01826" y="1403350"/>
            <a:ext cx="8243888" cy="439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Box 2"/>
          <p:cNvSpPr txBox="1">
            <a:spLocks noChangeArrowheads="1"/>
          </p:cNvSpPr>
          <p:nvPr/>
        </p:nvSpPr>
        <p:spPr bwMode="auto">
          <a:xfrm>
            <a:off x="5886450" y="1403351"/>
            <a:ext cx="2222500" cy="73866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b="1" u="sng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Anti-PD-L1</a:t>
            </a:r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</a:p>
          <a:p>
            <a:pPr algn="ctr" eaLnBrk="1" hangingPunct="1"/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Atezolizumab</a:t>
            </a:r>
          </a:p>
          <a:p>
            <a:pPr algn="ctr" eaLnBrk="1" hangingPunct="1"/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Durvalumab</a:t>
            </a:r>
          </a:p>
        </p:txBody>
      </p:sp>
      <p:sp>
        <p:nvSpPr>
          <p:cNvPr id="14337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Basics of Immunotherapy</a:t>
            </a:r>
          </a:p>
        </p:txBody>
      </p:sp>
    </p:spTree>
    <p:extLst>
      <p:ext uri="{BB962C8B-B14F-4D97-AF65-F5344CB8AC3E}">
        <p14:creationId xmlns:p14="http://schemas.microsoft.com/office/powerpoint/2010/main" val="12496864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CBE35B-BF8A-AA70-EBF0-46766AB7421F}"/>
              </a:ext>
            </a:extLst>
          </p:cNvPr>
          <p:cNvSpPr txBox="1"/>
          <p:nvPr/>
        </p:nvSpPr>
        <p:spPr>
          <a:xfrm>
            <a:off x="1258609" y="2054432"/>
            <a:ext cx="3663182" cy="3970318"/>
          </a:xfrm>
          <a:prstGeom prst="rect">
            <a:avLst/>
          </a:prstGeom>
          <a:solidFill>
            <a:srgbClr val="FFEEB9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 u="sng" dirty="0">
                <a:latin typeface="Franklin Gothic Book" panose="020B0503020102020204" pitchFamily="34" charset="0"/>
              </a:rPr>
              <a:t>PD-1/PD-L1 antibodies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i="0" u="none" strike="noStrike" kern="1200" dirty="0">
                <a:effectLst/>
                <a:latin typeface="Franklin Gothic Book" panose="020B0503020102020204" pitchFamily="34" charset="0"/>
              </a:rPr>
              <a:t>nivolumab</a:t>
            </a:r>
            <a:endParaRPr lang="en-US" sz="2800" i="0" u="none" strike="noStrike" dirty="0">
              <a:effectLst/>
              <a:latin typeface="Franklin Gothic Book" panose="020B05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b="0" i="0" u="none" strike="noStrike" kern="1200" dirty="0">
                <a:effectLst/>
                <a:latin typeface="Franklin Gothic Book" panose="020B0503020102020204" pitchFamily="34" charset="0"/>
              </a:rPr>
              <a:t>pembrolizumab</a:t>
            </a:r>
            <a:endParaRPr lang="en-US" sz="2800" b="0" i="0" u="none" strike="noStrike" dirty="0">
              <a:effectLst/>
              <a:latin typeface="Franklin Gothic Book" panose="020B05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b="0" i="0" u="none" strike="noStrike" kern="1200" dirty="0">
                <a:effectLst/>
                <a:latin typeface="Franklin Gothic Book" panose="020B0503020102020204" pitchFamily="34" charset="0"/>
              </a:rPr>
              <a:t>atezolizumab</a:t>
            </a:r>
            <a:endParaRPr lang="en-US" sz="2800" b="0" i="0" u="none" strike="noStrike" dirty="0">
              <a:effectLst/>
              <a:latin typeface="Franklin Gothic Book" panose="020B05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Franklin Gothic Book" panose="020B0503020102020204" pitchFamily="34" charset="0"/>
              </a:rPr>
              <a:t>d</a:t>
            </a:r>
            <a:r>
              <a:rPr lang="en-US" sz="2800" b="0" i="0" u="none" strike="noStrike" kern="1200" dirty="0">
                <a:effectLst/>
                <a:latin typeface="Franklin Gothic Book" panose="020B0503020102020204" pitchFamily="34" charset="0"/>
              </a:rPr>
              <a:t>urvalumab</a:t>
            </a:r>
            <a:endParaRPr lang="en-US" sz="2800" b="0" i="0" u="none" strike="noStrike" dirty="0">
              <a:effectLst/>
              <a:latin typeface="Franklin Gothic Book" panose="020B05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b="0" i="0" u="none" strike="noStrike" kern="1200" dirty="0">
                <a:effectLst/>
                <a:latin typeface="Franklin Gothic Book" panose="020B0503020102020204" pitchFamily="34" charset="0"/>
              </a:rPr>
              <a:t>cemiplimab</a:t>
            </a:r>
            <a:endParaRPr lang="en-US" sz="2800" b="0" i="0" u="none" strike="noStrike" dirty="0">
              <a:effectLst/>
              <a:latin typeface="Franklin Gothic Book" panose="020B05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latin typeface="Franklin Gothic Book" panose="020B0503020102020204" pitchFamily="34" charset="0"/>
              </a:rPr>
              <a:t>a</a:t>
            </a:r>
            <a:r>
              <a:rPr lang="en-US" sz="2800" b="0" i="0" u="none" strike="noStrike" kern="1200" dirty="0">
                <a:effectLst/>
                <a:latin typeface="Franklin Gothic Book" panose="020B0503020102020204" pitchFamily="34" charset="0"/>
              </a:rPr>
              <a:t>velumab</a:t>
            </a:r>
            <a:endParaRPr lang="en-US" sz="2800" b="0" i="0" u="none" strike="noStrike" dirty="0">
              <a:effectLst/>
              <a:latin typeface="Franklin Gothic Book" panose="020B0503020102020204" pitchFamily="34" charset="0"/>
            </a:endParaRPr>
          </a:p>
          <a:p>
            <a:pPr algn="ctr"/>
            <a:endParaRPr lang="en-US" sz="2800" dirty="0">
              <a:latin typeface="Franklin Gothic Book" panose="020B0503020102020204" pitchFamily="34" charset="0"/>
            </a:endParaRPr>
          </a:p>
          <a:p>
            <a:pPr algn="ctr"/>
            <a:endParaRPr lang="en-US" sz="2800" dirty="0">
              <a:latin typeface="Franklin Gothic Book" panose="020B0503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4B4CA-76A9-37DD-FB93-80EDB01CA149}"/>
              </a:ext>
            </a:extLst>
          </p:cNvPr>
          <p:cNvSpPr txBox="1"/>
          <p:nvPr/>
        </p:nvSpPr>
        <p:spPr>
          <a:xfrm>
            <a:off x="6405921" y="2700763"/>
            <a:ext cx="4268861" cy="2677656"/>
          </a:xfrm>
          <a:prstGeom prst="rect">
            <a:avLst/>
          </a:prstGeom>
          <a:solidFill>
            <a:srgbClr val="FFD653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 u="sng" dirty="0">
                <a:latin typeface="Franklin Gothic Book" panose="020B0503020102020204" pitchFamily="34" charset="0"/>
              </a:rPr>
              <a:t>PD-1/CTLA-4 combinations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n</a:t>
            </a:r>
            <a:r>
              <a:rPr lang="en-US" sz="2800" b="0" i="0" u="none" strike="noStrike" kern="12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</a:rPr>
              <a:t>ivolumab </a:t>
            </a:r>
            <a:r>
              <a:rPr lang="en-US" sz="28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+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i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</a:rPr>
              <a:t>pilimumab</a:t>
            </a:r>
            <a:endParaRPr lang="en-US" sz="2800" dirty="0">
              <a:latin typeface="Franklin Gothic Book" panose="020B05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latin typeface="Franklin Gothic Book" panose="020B05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</a:rPr>
              <a:t>durvalumab </a:t>
            </a:r>
            <a:r>
              <a:rPr lang="en-US" sz="28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+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t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Franklin Gothic Book" panose="020B0503020102020204" pitchFamily="34" charset="0"/>
              </a:rPr>
              <a:t>remelimumab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Franklin Gothic Book" panose="020B0503020102020204" pitchFamily="34" charset="0"/>
            </a:endParaRPr>
          </a:p>
        </p:txBody>
      </p:sp>
      <p:sp>
        <p:nvSpPr>
          <p:cNvPr id="13313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Cast of Characters</a:t>
            </a:r>
          </a:p>
        </p:txBody>
      </p:sp>
    </p:spTree>
    <p:extLst>
      <p:ext uri="{BB962C8B-B14F-4D97-AF65-F5344CB8AC3E}">
        <p14:creationId xmlns:p14="http://schemas.microsoft.com/office/powerpoint/2010/main" val="33302674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survival curve&#10;&#10;AI-generated content may be incorrect.">
            <a:extLst>
              <a:ext uri="{FF2B5EF4-FFF2-40B4-BE49-F238E27FC236}">
                <a16:creationId xmlns:a16="http://schemas.microsoft.com/office/drawing/2014/main" id="{F1B37541-7471-3ADB-A0B3-D21F924A7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1603846"/>
            <a:ext cx="5109120" cy="52541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2ECC36-C597-E040-02AA-DD14C8751EEA}"/>
              </a:ext>
            </a:extLst>
          </p:cNvPr>
          <p:cNvSpPr txBox="1"/>
          <p:nvPr/>
        </p:nvSpPr>
        <p:spPr>
          <a:xfrm>
            <a:off x="855406" y="5210356"/>
            <a:ext cx="31614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masis MT Pro" panose="020405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RR 7%</a:t>
            </a:r>
          </a:p>
          <a:p>
            <a:r>
              <a:rPr lang="en-US" sz="2400" dirty="0" err="1">
                <a:latin typeface="Amasis MT Pro" panose="020405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mOS</a:t>
            </a:r>
            <a:r>
              <a:rPr lang="en-US" sz="2400" dirty="0">
                <a:latin typeface="Amasis MT Pro" panose="020405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 – 7 </a:t>
            </a:r>
            <a:r>
              <a:rPr lang="en-US" sz="2400" dirty="0" err="1">
                <a:latin typeface="Amasis MT Pro" panose="020405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mo</a:t>
            </a:r>
            <a:r>
              <a:rPr lang="en-US" sz="2400" dirty="0">
                <a:latin typeface="Amasis MT Pro" panose="020405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 vs 4.6 </a:t>
            </a:r>
            <a:r>
              <a:rPr lang="en-US" sz="2400" dirty="0" err="1">
                <a:latin typeface="Amasis MT Pro" panose="020405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mo</a:t>
            </a:r>
            <a:endParaRPr lang="en-US" sz="2400" dirty="0">
              <a:latin typeface="Amasis MT Pro" panose="02040504050005020304" pitchFamily="18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6C6D93-EB12-DB4E-406D-685A2AC35ECA}"/>
              </a:ext>
            </a:extLst>
          </p:cNvPr>
          <p:cNvSpPr txBox="1"/>
          <p:nvPr/>
        </p:nvSpPr>
        <p:spPr>
          <a:xfrm>
            <a:off x="-2" y="6550223"/>
            <a:ext cx="213013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Franklin Gothic Book" panose="020B0503020102020204" pitchFamily="34" charset="0"/>
              </a:rPr>
              <a:t>Shepherd et al, JCO 2000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03DB5-D65F-4CB4-9195-F24D90D0D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Are anti-PD-(L)1 drugs superior to  standard second-line chemotherapy?</a:t>
            </a:r>
          </a:p>
        </p:txBody>
      </p:sp>
    </p:spTree>
    <p:extLst>
      <p:ext uri="{BB962C8B-B14F-4D97-AF65-F5344CB8AC3E}">
        <p14:creationId xmlns:p14="http://schemas.microsoft.com/office/powerpoint/2010/main" val="37955163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survival curve&#10;&#10;AI-generated content may be incorrect.">
            <a:extLst>
              <a:ext uri="{FF2B5EF4-FFF2-40B4-BE49-F238E27FC236}">
                <a16:creationId xmlns:a16="http://schemas.microsoft.com/office/drawing/2014/main" id="{F1B37541-7471-3ADB-A0B3-D21F924A7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599" y="2258917"/>
            <a:ext cx="4118811" cy="4235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4BBB16-AB0A-4B16-8D25-DD3DC343A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339" y="2259636"/>
            <a:ext cx="8350732" cy="29507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2ECC36-C597-E040-02AA-DD14C8751EEA}"/>
              </a:ext>
            </a:extLst>
          </p:cNvPr>
          <p:cNvSpPr txBox="1"/>
          <p:nvPr/>
        </p:nvSpPr>
        <p:spPr>
          <a:xfrm>
            <a:off x="855406" y="5210356"/>
            <a:ext cx="24096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asis MT Pro" panose="020405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RR 7%</a:t>
            </a:r>
          </a:p>
          <a:p>
            <a:r>
              <a:rPr lang="en-US" dirty="0" err="1">
                <a:latin typeface="Amasis MT Pro" panose="020405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mOS</a:t>
            </a:r>
            <a:r>
              <a:rPr lang="en-US" dirty="0">
                <a:latin typeface="Amasis MT Pro" panose="020405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 – 7 </a:t>
            </a:r>
            <a:r>
              <a:rPr lang="en-US" dirty="0" err="1">
                <a:latin typeface="Amasis MT Pro" panose="020405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mo</a:t>
            </a:r>
            <a:r>
              <a:rPr lang="en-US" dirty="0">
                <a:latin typeface="Amasis MT Pro" panose="020405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 vs 4.6 </a:t>
            </a:r>
            <a:r>
              <a:rPr lang="en-US" dirty="0" err="1">
                <a:latin typeface="Amasis MT Pro" panose="020405040500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mo</a:t>
            </a:r>
            <a:endParaRPr lang="en-US" dirty="0">
              <a:latin typeface="Amasis MT Pro" panose="02040504050005020304" pitchFamily="18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03DB5-D65F-4CB4-9195-F24D90D0D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Are anti-PD-(L)1 drugs superior to  standard second-line chemotherapy?</a:t>
            </a:r>
          </a:p>
        </p:txBody>
      </p:sp>
      <p:sp>
        <p:nvSpPr>
          <p:cNvPr id="8" name="Citation (added)"/>
          <p:cNvSpPr txBox="1"/>
          <p:nvPr/>
        </p:nvSpPr>
        <p:spPr>
          <a:xfrm>
            <a:off x="9308592" y="6355080"/>
            <a:ext cx="25328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Shepherd et al, JCO 2000</a:t>
            </a:r>
          </a:p>
        </p:txBody>
      </p:sp>
    </p:spTree>
    <p:extLst>
      <p:ext uri="{BB962C8B-B14F-4D97-AF65-F5344CB8AC3E}">
        <p14:creationId xmlns:p14="http://schemas.microsoft.com/office/powerpoint/2010/main" val="20247920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99DAA-6B1E-4ED5-8FBD-6D36ADDA5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5278" y="1536970"/>
            <a:ext cx="9866828" cy="576537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1FE6451-DE09-BEBE-D7F0-1D477DA9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In second line treatment, </a:t>
            </a:r>
            <a:b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nivolumab is superior to docetaxel</a:t>
            </a:r>
          </a:p>
        </p:txBody>
      </p:sp>
    </p:spTree>
    <p:extLst>
      <p:ext uri="{BB962C8B-B14F-4D97-AF65-F5344CB8AC3E}">
        <p14:creationId xmlns:p14="http://schemas.microsoft.com/office/powerpoint/2010/main" val="39829083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1178EA-5B80-4759-82BB-6D95C1FA2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2085" y="872700"/>
            <a:ext cx="9484878" cy="5985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BCEFDA-6FB8-3B19-C1DF-FAA4CE04B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In second line treatment,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atezolizumab is superior to docetaxel</a:t>
            </a:r>
          </a:p>
        </p:txBody>
      </p:sp>
    </p:spTree>
    <p:extLst>
      <p:ext uri="{BB962C8B-B14F-4D97-AF65-F5344CB8AC3E}">
        <p14:creationId xmlns:p14="http://schemas.microsoft.com/office/powerpoint/2010/main" val="862428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1178EA-5B80-4759-82BB-6D95C1FA2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491781"/>
            <a:ext cx="4368800" cy="3276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199DAA-6B1E-4ED5-8FBD-6D36ADDA5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2558581"/>
            <a:ext cx="4470400" cy="3352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7D5008-6608-49CC-8A7B-67F4804A8E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45959" y="3091982"/>
            <a:ext cx="5021356" cy="35374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E03DB5-D65F-4CB4-9195-F24D90D0D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Single-agent anti-PD-1/PD-L1 is better than a lousy chemotherapy</a:t>
            </a:r>
          </a:p>
        </p:txBody>
      </p:sp>
      <p:sp>
        <p:nvSpPr>
          <p:cNvPr id="9" name="Citation (added)"/>
          <p:cNvSpPr txBox="1"/>
          <p:nvPr/>
        </p:nvSpPr>
        <p:spPr>
          <a:xfrm>
            <a:off x="365760" y="6400800"/>
            <a:ext cx="6949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Rittmeyer et al, Lancet 2017; Borghaei et al, NEJM 2015; Herbst et al, Lancet 2016</a:t>
            </a:r>
          </a:p>
        </p:txBody>
      </p:sp>
    </p:spTree>
    <p:extLst>
      <p:ext uri="{BB962C8B-B14F-4D97-AF65-F5344CB8AC3E}">
        <p14:creationId xmlns:p14="http://schemas.microsoft.com/office/powerpoint/2010/main" val="2283610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ECC19A-E5DB-3291-4696-EDAC952B8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53" b="2611"/>
          <a:stretch>
            <a:fillRect/>
          </a:stretch>
        </p:blipFill>
        <p:spPr>
          <a:xfrm>
            <a:off x="838200" y="1671484"/>
            <a:ext cx="7848600" cy="457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AC1D10-0DED-E2C4-5D2C-0149A5EFC00F}"/>
              </a:ext>
            </a:extLst>
          </p:cNvPr>
          <p:cNvSpPr txBox="1"/>
          <p:nvPr/>
        </p:nvSpPr>
        <p:spPr>
          <a:xfrm>
            <a:off x="7467600" y="6400800"/>
            <a:ext cx="3106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Franklin Gothic Book" panose="020B0503020102020204" pitchFamily="34" charset="0"/>
              </a:rPr>
              <a:t>Barlesi</a:t>
            </a:r>
            <a:r>
              <a:rPr lang="en-US" dirty="0">
                <a:latin typeface="Franklin Gothic Book" panose="020B0503020102020204" pitchFamily="34" charset="0"/>
              </a:rPr>
              <a:t> et al, Lancet </a:t>
            </a:r>
            <a:r>
              <a:rPr lang="en-US" dirty="0" err="1">
                <a:latin typeface="Franklin Gothic Book" panose="020B0503020102020204" pitchFamily="34" charset="0"/>
              </a:rPr>
              <a:t>Onc</a:t>
            </a:r>
            <a:r>
              <a:rPr lang="en-US" dirty="0">
                <a:latin typeface="Franklin Gothic Book" panose="020B0503020102020204" pitchFamily="34" charset="0"/>
              </a:rPr>
              <a:t> 2018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7C4F4C-80EA-E645-85BB-EDA3949F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But, it isn’t always superior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(avelumab is not superior to docetaxel)</a:t>
            </a:r>
          </a:p>
        </p:txBody>
      </p:sp>
    </p:spTree>
    <p:extLst>
      <p:ext uri="{BB962C8B-B14F-4D97-AF65-F5344CB8AC3E}">
        <p14:creationId xmlns:p14="http://schemas.microsoft.com/office/powerpoint/2010/main" val="9363682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99DAA-6B1E-4ED5-8FBD-6D36ADDA56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000" y="1371600"/>
            <a:ext cx="8737600" cy="3429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F02DF5D-4AD8-4E79-9386-DABAC18F20D6}"/>
              </a:ext>
            </a:extLst>
          </p:cNvPr>
          <p:cNvCxnSpPr>
            <a:cxnSpLocks/>
          </p:cNvCxnSpPr>
          <p:nvPr/>
        </p:nvCxnSpPr>
        <p:spPr>
          <a:xfrm flipH="1" flipV="1">
            <a:off x="4800600" y="3505200"/>
            <a:ext cx="1905000" cy="1371600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F28636C-A48F-465A-9BCC-81D8D94E70C6}"/>
              </a:ext>
            </a:extLst>
          </p:cNvPr>
          <p:cNvSpPr txBox="1"/>
          <p:nvPr/>
        </p:nvSpPr>
        <p:spPr>
          <a:xfrm>
            <a:off x="6705600" y="4953000"/>
            <a:ext cx="3962400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The curves are different, but not dramatic. Can we figure out who is getting the most benefit?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990CB-4452-DEB1-EB7F-F2F390C56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Even when it improves outcomes, can we do better?</a:t>
            </a:r>
          </a:p>
        </p:txBody>
      </p:sp>
      <p:sp>
        <p:nvSpPr>
          <p:cNvPr id="9" name="Citation (added)"/>
          <p:cNvSpPr txBox="1"/>
          <p:nvPr/>
        </p:nvSpPr>
        <p:spPr>
          <a:xfrm>
            <a:off x="9212580" y="6355080"/>
            <a:ext cx="2628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Borghaei et al, NEJM 2015</a:t>
            </a:r>
          </a:p>
        </p:txBody>
      </p:sp>
    </p:spTree>
    <p:extLst>
      <p:ext uri="{BB962C8B-B14F-4D97-AF65-F5344CB8AC3E}">
        <p14:creationId xmlns:p14="http://schemas.microsoft.com/office/powerpoint/2010/main" val="22081394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47768" y="1298715"/>
            <a:ext cx="9820232" cy="5297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457200" y="228600"/>
            <a:ext cx="11274552" cy="1051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5720" tIns="45720" rIns="45720" bIns="45720" numCol="1" rtlCol="0" anchor="t" anchorCtr="0" compatLnSpc="1">
            <a:prstTxWarp prst="textNoShape">
              <a:avLst/>
            </a:prstTxWarp>
            <a:noAutofit/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PD-L1 expression predicts better outcomes with nivolumab in non-Squamous Cell Lung Cancer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330561" y="6425535"/>
            <a:ext cx="8839199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defTabSz="457200" rtl="0" fontAlgn="base" hangingPunct="0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4318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2pPr>
            <a:lvl3pPr marL="647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3pPr>
            <a:lvl4pPr marL="8636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4pPr>
            <a:lvl5pPr marL="10795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5pPr>
            <a:lvl6pPr marL="15367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6pPr>
            <a:lvl7pPr marL="19939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7pPr>
            <a:lvl8pPr marL="24511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8pPr>
            <a:lvl9pPr marL="2908300" indent="-215900" algn="l" defTabSz="457200" rtl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StarSymbol" charset="0"/>
              <a:defRPr sz="4400">
                <a:solidFill>
                  <a:srgbClr val="000000"/>
                </a:solidFill>
                <a:latin typeface="Times New Roman" pitchFamily="16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pPr eaLnBrk="0"/>
            <a:r>
              <a:rPr lang="en-US" sz="1200" dirty="0">
                <a:latin typeface="Franklin Gothic Book" panose="020B0503020102020204" pitchFamily="34" charset="0"/>
                <a:ea typeface="Lucida Sans Unicode"/>
                <a:cs typeface="Lucida Sans Unicode"/>
              </a:rPr>
              <a:t>Paz-Ares et al ASCO 2015</a:t>
            </a:r>
          </a:p>
        </p:txBody>
      </p:sp>
    </p:spTree>
    <p:extLst>
      <p:ext uri="{BB962C8B-B14F-4D97-AF65-F5344CB8AC3E}">
        <p14:creationId xmlns:p14="http://schemas.microsoft.com/office/powerpoint/2010/main" val="1740868522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54607"/>
            <a:ext cx="10363200" cy="49902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As single-agents, atezolizumab, pembrolizumab, and nivolumab were all proven superior to docetaxel for the treatment of patients with NSCLC previously treated with platinum-based therapy (aka “second line”)</a:t>
            </a:r>
          </a:p>
          <a:p>
            <a:endParaRPr lang="en-US" sz="2800"/>
          </a:p>
          <a:p>
            <a:r>
              <a:rPr lang="en-US" sz="2800"/>
              <a:t>PD-L1 is a biomarker (it has limitations and challenges)</a:t>
            </a:r>
          </a:p>
          <a:p>
            <a:endParaRPr lang="en-US" sz="2800"/>
          </a:p>
          <a:p>
            <a:r>
              <a:rPr lang="en-US" sz="2800"/>
              <a:t>Small note: </a:t>
            </a:r>
            <a:r>
              <a:rPr lang="en-US" sz="2800">
                <a:ea typeface="+mn-lt"/>
                <a:cs typeface="+mn-lt"/>
              </a:rPr>
              <a:t>Use of pembrolizumab in “second line” requires evidence of PD-L1 expression</a:t>
            </a:r>
            <a:endParaRPr lang="en-US" sz="2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Summary of Immunotherapy after Initial Therapy</a:t>
            </a:r>
          </a:p>
        </p:txBody>
      </p:sp>
    </p:spTree>
    <p:extLst>
      <p:ext uri="{BB962C8B-B14F-4D97-AF65-F5344CB8AC3E}">
        <p14:creationId xmlns:p14="http://schemas.microsoft.com/office/powerpoint/2010/main" val="35470179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228600"/>
            <a:ext cx="86106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/>
              <a:t>55 year-old person with Stage IV NSCLC</a:t>
            </a:r>
          </a:p>
          <a:p>
            <a:pPr lvl="1"/>
            <a:r>
              <a:rPr lang="en-US" sz="2400"/>
              <a:t>Adenocarcinoma histology</a:t>
            </a:r>
          </a:p>
          <a:p>
            <a:pPr lvl="1"/>
            <a:r>
              <a:rPr lang="en-US" sz="2400"/>
              <a:t>PD-L1 negative and No targetable oncogenic driver</a:t>
            </a:r>
          </a:p>
          <a:p>
            <a:pPr lvl="1"/>
            <a:r>
              <a:rPr lang="en-US" sz="2400"/>
              <a:t>No brain metastases</a:t>
            </a:r>
          </a:p>
          <a:p>
            <a:pPr lvl="1"/>
            <a:r>
              <a:rPr lang="en-US" sz="2400"/>
              <a:t>Good performance status</a:t>
            </a:r>
          </a:p>
          <a:p>
            <a:pPr marL="0" indent="0">
              <a:buNone/>
            </a:pPr>
            <a:endParaRPr lang="en-US" sz="2800"/>
          </a:p>
          <a:p>
            <a:pPr marL="0" indent="0">
              <a:buNone/>
            </a:pPr>
            <a:r>
              <a:rPr lang="en-US" sz="2800"/>
              <a:t>What is the most appropriate chemotherapy 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Cisplatin and gemcitabine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Cisplatin and pemetrexed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Carboplatin, paclitaxel, bevacizumab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Carboplatin, paclitaxel, erlotinib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Cisplatin, pemetrexed, pembrolizumab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DD5B40-1D48-4F88-3384-8F75B9F1EE44}"/>
                  </a:ext>
                </a:extLst>
              </p14:cNvPr>
              <p14:cNvContentPartPr/>
              <p14:nvPr/>
            </p14:nvContentPartPr>
            <p14:xfrm>
              <a:off x="2497196" y="1110356"/>
              <a:ext cx="1995120" cy="101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DD5B40-1D48-4F88-3384-8F75B9F1EE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79556" y="1092356"/>
                <a:ext cx="20307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7EFF12-1092-A5D1-2386-00642DF700A8}"/>
                  </a:ext>
                </a:extLst>
              </p14:cNvPr>
              <p14:cNvContentPartPr/>
              <p14:nvPr/>
            </p14:nvContentPartPr>
            <p14:xfrm>
              <a:off x="2448236" y="1572956"/>
              <a:ext cx="1622520" cy="29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7EFF12-1092-A5D1-2386-00642DF700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30236" y="1554956"/>
                <a:ext cx="16581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9BF8CEC-E65E-60DA-822D-864374752AC4}"/>
                  </a:ext>
                </a:extLst>
              </p14:cNvPr>
              <p14:cNvContentPartPr/>
              <p14:nvPr/>
            </p14:nvContentPartPr>
            <p14:xfrm>
              <a:off x="5122316" y="1582676"/>
              <a:ext cx="3677760" cy="39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9BF8CEC-E65E-60DA-822D-864374752A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04316" y="1564676"/>
                <a:ext cx="3713400" cy="7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47360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5A00E-DFA0-4C73-BCA6-C75D83428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We know treatment A (platinum doublet) works</a:t>
            </a:r>
          </a:p>
          <a:p>
            <a:r>
              <a:rPr lang="en-US" sz="2800" dirty="0"/>
              <a:t>We know treatment B (anti-PD-1/PD-L1 antibody) works after treatment A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We should combine A + B!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EFB1AB-836A-431A-A730-034341320F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7502" y="2741578"/>
            <a:ext cx="1188522" cy="16028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6C2B58-8FB1-48B6-8204-5A203AE77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Often, we aren’t so creative</a:t>
            </a:r>
          </a:p>
        </p:txBody>
      </p:sp>
    </p:spTree>
    <p:extLst>
      <p:ext uri="{BB962C8B-B14F-4D97-AF65-F5344CB8AC3E}">
        <p14:creationId xmlns:p14="http://schemas.microsoft.com/office/powerpoint/2010/main" val="30552285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Elbow Connector 17">
            <a:extLst>
              <a:ext uri="{FF2B5EF4-FFF2-40B4-BE49-F238E27FC236}">
                <a16:creationId xmlns:a16="http://schemas.microsoft.com/office/drawing/2014/main" id="{30B7F26E-6E87-47AC-83DC-948D8D5B3377}"/>
              </a:ext>
            </a:extLst>
          </p:cNvPr>
          <p:cNvCxnSpPr>
            <a:cxnSpLocks/>
            <a:stCxn id="54" idx="0"/>
          </p:cNvCxnSpPr>
          <p:nvPr/>
        </p:nvCxnSpPr>
        <p:spPr>
          <a:xfrm rot="5400000" flipH="1" flipV="1">
            <a:off x="4654266" y="2794015"/>
            <a:ext cx="728964" cy="664771"/>
          </a:xfrm>
          <a:prstGeom prst="bentConnector2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44" name="Elbow Connector 16">
            <a:extLst>
              <a:ext uri="{FF2B5EF4-FFF2-40B4-BE49-F238E27FC236}">
                <a16:creationId xmlns:a16="http://schemas.microsoft.com/office/drawing/2014/main" id="{3B0BE174-8FD3-4E3F-ADB1-41912ACC1A52}"/>
              </a:ext>
            </a:extLst>
          </p:cNvPr>
          <p:cNvCxnSpPr>
            <a:cxnSpLocks/>
            <a:stCxn id="54" idx="4"/>
            <a:endCxn id="59" idx="1"/>
          </p:cNvCxnSpPr>
          <p:nvPr/>
        </p:nvCxnSpPr>
        <p:spPr>
          <a:xfrm rot="16200000" flipH="1">
            <a:off x="4659565" y="4065065"/>
            <a:ext cx="718369" cy="664771"/>
          </a:xfrm>
          <a:prstGeom prst="bentConnector2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sp>
        <p:nvSpPr>
          <p:cNvPr id="59" name="Rounded Rectangle 6">
            <a:extLst>
              <a:ext uri="{FF2B5EF4-FFF2-40B4-BE49-F238E27FC236}">
                <a16:creationId xmlns:a16="http://schemas.microsoft.com/office/drawing/2014/main" id="{CBFF09E3-BDD4-4514-864B-54460C53DBCB}"/>
              </a:ext>
            </a:extLst>
          </p:cNvPr>
          <p:cNvSpPr/>
          <p:nvPr/>
        </p:nvSpPr>
        <p:spPr>
          <a:xfrm>
            <a:off x="5351133" y="4334978"/>
            <a:ext cx="2718043" cy="843317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09429">
              <a:spcBef>
                <a:spcPts val="267"/>
              </a:spcBef>
              <a:defRPr/>
            </a:pPr>
            <a:r>
              <a:rPr lang="en-GB" sz="1467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carboplatin/cisplatin + pemetrexed</a:t>
            </a:r>
          </a:p>
          <a:p>
            <a:pPr algn="ctr" defTabSz="609429">
              <a:spcBef>
                <a:spcPts val="267"/>
              </a:spcBef>
              <a:defRPr/>
            </a:pPr>
            <a:r>
              <a:rPr lang="en-GB" sz="1467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4 cycles</a:t>
            </a:r>
            <a:endParaRPr lang="en-SG" sz="1467" kern="0" dirty="0">
              <a:solidFill>
                <a:prstClr val="white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60" name="Rounded Rectangle 10">
            <a:extLst>
              <a:ext uri="{FF2B5EF4-FFF2-40B4-BE49-F238E27FC236}">
                <a16:creationId xmlns:a16="http://schemas.microsoft.com/office/drawing/2014/main" id="{F207C4F0-B2CB-48C5-8C1A-B8A6685C67F5}"/>
              </a:ext>
            </a:extLst>
          </p:cNvPr>
          <p:cNvSpPr/>
          <p:nvPr/>
        </p:nvSpPr>
        <p:spPr>
          <a:xfrm>
            <a:off x="8285145" y="4334978"/>
            <a:ext cx="1698777" cy="84331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09429">
              <a:defRPr/>
            </a:pPr>
            <a:r>
              <a:rPr lang="en-GB" sz="1600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placebo + pemetrexed</a:t>
            </a:r>
            <a:endParaRPr lang="en-SG" sz="1600" b="1" kern="0" baseline="30000" dirty="0">
              <a:solidFill>
                <a:prstClr val="white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0F1CB5D-1B2E-4496-8F3E-908428987485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 flipV="1">
            <a:off x="8069177" y="4756636"/>
            <a:ext cx="215967" cy="1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035AE3B-2AAA-47AE-B48A-E3E11F817779}"/>
              </a:ext>
            </a:extLst>
          </p:cNvPr>
          <p:cNvCxnSpPr>
            <a:cxnSpLocks/>
          </p:cNvCxnSpPr>
          <p:nvPr/>
        </p:nvCxnSpPr>
        <p:spPr>
          <a:xfrm>
            <a:off x="4280972" y="3764576"/>
            <a:ext cx="128219" cy="1"/>
          </a:xfrm>
          <a:prstGeom prst="line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2" name="Rounded Rectangle 3">
            <a:extLst>
              <a:ext uri="{FF2B5EF4-FFF2-40B4-BE49-F238E27FC236}">
                <a16:creationId xmlns:a16="http://schemas.microsoft.com/office/drawing/2014/main" id="{EAD5154C-CDF5-4EAD-B8FC-2F6852363AC5}"/>
              </a:ext>
            </a:extLst>
          </p:cNvPr>
          <p:cNvSpPr/>
          <p:nvPr/>
        </p:nvSpPr>
        <p:spPr>
          <a:xfrm>
            <a:off x="1562931" y="2447601"/>
            <a:ext cx="2718043" cy="2658992"/>
          </a:xfrm>
          <a:prstGeom prst="roundRect">
            <a:avLst/>
          </a:prstGeom>
          <a:solidFill>
            <a:srgbClr val="FFFFFF"/>
          </a:solidFill>
          <a:ln w="28575" cap="flat" cmpd="sng" algn="ctr">
            <a:solidFill>
              <a:srgbClr val="1F497D"/>
            </a:solidFill>
            <a:prstDash val="solid"/>
            <a:miter lim="800000"/>
          </a:ln>
          <a:effectLst/>
        </p:spPr>
        <p:txBody>
          <a:bodyPr lIns="60960" rIns="60960" rtlCol="0" anchor="ctr"/>
          <a:lstStyle/>
          <a:p>
            <a:pPr marL="228594" indent="-228594">
              <a:buFont typeface="Arial" panose="020B0604020202020204" pitchFamily="34" charset="0"/>
              <a:buChar char="•"/>
              <a:defRPr/>
            </a:pPr>
            <a:r>
              <a:rPr lang="en-GB" sz="1600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Recurrent/metastatic </a:t>
            </a:r>
            <a:r>
              <a:rPr lang="en-GB" sz="1600" kern="0" dirty="0" err="1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nonsquamous</a:t>
            </a:r>
            <a:r>
              <a:rPr lang="en-GB" sz="1600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 NSCLC</a:t>
            </a:r>
          </a:p>
          <a:p>
            <a:pPr marL="228594" indent="-228594">
              <a:buFont typeface="Arial" panose="020B0604020202020204" pitchFamily="34" charset="0"/>
              <a:buChar char="•"/>
              <a:defRPr/>
            </a:pPr>
            <a:r>
              <a:rPr lang="en-GB" sz="1600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no prior chemo</a:t>
            </a:r>
            <a:endParaRPr lang="en-GB" sz="1600" kern="0" baseline="30000" dirty="0">
              <a:solidFill>
                <a:prstClr val="black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  <a:p>
            <a:pPr marL="228594" indent="-228594">
              <a:buFont typeface="Arial" panose="020B0604020202020204" pitchFamily="34" charset="0"/>
              <a:buChar char="•"/>
              <a:defRPr/>
            </a:pPr>
            <a:r>
              <a:rPr lang="en-US" sz="1600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no EGFR+ or ALK+ </a:t>
            </a:r>
          </a:p>
          <a:p>
            <a:pPr marL="228594" indent="-228594">
              <a:buFont typeface="Arial" panose="020B0604020202020204" pitchFamily="34" charset="0"/>
              <a:buChar char="•"/>
              <a:defRPr/>
            </a:pPr>
            <a:r>
              <a:rPr lang="en-GB" sz="1600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sample for PD-L1 IHC status</a:t>
            </a:r>
          </a:p>
          <a:p>
            <a:pPr marL="228594" indent="-228594">
              <a:buFont typeface="Arial" panose="020B0604020202020204" pitchFamily="34" charset="0"/>
              <a:buChar char="•"/>
              <a:defRPr/>
            </a:pPr>
            <a:r>
              <a:rPr lang="en-GB" sz="1600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no symptomatic brain metastases</a:t>
            </a:r>
          </a:p>
          <a:p>
            <a:pPr marL="228594" indent="-228594">
              <a:buFont typeface="Arial" panose="020B0604020202020204" pitchFamily="34" charset="0"/>
              <a:buChar char="•"/>
              <a:defRPr/>
            </a:pPr>
            <a:r>
              <a:rPr lang="en-GB" sz="1600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No pneumonitis 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F42F0B5-9A3C-4375-B355-BF7A54076E3D}"/>
              </a:ext>
            </a:extLst>
          </p:cNvPr>
          <p:cNvSpPr/>
          <p:nvPr/>
        </p:nvSpPr>
        <p:spPr>
          <a:xfrm>
            <a:off x="4412043" y="3490882"/>
            <a:ext cx="548640" cy="547385"/>
          </a:xfrm>
          <a:prstGeom prst="ellipse">
            <a:avLst/>
          </a:prstGeom>
          <a:solidFill>
            <a:srgbClr val="D4DDE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09429">
              <a:defRPr/>
            </a:pPr>
            <a:r>
              <a:rPr lang="en-US" sz="1200" b="1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R</a:t>
            </a:r>
            <a:br>
              <a:rPr lang="en-US" sz="1200" b="1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</a:br>
            <a:r>
              <a:rPr lang="en-US" sz="1200" b="1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2:1</a:t>
            </a:r>
            <a:endParaRPr lang="en-GB" sz="1200" b="1" kern="0" dirty="0">
              <a:solidFill>
                <a:prstClr val="black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55" name="Rounded Rectangle 24">
            <a:extLst>
              <a:ext uri="{FF2B5EF4-FFF2-40B4-BE49-F238E27FC236}">
                <a16:creationId xmlns:a16="http://schemas.microsoft.com/office/drawing/2014/main" id="{2B333A77-2AF5-4F60-B30E-0B5377E8EADA}"/>
              </a:ext>
            </a:extLst>
          </p:cNvPr>
          <p:cNvSpPr/>
          <p:nvPr/>
        </p:nvSpPr>
        <p:spPr>
          <a:xfrm>
            <a:off x="5351133" y="2260712"/>
            <a:ext cx="2718043" cy="990997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09429">
              <a:spcBef>
                <a:spcPts val="267"/>
              </a:spcBef>
              <a:defRPr/>
            </a:pPr>
            <a:r>
              <a:rPr lang="en-GB" sz="1467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pembrolizumab</a:t>
            </a:r>
            <a:r>
              <a:rPr lang="en-GB" sz="1467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 </a:t>
            </a:r>
            <a:r>
              <a:rPr lang="en-GB" sz="1467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+ carboplatin/cisplatin</a:t>
            </a:r>
            <a:r>
              <a:rPr lang="en-GB" sz="1467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 </a:t>
            </a:r>
            <a:r>
              <a:rPr lang="en-GB" sz="1467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+ pemetrexed</a:t>
            </a:r>
          </a:p>
          <a:p>
            <a:pPr algn="ctr" defTabSz="609429">
              <a:spcBef>
                <a:spcPts val="267"/>
              </a:spcBef>
              <a:defRPr/>
            </a:pPr>
            <a:r>
              <a:rPr lang="en-GB" sz="1467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4 cycles</a:t>
            </a:r>
            <a:endParaRPr lang="en-SG" sz="1467" kern="0" dirty="0">
              <a:solidFill>
                <a:prstClr val="white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56" name="Rounded Rectangle 25">
            <a:extLst>
              <a:ext uri="{FF2B5EF4-FFF2-40B4-BE49-F238E27FC236}">
                <a16:creationId xmlns:a16="http://schemas.microsoft.com/office/drawing/2014/main" id="{66EFD5C3-1A0B-4CC0-A415-0393A3F1463D}"/>
              </a:ext>
            </a:extLst>
          </p:cNvPr>
          <p:cNvSpPr/>
          <p:nvPr/>
        </p:nvSpPr>
        <p:spPr>
          <a:xfrm>
            <a:off x="8285145" y="2260712"/>
            <a:ext cx="1698777" cy="990997"/>
          </a:xfrm>
          <a:prstGeom prst="round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09429">
              <a:defRPr/>
            </a:pPr>
            <a:r>
              <a:rPr lang="en-GB" sz="1400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pembrolizumab + pemetrexed</a:t>
            </a:r>
            <a:endParaRPr lang="en-SG" sz="1400" b="1" kern="0" baseline="30000" dirty="0">
              <a:solidFill>
                <a:prstClr val="white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508232C-1A5B-458B-B09D-6E68E2225AF4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8069177" y="2756211"/>
            <a:ext cx="215967" cy="0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EF60C0D-8132-4CD2-8B82-A223D2958516}"/>
              </a:ext>
            </a:extLst>
          </p:cNvPr>
          <p:cNvSpPr txBox="1"/>
          <p:nvPr/>
        </p:nvSpPr>
        <p:spPr>
          <a:xfrm>
            <a:off x="7924800" y="6324600"/>
            <a:ext cx="2559956" cy="369328"/>
          </a:xfrm>
          <a:prstGeom prst="rect">
            <a:avLst/>
          </a:prstGeom>
          <a:noFill/>
        </p:spPr>
        <p:txBody>
          <a:bodyPr wrap="none" lIns="91420" tIns="45718" rIns="91420" bIns="45718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Gandhi et al NEJM 2018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72D1E704-21A2-42FC-8526-FD875C14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Does adding pembrolizumab to platinum/pemetrexed in  “non-squamous” NSCLC improve outcomes? (Keynote 189)</a:t>
            </a:r>
            <a:endParaRPr lang="en-GB" sz="3200" b="0" dirty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806358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549400"/>
            <a:ext cx="777240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4800" y="6324600"/>
            <a:ext cx="2559956" cy="369328"/>
          </a:xfrm>
          <a:prstGeom prst="rect">
            <a:avLst/>
          </a:prstGeom>
          <a:noFill/>
        </p:spPr>
        <p:txBody>
          <a:bodyPr wrap="none" lIns="91420" tIns="45718" rIns="91420" bIns="45718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Gandhi et al NEJM 2018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Adding pembrolizumab to chemotherapy </a:t>
            </a:r>
            <a:b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in “non-squamous” NSCLC improves PFS</a:t>
            </a:r>
          </a:p>
        </p:txBody>
      </p:sp>
    </p:spTree>
    <p:extLst>
      <p:ext uri="{BB962C8B-B14F-4D97-AF65-F5344CB8AC3E}">
        <p14:creationId xmlns:p14="http://schemas.microsoft.com/office/powerpoint/2010/main" val="15860749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549400"/>
            <a:ext cx="777240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4800" y="6324600"/>
            <a:ext cx="2559956" cy="369328"/>
          </a:xfrm>
          <a:prstGeom prst="rect">
            <a:avLst/>
          </a:prstGeom>
          <a:noFill/>
        </p:spPr>
        <p:txBody>
          <a:bodyPr wrap="none" lIns="91420" tIns="45718" rIns="91420" bIns="45718" rtlCol="0">
            <a:spAutoFit/>
          </a:bodyPr>
          <a:lstStyle/>
          <a:p>
            <a:r>
              <a:rPr lang="en-US" dirty="0">
                <a:solidFill>
                  <a:srgbClr val="113468"/>
                </a:solidFill>
                <a:latin typeface="Franklin Gothic Book" panose="020B0503020102020204" pitchFamily="34" charset="0"/>
              </a:rPr>
              <a:t>Gandhi et al NEJM 2018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61C952-68E4-53A3-93D7-FAFD15E189AA}"/>
              </a:ext>
            </a:extLst>
          </p:cNvPr>
          <p:cNvSpPr txBox="1"/>
          <p:nvPr/>
        </p:nvSpPr>
        <p:spPr>
          <a:xfrm>
            <a:off x="8858233" y="2716957"/>
            <a:ext cx="2622567" cy="2308324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This will be the treatment you see used most:</a:t>
            </a:r>
          </a:p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carboplatin,</a:t>
            </a:r>
          </a:p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pemetrexed,</a:t>
            </a:r>
          </a:p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pembrolizumab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Adding pembrolizumab to chemotherapy </a:t>
            </a:r>
            <a:b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in “non-squamous” NSCLC improves PFS</a:t>
            </a:r>
          </a:p>
        </p:txBody>
      </p:sp>
    </p:spTree>
    <p:extLst>
      <p:ext uri="{BB962C8B-B14F-4D97-AF65-F5344CB8AC3E}">
        <p14:creationId xmlns:p14="http://schemas.microsoft.com/office/powerpoint/2010/main" val="28934288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924800" y="6183872"/>
            <a:ext cx="2559956" cy="369328"/>
          </a:xfrm>
          <a:prstGeom prst="rect">
            <a:avLst/>
          </a:prstGeom>
          <a:noFill/>
        </p:spPr>
        <p:txBody>
          <a:bodyPr wrap="none" lIns="91420" tIns="45718" rIns="91420" bIns="45718" rtlCol="0">
            <a:spAutoFit/>
          </a:bodyPr>
          <a:lstStyle/>
          <a:p>
            <a:r>
              <a:rPr lang="en-US" dirty="0">
                <a:solidFill>
                  <a:srgbClr val="113468"/>
                </a:solidFill>
                <a:latin typeface="Franklin Gothic Book" panose="020B0503020102020204" pitchFamily="34" charset="0"/>
              </a:rPr>
              <a:t>Gandhi et al NEJM 2018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2" y="1578428"/>
            <a:ext cx="7391399" cy="41365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Adding pembrolizumab to chemotherapy in “non-squamous” NSCLC improves overall survival</a:t>
            </a:r>
          </a:p>
        </p:txBody>
      </p:sp>
    </p:spTree>
    <p:extLst>
      <p:ext uri="{BB962C8B-B14F-4D97-AF65-F5344CB8AC3E}">
        <p14:creationId xmlns:p14="http://schemas.microsoft.com/office/powerpoint/2010/main" val="27466488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E972C1-F98C-9166-C0AE-F31C0774D1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9392682"/>
              </p:ext>
            </p:extLst>
          </p:nvPr>
        </p:nvGraphicFramePr>
        <p:xfrm>
          <a:off x="2422187" y="2368685"/>
          <a:ext cx="5881992" cy="2286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940996">
                  <a:extLst>
                    <a:ext uri="{9D8B030D-6E8A-4147-A177-3AD203B41FA5}">
                      <a16:colId xmlns:a16="http://schemas.microsoft.com/office/drawing/2014/main" val="3676038909"/>
                    </a:ext>
                  </a:extLst>
                </a:gridCol>
                <a:gridCol w="2940996">
                  <a:extLst>
                    <a:ext uri="{9D8B030D-6E8A-4147-A177-3AD203B41FA5}">
                      <a16:colId xmlns:a16="http://schemas.microsoft.com/office/drawing/2014/main" val="10418428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PD-L1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OS HR (95% CI)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601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All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0.49 (0.38-0.64)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20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PD-L1 ≥ 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0.42 (0.26-0.68)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371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PD-L1 1-49%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0.55 (0.34-0.90)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94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PD-L1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0.59 (0.38-0.92)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880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28EF4A-1854-00F1-DBB2-2DE10D78423D}"/>
              </a:ext>
            </a:extLst>
          </p:cNvPr>
          <p:cNvSpPr txBox="1"/>
          <p:nvPr/>
        </p:nvSpPr>
        <p:spPr>
          <a:xfrm>
            <a:off x="7924800" y="6183872"/>
            <a:ext cx="2559956" cy="369328"/>
          </a:xfrm>
          <a:prstGeom prst="rect">
            <a:avLst/>
          </a:prstGeom>
          <a:noFill/>
        </p:spPr>
        <p:txBody>
          <a:bodyPr wrap="none" lIns="91420" tIns="45718" rIns="91420" bIns="45718" rtlCol="0">
            <a:spAutoFit/>
          </a:bodyPr>
          <a:lstStyle/>
          <a:p>
            <a:r>
              <a:rPr lang="en-US" dirty="0">
                <a:solidFill>
                  <a:srgbClr val="113468"/>
                </a:solidFill>
                <a:latin typeface="Franklin Gothic Book" panose="020B0503020102020204" pitchFamily="34" charset="0"/>
              </a:rPr>
              <a:t>Gandhi et al NEJM 2018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75E39-E115-ACAB-1040-D98103A9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PD-L1 levels predict greater benefit, but all patients appear to benefit</a:t>
            </a:r>
          </a:p>
        </p:txBody>
      </p:sp>
    </p:spTree>
    <p:extLst>
      <p:ext uri="{BB962C8B-B14F-4D97-AF65-F5344CB8AC3E}">
        <p14:creationId xmlns:p14="http://schemas.microsoft.com/office/powerpoint/2010/main" val="37535801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28601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55 year-old person with Stage IV NSCLC</a:t>
            </a:r>
          </a:p>
          <a:p>
            <a:pPr lvl="1"/>
            <a:r>
              <a:rPr lang="en-US" sz="2400" dirty="0"/>
              <a:t>Adenocarcinoma histology</a:t>
            </a:r>
          </a:p>
          <a:p>
            <a:pPr lvl="1"/>
            <a:r>
              <a:rPr lang="en-US" sz="2400" dirty="0"/>
              <a:t>PD-L1 negative and No targetable oncogenic driver</a:t>
            </a:r>
          </a:p>
          <a:p>
            <a:pPr lvl="1"/>
            <a:r>
              <a:rPr lang="en-US" sz="2400" dirty="0"/>
              <a:t>No brain metastases</a:t>
            </a:r>
          </a:p>
          <a:p>
            <a:pPr lvl="1"/>
            <a:r>
              <a:rPr lang="en-US" sz="2400" dirty="0"/>
              <a:t>Good performance status</a:t>
            </a:r>
          </a:p>
          <a:p>
            <a:r>
              <a:rPr lang="en-US" sz="2800" dirty="0"/>
              <a:t>What is the most appropriate chemotherapy 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Cisplatin, gemcitabine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Cisplatin and pemetrexed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Carboplatin, paclitaxel, bevacizumab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Carboplatin, paclitaxel, erlotinib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b="1" dirty="0"/>
              <a:t>Cisplatin, pemetrexed, pembrolizumab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5059741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latin typeface="Franklin Gothic Book" panose="020B0503020102020204" pitchFamily="34" charset="0"/>
              </a:rPr>
              <a:t>Cisplatin, pemetrexed, pembrolizumab is better than cisplatin/pemetrexed (regardless of PD-L1 expression).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C6D531-8791-0EAF-7211-9409F64750E9}"/>
                  </a:ext>
                </a:extLst>
              </p14:cNvPr>
              <p14:cNvContentPartPr/>
              <p14:nvPr/>
            </p14:nvContentPartPr>
            <p14:xfrm>
              <a:off x="2329796" y="4492196"/>
              <a:ext cx="5719680" cy="316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C6D531-8791-0EAF-7211-9409F64750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76156" y="4384556"/>
                <a:ext cx="5827320" cy="53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51493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228600"/>
            <a:ext cx="93726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/>
              <a:t>55 year-old person with Stage IV NSCLC</a:t>
            </a:r>
          </a:p>
          <a:p>
            <a:pPr lvl="1"/>
            <a:r>
              <a:rPr lang="en-US" sz="2400"/>
              <a:t>Adenocarcinoma histology</a:t>
            </a:r>
          </a:p>
          <a:p>
            <a:pPr lvl="1"/>
            <a:r>
              <a:rPr lang="en-US" sz="2400"/>
              <a:t>No targetable oncogenic driver</a:t>
            </a:r>
          </a:p>
          <a:p>
            <a:pPr lvl="1"/>
            <a:r>
              <a:rPr lang="en-US" sz="2400"/>
              <a:t>No brain metastases</a:t>
            </a:r>
          </a:p>
          <a:p>
            <a:pPr lvl="1"/>
            <a:r>
              <a:rPr lang="en-US" sz="2400"/>
              <a:t>Good performance status</a:t>
            </a:r>
          </a:p>
          <a:p>
            <a:pPr lvl="1"/>
            <a:r>
              <a:rPr lang="en-US" sz="2400"/>
              <a:t>Hemoptysis (3 tablespoons)</a:t>
            </a:r>
          </a:p>
          <a:p>
            <a:pPr lvl="1"/>
            <a:endParaRPr lang="en-US" sz="2400"/>
          </a:p>
          <a:p>
            <a:r>
              <a:rPr lang="en-US" sz="2800"/>
              <a:t>What is the most appropriate chemotherapy 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Cisplatin, gemcitabine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Carboplatin, paclitaxel, bevacizumab, atezolizumab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Carboplatin, paclitaxel, bevacizumab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Carboplatin, paclitaxel, erlotinib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Cisplatin, pemetrexed, pembrolizumab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DE407D-3ECC-3EA1-7F72-5550B51AD253}"/>
                  </a:ext>
                </a:extLst>
              </p14:cNvPr>
              <p14:cNvContentPartPr/>
              <p14:nvPr/>
            </p14:nvContentPartPr>
            <p14:xfrm>
              <a:off x="2713556" y="2929796"/>
              <a:ext cx="1272600" cy="38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DE407D-3ECC-3EA1-7F72-5550B51AD2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95556" y="2911796"/>
                <a:ext cx="1308240" cy="7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28418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Elbow Connector 17">
            <a:extLst>
              <a:ext uri="{FF2B5EF4-FFF2-40B4-BE49-F238E27FC236}">
                <a16:creationId xmlns:a16="http://schemas.microsoft.com/office/drawing/2014/main" id="{30B7F26E-6E87-47AC-83DC-948D8D5B3377}"/>
              </a:ext>
            </a:extLst>
          </p:cNvPr>
          <p:cNvCxnSpPr>
            <a:cxnSpLocks/>
            <a:stCxn id="54" idx="0"/>
          </p:cNvCxnSpPr>
          <p:nvPr/>
        </p:nvCxnSpPr>
        <p:spPr>
          <a:xfrm rot="5400000" flipH="1" flipV="1">
            <a:off x="3899175" y="2788211"/>
            <a:ext cx="728964" cy="498578"/>
          </a:xfrm>
          <a:prstGeom prst="bentConnector2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44" name="Elbow Connector 16">
            <a:extLst>
              <a:ext uri="{FF2B5EF4-FFF2-40B4-BE49-F238E27FC236}">
                <a16:creationId xmlns:a16="http://schemas.microsoft.com/office/drawing/2014/main" id="{3B0BE174-8FD3-4E3F-ADB1-41912ACC1A52}"/>
              </a:ext>
            </a:extLst>
          </p:cNvPr>
          <p:cNvCxnSpPr>
            <a:cxnSpLocks/>
            <a:stCxn id="54" idx="4"/>
            <a:endCxn id="59" idx="1"/>
          </p:cNvCxnSpPr>
          <p:nvPr/>
        </p:nvCxnSpPr>
        <p:spPr>
          <a:xfrm rot="16200000" flipH="1">
            <a:off x="3904473" y="4059263"/>
            <a:ext cx="718369" cy="498578"/>
          </a:xfrm>
          <a:prstGeom prst="bentConnector2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sp>
        <p:nvSpPr>
          <p:cNvPr id="59" name="Rounded Rectangle 6">
            <a:extLst>
              <a:ext uri="{FF2B5EF4-FFF2-40B4-BE49-F238E27FC236}">
                <a16:creationId xmlns:a16="http://schemas.microsoft.com/office/drawing/2014/main" id="{CBFF09E3-BDD4-4514-864B-54460C53DBCB}"/>
              </a:ext>
            </a:extLst>
          </p:cNvPr>
          <p:cNvSpPr/>
          <p:nvPr/>
        </p:nvSpPr>
        <p:spPr>
          <a:xfrm>
            <a:off x="4512946" y="4246078"/>
            <a:ext cx="2545648" cy="843317"/>
          </a:xfrm>
          <a:prstGeom prst="roundRect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083">
              <a:spcBef>
                <a:spcPts val="200"/>
              </a:spcBef>
              <a:defRPr/>
            </a:pPr>
            <a:r>
              <a:rPr lang="en-GB" sz="1400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Carboplatin + Paclitaxel</a:t>
            </a:r>
            <a:endParaRPr lang="en-GB" sz="1400" b="1" kern="0" baseline="30000" dirty="0">
              <a:solidFill>
                <a:prstClr val="white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  <a:p>
            <a:pPr algn="ctr" defTabSz="457083">
              <a:defRPr/>
            </a:pPr>
            <a:r>
              <a:rPr lang="en-GB" sz="1400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+ Bevacizumab </a:t>
            </a:r>
          </a:p>
          <a:p>
            <a:pPr algn="ctr" defTabSz="457083">
              <a:spcBef>
                <a:spcPts val="200"/>
              </a:spcBef>
              <a:defRPr/>
            </a:pPr>
            <a:r>
              <a:rPr lang="en-GB" sz="1400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4 or 6 cycles</a:t>
            </a:r>
            <a:endParaRPr lang="en-SG" sz="1400" b="1" kern="0" dirty="0">
              <a:solidFill>
                <a:prstClr val="white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60" name="Rounded Rectangle 10">
            <a:extLst>
              <a:ext uri="{FF2B5EF4-FFF2-40B4-BE49-F238E27FC236}">
                <a16:creationId xmlns:a16="http://schemas.microsoft.com/office/drawing/2014/main" id="{F207C4F0-B2CB-48C5-8C1A-B8A6685C67F5}"/>
              </a:ext>
            </a:extLst>
          </p:cNvPr>
          <p:cNvSpPr/>
          <p:nvPr/>
        </p:nvSpPr>
        <p:spPr>
          <a:xfrm>
            <a:off x="7267930" y="4246078"/>
            <a:ext cx="2119261" cy="843316"/>
          </a:xfrm>
          <a:prstGeom prst="roundRect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083">
              <a:defRPr/>
            </a:pPr>
            <a:r>
              <a:rPr lang="en-GB" sz="1600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Bevacizumab</a:t>
            </a:r>
            <a:endParaRPr lang="en-SG" sz="1600" b="1" kern="0" baseline="30000" dirty="0">
              <a:solidFill>
                <a:prstClr val="white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0F1CB5D-1B2E-4496-8F3E-908428987485}"/>
              </a:ext>
            </a:extLst>
          </p:cNvPr>
          <p:cNvCxnSpPr>
            <a:cxnSpLocks/>
            <a:endCxn id="60" idx="1"/>
          </p:cNvCxnSpPr>
          <p:nvPr/>
        </p:nvCxnSpPr>
        <p:spPr>
          <a:xfrm flipV="1">
            <a:off x="7105954" y="4667736"/>
            <a:ext cx="161976" cy="1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A516321-122C-400F-AD34-F2973B249490}"/>
              </a:ext>
            </a:extLst>
          </p:cNvPr>
          <p:cNvCxnSpPr>
            <a:cxnSpLocks/>
            <a:stCxn id="54" idx="6"/>
            <a:endCxn id="55" idx="1"/>
          </p:cNvCxnSpPr>
          <p:nvPr/>
        </p:nvCxnSpPr>
        <p:spPr>
          <a:xfrm>
            <a:off x="4220108" y="3675675"/>
            <a:ext cx="292838" cy="1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035AE3B-2AAA-47AE-B48A-E3E11F817779}"/>
              </a:ext>
            </a:extLst>
          </p:cNvPr>
          <p:cNvCxnSpPr>
            <a:cxnSpLocks/>
          </p:cNvCxnSpPr>
          <p:nvPr/>
        </p:nvCxnSpPr>
        <p:spPr>
          <a:xfrm>
            <a:off x="3710325" y="3675675"/>
            <a:ext cx="96164" cy="1"/>
          </a:xfrm>
          <a:prstGeom prst="line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2" name="Rounded Rectangle 3">
            <a:extLst>
              <a:ext uri="{FF2B5EF4-FFF2-40B4-BE49-F238E27FC236}">
                <a16:creationId xmlns:a16="http://schemas.microsoft.com/office/drawing/2014/main" id="{EAD5154C-CDF5-4EAD-B8FC-2F6852363AC5}"/>
              </a:ext>
            </a:extLst>
          </p:cNvPr>
          <p:cNvSpPr/>
          <p:nvPr/>
        </p:nvSpPr>
        <p:spPr>
          <a:xfrm>
            <a:off x="1089498" y="2343306"/>
            <a:ext cx="2615689" cy="2664739"/>
          </a:xfrm>
          <a:prstGeom prst="roundRect">
            <a:avLst/>
          </a:prstGeom>
          <a:solidFill>
            <a:srgbClr val="FFFFFF"/>
          </a:solidFill>
          <a:ln w="28575" cap="flat" cmpd="sng" algn="ctr">
            <a:solidFill>
              <a:srgbClr val="1F497D"/>
            </a:solidFill>
            <a:prstDash val="solid"/>
            <a:miter lim="800000"/>
          </a:ln>
          <a:effectLst/>
        </p:spPr>
        <p:txBody>
          <a:bodyPr lIns="45720" r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GB" sz="1600" b="1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Stage IV or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GB" sz="1600" b="1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recurrent metastatic </a:t>
            </a:r>
            <a:r>
              <a:rPr lang="en-GB" sz="1600" b="1" kern="0" dirty="0" err="1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nonsquamous</a:t>
            </a:r>
            <a:r>
              <a:rPr lang="en-GB" sz="1600" b="1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 NSCLC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GB" sz="1600" b="1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Chemotherapy-</a:t>
            </a:r>
            <a:r>
              <a:rPr lang="en-GB" sz="1600" b="1" kern="0" dirty="0" err="1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naive</a:t>
            </a:r>
            <a:r>
              <a:rPr lang="en-GB" sz="1600" b="1" kern="0" baseline="30000" dirty="0" err="1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a</a:t>
            </a:r>
            <a:endParaRPr lang="en-GB" sz="1600" b="1" kern="0" baseline="30000" dirty="0">
              <a:solidFill>
                <a:prstClr val="black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b="1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Tumor tissue available for biomarker testing</a:t>
            </a:r>
            <a:endParaRPr lang="en-GB" sz="1600" b="1" kern="0" dirty="0">
              <a:solidFill>
                <a:prstClr val="black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GB" sz="1600" b="1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Any PD-L1 IHC status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GB" sz="900" b="1" kern="0" dirty="0">
              <a:solidFill>
                <a:srgbClr val="000000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GB" sz="1600" b="1" kern="0" dirty="0">
                <a:solidFill>
                  <a:srgbClr val="000000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N = 1202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F42F0B5-9A3C-4375-B355-BF7A54076E3D}"/>
              </a:ext>
            </a:extLst>
          </p:cNvPr>
          <p:cNvSpPr/>
          <p:nvPr/>
        </p:nvSpPr>
        <p:spPr>
          <a:xfrm>
            <a:off x="3808628" y="3401982"/>
            <a:ext cx="411480" cy="547386"/>
          </a:xfrm>
          <a:prstGeom prst="ellipse">
            <a:avLst/>
          </a:prstGeom>
          <a:solidFill>
            <a:srgbClr val="D4DDE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457083">
              <a:defRPr/>
            </a:pPr>
            <a:r>
              <a:rPr lang="en-US" sz="1050" b="1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R</a:t>
            </a:r>
            <a:br>
              <a:rPr lang="en-US" sz="1050" b="1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</a:br>
            <a:r>
              <a:rPr lang="en-US" sz="1050" b="1" kern="0" dirty="0">
                <a:solidFill>
                  <a:prstClr val="black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1:1:1</a:t>
            </a:r>
            <a:endParaRPr lang="en-GB" sz="1050" b="1" kern="0" dirty="0">
              <a:solidFill>
                <a:prstClr val="black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55" name="Rounded Rectangle 24">
            <a:extLst>
              <a:ext uri="{FF2B5EF4-FFF2-40B4-BE49-F238E27FC236}">
                <a16:creationId xmlns:a16="http://schemas.microsoft.com/office/drawing/2014/main" id="{2B333A77-2AF5-4F60-B30E-0B5377E8EADA}"/>
              </a:ext>
            </a:extLst>
          </p:cNvPr>
          <p:cNvSpPr/>
          <p:nvPr/>
        </p:nvSpPr>
        <p:spPr>
          <a:xfrm>
            <a:off x="4512946" y="3180177"/>
            <a:ext cx="2545648" cy="990997"/>
          </a:xfrm>
          <a:prstGeom prst="roundRect">
            <a:avLst/>
          </a:prstGeom>
          <a:solidFill>
            <a:srgbClr val="1F497D"/>
          </a:solidFill>
          <a:ln w="12700" cap="flat" cmpd="sng" algn="ctr">
            <a:solidFill>
              <a:srgbClr val="1F49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083">
              <a:spcBef>
                <a:spcPts val="200"/>
              </a:spcBef>
              <a:defRPr/>
            </a:pPr>
            <a:r>
              <a:rPr lang="en-GB" sz="1400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Atezolizumab + Carboplatin + Paclitaxel</a:t>
            </a:r>
            <a:endParaRPr lang="en-SG" sz="1400" b="1" kern="0" baseline="30000" dirty="0">
              <a:solidFill>
                <a:prstClr val="white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  <a:p>
            <a:pPr algn="ctr" defTabSz="457083">
              <a:defRPr/>
            </a:pPr>
            <a:r>
              <a:rPr lang="en-GB" sz="1400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+ Bevacizumab</a:t>
            </a:r>
            <a:endParaRPr lang="en-GB" sz="800" b="1" kern="0" baseline="30000" dirty="0">
              <a:solidFill>
                <a:prstClr val="white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  <a:p>
            <a:pPr algn="ctr" defTabSz="457083">
              <a:spcBef>
                <a:spcPts val="200"/>
              </a:spcBef>
              <a:defRPr/>
            </a:pPr>
            <a:r>
              <a:rPr lang="en-GB" sz="1400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4 or 6 cycles</a:t>
            </a:r>
            <a:endParaRPr lang="en-SG" sz="1400" b="1" kern="0" dirty="0">
              <a:solidFill>
                <a:prstClr val="white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56" name="Rounded Rectangle 25">
            <a:extLst>
              <a:ext uri="{FF2B5EF4-FFF2-40B4-BE49-F238E27FC236}">
                <a16:creationId xmlns:a16="http://schemas.microsoft.com/office/drawing/2014/main" id="{66EFD5C3-1A0B-4CC0-A415-0393A3F1463D}"/>
              </a:ext>
            </a:extLst>
          </p:cNvPr>
          <p:cNvSpPr/>
          <p:nvPr/>
        </p:nvSpPr>
        <p:spPr>
          <a:xfrm>
            <a:off x="7267930" y="3180177"/>
            <a:ext cx="2119261" cy="990997"/>
          </a:xfrm>
          <a:prstGeom prst="roundRect">
            <a:avLst/>
          </a:prstGeom>
          <a:solidFill>
            <a:srgbClr val="1F497D"/>
          </a:solidFill>
          <a:ln w="12700" cap="flat" cmpd="sng" algn="ctr">
            <a:solidFill>
              <a:srgbClr val="1F49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083">
              <a:defRPr/>
            </a:pPr>
            <a:r>
              <a:rPr lang="en-GB" sz="1600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Atezolizumab </a:t>
            </a:r>
          </a:p>
          <a:p>
            <a:pPr algn="ctr" defTabSz="457083">
              <a:defRPr/>
            </a:pPr>
            <a:r>
              <a:rPr lang="en-GB" sz="1600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+ </a:t>
            </a:r>
          </a:p>
          <a:p>
            <a:pPr algn="ctr" defTabSz="457083">
              <a:defRPr/>
            </a:pPr>
            <a:r>
              <a:rPr lang="en-GB" sz="1600" b="1" kern="0" dirty="0">
                <a:solidFill>
                  <a:prstClr val="white"/>
                </a:solidFill>
                <a:latin typeface="Franklin Gothic Book" panose="020B0503020102020204" pitchFamily="34" charset="0"/>
                <a:ea typeface="ＭＳ Ｐゴシック"/>
                <a:cs typeface="Arial" panose="020B0604020202020204" pitchFamily="34" charset="0"/>
              </a:rPr>
              <a:t>Bevacizumab</a:t>
            </a:r>
            <a:endParaRPr lang="en-SG" sz="1600" b="1" kern="0" baseline="30000" dirty="0">
              <a:solidFill>
                <a:prstClr val="white"/>
              </a:solidFill>
              <a:latin typeface="Franklin Gothic Book" panose="020B0503020102020204" pitchFamily="34" charset="0"/>
              <a:ea typeface="ＭＳ Ｐゴシック"/>
              <a:cs typeface="Arial" panose="020B0604020202020204" pitchFamily="34" charset="0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508232C-1A5B-458B-B09D-6E68E2225AF4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7105954" y="3675676"/>
            <a:ext cx="161976" cy="0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7987535" y="6259932"/>
            <a:ext cx="4544016" cy="338555"/>
          </a:xfrm>
          <a:prstGeom prst="rect">
            <a:avLst/>
          </a:prstGeom>
          <a:solidFill>
            <a:schemeClr val="bg1"/>
          </a:solidFill>
        </p:spPr>
        <p:txBody>
          <a:bodyPr wrap="square" lIns="91422" tIns="45718" rIns="91422" bIns="45718" rtlCol="0">
            <a:spAutoFit/>
          </a:bodyPr>
          <a:lstStyle/>
          <a:p>
            <a:r>
              <a:rPr lang="en-US" sz="1600" dirty="0">
                <a:latin typeface="Franklin Gothic Book" panose="020B0503020102020204" pitchFamily="34" charset="0"/>
              </a:rPr>
              <a:t>Socinski et al, NEJM 2018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72D1E704-21A2-42FC-8526-FD875C14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Does adding atezolizumab to carboplatin/paclitaxel/bevacizumab improve outcomes in non-squamous NSCLC</a:t>
            </a:r>
            <a:endParaRPr lang="en-GB" sz="2800" b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653265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987535" y="6259932"/>
            <a:ext cx="4544016" cy="338555"/>
          </a:xfrm>
          <a:prstGeom prst="rect">
            <a:avLst/>
          </a:prstGeom>
          <a:solidFill>
            <a:schemeClr val="bg1"/>
          </a:solidFill>
        </p:spPr>
        <p:txBody>
          <a:bodyPr wrap="square" lIns="91422" tIns="45718" rIns="91422" bIns="45718" rtlCol="0">
            <a:spAutoFit/>
          </a:bodyPr>
          <a:lstStyle/>
          <a:p>
            <a:r>
              <a:rPr lang="en-US" sz="1600" dirty="0">
                <a:latin typeface="Franklin Gothic Book" panose="020B0503020102020204" pitchFamily="34" charset="0"/>
              </a:rPr>
              <a:t>Socinski et al, NEJM 2018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9C4D8E-3055-482F-99A6-B4214ACA0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304" y="1264024"/>
            <a:ext cx="12059620" cy="4652681"/>
          </a:xfrm>
          <a:prstGeom prst="rect">
            <a:avLst/>
          </a:prstGeo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72D1E704-21A2-42FC-8526-FD875C14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Adding atezolizumab to carboplatin/paclitaxel/bevacizumab  improves PFS in non-squamous NSCLC</a:t>
            </a:r>
            <a:endParaRPr lang="en-GB" sz="2800" b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3061512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987535" y="6259932"/>
            <a:ext cx="4544016" cy="338555"/>
          </a:xfrm>
          <a:prstGeom prst="rect">
            <a:avLst/>
          </a:prstGeom>
          <a:solidFill>
            <a:schemeClr val="bg1"/>
          </a:solidFill>
        </p:spPr>
        <p:txBody>
          <a:bodyPr wrap="square" lIns="91422" tIns="45718" rIns="91422" bIns="45718" rtlCol="0">
            <a:spAutoFit/>
          </a:bodyPr>
          <a:lstStyle/>
          <a:p>
            <a:r>
              <a:rPr lang="en-US" sz="1600" dirty="0">
                <a:latin typeface="Franklin Gothic Book" panose="020B0503020102020204" pitchFamily="34" charset="0"/>
              </a:rPr>
              <a:t>Socinski et al, NEJM 2018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E07758-46AC-49AA-9027-19095FA70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92" y="1196789"/>
            <a:ext cx="10404483" cy="5063144"/>
          </a:xfrm>
          <a:prstGeom prst="rect">
            <a:avLst/>
          </a:prstGeo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72D1E704-21A2-42FC-8526-FD875C14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Adding atezolizumab to carboplatin/paclitaxel/bevacizumab  improves OS in non-squamous NSCLC</a:t>
            </a:r>
            <a:endParaRPr lang="en-GB" sz="2800" b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6359867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28601"/>
            <a:ext cx="8229600" cy="49530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55 year-old person with Stage IV NSCLC</a:t>
            </a:r>
          </a:p>
          <a:p>
            <a:pPr lvl="1"/>
            <a:r>
              <a:rPr lang="en-US" sz="2400" dirty="0"/>
              <a:t>Adenocarcinoma histology</a:t>
            </a:r>
          </a:p>
          <a:p>
            <a:pPr lvl="1"/>
            <a:r>
              <a:rPr lang="en-US" sz="2400" dirty="0"/>
              <a:t>No targetable oncogenic driver</a:t>
            </a:r>
          </a:p>
          <a:p>
            <a:pPr lvl="1"/>
            <a:r>
              <a:rPr lang="en-US" sz="2400" dirty="0"/>
              <a:t>No brain metastases</a:t>
            </a:r>
          </a:p>
          <a:p>
            <a:pPr lvl="1"/>
            <a:r>
              <a:rPr lang="en-US" sz="2400" dirty="0"/>
              <a:t>Good performance status</a:t>
            </a:r>
          </a:p>
          <a:p>
            <a:pPr lvl="1"/>
            <a:r>
              <a:rPr lang="en-US" sz="2400" dirty="0"/>
              <a:t>Hemoptysis (3 tablespoons)</a:t>
            </a:r>
          </a:p>
          <a:p>
            <a:r>
              <a:rPr lang="en-US" sz="2800" dirty="0"/>
              <a:t>What is the most appropriate chemotherapy 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Cisplatin, gemcitabine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Carboplatin, paclitaxel, bevacizumab, atezolizumab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Carboplatin, paclitaxel, bevacizumab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Carboplatin, paclitaxel, erlotinib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b="1" dirty="0"/>
              <a:t>Cisplatin, pemetrexed, pembrolizumab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5264021"/>
            <a:ext cx="1188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en-US" sz="2400" u="sng" dirty="0">
                <a:latin typeface="Franklin Gothic Book" panose="020B0503020102020204" pitchFamily="34" charset="0"/>
              </a:rPr>
              <a:t>Both chemotherapy + immunotherapy combinations were better than control</a:t>
            </a:r>
          </a:p>
          <a:p>
            <a:pPr marL="457200" indent="-457200" algn="ctr">
              <a:buAutoNum type="arabicPeriod"/>
            </a:pPr>
            <a:r>
              <a:rPr lang="en-US" sz="2400" u="sng" dirty="0">
                <a:latin typeface="Franklin Gothic Book" panose="020B0503020102020204" pitchFamily="34" charset="0"/>
              </a:rPr>
              <a:t>Patients with hemoptysis should not receive bevacizumab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6BB9B3E-EF59-5712-1DCB-2CCAE4AB03D0}"/>
                  </a:ext>
                </a:extLst>
              </p14:cNvPr>
              <p14:cNvContentPartPr/>
              <p14:nvPr/>
            </p14:nvContentPartPr>
            <p14:xfrm>
              <a:off x="2339876" y="4510556"/>
              <a:ext cx="5344200" cy="308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6BB9B3E-EF59-5712-1DCB-2CCAE4AB03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6236" y="4402556"/>
                <a:ext cx="5451840" cy="52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59623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28604"/>
            <a:ext cx="8915400" cy="62483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/>
              <a:t>55 year-old person with Stage IV NSCLC</a:t>
            </a:r>
          </a:p>
          <a:p>
            <a:pPr lvl="1"/>
            <a:r>
              <a:rPr lang="en-US" sz="2400"/>
              <a:t>Squamous histology tumor</a:t>
            </a:r>
          </a:p>
          <a:p>
            <a:pPr lvl="1"/>
            <a:r>
              <a:rPr lang="en-US" sz="2400"/>
              <a:t>Good performance status</a:t>
            </a:r>
          </a:p>
          <a:p>
            <a:pPr lvl="1"/>
            <a:r>
              <a:rPr lang="en-US" sz="2400"/>
              <a:t>No hemoptysis</a:t>
            </a:r>
          </a:p>
          <a:p>
            <a:pPr lvl="1"/>
            <a:r>
              <a:rPr lang="en-US" sz="2400"/>
              <a:t>No brain metastases</a:t>
            </a:r>
          </a:p>
          <a:p>
            <a:pPr lvl="1"/>
            <a:endParaRPr lang="en-US" sz="2400"/>
          </a:p>
          <a:p>
            <a:r>
              <a:rPr lang="en-US" sz="2800"/>
              <a:t>What is the right first-line chemotherapy?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Carboplatin, pemetrexed, pembrolizumab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Carboplatin, paclitaxel, atezolizumab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Carboplatin, paclitaxel, pembrolizumab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/>
              <a:t>Cisplatin, gemcitabine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52F011-9CBD-1C38-BF4D-F08A5CEBD75A}"/>
                  </a:ext>
                </a:extLst>
              </p14:cNvPr>
              <p14:cNvContentPartPr/>
              <p14:nvPr/>
            </p14:nvContentPartPr>
            <p14:xfrm>
              <a:off x="2880596" y="1168676"/>
              <a:ext cx="2289960" cy="91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52F011-9CBD-1C38-BF4D-F08A5CEBD7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2956" y="1151036"/>
                <a:ext cx="23256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E0AA5CB-6BCE-5D1A-3E70-5D569397D12A}"/>
                  </a:ext>
                </a:extLst>
              </p14:cNvPr>
              <p14:cNvContentPartPr/>
              <p14:nvPr/>
            </p14:nvContentPartPr>
            <p14:xfrm>
              <a:off x="3018116" y="1119716"/>
              <a:ext cx="1146240" cy="50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E0AA5CB-6BCE-5D1A-3E70-5D569397D12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00476" y="1102076"/>
                <a:ext cx="11818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8914833-667D-A078-4E13-62F39A1F510E}"/>
                  </a:ext>
                </a:extLst>
              </p14:cNvPr>
              <p14:cNvContentPartPr/>
              <p14:nvPr/>
            </p14:nvContentPartPr>
            <p14:xfrm>
              <a:off x="2900396" y="1974716"/>
              <a:ext cx="1640520" cy="79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8914833-667D-A078-4E13-62F39A1F51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82756" y="1956716"/>
                <a:ext cx="1676160" cy="11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69983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52601" y="1570357"/>
            <a:ext cx="2496128" cy="3169920"/>
          </a:xfrm>
          <a:prstGeom prst="roundRect">
            <a:avLst/>
          </a:prstGeom>
          <a:solidFill>
            <a:srgbClr val="37424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" tIns="12192" rIns="12192" bIns="12192" rtlCol="0" anchor="ctr"/>
          <a:lstStyle/>
          <a:p>
            <a:pPr algn="ctr" defTabSz="457131">
              <a:lnSpc>
                <a:spcPct val="90000"/>
              </a:lnSpc>
            </a:pPr>
            <a:r>
              <a:rPr lang="en-US" sz="1400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Key Eligibility Criteria</a:t>
            </a:r>
          </a:p>
          <a:p>
            <a:pPr marL="311063" indent="-152356" defTabSz="121887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Untreated stage IV NSCLC with squamous histology</a:t>
            </a:r>
          </a:p>
          <a:p>
            <a:pPr marL="311063" indent="-152356" defTabSz="121887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ECOG PS 0 or 1</a:t>
            </a:r>
          </a:p>
          <a:p>
            <a:pPr marL="311063" indent="-152356" defTabSz="121887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No symptomatic brain metastases</a:t>
            </a:r>
          </a:p>
          <a:p>
            <a:pPr marL="311063" indent="-152356" defTabSz="121887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No pneumonitis requiring systemic steroids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90615" y="1426905"/>
            <a:ext cx="2639013" cy="1584960"/>
          </a:xfrm>
          <a:prstGeom prst="roundRect">
            <a:avLst/>
          </a:prstGeom>
          <a:solidFill>
            <a:srgbClr val="008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20" tIns="54409" rIns="108820" bIns="54409" rtlCol="0" anchor="ctr"/>
          <a:lstStyle/>
          <a:p>
            <a:pPr algn="ctr" defTabSz="1088191">
              <a:lnSpc>
                <a:spcPct val="95000"/>
              </a:lnSpc>
            </a:pPr>
            <a: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Pembrolizumab +</a:t>
            </a:r>
            <a:b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</a:br>
            <a: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Carboplatin +</a:t>
            </a:r>
          </a:p>
          <a:p>
            <a:pPr algn="ctr" defTabSz="1088191">
              <a:lnSpc>
                <a:spcPct val="95000"/>
              </a:lnSpc>
            </a:pPr>
            <a: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Paclitaxel Q3W </a:t>
            </a:r>
          </a:p>
          <a:p>
            <a:pPr algn="ctr" defTabSz="1088191">
              <a:lnSpc>
                <a:spcPct val="95000"/>
              </a:lnSpc>
            </a:pPr>
            <a: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OR </a:t>
            </a:r>
          </a:p>
          <a:p>
            <a:pPr algn="ctr" defTabSz="1088191">
              <a:lnSpc>
                <a:spcPct val="95000"/>
              </a:lnSpc>
            </a:pPr>
            <a: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nab-Paclitaxel</a:t>
            </a:r>
          </a:p>
          <a:p>
            <a:pPr algn="ctr" defTabSz="1088191">
              <a:lnSpc>
                <a:spcPct val="95000"/>
              </a:lnSpc>
              <a:spcBef>
                <a:spcPts val="800"/>
              </a:spcBef>
            </a:pPr>
            <a: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for 4 cycles (each 3 </a:t>
            </a:r>
            <a:r>
              <a:rPr lang="en-US" alt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wk</a:t>
            </a:r>
            <a: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90615" y="3298767"/>
            <a:ext cx="2639013" cy="1584960"/>
          </a:xfrm>
          <a:prstGeom prst="roundRect">
            <a:avLst/>
          </a:prstGeom>
          <a:solidFill>
            <a:srgbClr val="66203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20" tIns="54409" rIns="108820" bIns="54409" rtlCol="0" anchor="ctr"/>
          <a:lstStyle/>
          <a:p>
            <a:pPr algn="ctr" defTabSz="1088191">
              <a:lnSpc>
                <a:spcPct val="95000"/>
              </a:lnSpc>
            </a:pPr>
            <a: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Placebo +</a:t>
            </a:r>
            <a:b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</a:br>
            <a: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Carboplatin AUC 6 Q3W +</a:t>
            </a:r>
          </a:p>
          <a:p>
            <a:pPr algn="ctr" defTabSz="1088191">
              <a:lnSpc>
                <a:spcPct val="95000"/>
              </a:lnSpc>
            </a:pPr>
            <a: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Paclitaxel Q3W </a:t>
            </a:r>
          </a:p>
          <a:p>
            <a:pPr algn="ctr" defTabSz="1088191">
              <a:lnSpc>
                <a:spcPct val="95000"/>
              </a:lnSpc>
            </a:pPr>
            <a: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OR nab-Paclitaxel Q1W</a:t>
            </a:r>
          </a:p>
          <a:p>
            <a:pPr algn="ctr" defTabSz="1088191">
              <a:lnSpc>
                <a:spcPct val="95000"/>
              </a:lnSpc>
              <a:spcBef>
                <a:spcPts val="800"/>
              </a:spcBef>
            </a:pPr>
            <a: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for 4 cycles (each 3 </a:t>
            </a:r>
            <a:r>
              <a:rPr lang="en-US" altLang="en-US" sz="14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wk</a:t>
            </a:r>
            <a:r>
              <a:rPr lang="en-US" altLang="en-US" sz="1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8" name="Elbow Connector 7"/>
          <p:cNvCxnSpPr>
            <a:stCxn id="5" idx="3"/>
            <a:endCxn id="6" idx="1"/>
          </p:cNvCxnSpPr>
          <p:nvPr/>
        </p:nvCxnSpPr>
        <p:spPr>
          <a:xfrm flipV="1">
            <a:off x="4248740" y="2219388"/>
            <a:ext cx="1241885" cy="935931"/>
          </a:xfrm>
          <a:prstGeom prst="bentConnector3">
            <a:avLst>
              <a:gd name="adj1" fmla="val 43521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/>
          <p:cNvCxnSpPr>
            <a:stCxn id="5" idx="3"/>
            <a:endCxn id="7" idx="1"/>
          </p:cNvCxnSpPr>
          <p:nvPr/>
        </p:nvCxnSpPr>
        <p:spPr>
          <a:xfrm>
            <a:off x="4248740" y="3155320"/>
            <a:ext cx="1241885" cy="935932"/>
          </a:xfrm>
          <a:prstGeom prst="bentConnector3">
            <a:avLst>
              <a:gd name="adj1" fmla="val 42932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51505" y="1426905"/>
            <a:ext cx="1889443" cy="1584960"/>
          </a:xfrm>
          <a:prstGeom prst="roundRect">
            <a:avLst/>
          </a:prstGeom>
          <a:solidFill>
            <a:srgbClr val="00877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20" tIns="54409" rIns="108820" bIns="54409" rtlCol="0" anchor="ctr"/>
          <a:lstStyle/>
          <a:p>
            <a:pPr algn="ctr" defTabSz="1088191">
              <a:lnSpc>
                <a:spcPct val="95000"/>
              </a:lnSpc>
              <a:spcBef>
                <a:spcPts val="800"/>
              </a:spcBef>
            </a:pPr>
            <a:r>
              <a:rPr lang="en-US" altLang="en-US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Pembrolizumab </a:t>
            </a:r>
            <a:br>
              <a:rPr lang="en-US" altLang="en-US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</a:br>
            <a:r>
              <a:rPr lang="en-US" altLang="en-US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for up to 31 cycles</a:t>
            </a:r>
            <a:endParaRPr lang="en-US" alt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Book" panose="020B05030201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51505" y="3298767"/>
            <a:ext cx="1889443" cy="1584960"/>
          </a:xfrm>
          <a:prstGeom prst="roundRect">
            <a:avLst/>
          </a:prstGeom>
          <a:solidFill>
            <a:srgbClr val="66203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20" tIns="54409" rIns="108820" bIns="54409" rtlCol="0" anchor="ctr"/>
          <a:lstStyle/>
          <a:p>
            <a:pPr algn="ctr" defTabSz="1088191">
              <a:lnSpc>
                <a:spcPct val="95000"/>
              </a:lnSpc>
            </a:pPr>
            <a:r>
              <a:rPr lang="en-US" altLang="en-US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Placebo </a:t>
            </a:r>
            <a:br>
              <a:rPr lang="en-US" altLang="en-US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</a:br>
            <a:r>
              <a:rPr lang="en-US" altLang="en-US" sz="1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for up to 31 cycles </a:t>
            </a:r>
          </a:p>
        </p:txBody>
      </p:sp>
      <p:cxnSp>
        <p:nvCxnSpPr>
          <p:cNvPr id="20" name="Straight Arrow Connector 19"/>
          <p:cNvCxnSpPr>
            <a:stCxn id="6" idx="3"/>
            <a:endCxn id="15" idx="1"/>
          </p:cNvCxnSpPr>
          <p:nvPr/>
        </p:nvCxnSpPr>
        <p:spPr>
          <a:xfrm>
            <a:off x="8129628" y="2219385"/>
            <a:ext cx="321867" cy="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3"/>
            <a:endCxn id="16" idx="1"/>
          </p:cNvCxnSpPr>
          <p:nvPr/>
        </p:nvCxnSpPr>
        <p:spPr>
          <a:xfrm>
            <a:off x="8129628" y="4091247"/>
            <a:ext cx="321867" cy="0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290560" y="5147551"/>
            <a:ext cx="1845556" cy="1406993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20" tIns="54409" rIns="108820" bIns="54409" rtlCol="0" anchor="ctr"/>
          <a:lstStyle/>
          <a:p>
            <a:pPr algn="ctr" defTabSz="1088191">
              <a:lnSpc>
                <a:spcPct val="95000"/>
              </a:lnSpc>
              <a:spcBef>
                <a:spcPts val="800"/>
              </a:spcBef>
            </a:pPr>
            <a:r>
              <a:rPr lang="en-US" altLang="en-US" sz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Optional </a:t>
            </a:r>
            <a:r>
              <a:rPr lang="en-US" altLang="en-US" sz="12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Crossover</a:t>
            </a:r>
            <a:r>
              <a:rPr lang="en-US" altLang="en-US" sz="1200" baseline="30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b</a:t>
            </a:r>
            <a:endParaRPr lang="en-US" altLang="en-US" sz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Book" panose="020B0503020102020204" pitchFamily="34" charset="0"/>
              <a:cs typeface="Arial" panose="020B0604020202020204" pitchFamily="34" charset="0"/>
            </a:endParaRPr>
          </a:p>
          <a:p>
            <a:pPr algn="ctr" defTabSz="1088191">
              <a:lnSpc>
                <a:spcPct val="95000"/>
              </a:lnSpc>
              <a:spcBef>
                <a:spcPts val="800"/>
              </a:spcBef>
            </a:pPr>
            <a:r>
              <a:rPr lang="en-US" altLang="en-US" sz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Pembrolizumab</a:t>
            </a:r>
            <a:br>
              <a:rPr lang="en-US" altLang="en-US" sz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</a:br>
            <a:endParaRPr lang="en-US" altLang="en-US" sz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Book" panose="020B0503020102020204" pitchFamily="34" charset="0"/>
              <a:cs typeface="Arial" panose="020B0604020202020204" pitchFamily="34" charset="0"/>
            </a:endParaRPr>
          </a:p>
          <a:p>
            <a:pPr algn="ctr" defTabSz="1088191">
              <a:lnSpc>
                <a:spcPct val="95000"/>
              </a:lnSpc>
              <a:spcBef>
                <a:spcPts val="800"/>
              </a:spcBef>
            </a:pPr>
            <a:r>
              <a:rPr lang="en-US" altLang="en-US" sz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cs typeface="Arial" panose="020B0604020202020204" pitchFamily="34" charset="0"/>
              </a:rPr>
              <a:t>for up to 35 cycles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67789" y="6106089"/>
            <a:ext cx="318229" cy="23083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defTabSz="457131"/>
            <a:r>
              <a:rPr lang="en-US" sz="1500" kern="600" spc="40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PD</a:t>
            </a:r>
            <a:r>
              <a:rPr lang="en-US" sz="1500" kern="600" spc="40" baseline="30000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b</a:t>
            </a:r>
            <a:endParaRPr lang="en-US" sz="1500" kern="600" spc="40" dirty="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17" name="Elbow Connector 16"/>
          <p:cNvCxnSpPr>
            <a:stCxn id="16" idx="3"/>
            <a:endCxn id="36" idx="3"/>
          </p:cNvCxnSpPr>
          <p:nvPr/>
        </p:nvCxnSpPr>
        <p:spPr>
          <a:xfrm flipH="1">
            <a:off x="10136117" y="4091247"/>
            <a:ext cx="204831" cy="1759800"/>
          </a:xfrm>
          <a:prstGeom prst="bentConnector3">
            <a:avLst>
              <a:gd name="adj1" fmla="val -111604"/>
            </a:avLst>
          </a:prstGeom>
          <a:ln w="1270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625645" y="5332423"/>
            <a:ext cx="3503982" cy="13849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457131"/>
            <a:r>
              <a:rPr lang="en-US" sz="1600" kern="600" spc="40" dirty="0">
                <a:solidFill>
                  <a:srgbClr val="000000"/>
                </a:solidFill>
                <a:latin typeface="Franklin Gothic Book" panose="020B0503020102020204" pitchFamily="34" charset="0"/>
              </a:rPr>
              <a:t>End points</a:t>
            </a:r>
          </a:p>
          <a:p>
            <a:pPr marL="302596" indent="-146007" defTabSz="45713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kern="600" spc="40" dirty="0">
                <a:solidFill>
                  <a:srgbClr val="000000"/>
                </a:solidFill>
                <a:latin typeface="Franklin Gothic Book" panose="020B0503020102020204" pitchFamily="34" charset="0"/>
              </a:rPr>
              <a:t>Primary: PFS (RECIST v1.1, BICR) and OS</a:t>
            </a:r>
          </a:p>
          <a:p>
            <a:pPr marL="302596" indent="-146007" defTabSz="457131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600" kern="600" spc="40" dirty="0">
                <a:solidFill>
                  <a:srgbClr val="000000"/>
                </a:solidFill>
                <a:latin typeface="Franklin Gothic Book" panose="020B0503020102020204" pitchFamily="34" charset="0"/>
              </a:rPr>
              <a:t>Secondary: ORR and DOR (RECIST v1.1, BICR),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4066" y="6581002"/>
            <a:ext cx="3449086" cy="27699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kern="600" spc="31" dirty="0">
                <a:solidFill>
                  <a:prstClr val="black"/>
                </a:solidFill>
                <a:latin typeface="Franklin Gothic Book" panose="020B0503020102020204" pitchFamily="34" charset="0"/>
              </a:rPr>
              <a:t>Paz-Ares ASCO 2018 Abstract 105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  <a:effectLst/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Does adding pembrolizumab to carboplatin and </a:t>
            </a:r>
            <a:r>
              <a:rPr lang="en-US" sz="2800" b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taxane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improve outcomes in Squamous NSCLC?</a:t>
            </a:r>
          </a:p>
        </p:txBody>
      </p:sp>
    </p:spTree>
    <p:extLst>
      <p:ext uri="{BB962C8B-B14F-4D97-AF65-F5344CB8AC3E}">
        <p14:creationId xmlns:p14="http://schemas.microsoft.com/office/powerpoint/2010/main" val="17034351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DF72BE-56C2-2448-85F9-2BAD501CC5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877444"/>
            <a:ext cx="6294992" cy="3015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72D89C-D129-455A-C22A-45302D8A483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1898" y="1877443"/>
            <a:ext cx="6294992" cy="3018807"/>
          </a:xfrm>
          <a:prstGeom prst="rect">
            <a:avLst/>
          </a:prstGeom>
        </p:spPr>
      </p:pic>
      <p:sp>
        <p:nvSpPr>
          <p:cNvPr id="234" name="TextBox 233"/>
          <p:cNvSpPr txBox="1"/>
          <p:nvPr/>
        </p:nvSpPr>
        <p:spPr>
          <a:xfrm>
            <a:off x="4360940" y="2232870"/>
            <a:ext cx="1534394" cy="73866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457131"/>
            <a:r>
              <a:rPr lang="en-US" sz="1600" u="sng" kern="600" spc="40" dirty="0">
                <a:latin typeface="Franklin Gothic Book" panose="020B0503020102020204" pitchFamily="34" charset="0"/>
              </a:rPr>
              <a:t>Median (95% CI)</a:t>
            </a:r>
          </a:p>
          <a:p>
            <a:pPr defTabSz="457131"/>
            <a:r>
              <a:rPr lang="en-US" sz="1600" kern="600" spc="40" dirty="0">
                <a:latin typeface="Franklin Gothic Book" panose="020B0503020102020204" pitchFamily="34" charset="0"/>
              </a:rPr>
              <a:t>6.4 </a:t>
            </a:r>
            <a:r>
              <a:rPr lang="en-US" sz="1600" kern="600" spc="40" dirty="0" err="1">
                <a:latin typeface="Franklin Gothic Book" panose="020B0503020102020204" pitchFamily="34" charset="0"/>
              </a:rPr>
              <a:t>mo</a:t>
            </a:r>
            <a:r>
              <a:rPr lang="en-US" sz="1600" kern="600" spc="40" dirty="0">
                <a:latin typeface="Franklin Gothic Book" panose="020B0503020102020204" pitchFamily="34" charset="0"/>
              </a:rPr>
              <a:t> (6.2-8.3)</a:t>
            </a:r>
          </a:p>
          <a:p>
            <a:pPr defTabSz="457131"/>
            <a:r>
              <a:rPr lang="en-US" sz="1600" kern="600" spc="40" dirty="0">
                <a:latin typeface="Franklin Gothic Book" panose="020B0503020102020204" pitchFamily="34" charset="0"/>
              </a:rPr>
              <a:t>4.8 </a:t>
            </a:r>
            <a:r>
              <a:rPr lang="en-US" sz="1600" kern="600" spc="40" dirty="0" err="1">
                <a:latin typeface="Franklin Gothic Book" panose="020B0503020102020204" pitchFamily="34" charset="0"/>
              </a:rPr>
              <a:t>mo</a:t>
            </a:r>
            <a:r>
              <a:rPr lang="en-US" sz="1600" kern="600" spc="40" dirty="0">
                <a:latin typeface="Franklin Gothic Book" panose="020B0503020102020204" pitchFamily="34" charset="0"/>
              </a:rPr>
              <a:t> (4.3-5.7)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4066" y="6462652"/>
            <a:ext cx="2671885" cy="27699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kern="600" spc="31" dirty="0">
                <a:solidFill>
                  <a:prstClr val="black"/>
                </a:solidFill>
                <a:latin typeface="Franklin Gothic Book" panose="020B0503020102020204" pitchFamily="34" charset="0"/>
              </a:rPr>
              <a:t>Paz-Ares et al, NEJM 2018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Adding pembrolizumab to carboplatin and </a:t>
            </a:r>
            <a:r>
              <a:rPr lang="en-US" sz="2800" b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taxane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improves PFS and OS in Squamous NSCLC</a:t>
            </a:r>
          </a:p>
        </p:txBody>
      </p:sp>
    </p:spTree>
    <p:extLst>
      <p:ext uri="{BB962C8B-B14F-4D97-AF65-F5344CB8AC3E}">
        <p14:creationId xmlns:p14="http://schemas.microsoft.com/office/powerpoint/2010/main" val="20460539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28604"/>
            <a:ext cx="8229600" cy="5897563"/>
          </a:xfrm>
        </p:spPr>
        <p:txBody>
          <a:bodyPr>
            <a:normAutofit/>
          </a:bodyPr>
          <a:lstStyle/>
          <a:p>
            <a:r>
              <a:rPr lang="en-US" sz="2800" dirty="0"/>
              <a:t>55 year-old person with Stage IV NSCLC</a:t>
            </a:r>
          </a:p>
          <a:p>
            <a:pPr lvl="1"/>
            <a:r>
              <a:rPr lang="en-US" sz="2400" dirty="0"/>
              <a:t>Squamous histology tumor</a:t>
            </a:r>
          </a:p>
          <a:p>
            <a:pPr lvl="1"/>
            <a:r>
              <a:rPr lang="en-US" sz="2400" dirty="0"/>
              <a:t>Good performance status</a:t>
            </a:r>
          </a:p>
          <a:p>
            <a:pPr lvl="1"/>
            <a:r>
              <a:rPr lang="en-US" sz="2400" dirty="0"/>
              <a:t>No hemoptysis</a:t>
            </a:r>
          </a:p>
          <a:p>
            <a:pPr lvl="1"/>
            <a:r>
              <a:rPr lang="en-US" sz="2400" dirty="0"/>
              <a:t>No brain metastases</a:t>
            </a:r>
          </a:p>
          <a:p>
            <a:r>
              <a:rPr lang="en-US" sz="2800" dirty="0"/>
              <a:t>What is the right first-line chemotherapy?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Carboplatin, pemetrexed, pembrolizumab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Carboplatin, paclitaxel, atezolizumab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Carboplatin, paclitaxel, pembrolizumab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400" dirty="0"/>
              <a:t>Cisplatin, gemcitabine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2600" y="5534565"/>
            <a:ext cx="853440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en-US" sz="2000" u="sng" dirty="0">
                <a:latin typeface="Franklin Gothic Book" panose="020B0503020102020204" pitchFamily="34" charset="0"/>
              </a:rPr>
              <a:t>Chemotherapy + pembrolizumab is superior to chemotherapy alone</a:t>
            </a:r>
          </a:p>
          <a:p>
            <a:pPr marL="457200" indent="-457200" algn="ctr">
              <a:buAutoNum type="arabicPeriod"/>
            </a:pPr>
            <a:r>
              <a:rPr lang="en-US" sz="2000" u="sng" dirty="0">
                <a:latin typeface="Franklin Gothic Book" panose="020B0503020102020204" pitchFamily="34" charset="0"/>
              </a:rPr>
              <a:t>Pemetrexed is wrong in a patient with squamous cell lung cancer</a:t>
            </a:r>
          </a:p>
          <a:p>
            <a:pPr marL="457200" indent="-457200" algn="ctr">
              <a:buAutoNum type="arabicPeriod"/>
            </a:pPr>
            <a:r>
              <a:rPr lang="en-US" sz="2000" u="sng" dirty="0">
                <a:latin typeface="Franklin Gothic Book" panose="020B0503020102020204" pitchFamily="34" charset="0"/>
              </a:rPr>
              <a:t>Atezolizumab combination was not superior to chemotherapy in OS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ED55472-8A94-79BE-7FC2-16693A7EE7FB}"/>
                  </a:ext>
                </a:extLst>
              </p14:cNvPr>
              <p14:cNvContentPartPr/>
              <p14:nvPr/>
            </p14:nvContentPartPr>
            <p14:xfrm>
              <a:off x="2536796" y="3972356"/>
              <a:ext cx="5594760" cy="493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ED55472-8A94-79BE-7FC2-16693A7EE7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82796" y="3864716"/>
                <a:ext cx="570240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52552F-1B7A-9A17-2744-EA33E57D8E63}"/>
                  </a:ext>
                </a:extLst>
              </p14:cNvPr>
              <p14:cNvContentPartPr/>
              <p14:nvPr/>
            </p14:nvContentPartPr>
            <p14:xfrm>
              <a:off x="5134916" y="4039676"/>
              <a:ext cx="826920" cy="169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52552F-1B7A-9A17-2744-EA33E57D8E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80916" y="3932036"/>
                <a:ext cx="934560" cy="38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831568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609604"/>
            <a:ext cx="8839200" cy="5516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65 year-old person with Stage IV NSCLC</a:t>
            </a:r>
          </a:p>
          <a:p>
            <a:pPr lvl="1"/>
            <a:r>
              <a:rPr lang="en-US" dirty="0"/>
              <a:t>Adenocarcinoma histology</a:t>
            </a:r>
          </a:p>
          <a:p>
            <a:pPr lvl="1"/>
            <a:r>
              <a:rPr lang="en-US" dirty="0"/>
              <a:t>No targetable oncogenic driver identified</a:t>
            </a:r>
          </a:p>
          <a:p>
            <a:pPr lvl="1"/>
            <a:r>
              <a:rPr lang="en-US" dirty="0"/>
              <a:t>No brain metastases</a:t>
            </a:r>
          </a:p>
          <a:p>
            <a:pPr lvl="1"/>
            <a:r>
              <a:rPr lang="en-US" dirty="0"/>
              <a:t>Good performance status</a:t>
            </a:r>
          </a:p>
          <a:p>
            <a:pPr lvl="1"/>
            <a:r>
              <a:rPr lang="en-US" dirty="0"/>
              <a:t>PD-L1 immunohistochemistry positive in 60% of cells</a:t>
            </a:r>
          </a:p>
          <a:p>
            <a:endParaRPr lang="en-US" dirty="0"/>
          </a:p>
          <a:p>
            <a:r>
              <a:rPr lang="en-US" dirty="0"/>
              <a:t>What is the most appropriate initial treatment?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Cisplatin and docetaxel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Bevacizumab 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Pembrolizumab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Cisplatin and pemetrexed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Nivolumab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ECFABA4-2F5F-EE35-5541-CEBBB85CCB0E}"/>
              </a:ext>
            </a:extLst>
          </p:cNvPr>
          <p:cNvGrpSpPr/>
          <p:nvPr/>
        </p:nvGrpSpPr>
        <p:grpSpPr>
          <a:xfrm>
            <a:off x="9635636" y="2693636"/>
            <a:ext cx="480960" cy="516960"/>
            <a:chOff x="9635636" y="2693636"/>
            <a:chExt cx="480960" cy="51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A473CAF-CB7D-402D-B81B-1FC9DBD6CD21}"/>
                    </a:ext>
                  </a:extLst>
                </p14:cNvPr>
                <p14:cNvContentPartPr/>
                <p14:nvPr/>
              </p14:nvContentPartPr>
              <p14:xfrm>
                <a:off x="9713756" y="2693636"/>
                <a:ext cx="320040" cy="366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A473CAF-CB7D-402D-B81B-1FC9DBD6CD2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96116" y="2675996"/>
                  <a:ext cx="35568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5631CD0-087A-276F-6F97-3B0D72CECD74}"/>
                    </a:ext>
                  </a:extLst>
                </p14:cNvPr>
                <p14:cNvContentPartPr/>
                <p14:nvPr/>
              </p14:nvContentPartPr>
              <p14:xfrm>
                <a:off x="9701876" y="2742956"/>
                <a:ext cx="327240" cy="467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5631CD0-087A-276F-6F97-3B0D72CECD7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83876" y="2724956"/>
                  <a:ext cx="36288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6664921-2932-0F41-3F65-0287CF1AA2C4}"/>
                    </a:ext>
                  </a:extLst>
                </p14:cNvPr>
                <p14:cNvContentPartPr/>
                <p14:nvPr/>
              </p14:nvContentPartPr>
              <p14:xfrm>
                <a:off x="9635636" y="2899916"/>
                <a:ext cx="480960" cy="79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6664921-2932-0F41-3F65-0287CF1AA2C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17636" y="2882276"/>
                  <a:ext cx="516600" cy="114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44A5A-1E18-81A4-D1DB-388E84DDE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12722"/>
            <a:ext cx="10972800" cy="1143000"/>
          </a:xfrm>
        </p:spPr>
        <p:txBody>
          <a:bodyPr/>
          <a:lstStyle/>
          <a:p>
            <a:r>
              <a:rPr lang="en-US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Do you need the chemotherapy?</a:t>
            </a:r>
          </a:p>
        </p:txBody>
      </p:sp>
    </p:spTree>
    <p:extLst>
      <p:ext uri="{BB962C8B-B14F-4D97-AF65-F5344CB8AC3E}">
        <p14:creationId xmlns:p14="http://schemas.microsoft.com/office/powerpoint/2010/main" val="212819779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54176" y="2207358"/>
            <a:ext cx="6744336" cy="33218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8109" y="6344239"/>
            <a:ext cx="2431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Reck et al, ESMO 2016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105156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Does substitution of pembrolizumab for chemotherapy improve outcomes in patients whose tumors are PD-L1 ≥ 50%?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(Keynote 024)</a:t>
            </a:r>
          </a:p>
        </p:txBody>
      </p:sp>
    </p:spTree>
    <p:extLst>
      <p:ext uri="{BB962C8B-B14F-4D97-AF65-F5344CB8AC3E}">
        <p14:creationId xmlns:p14="http://schemas.microsoft.com/office/powerpoint/2010/main" val="134905224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0168" y="1331165"/>
            <a:ext cx="4475504" cy="362994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13066" y="6280057"/>
            <a:ext cx="2392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Reck et al, NEJM 2016</a:t>
            </a:r>
          </a:p>
        </p:txBody>
      </p:sp>
      <p:pic>
        <p:nvPicPr>
          <p:cNvPr id="3" name="Picture 2" descr="Screenshot 2019-02-27 10.32.52.png">
            <a:extLst>
              <a:ext uri="{FF2B5EF4-FFF2-40B4-BE49-F238E27FC236}">
                <a16:creationId xmlns:a16="http://schemas.microsoft.com/office/drawing/2014/main" id="{76B081EA-34AC-6A0E-5399-899EF53EC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9075" y="1661756"/>
            <a:ext cx="6657335" cy="34744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EBFF58-9BD6-3960-BBFA-5D33E8388028}"/>
              </a:ext>
            </a:extLst>
          </p:cNvPr>
          <p:cNvSpPr txBox="1"/>
          <p:nvPr/>
        </p:nvSpPr>
        <p:spPr>
          <a:xfrm>
            <a:off x="9406648" y="6168588"/>
            <a:ext cx="237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Reck et al, JCO 2019</a:t>
            </a:r>
          </a:p>
        </p:txBody>
      </p:sp>
      <p:sp>
        <p:nvSpPr>
          <p:cNvPr id="6" name="Title 5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Pembrolizumab is better than chemotherapy for patients whose tumors are PD-L1 ≥ 50% by PFS and OS</a:t>
            </a:r>
          </a:p>
        </p:txBody>
      </p:sp>
    </p:spTree>
    <p:extLst>
      <p:ext uri="{BB962C8B-B14F-4D97-AF65-F5344CB8AC3E}">
        <p14:creationId xmlns:p14="http://schemas.microsoft.com/office/powerpoint/2010/main" val="22797088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90135" y="6250119"/>
            <a:ext cx="2392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Reck et al, NEJM 2016</a:t>
            </a:r>
          </a:p>
        </p:txBody>
      </p:sp>
      <p:pic>
        <p:nvPicPr>
          <p:cNvPr id="1894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3921" y="1413027"/>
            <a:ext cx="7488238" cy="4438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Pembrolizumab is Associated with Fewer Adverse Events than Chemotherapy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613C9CD-06A1-76B5-3AB8-5D04221881ED}"/>
                  </a:ext>
                </a:extLst>
              </p14:cNvPr>
              <p14:cNvContentPartPr/>
              <p14:nvPr/>
            </p14:nvContentPartPr>
            <p14:xfrm>
              <a:off x="6403196" y="2614076"/>
              <a:ext cx="766800" cy="266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613C9CD-06A1-76B5-3AB8-5D04221881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5196" y="2596436"/>
                <a:ext cx="80244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F6BF234-25CB-1008-EB74-7D3EA8839F92}"/>
                  </a:ext>
                </a:extLst>
              </p14:cNvPr>
              <p14:cNvContentPartPr/>
              <p14:nvPr/>
            </p14:nvContentPartPr>
            <p14:xfrm>
              <a:off x="8820236" y="2546396"/>
              <a:ext cx="747720" cy="354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F6BF234-25CB-1008-EB74-7D3EA8839F9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02236" y="2528396"/>
                <a:ext cx="78336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DABE6EB-686D-9012-4667-0019CD865D49}"/>
                  </a:ext>
                </a:extLst>
              </p14:cNvPr>
              <p14:cNvContentPartPr/>
              <p14:nvPr/>
            </p14:nvContentPartPr>
            <p14:xfrm>
              <a:off x="6376196" y="3341276"/>
              <a:ext cx="774360" cy="366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DABE6EB-686D-9012-4667-0019CD865D4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58196" y="3323276"/>
                <a:ext cx="81000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5E7A139-FD27-7F9A-DB58-9129BF149B1D}"/>
                  </a:ext>
                </a:extLst>
              </p14:cNvPr>
              <p14:cNvContentPartPr/>
              <p14:nvPr/>
            </p14:nvContentPartPr>
            <p14:xfrm>
              <a:off x="8731316" y="3303476"/>
              <a:ext cx="820440" cy="421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5E7A139-FD27-7F9A-DB58-9129BF149B1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13316" y="3285836"/>
                <a:ext cx="856080" cy="45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320864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90135" y="6250119"/>
            <a:ext cx="2392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Reck et al, NEJM 2016</a:t>
            </a:r>
          </a:p>
        </p:txBody>
      </p:sp>
      <p:pic>
        <p:nvPicPr>
          <p:cNvPr id="4" name="Picture 3" descr="Screenshot 2016-11-14 23.02.2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75905" y="1236655"/>
            <a:ext cx="7887314" cy="1120096"/>
          </a:xfrm>
          <a:prstGeom prst="rect">
            <a:avLst/>
          </a:prstGeom>
        </p:spPr>
      </p:pic>
      <p:pic>
        <p:nvPicPr>
          <p:cNvPr id="1904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2038045"/>
            <a:ext cx="8534400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There are Immune-Related Adverse Events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ABCE15A-3094-EE9A-1C4A-2D08A2F2C08F}"/>
                  </a:ext>
                </a:extLst>
              </p14:cNvPr>
              <p14:cNvContentPartPr/>
              <p14:nvPr/>
            </p14:nvContentPartPr>
            <p14:xfrm>
              <a:off x="6990356" y="3125276"/>
              <a:ext cx="747720" cy="308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ABCE15A-3094-EE9A-1C4A-2D08A2F2C0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72716" y="3107276"/>
                <a:ext cx="78336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2C01746-B04B-61CE-9797-18FFF122B7E2}"/>
                  </a:ext>
                </a:extLst>
              </p14:cNvPr>
              <p14:cNvContentPartPr/>
              <p14:nvPr/>
            </p14:nvContentPartPr>
            <p14:xfrm>
              <a:off x="9755876" y="3115916"/>
              <a:ext cx="662760" cy="279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2C01746-B04B-61CE-9797-18FFF122B7E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37876" y="3097916"/>
                <a:ext cx="69840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2BD0B36-142C-7BC3-8AAC-0EEB517DDE79}"/>
                  </a:ext>
                </a:extLst>
              </p14:cNvPr>
              <p14:cNvContentPartPr/>
              <p14:nvPr/>
            </p14:nvContentPartPr>
            <p14:xfrm>
              <a:off x="7010516" y="3719276"/>
              <a:ext cx="681120" cy="203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2BD0B36-142C-7BC3-8AAC-0EEB517DDE7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92516" y="3701276"/>
                <a:ext cx="71676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F5FDE99-ECE7-F721-3BE9-CF2EA98E552B}"/>
                  </a:ext>
                </a:extLst>
              </p14:cNvPr>
              <p14:cNvContentPartPr/>
              <p14:nvPr/>
            </p14:nvContentPartPr>
            <p14:xfrm>
              <a:off x="6920516" y="4197356"/>
              <a:ext cx="744120" cy="356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F5FDE99-ECE7-F721-3BE9-CF2EA98E552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02876" y="4179356"/>
                <a:ext cx="779760" cy="39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151337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609604"/>
            <a:ext cx="8229600" cy="55165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65 year-old person with Stage IV NSCLC</a:t>
            </a:r>
          </a:p>
          <a:p>
            <a:pPr lvl="1"/>
            <a:r>
              <a:rPr lang="en-US" dirty="0"/>
              <a:t>Adenocarcinoma histology</a:t>
            </a:r>
          </a:p>
          <a:p>
            <a:pPr lvl="1"/>
            <a:r>
              <a:rPr lang="en-US" dirty="0"/>
              <a:t>No targetable oncogenic driver identified</a:t>
            </a:r>
          </a:p>
          <a:p>
            <a:pPr lvl="1"/>
            <a:r>
              <a:rPr lang="en-US" dirty="0"/>
              <a:t>No brain metastases</a:t>
            </a:r>
          </a:p>
          <a:p>
            <a:pPr lvl="1"/>
            <a:r>
              <a:rPr lang="en-US" dirty="0"/>
              <a:t>Good performance status</a:t>
            </a:r>
          </a:p>
          <a:p>
            <a:pPr lvl="1"/>
            <a:r>
              <a:rPr lang="en-US" dirty="0"/>
              <a:t>PD-L1 immunohistochemistry positive in 60% of cells</a:t>
            </a:r>
          </a:p>
          <a:p>
            <a:endParaRPr lang="en-US" dirty="0"/>
          </a:p>
          <a:p>
            <a:r>
              <a:rPr lang="en-US" dirty="0"/>
              <a:t>What is the most appropriate initial treatment?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Cisplatin and docetaxel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Bevacizumab 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Pembrolizumab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Cisplatin and pemetrexed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Nivolumab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4063" y="6172215"/>
            <a:ext cx="955196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If PD-L1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≥</a:t>
            </a:r>
            <a:r>
              <a:rPr lang="en-US" sz="2400" dirty="0">
                <a:latin typeface="Franklin Gothic Book" panose="020B0503020102020204" pitchFamily="34" charset="0"/>
              </a:rPr>
              <a:t>50%, pembrolizumab is superior to chemotherapy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E8FD8DB-40E8-1318-2482-AEDBF2A0BC2F}"/>
                  </a:ext>
                </a:extLst>
              </p14:cNvPr>
              <p14:cNvContentPartPr/>
              <p14:nvPr/>
            </p14:nvContentPartPr>
            <p14:xfrm>
              <a:off x="4318076" y="4919156"/>
              <a:ext cx="765360" cy="75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E8FD8DB-40E8-1318-2482-AEDBF2A0BC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4436" y="4811156"/>
                <a:ext cx="87300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F32B989-0FED-8FB0-7082-F95F9C3366FD}"/>
                  </a:ext>
                </a:extLst>
              </p14:cNvPr>
              <p14:cNvContentPartPr/>
              <p14:nvPr/>
            </p14:nvContentPartPr>
            <p14:xfrm>
              <a:off x="4218716" y="4965236"/>
              <a:ext cx="540360" cy="20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F32B989-0FED-8FB0-7082-F95F9C3366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64716" y="4857236"/>
                <a:ext cx="6480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6A79CD0-1831-8497-5EFD-8F957C4881CA}"/>
                  </a:ext>
                </a:extLst>
              </p14:cNvPr>
              <p14:cNvContentPartPr/>
              <p14:nvPr/>
            </p14:nvContentPartPr>
            <p14:xfrm>
              <a:off x="3994076" y="4954796"/>
              <a:ext cx="440280" cy="30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6A79CD0-1831-8497-5EFD-8F957C4881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40436" y="4846796"/>
                <a:ext cx="5479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044B727-2AA4-8DAB-35B6-4B02460E26BA}"/>
                  </a:ext>
                </a:extLst>
              </p14:cNvPr>
              <p14:cNvContentPartPr/>
              <p14:nvPr/>
            </p14:nvContentPartPr>
            <p14:xfrm>
              <a:off x="3613556" y="5004476"/>
              <a:ext cx="624240" cy="27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044B727-2AA4-8DAB-35B6-4B02460E26B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59916" y="4896836"/>
                <a:ext cx="7318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002890B-E5E5-E355-329E-D3E259C7879E}"/>
                  </a:ext>
                </a:extLst>
              </p14:cNvPr>
              <p14:cNvContentPartPr/>
              <p14:nvPr/>
            </p14:nvContentPartPr>
            <p14:xfrm>
              <a:off x="3521036" y="4847156"/>
              <a:ext cx="432000" cy="138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002890B-E5E5-E355-329E-D3E259C7879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67036" y="4739156"/>
                <a:ext cx="53964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85B2CB6-766F-5AB0-4DFE-425C9A2C1F9F}"/>
                  </a:ext>
                </a:extLst>
              </p14:cNvPr>
              <p14:cNvContentPartPr/>
              <p14:nvPr/>
            </p14:nvContentPartPr>
            <p14:xfrm>
              <a:off x="3318356" y="4847876"/>
              <a:ext cx="506520" cy="49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85B2CB6-766F-5AB0-4DFE-425C9A2C1F9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64356" y="4739876"/>
                <a:ext cx="61416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063A653-047A-74A7-458F-44A319E4DCC3}"/>
                  </a:ext>
                </a:extLst>
              </p14:cNvPr>
              <p14:cNvContentPartPr/>
              <p14:nvPr/>
            </p14:nvContentPartPr>
            <p14:xfrm>
              <a:off x="3234836" y="4965236"/>
              <a:ext cx="541080" cy="73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063A653-047A-74A7-458F-44A319E4DCC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81196" y="4857236"/>
                <a:ext cx="64872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B367D8C-31C5-A292-BA4D-B4B37A7A8651}"/>
                  </a:ext>
                </a:extLst>
              </p14:cNvPr>
              <p14:cNvContentPartPr/>
              <p14:nvPr/>
            </p14:nvContentPartPr>
            <p14:xfrm>
              <a:off x="3041156" y="5043356"/>
              <a:ext cx="528120" cy="31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B367D8C-31C5-A292-BA4D-B4B37A7A865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87156" y="4935716"/>
                <a:ext cx="6357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A698A12-6ED3-59C5-996B-84BF75970726}"/>
                  </a:ext>
                </a:extLst>
              </p14:cNvPr>
              <p14:cNvContentPartPr/>
              <p14:nvPr/>
            </p14:nvContentPartPr>
            <p14:xfrm>
              <a:off x="2969156" y="4938236"/>
              <a:ext cx="372960" cy="608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A698A12-6ED3-59C5-996B-84BF7597072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15156" y="4830236"/>
                <a:ext cx="480600" cy="276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67C62-556C-6C42-8E40-84F3D3B0B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/>
              <a:t>For patients with PD-L1 ≥ 50% which is better?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single-agent checkpoint inhibitor </a:t>
            </a:r>
          </a:p>
          <a:p>
            <a:pPr marL="0" indent="0" algn="ctr">
              <a:buNone/>
            </a:pPr>
            <a:r>
              <a:rPr lang="en-US" dirty="0"/>
              <a:t>or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tx2"/>
                </a:solidFill>
              </a:rPr>
              <a:t> chemotherapy + [ICI]?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No trial data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Symptoms? PD-L1 level (90% vs 50%)?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2D8AA-2DE8-A54A-982A-2E2EE53BD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Open question…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D16FCF6-BEEB-9BD1-DF7B-19D3263175C0}"/>
              </a:ext>
            </a:extLst>
          </p:cNvPr>
          <p:cNvGrpSpPr/>
          <p:nvPr/>
        </p:nvGrpSpPr>
        <p:grpSpPr>
          <a:xfrm>
            <a:off x="1622036" y="1651796"/>
            <a:ext cx="443160" cy="263520"/>
            <a:chOff x="1622036" y="1651796"/>
            <a:chExt cx="44316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3C17453-B635-5A58-85C4-93EF0402C91A}"/>
                    </a:ext>
                  </a:extLst>
                </p14:cNvPr>
                <p14:cNvContentPartPr/>
                <p14:nvPr/>
              </p14:nvContentPartPr>
              <p14:xfrm>
                <a:off x="1749836" y="1651796"/>
                <a:ext cx="183960" cy="214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3C17453-B635-5A58-85C4-93EF0402C91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32196" y="1634156"/>
                  <a:ext cx="219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9354615-E2AA-0B88-6CF3-3E4A440676CE}"/>
                    </a:ext>
                  </a:extLst>
                </p14:cNvPr>
                <p14:cNvContentPartPr/>
                <p14:nvPr/>
              </p14:nvContentPartPr>
              <p14:xfrm>
                <a:off x="1691876" y="1661516"/>
                <a:ext cx="313920" cy="253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9354615-E2AA-0B88-6CF3-3E4A440676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73876" y="1643516"/>
                  <a:ext cx="3495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50BA47F-CE6E-C97E-A94E-FF6B8CFBA10B}"/>
                    </a:ext>
                  </a:extLst>
                </p14:cNvPr>
                <p14:cNvContentPartPr/>
                <p14:nvPr/>
              </p14:nvContentPartPr>
              <p14:xfrm>
                <a:off x="1622036" y="1797596"/>
                <a:ext cx="443160" cy="41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50BA47F-CE6E-C97E-A94E-FF6B8CFBA10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04396" y="1779596"/>
                  <a:ext cx="47880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FA7E146-F8E8-1C7E-3C4C-76F519FC38C0}"/>
              </a:ext>
            </a:extLst>
          </p:cNvPr>
          <p:cNvGrpSpPr/>
          <p:nvPr/>
        </p:nvGrpSpPr>
        <p:grpSpPr>
          <a:xfrm>
            <a:off x="10048196" y="1523996"/>
            <a:ext cx="531720" cy="414360"/>
            <a:chOff x="10048196" y="1523996"/>
            <a:chExt cx="531720" cy="41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0142A57-154B-ADB9-6B80-FC3143276DD0}"/>
                    </a:ext>
                  </a:extLst>
                </p14:cNvPr>
                <p14:cNvContentPartPr/>
                <p14:nvPr/>
              </p14:nvContentPartPr>
              <p14:xfrm>
                <a:off x="10183556" y="1523996"/>
                <a:ext cx="189360" cy="414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0142A57-154B-ADB9-6B80-FC3143276DD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65916" y="1505996"/>
                  <a:ext cx="22500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36A3355-A69C-4D9E-18A1-2D06B0FFE9EA}"/>
                    </a:ext>
                  </a:extLst>
                </p14:cNvPr>
                <p14:cNvContentPartPr/>
                <p14:nvPr/>
              </p14:nvContentPartPr>
              <p14:xfrm>
                <a:off x="10048196" y="1661516"/>
                <a:ext cx="531720" cy="187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36A3355-A69C-4D9E-18A1-2D06B0FFE9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30556" y="1643516"/>
                  <a:ext cx="5673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4A61B23-4A19-EA18-616D-81459CD9D4D6}"/>
                    </a:ext>
                  </a:extLst>
                </p14:cNvPr>
                <p14:cNvContentPartPr/>
                <p14:nvPr/>
              </p14:nvContentPartPr>
              <p14:xfrm>
                <a:off x="10146836" y="1626956"/>
                <a:ext cx="355680" cy="211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4A61B23-4A19-EA18-616D-81459CD9D4D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29196" y="1609316"/>
                  <a:ext cx="391320" cy="247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402978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609604"/>
            <a:ext cx="8839200" cy="55165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65 year-old person with Stage IV NSCLC</a:t>
            </a:r>
          </a:p>
          <a:p>
            <a:pPr lvl="1"/>
            <a:r>
              <a:rPr lang="en-US" dirty="0"/>
              <a:t>Adenocarcinoma histology</a:t>
            </a:r>
          </a:p>
          <a:p>
            <a:pPr lvl="1"/>
            <a:r>
              <a:rPr lang="en-US" dirty="0"/>
              <a:t>No targetable oncogenic driver identified</a:t>
            </a:r>
          </a:p>
          <a:p>
            <a:pPr lvl="1"/>
            <a:r>
              <a:rPr lang="en-US" dirty="0"/>
              <a:t>No brain metastases</a:t>
            </a:r>
          </a:p>
          <a:p>
            <a:pPr lvl="1"/>
            <a:r>
              <a:rPr lang="en-US" dirty="0"/>
              <a:t>Good performance status</a:t>
            </a:r>
          </a:p>
          <a:p>
            <a:pPr lvl="1"/>
            <a:r>
              <a:rPr lang="en-US" dirty="0"/>
              <a:t>PD-L1 immunohistochemistry positive in 15% of cells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What is the most appropriate initial treatment?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Pembrolizumab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Cisplatin and pemetrexed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Nivolumab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Carboplatin, pemetrexed, pembrolizumab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340439-D6F7-BE56-C5A5-5E9263986E81}"/>
                  </a:ext>
                </a:extLst>
              </p14:cNvPr>
              <p14:cNvContentPartPr/>
              <p14:nvPr/>
            </p14:nvContentPartPr>
            <p14:xfrm>
              <a:off x="2251676" y="3273956"/>
              <a:ext cx="879840" cy="50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340439-D6F7-BE56-C5A5-5E9263986E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33676" y="3255956"/>
                <a:ext cx="9154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2EBFA6-0B4E-7F16-B25B-C39436F488EE}"/>
                  </a:ext>
                </a:extLst>
              </p14:cNvPr>
              <p14:cNvContentPartPr/>
              <p14:nvPr/>
            </p14:nvContentPartPr>
            <p14:xfrm>
              <a:off x="7875596" y="3214556"/>
              <a:ext cx="697680" cy="41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2EBFA6-0B4E-7F16-B25B-C39436F488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57596" y="3196916"/>
                <a:ext cx="733320" cy="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064680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24" y="1960124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Are there other PD-L1 cut points?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83E0E6F-6889-C100-E7BF-A04E494B965E}"/>
                  </a:ext>
                </a:extLst>
              </p14:cNvPr>
              <p14:cNvContentPartPr/>
              <p14:nvPr/>
            </p14:nvContentPartPr>
            <p14:xfrm>
              <a:off x="2398556" y="481436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83E0E6F-6889-C100-E7BF-A04E494B96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80916" y="46379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165023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04736" y="6290848"/>
            <a:ext cx="2537333" cy="338552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defTabSz="914196"/>
            <a:r>
              <a:rPr lang="en-US" sz="1600" dirty="0">
                <a:latin typeface="Franklin Gothic Book" panose="020B0503020102020204" pitchFamily="34" charset="0"/>
              </a:rPr>
              <a:t>Gilberto Lopes ASCO 2018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34247" y="2603944"/>
            <a:ext cx="3824569" cy="340613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defTabSz="816353">
              <a:lnSpc>
                <a:spcPct val="95000"/>
              </a:lnSpc>
            </a:pPr>
            <a:r>
              <a:rPr 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Key Eligibility Criteria</a:t>
            </a:r>
          </a:p>
          <a:p>
            <a:pPr indent="-114297" defTabSz="816353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Untreated locally advanced or metastatic NSCLC of any histology</a:t>
            </a:r>
          </a:p>
          <a:p>
            <a:pPr indent="-114297" defTabSz="816353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PD-L1 TPS ≥1% </a:t>
            </a:r>
          </a:p>
          <a:p>
            <a:pPr indent="-114297" defTabSz="816353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No sensitizing EGFR or ALK alterations</a:t>
            </a:r>
          </a:p>
          <a:p>
            <a:pPr indent="-114297" defTabSz="816353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ECOG PS 0 or 1</a:t>
            </a:r>
          </a:p>
          <a:p>
            <a:pPr indent="-114297" defTabSz="816353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No untreated or unstable CNS metastases</a:t>
            </a:r>
          </a:p>
          <a:p>
            <a:pPr indent="-114297" defTabSz="816353">
              <a:lnSpc>
                <a:spcPct val="9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No history of pneumonitis that required systemic corticosteroids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70119" y="2215959"/>
            <a:ext cx="3269235" cy="1737360"/>
          </a:xfrm>
          <a:prstGeom prst="round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635" tIns="40818" rIns="81635" bIns="40818" rtlCol="0" anchor="ctr"/>
          <a:lstStyle/>
          <a:p>
            <a:pPr algn="ctr" defTabSz="816353">
              <a:lnSpc>
                <a:spcPct val="95000"/>
              </a:lnSpc>
              <a:spcBef>
                <a:spcPts val="600"/>
              </a:spcBef>
            </a:pPr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Pembrolizumab </a:t>
            </a:r>
          </a:p>
          <a:p>
            <a:pPr algn="ctr" defTabSz="816353">
              <a:lnSpc>
                <a:spcPct val="95000"/>
              </a:lnSpc>
              <a:spcBef>
                <a:spcPts val="600"/>
              </a:spcBef>
            </a:pPr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200 mg Q3W </a:t>
            </a:r>
          </a:p>
          <a:p>
            <a:pPr algn="ctr" defTabSz="816353">
              <a:lnSpc>
                <a:spcPct val="95000"/>
              </a:lnSpc>
              <a:spcBef>
                <a:spcPts val="600"/>
              </a:spcBef>
            </a:pPr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for up to 35 cycles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70119" y="4229162"/>
            <a:ext cx="3269235" cy="1737360"/>
          </a:xfrm>
          <a:prstGeom prst="roundRect">
            <a:avLst/>
          </a:prstGeom>
          <a:solidFill>
            <a:srgbClr val="FFA04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635" tIns="40818" rIns="81635" bIns="40818" rtlCol="0" anchor="ctr"/>
          <a:lstStyle/>
          <a:p>
            <a:pPr algn="ctr" defTabSz="816353">
              <a:lnSpc>
                <a:spcPct val="95000"/>
              </a:lnSpc>
            </a:pPr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Carboplatin AUC 5 or 6 Q3W + Paclitaxel 200 mg/m</a:t>
            </a:r>
            <a:r>
              <a:rPr lang="en-US" altLang="en-US" sz="1400" b="1" baseline="30000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Q3W</a:t>
            </a:r>
            <a:r>
              <a:rPr lang="en-US" altLang="en-US" sz="1400" b="1" baseline="30000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a</a:t>
            </a:r>
            <a:endParaRPr lang="en-US" altLang="en-US" sz="1400" b="1" dirty="0">
              <a:solidFill>
                <a:schemeClr val="bg1"/>
              </a:solidFill>
              <a:latin typeface="Franklin Gothic Book" panose="020B0503020102020204" pitchFamily="34" charset="0"/>
              <a:cs typeface="Arial" panose="020B0604020202020204" pitchFamily="34" charset="0"/>
            </a:endParaRPr>
          </a:p>
          <a:p>
            <a:pPr algn="ctr" defTabSz="816353">
              <a:lnSpc>
                <a:spcPct val="95000"/>
              </a:lnSpc>
            </a:pPr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OR</a:t>
            </a:r>
          </a:p>
          <a:p>
            <a:pPr algn="ctr" defTabSz="816353">
              <a:lnSpc>
                <a:spcPct val="95000"/>
              </a:lnSpc>
            </a:pPr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Carboplatin AUC 5 or 6 Q3W + Pemetrexed 500 mg/m</a:t>
            </a:r>
            <a:r>
              <a:rPr lang="en-US" altLang="en-US" sz="1400" b="1" baseline="30000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Q3W</a:t>
            </a:r>
            <a:r>
              <a:rPr lang="en-US" altLang="en-US" sz="1400" b="1" baseline="30000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a</a:t>
            </a:r>
            <a:endParaRPr lang="en-US" altLang="en-US" sz="1400" b="1" dirty="0">
              <a:solidFill>
                <a:schemeClr val="bg1"/>
              </a:solidFill>
              <a:latin typeface="Franklin Gothic Book" panose="020B0503020102020204" pitchFamily="34" charset="0"/>
              <a:cs typeface="Arial" panose="020B0604020202020204" pitchFamily="34" charset="0"/>
            </a:endParaRPr>
          </a:p>
          <a:p>
            <a:pPr algn="ctr" defTabSz="816353">
              <a:lnSpc>
                <a:spcPct val="95000"/>
              </a:lnSpc>
              <a:spcBef>
                <a:spcPts val="600"/>
              </a:spcBef>
            </a:pPr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for up to 6 cycles</a:t>
            </a:r>
          </a:p>
        </p:txBody>
      </p:sp>
      <p:cxnSp>
        <p:nvCxnSpPr>
          <p:cNvPr id="30" name="Elbow Connector 29"/>
          <p:cNvCxnSpPr>
            <a:cxnSpLocks/>
            <a:stCxn id="27" idx="3"/>
            <a:endCxn id="28" idx="1"/>
          </p:cNvCxnSpPr>
          <p:nvPr/>
        </p:nvCxnSpPr>
        <p:spPr>
          <a:xfrm flipV="1">
            <a:off x="5458816" y="3084639"/>
            <a:ext cx="1311303" cy="12223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cxnSpLocks/>
            <a:stCxn id="27" idx="3"/>
            <a:endCxn id="29" idx="1"/>
          </p:cNvCxnSpPr>
          <p:nvPr/>
        </p:nvCxnSpPr>
        <p:spPr>
          <a:xfrm>
            <a:off x="5458816" y="4307009"/>
            <a:ext cx="1311303" cy="79083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892128" y="2725308"/>
            <a:ext cx="926151" cy="338552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 defTabSz="914196"/>
            <a:r>
              <a:rPr lang="en-US" sz="1600" dirty="0">
                <a:latin typeface="Franklin Gothic Book" panose="020B0503020102020204" pitchFamily="34" charset="0"/>
                <a:cs typeface="Arial" panose="020B0604020202020204" pitchFamily="34" charset="0"/>
              </a:rPr>
              <a:t>N = 637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2128" y="5138260"/>
            <a:ext cx="926151" cy="338552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ctr" defTabSz="914196"/>
            <a:r>
              <a:rPr lang="en-US" sz="1600" dirty="0">
                <a:latin typeface="Franklin Gothic Book" panose="020B0503020102020204" pitchFamily="34" charset="0"/>
                <a:cs typeface="Arial" panose="020B0604020202020204" pitchFamily="34" charset="0"/>
              </a:rPr>
              <a:t>N = 637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28600"/>
            <a:ext cx="11400817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Does substitution of pembrolizumab for chemotherapy improve outcomes in patients whose tumors are PD-L1 ≥ 1%</a:t>
            </a:r>
            <a:b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(Keynote 042)</a:t>
            </a:r>
          </a:p>
        </p:txBody>
      </p:sp>
    </p:spTree>
    <p:extLst>
      <p:ext uri="{BB962C8B-B14F-4D97-AF65-F5344CB8AC3E}">
        <p14:creationId xmlns:p14="http://schemas.microsoft.com/office/powerpoint/2010/main" val="34613412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0A2798-F9FD-B94C-89C8-FEA54D8AAA67}"/>
              </a:ext>
            </a:extLst>
          </p:cNvPr>
          <p:cNvSpPr txBox="1"/>
          <p:nvPr/>
        </p:nvSpPr>
        <p:spPr>
          <a:xfrm>
            <a:off x="7772401" y="6583361"/>
            <a:ext cx="244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Mok et al, Lancet 2019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BEB382-F5B2-FB4E-9200-6485FC3D87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0851" y="1409242"/>
            <a:ext cx="8750298" cy="4952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4FEC1-EB44-1149-8780-0B6D7021C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Pembrolizumab is better than chemotherapy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for patients whose tumors are PD-L1 ≥ 1% </a:t>
            </a:r>
          </a:p>
        </p:txBody>
      </p:sp>
    </p:spTree>
    <p:extLst>
      <p:ext uri="{BB962C8B-B14F-4D97-AF65-F5344CB8AC3E}">
        <p14:creationId xmlns:p14="http://schemas.microsoft.com/office/powerpoint/2010/main" val="416986761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1CAF0-BD2D-3145-A2E1-24B474B2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Overall group, PD-L1 ≥1% n= 1274</a:t>
            </a:r>
          </a:p>
          <a:p>
            <a:r>
              <a:rPr lang="en-US" dirty="0"/>
              <a:t>That includes:</a:t>
            </a:r>
          </a:p>
          <a:p>
            <a:pPr lvl="1"/>
            <a:r>
              <a:rPr lang="en-US" dirty="0"/>
              <a:t>People with PD-L1 ≥50%, n=599</a:t>
            </a:r>
          </a:p>
          <a:p>
            <a:pPr lvl="1"/>
            <a:r>
              <a:rPr lang="en-US" dirty="0"/>
              <a:t>People with PD-L1 1-49%, n=675</a:t>
            </a:r>
          </a:p>
          <a:p>
            <a:r>
              <a:rPr lang="en-US" dirty="0"/>
              <a:t>And remember…we know that patients with PD-L1 ≥50% benefit (OS HR 0.63 when compared with chemo)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011101-7B7F-EF4C-A550-40F8D26A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Enrolled in the trial</a:t>
            </a:r>
          </a:p>
        </p:txBody>
      </p:sp>
      <p:sp>
        <p:nvSpPr>
          <p:cNvPr id="4" name="Citation (added)"/>
          <p:cNvSpPr txBox="1"/>
          <p:nvPr/>
        </p:nvSpPr>
        <p:spPr>
          <a:xfrm>
            <a:off x="7292340" y="6355080"/>
            <a:ext cx="45491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Mok et al, Lancet 2019; Reck et al, NEJM 2016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EE2FC6-A772-B2DA-7C97-38A08100D864}"/>
                  </a:ext>
                </a:extLst>
              </p14:cNvPr>
              <p14:cNvContentPartPr/>
              <p14:nvPr/>
            </p14:nvContentPartPr>
            <p14:xfrm>
              <a:off x="6367196" y="2762396"/>
              <a:ext cx="497160" cy="1033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EE2FC6-A772-B2DA-7C97-38A08100D8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49556" y="2744756"/>
                <a:ext cx="532800" cy="10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7BA8047-BEC5-5D83-0C27-24EDAAC9B81D}"/>
                  </a:ext>
                </a:extLst>
              </p14:cNvPr>
              <p14:cNvContentPartPr/>
              <p14:nvPr/>
            </p14:nvContentPartPr>
            <p14:xfrm>
              <a:off x="450956" y="2762396"/>
              <a:ext cx="744480" cy="1092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7BA8047-BEC5-5D83-0C27-24EDAAC9B8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3316" y="2744756"/>
                <a:ext cx="780120" cy="112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704633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73142C-4642-D145-B6D8-E962925F29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28805" y="2274333"/>
            <a:ext cx="7462629" cy="40385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0A2798-F9FD-B94C-89C8-FEA54D8AAA67}"/>
              </a:ext>
            </a:extLst>
          </p:cNvPr>
          <p:cNvSpPr txBox="1"/>
          <p:nvPr/>
        </p:nvSpPr>
        <p:spPr>
          <a:xfrm>
            <a:off x="7772401" y="6583361"/>
            <a:ext cx="244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Mok et al, Lancet 2019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24FEC1-EB44-1149-8780-0B6D7021C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Pembrolizumab is better than chemotherapy for patients whose  tumors are PD-L1 ≥ 1%: </a:t>
            </a:r>
            <a:r>
              <a:rPr lang="en-US" sz="2800" b="0" u="sng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subset PD-L1 ≥ 50%</a:t>
            </a:r>
          </a:p>
        </p:txBody>
      </p:sp>
    </p:spTree>
    <p:extLst>
      <p:ext uri="{BB962C8B-B14F-4D97-AF65-F5344CB8AC3E}">
        <p14:creationId xmlns:p14="http://schemas.microsoft.com/office/powerpoint/2010/main" val="22414430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0A2798-F9FD-B94C-89C8-FEA54D8AAA67}"/>
              </a:ext>
            </a:extLst>
          </p:cNvPr>
          <p:cNvSpPr txBox="1"/>
          <p:nvPr/>
        </p:nvSpPr>
        <p:spPr>
          <a:xfrm>
            <a:off x="7772401" y="6583361"/>
            <a:ext cx="244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Mok et al, Lancet 2019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279191-FA4C-2046-9E21-571D0C202B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14600" y="1905000"/>
            <a:ext cx="7206712" cy="457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1546D7-BCF4-1449-B3D4-2EF1E50F98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37246" y="1828801"/>
            <a:ext cx="805955" cy="42211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24FEC1-EB44-1149-8780-0B6D7021C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Pembrolizumab is better than chemotherapy for patients whose  tumors are PD-L1 ≥ 1%: </a:t>
            </a:r>
            <a:r>
              <a:rPr lang="en-US" sz="2800" b="0" u="sng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subset PD-L1 1-49%</a:t>
            </a:r>
          </a:p>
        </p:txBody>
      </p:sp>
    </p:spTree>
    <p:extLst>
      <p:ext uri="{BB962C8B-B14F-4D97-AF65-F5344CB8AC3E}">
        <p14:creationId xmlns:p14="http://schemas.microsoft.com/office/powerpoint/2010/main" val="655292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609604"/>
            <a:ext cx="8839200" cy="55165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65 year-old person with Stage IV NSCLC</a:t>
            </a:r>
          </a:p>
          <a:p>
            <a:pPr lvl="1"/>
            <a:r>
              <a:rPr lang="en-US" dirty="0"/>
              <a:t>Adenocarcinoma histology</a:t>
            </a:r>
          </a:p>
          <a:p>
            <a:pPr lvl="1"/>
            <a:r>
              <a:rPr lang="en-US" dirty="0"/>
              <a:t>No targetable oncogenic driver identified</a:t>
            </a:r>
          </a:p>
          <a:p>
            <a:pPr lvl="1"/>
            <a:r>
              <a:rPr lang="en-US" dirty="0"/>
              <a:t>No brain metastases</a:t>
            </a:r>
          </a:p>
          <a:p>
            <a:pPr lvl="1"/>
            <a:r>
              <a:rPr lang="en-US" dirty="0"/>
              <a:t>Good performance status</a:t>
            </a:r>
          </a:p>
          <a:p>
            <a:pPr lvl="1"/>
            <a:r>
              <a:rPr lang="en-US" dirty="0"/>
              <a:t>PD-L1 immunohistochemistry positive in 15% of cells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What is the most appropriate initial treatment?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Pembrolizumab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Cisplatin and pemetrexed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Nivolumab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u="sng" dirty="0"/>
              <a:t>Carboplatin, pemetrexed, pembrolizumab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2600" y="5943603"/>
            <a:ext cx="85344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If PD-L1 &lt;50%, pembrolizumab was NOT superior to chemotherapy, so most would favor another approach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97661E-BD30-9FA8-A128-ED0BD1B106AE}"/>
                  </a:ext>
                </a:extLst>
              </p14:cNvPr>
              <p14:cNvContentPartPr/>
              <p14:nvPr/>
            </p14:nvContentPartPr>
            <p14:xfrm>
              <a:off x="1985996" y="5702021"/>
              <a:ext cx="6126480" cy="129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697661E-BD30-9FA8-A128-ED0BD1B106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1996" y="5594381"/>
                <a:ext cx="623412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BE3B006-E993-2FE6-BFA4-20C2308E5853}"/>
                  </a:ext>
                </a:extLst>
              </p14:cNvPr>
              <p14:cNvContentPartPr/>
              <p14:nvPr/>
            </p14:nvContentPartPr>
            <p14:xfrm>
              <a:off x="2516996" y="5836301"/>
              <a:ext cx="5437440" cy="182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BE3B006-E993-2FE6-BFA4-20C2308E58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62996" y="5728301"/>
                <a:ext cx="5545080" cy="39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581180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1EE397-F556-9F46-80A8-3B1F829FD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393" y="2438400"/>
            <a:ext cx="7761214" cy="1981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C2AE9E-C87C-CF4F-8A6A-FD677920E44F}"/>
              </a:ext>
            </a:extLst>
          </p:cNvPr>
          <p:cNvSpPr txBox="1"/>
          <p:nvPr/>
        </p:nvSpPr>
        <p:spPr>
          <a:xfrm>
            <a:off x="6770756" y="6216134"/>
            <a:ext cx="2434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prescribing information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9D3D7-66DF-9D40-85E2-720EC8C3B09C}"/>
              </a:ext>
            </a:extLst>
          </p:cNvPr>
          <p:cNvSpPr txBox="1"/>
          <p:nvPr/>
        </p:nvSpPr>
        <p:spPr>
          <a:xfrm>
            <a:off x="1454562" y="4988859"/>
            <a:ext cx="95854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Franklin Gothic Book" panose="020B0503020102020204" pitchFamily="34" charset="0"/>
              </a:rPr>
              <a:t>(But not recommended in NCCN guidelines to use single-agent ICI in patients with PD-L1 &lt;50%)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E0BB3A-25D3-A49C-62CC-E92D92B35F4E}"/>
                  </a:ext>
                </a:extLst>
              </p14:cNvPr>
              <p14:cNvContentPartPr/>
              <p14:nvPr/>
            </p14:nvContentPartPr>
            <p14:xfrm>
              <a:off x="2733780" y="37104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E0BB3A-25D3-A49C-62CC-E92D92B35F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15780" y="353400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A06F977-68C1-1743-98BA-C3216410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Since overall trial showed improved OS, </a:t>
            </a:r>
            <a:b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FDA has </a:t>
            </a:r>
            <a:r>
              <a:rPr lang="en-US" sz="3200" b="0" u="sng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approved</a:t>
            </a:r>
            <a:r>
              <a:rPr 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for </a:t>
            </a:r>
            <a:r>
              <a:rPr lang="en-US" sz="3200" b="0" u="sng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patients with ≥PD-L1 1%</a:t>
            </a:r>
          </a:p>
        </p:txBody>
      </p:sp>
    </p:spTree>
    <p:extLst>
      <p:ext uri="{BB962C8B-B14F-4D97-AF65-F5344CB8AC3E}">
        <p14:creationId xmlns:p14="http://schemas.microsoft.com/office/powerpoint/2010/main" val="6083674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Are all anti-PD-1/PD-L1 drugs the same in the first-line setting?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196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865" name="AutoShape 10"/>
          <p:cNvCxnSpPr>
            <a:cxnSpLocks noChangeShapeType="1"/>
            <a:stCxn id="481284" idx="3"/>
            <a:endCxn id="36868" idx="1"/>
          </p:cNvCxnSpPr>
          <p:nvPr/>
        </p:nvCxnSpPr>
        <p:spPr bwMode="auto">
          <a:xfrm>
            <a:off x="4143260" y="3603080"/>
            <a:ext cx="1496810" cy="629438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6866" name="AutoShape 9"/>
          <p:cNvCxnSpPr>
            <a:cxnSpLocks noChangeShapeType="1"/>
            <a:stCxn id="481284" idx="3"/>
            <a:endCxn id="36870" idx="1"/>
          </p:cNvCxnSpPr>
          <p:nvPr/>
        </p:nvCxnSpPr>
        <p:spPr bwMode="auto">
          <a:xfrm flipV="1">
            <a:off x="4143260" y="3075724"/>
            <a:ext cx="1572974" cy="527356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6868" name="Text Box 3"/>
          <p:cNvSpPr txBox="1">
            <a:spLocks noChangeArrowheads="1"/>
          </p:cNvSpPr>
          <p:nvPr/>
        </p:nvSpPr>
        <p:spPr bwMode="auto">
          <a:xfrm>
            <a:off x="5640070" y="3847797"/>
            <a:ext cx="468153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en-US" altLang="en-US" sz="2200" dirty="0">
                <a:solidFill>
                  <a:srgbClr val="000000"/>
                </a:solidFill>
                <a:latin typeface="Franklin Gothic Book" panose="020B0503020102020204" pitchFamily="34" charset="0"/>
                <a:sym typeface="Symbol" panose="05050102010706020507" pitchFamily="18" charset="2"/>
              </a:rPr>
              <a:t>Investigator’s Choice Platinum Doublet</a:t>
            </a:r>
          </a:p>
        </p:txBody>
      </p:sp>
      <p:sp>
        <p:nvSpPr>
          <p:cNvPr id="36870" name="Text Box 8"/>
          <p:cNvSpPr txBox="1">
            <a:spLocks noChangeArrowheads="1"/>
          </p:cNvSpPr>
          <p:nvPr/>
        </p:nvSpPr>
        <p:spPr bwMode="auto">
          <a:xfrm>
            <a:off x="5716234" y="2860280"/>
            <a:ext cx="46085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en-US" altLang="en-US" sz="2200" dirty="0">
                <a:solidFill>
                  <a:srgbClr val="000000"/>
                </a:solidFill>
                <a:latin typeface="Franklin Gothic Book" panose="020B0503020102020204" pitchFamily="34" charset="0"/>
                <a:sym typeface="Symbol" panose="05050102010706020507" pitchFamily="18" charset="2"/>
              </a:rPr>
              <a:t>Nivolumab 3 mg/kg q2 weeks</a:t>
            </a:r>
            <a:endParaRPr lang="en-US" altLang="en-US" sz="2000" dirty="0">
              <a:solidFill>
                <a:srgbClr val="000000"/>
              </a:solidFill>
              <a:latin typeface="Franklin Gothic Book" panose="020B0503020102020204" pitchFamily="34" charset="0"/>
              <a:sym typeface="Symbol" panose="05050102010706020507" pitchFamily="18" charset="2"/>
            </a:endParaRPr>
          </a:p>
        </p:txBody>
      </p:sp>
      <p:sp>
        <p:nvSpPr>
          <p:cNvPr id="36871" name="TextBox 1"/>
          <p:cNvSpPr txBox="1">
            <a:spLocks noChangeArrowheads="1"/>
          </p:cNvSpPr>
          <p:nvPr/>
        </p:nvSpPr>
        <p:spPr bwMode="auto">
          <a:xfrm>
            <a:off x="3978716" y="5143469"/>
            <a:ext cx="40417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u="sng" dirty="0">
                <a:solidFill>
                  <a:srgbClr val="000000"/>
                </a:solidFill>
                <a:latin typeface="Franklin Gothic Book" panose="020B0503020102020204" pitchFamily="34" charset="0"/>
              </a:rPr>
              <a:t>Endpoints</a:t>
            </a:r>
          </a:p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Primary:  Progression-free survival</a:t>
            </a:r>
          </a:p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Response Rate</a:t>
            </a:r>
          </a:p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Overall Survival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8620" y="6324600"/>
            <a:ext cx="2723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Carbone et al, NEJM 2017</a:t>
            </a:r>
          </a:p>
        </p:txBody>
      </p:sp>
      <p:sp>
        <p:nvSpPr>
          <p:cNvPr id="481284" name="Text Box 4"/>
          <p:cNvSpPr txBox="1">
            <a:spLocks noChangeArrowheads="1"/>
          </p:cNvSpPr>
          <p:nvPr/>
        </p:nvSpPr>
        <p:spPr bwMode="auto">
          <a:xfrm>
            <a:off x="1249248" y="2633584"/>
            <a:ext cx="2894012" cy="193899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119063" indent="-119063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Patients with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metastatic NSCLC (EGFR and ALK WT)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Franklin Gothic Book" panose="020B0503020102020204" pitchFamily="34" charset="0"/>
              </a:rPr>
              <a:t>PDL1 ≥5% Tumor Cells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no prior chemo</a:t>
            </a:r>
          </a:p>
          <a:p>
            <a:pPr eaLnBrk="1" hangingPunct="1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2000" dirty="0">
                <a:latin typeface="Franklin Gothic Book" panose="020B0503020102020204" pitchFamily="34" charset="0"/>
              </a:rPr>
              <a:t>n=541</a:t>
            </a:r>
          </a:p>
        </p:txBody>
      </p:sp>
      <p:sp>
        <p:nvSpPr>
          <p:cNvPr id="433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CA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Is nivolumab better than chemotherapy in NSCLC with </a:t>
            </a:r>
            <a:r>
              <a:rPr lang="en-US" alt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PDL1 ≥5%</a:t>
            </a:r>
            <a:r>
              <a:rPr lang="en-CA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? (Checkmate 026)</a:t>
            </a:r>
            <a:endParaRPr lang="en-US" sz="2800" b="0" dirty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/>
          <p:cNvSpPr txBox="1">
            <a:spLocks noChangeArrowheads="1"/>
          </p:cNvSpPr>
          <p:nvPr/>
        </p:nvSpPr>
        <p:spPr bwMode="auto">
          <a:xfrm>
            <a:off x="457200" y="228600"/>
            <a:ext cx="11274552" cy="1051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GB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Nivolumab is </a:t>
            </a:r>
            <a:r>
              <a:rPr lang="en-GB" sz="3200" b="0" u="sng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not</a:t>
            </a:r>
            <a:r>
              <a:rPr lang="en-GB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better than chemotherapy with PD-L1 </a:t>
            </a:r>
            <a:r>
              <a:rPr lang="en-US" altLang="en-US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≥</a:t>
            </a:r>
            <a:r>
              <a:rPr lang="en-GB" sz="32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5%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6103345" y="6230971"/>
            <a:ext cx="4577728" cy="238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7000"/>
              </a:lnSpc>
              <a:buClr>
                <a:srgbClr val="FFFFFF"/>
              </a:buCl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</a:tabLst>
            </a:pPr>
            <a:r>
              <a:rPr lang="en-GB" sz="1600" dirty="0">
                <a:latin typeface="Franklin Gothic Book" panose="020B0503020102020204" pitchFamily="34" charset="0"/>
              </a:rPr>
              <a:t>Carbone DP et al. N Engl J Med 2017</a:t>
            </a:r>
          </a:p>
        </p:txBody>
      </p:sp>
      <p:pic>
        <p:nvPicPr>
          <p:cNvPr id="6" name="Picture 5" descr="Imag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4697" y="1219200"/>
            <a:ext cx="4835180" cy="4394812"/>
          </a:xfrm>
          <a:prstGeom prst="rect">
            <a:avLst/>
          </a:prstGeom>
        </p:spPr>
      </p:pic>
      <p:pic>
        <p:nvPicPr>
          <p:cNvPr id="7" name="Picture 6" descr="Image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20580" y="1237562"/>
            <a:ext cx="4850175" cy="438876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AutoShape 10">
            <a:extLst>
              <a:ext uri="{FF2B5EF4-FFF2-40B4-BE49-F238E27FC236}">
                <a16:creationId xmlns:a16="http://schemas.microsoft.com/office/drawing/2014/main" id="{9D63D907-6F3C-D143-AFF9-8CF900F7B615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5154612" y="3576638"/>
            <a:ext cx="1208087" cy="884238"/>
          </a:xfrm>
          <a:prstGeom prst="bentConnector3">
            <a:avLst>
              <a:gd name="adj1" fmla="val 98657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" name="AutoShape 9">
            <a:extLst>
              <a:ext uri="{FF2B5EF4-FFF2-40B4-BE49-F238E27FC236}">
                <a16:creationId xmlns:a16="http://schemas.microsoft.com/office/drawing/2014/main" id="{8681F237-E0FD-794A-9B6F-3E17021F02A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5160150" y="2426495"/>
            <a:ext cx="1220788" cy="908050"/>
          </a:xfrm>
          <a:prstGeom prst="bentConnector3">
            <a:avLst>
              <a:gd name="adj1" fmla="val 100444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7" name="Text Box 3">
            <a:extLst>
              <a:ext uri="{FF2B5EF4-FFF2-40B4-BE49-F238E27FC236}">
                <a16:creationId xmlns:a16="http://schemas.microsoft.com/office/drawing/2014/main" id="{D6853BAD-AE48-9543-8018-60234598C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9317" y="4373577"/>
            <a:ext cx="468153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en-US" altLang="en-US" sz="2200" dirty="0">
                <a:solidFill>
                  <a:srgbClr val="000000"/>
                </a:solidFill>
                <a:latin typeface="Franklin Gothic Book" panose="020B0503020102020204" pitchFamily="34" charset="0"/>
                <a:sym typeface="Symbol" panose="05050102010706020507" pitchFamily="18" charset="2"/>
              </a:rPr>
              <a:t>Platinum-based chemotherapy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68B90FC-FA70-4D4B-A32B-6415FA1DA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61" y="2496693"/>
            <a:ext cx="3752850" cy="193899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marL="119063" indent="-119063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Patients with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metastatic NSCLC (EGFR and ALK WT)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Franklin Gothic Book" panose="020B0503020102020204" pitchFamily="34" charset="0"/>
              </a:rPr>
              <a:t>PD-L1 ≥50% Tumor Cells OR 10% of Immune cells (by area)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no prior chemo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EDB6DF88-E1D7-4746-91AF-071A1BD82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8087" y="2049477"/>
            <a:ext cx="46085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en-US" altLang="en-US" sz="2200" dirty="0">
                <a:solidFill>
                  <a:srgbClr val="000000"/>
                </a:solidFill>
                <a:latin typeface="Franklin Gothic Book" panose="020B0503020102020204" pitchFamily="34" charset="0"/>
                <a:sym typeface="Symbol" panose="05050102010706020507" pitchFamily="18" charset="2"/>
              </a:rPr>
              <a:t>Atezolizumab q 3 weeks</a:t>
            </a:r>
            <a:endParaRPr lang="en-US" altLang="en-US" sz="2000" dirty="0">
              <a:solidFill>
                <a:srgbClr val="000000"/>
              </a:solidFill>
              <a:latin typeface="Franklin Gothic Book" panose="020B0503020102020204" pitchFamily="34" charset="0"/>
              <a:sym typeface="Symbol" panose="05050102010706020507" pitchFamily="18" charset="2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5910F42D-4AA8-9548-B190-19B7AF8AB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6537" y="4803782"/>
            <a:ext cx="40417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u="sng" dirty="0">
                <a:solidFill>
                  <a:srgbClr val="000000"/>
                </a:solidFill>
                <a:latin typeface="Franklin Gothic Book" panose="020B0503020102020204" pitchFamily="34" charset="0"/>
              </a:rPr>
              <a:t>Endpoints</a:t>
            </a:r>
          </a:p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Primary:  Progression-free survival</a:t>
            </a:r>
          </a:p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Response Rate</a:t>
            </a:r>
          </a:p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Overall Survival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4DE6A0-3D16-D543-9361-B0EF390E18FD}"/>
              </a:ext>
            </a:extLst>
          </p:cNvPr>
          <p:cNvCxnSpPr/>
          <p:nvPr/>
        </p:nvCxnSpPr>
        <p:spPr>
          <a:xfrm>
            <a:off x="4630719" y="3485471"/>
            <a:ext cx="6858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3009A020-8741-A14B-B24C-8EE2A1550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6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Is atezolizumab better than chemotherapy in </a:t>
            </a:r>
            <a:br>
              <a:rPr lang="en-US" sz="36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36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patients with high PD-L1 expression</a:t>
            </a:r>
          </a:p>
        </p:txBody>
      </p:sp>
      <p:sp>
        <p:nvSpPr>
          <p:cNvPr id="13" name="Citation (added)"/>
          <p:cNvSpPr txBox="1"/>
          <p:nvPr/>
        </p:nvSpPr>
        <p:spPr>
          <a:xfrm>
            <a:off x="9404604" y="6355080"/>
            <a:ext cx="24368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Herbst et al, NEJM 2020</a:t>
            </a:r>
          </a:p>
        </p:txBody>
      </p:sp>
    </p:spTree>
    <p:extLst>
      <p:ext uri="{BB962C8B-B14F-4D97-AF65-F5344CB8AC3E}">
        <p14:creationId xmlns:p14="http://schemas.microsoft.com/office/powerpoint/2010/main" val="337972479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BAFC14-3396-834D-AC3E-8DE9C9AD6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224" y="1317812"/>
            <a:ext cx="10714913" cy="49844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7C5CB3-2347-9A4B-83F7-CC7C4A650408}"/>
              </a:ext>
            </a:extLst>
          </p:cNvPr>
          <p:cNvSpPr txBox="1"/>
          <p:nvPr/>
        </p:nvSpPr>
        <p:spPr>
          <a:xfrm>
            <a:off x="8534400" y="2590800"/>
            <a:ext cx="2565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Median OS – 20 months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HR 0.59 (p=0.01)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8B3ED3-C5D9-44F8-A4C9-4BC7D1A940DF}"/>
              </a:ext>
            </a:extLst>
          </p:cNvPr>
          <p:cNvSpPr txBox="1"/>
          <p:nvPr/>
        </p:nvSpPr>
        <p:spPr>
          <a:xfrm>
            <a:off x="8963247" y="1644718"/>
            <a:ext cx="147271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atezolizumab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D1FD3-30A7-9A47-B1EA-63E33143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6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Atezolizumab is better than chemotherapy in </a:t>
            </a:r>
            <a:br>
              <a:rPr lang="en-US" sz="36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36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patients with high PD-L1 expression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C9714-4F39-9261-38FB-7E9ABC9EB8C4}"/>
              </a:ext>
            </a:extLst>
          </p:cNvPr>
          <p:cNvSpPr txBox="1"/>
          <p:nvPr/>
        </p:nvSpPr>
        <p:spPr>
          <a:xfrm>
            <a:off x="8643211" y="6405948"/>
            <a:ext cx="2563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Herbst et al, NEJM 2020</a:t>
            </a:r>
          </a:p>
        </p:txBody>
      </p:sp>
    </p:spTree>
    <p:extLst>
      <p:ext uri="{BB962C8B-B14F-4D97-AF65-F5344CB8AC3E}">
        <p14:creationId xmlns:p14="http://schemas.microsoft.com/office/powerpoint/2010/main" val="206903170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Front Line Single-agent anti-PD1/PD-L1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3200" dirty="0"/>
              <a:t>In patients with metastatic NSCLC with high PD-L1, </a:t>
            </a:r>
          </a:p>
          <a:p>
            <a:pPr lvl="1"/>
            <a:r>
              <a:rPr lang="en-US" sz="3200" b="1" dirty="0"/>
              <a:t>Pembrolizumab, cemiplimab </a:t>
            </a:r>
            <a:r>
              <a:rPr lang="en-US" sz="3200" dirty="0"/>
              <a:t>(PD-L1 ≥ 50%)</a:t>
            </a:r>
            <a:r>
              <a:rPr lang="en-US" sz="3200" b="1" dirty="0"/>
              <a:t> and </a:t>
            </a:r>
          </a:p>
          <a:p>
            <a:pPr lvl="1"/>
            <a:r>
              <a:rPr lang="en-US" sz="3200" b="1" dirty="0"/>
              <a:t>atezolizumab (</a:t>
            </a:r>
            <a:r>
              <a:rPr lang="en-US" sz="3200" dirty="0"/>
              <a:t>PD-L1 stained ≥ 50% of tumor cells or PD-L1 stained tumor-infiltrating immune cells covering ≥ 10% of the tumor area) </a:t>
            </a:r>
            <a:r>
              <a:rPr lang="en-US" sz="3200" b="1" dirty="0"/>
              <a:t>are better than chemotherapy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For PD-L1 </a:t>
            </a:r>
            <a:r>
              <a:rPr lang="en-US" sz="3200" dirty="0" err="1"/>
              <a:t>cutpoints</a:t>
            </a:r>
            <a:r>
              <a:rPr lang="en-US" sz="3200" dirty="0"/>
              <a:t> </a:t>
            </a:r>
            <a:r>
              <a:rPr lang="en-US" sz="3200" b="1" dirty="0"/>
              <a:t>1-49%</a:t>
            </a:r>
            <a:r>
              <a:rPr lang="en-US" sz="3200" dirty="0"/>
              <a:t>, pembrolizumab is not superior to chemotherapy (but is FDA-approved and can be given)</a:t>
            </a:r>
          </a:p>
          <a:p>
            <a:endParaRPr lang="en-US" sz="3200" dirty="0"/>
          </a:p>
          <a:p>
            <a:r>
              <a:rPr lang="en-US" sz="3200" dirty="0"/>
              <a:t>In nivolumab trial in PD-L1 ≥ </a:t>
            </a:r>
            <a:r>
              <a:rPr lang="en-US" sz="3200" b="1" dirty="0"/>
              <a:t>5% positive, </a:t>
            </a:r>
            <a:r>
              <a:rPr lang="en-US" sz="3200" dirty="0"/>
              <a:t>nivolumab not superior to chemotherapy</a:t>
            </a:r>
          </a:p>
          <a:p>
            <a:r>
              <a:rPr lang="en-US" sz="3200" dirty="0"/>
              <a:t>In durvalumab trial in PD-L1 ≥ </a:t>
            </a:r>
            <a:r>
              <a:rPr lang="en-US" sz="3200" b="1" dirty="0"/>
              <a:t>25% positive, </a:t>
            </a:r>
            <a:r>
              <a:rPr lang="en-US" sz="3200" dirty="0"/>
              <a:t>durvalumab not superior to chemotherapy</a:t>
            </a:r>
            <a:endParaRPr lang="en-US" sz="3200" b="1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193946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9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01826" y="1403350"/>
            <a:ext cx="8243888" cy="439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Box 2"/>
          <p:cNvSpPr txBox="1">
            <a:spLocks noChangeArrowheads="1"/>
          </p:cNvSpPr>
          <p:nvPr/>
        </p:nvSpPr>
        <p:spPr bwMode="auto">
          <a:xfrm>
            <a:off x="5886450" y="1403351"/>
            <a:ext cx="2222500" cy="738664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b="1" u="sng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Anti-PD-L1</a:t>
            </a:r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</a:p>
          <a:p>
            <a:pPr algn="ctr" eaLnBrk="1" hangingPunct="1"/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Atezolizumab</a:t>
            </a:r>
          </a:p>
          <a:p>
            <a:pPr algn="ctr" eaLnBrk="1" hangingPunct="1"/>
            <a:r>
              <a:rPr lang="en-US" altLang="en-US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Durvalumab</a:t>
            </a:r>
          </a:p>
        </p:txBody>
      </p:sp>
      <p:sp>
        <p:nvSpPr>
          <p:cNvPr id="14337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What about combinations of  checkpoint inhibitors?</a:t>
            </a:r>
          </a:p>
        </p:txBody>
      </p:sp>
    </p:spTree>
    <p:extLst>
      <p:ext uri="{BB962C8B-B14F-4D97-AF65-F5344CB8AC3E}">
        <p14:creationId xmlns:p14="http://schemas.microsoft.com/office/powerpoint/2010/main" val="326418695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E7E406-7AD1-A24C-8E0A-3746552010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504" b="12559"/>
          <a:stretch/>
        </p:blipFill>
        <p:spPr>
          <a:xfrm>
            <a:off x="0" y="1447800"/>
            <a:ext cx="12192000" cy="49335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D05CC6-E505-F245-ADC9-F3ED5F6F1D8A}"/>
              </a:ext>
            </a:extLst>
          </p:cNvPr>
          <p:cNvSpPr txBox="1"/>
          <p:nvPr/>
        </p:nvSpPr>
        <p:spPr>
          <a:xfrm>
            <a:off x="6970508" y="6381307"/>
            <a:ext cx="3525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Franklin Gothic Book" panose="020B0503020102020204" pitchFamily="34" charset="0"/>
              </a:rPr>
              <a:t>Adapted from Peters et al, ESMO 2019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4A363D-0ABF-E348-9C01-199FC75D3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Is combination PD-1 Ab + CTLA4 Ab superior to chemotherapy?</a:t>
            </a:r>
          </a:p>
        </p:txBody>
      </p:sp>
    </p:spTree>
    <p:extLst>
      <p:ext uri="{BB962C8B-B14F-4D97-AF65-F5344CB8AC3E}">
        <p14:creationId xmlns:p14="http://schemas.microsoft.com/office/powerpoint/2010/main" val="76635775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082FAC-73E0-AB4E-9EC4-B52FEE408532}"/>
              </a:ext>
            </a:extLst>
          </p:cNvPr>
          <p:cNvSpPr txBox="1"/>
          <p:nvPr/>
        </p:nvSpPr>
        <p:spPr>
          <a:xfrm>
            <a:off x="7740503" y="6379536"/>
            <a:ext cx="25551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Franklin Gothic Book" panose="020B0503020102020204" pitchFamily="34" charset="0"/>
              </a:rPr>
              <a:t>Hellmann et al, NEJM 2019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A5492-40B6-D84C-8F2E-7AD8C1CEB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4" y="1545624"/>
            <a:ext cx="12192000" cy="49313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F2C529-A225-2E46-B2A3-9A925785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Ipi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/</a:t>
            </a:r>
            <a:r>
              <a:rPr lang="en-US" sz="2800" b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Nivo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improved OS compared with </a:t>
            </a:r>
            <a:b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chemotherapy (w/o IO) in PD-L1 positive</a:t>
            </a:r>
          </a:p>
        </p:txBody>
      </p:sp>
    </p:spTree>
    <p:extLst>
      <p:ext uri="{BB962C8B-B14F-4D97-AF65-F5344CB8AC3E}">
        <p14:creationId xmlns:p14="http://schemas.microsoft.com/office/powerpoint/2010/main" val="84016785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082FAC-73E0-AB4E-9EC4-B52FEE408532}"/>
              </a:ext>
            </a:extLst>
          </p:cNvPr>
          <p:cNvSpPr txBox="1"/>
          <p:nvPr/>
        </p:nvSpPr>
        <p:spPr>
          <a:xfrm>
            <a:off x="7740503" y="6379536"/>
            <a:ext cx="2851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Hellmann et al, NEJM 2019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9AAF77-E9F8-0849-B5F0-22A9C6848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9747"/>
            <a:ext cx="12192000" cy="48748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F2C529-A225-2E46-B2A3-9A925785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Ipi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/</a:t>
            </a:r>
            <a:r>
              <a:rPr lang="en-US" sz="2800" b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Nivo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improved OS compared with chemotherapy (w/o IO) in PD-L1 negative</a:t>
            </a:r>
          </a:p>
        </p:txBody>
      </p:sp>
    </p:spTree>
    <p:extLst>
      <p:ext uri="{BB962C8B-B14F-4D97-AF65-F5344CB8AC3E}">
        <p14:creationId xmlns:p14="http://schemas.microsoft.com/office/powerpoint/2010/main" val="169749787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082FAC-73E0-AB4E-9EC4-B52FEE408532}"/>
              </a:ext>
            </a:extLst>
          </p:cNvPr>
          <p:cNvSpPr txBox="1"/>
          <p:nvPr/>
        </p:nvSpPr>
        <p:spPr>
          <a:xfrm>
            <a:off x="7740503" y="6379536"/>
            <a:ext cx="3746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anklin Gothic Book" panose="020B0503020102020204" pitchFamily="34" charset="0"/>
              </a:rPr>
              <a:t>Hellmann et al, NEJM 2019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284D9D-AB2A-7944-ACB5-3934DDE54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5" y="1492180"/>
            <a:ext cx="11993525" cy="4908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F2C529-A225-2E46-B2A3-9A925785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Ipi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/</a:t>
            </a:r>
            <a:r>
              <a:rPr lang="en-US" sz="2800" b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Nivo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improved OS compared with chemotherapy (w/o IO) regardless of PD-L1 status</a:t>
            </a:r>
          </a:p>
        </p:txBody>
      </p:sp>
    </p:spTree>
    <p:extLst>
      <p:ext uri="{BB962C8B-B14F-4D97-AF65-F5344CB8AC3E}">
        <p14:creationId xmlns:p14="http://schemas.microsoft.com/office/powerpoint/2010/main" val="77859042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082FAC-73E0-AB4E-9EC4-B52FEE408532}"/>
              </a:ext>
            </a:extLst>
          </p:cNvPr>
          <p:cNvSpPr txBox="1"/>
          <p:nvPr/>
        </p:nvSpPr>
        <p:spPr>
          <a:xfrm>
            <a:off x="7740503" y="6379536"/>
            <a:ext cx="2851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Hellmann et al, NEJM 2019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841873-F9D1-7349-9247-0854048F0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502" y="1183603"/>
            <a:ext cx="7499498" cy="47599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D9BC991-F51D-DE43-BD44-BAE8D2677BEB}"/>
              </a:ext>
            </a:extLst>
          </p:cNvPr>
          <p:cNvSpPr/>
          <p:nvPr/>
        </p:nvSpPr>
        <p:spPr>
          <a:xfrm>
            <a:off x="2683519" y="4911900"/>
            <a:ext cx="7863979" cy="1031129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2C529-A225-2E46-B2A3-9A925785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The caveat… less chemo doesn’t mean less tox</a:t>
            </a:r>
          </a:p>
        </p:txBody>
      </p:sp>
    </p:spTree>
    <p:extLst>
      <p:ext uri="{BB962C8B-B14F-4D97-AF65-F5344CB8AC3E}">
        <p14:creationId xmlns:p14="http://schemas.microsoft.com/office/powerpoint/2010/main" val="148323651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E132E7-426A-13FE-CDE6-ADF244B45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10" y="2515812"/>
            <a:ext cx="5816390" cy="26344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E769A2-A36F-CB18-BBFD-52C0D3657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256" y="2297892"/>
            <a:ext cx="6145744" cy="293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72068D-8D91-DA88-F2BD-EDEDFE3500B9}"/>
              </a:ext>
            </a:extLst>
          </p:cNvPr>
          <p:cNvSpPr txBox="1"/>
          <p:nvPr/>
        </p:nvSpPr>
        <p:spPr>
          <a:xfrm>
            <a:off x="9119128" y="6338293"/>
            <a:ext cx="2551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Johnson et al, JCO 2023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B15978-8CD1-BDE4-A80B-E2F8FBDC1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Was CTLA4/PD-L1+chemotherapy better than chemotherapy alone?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Durvalumab and </a:t>
            </a:r>
            <a:r>
              <a:rPr lang="en-US" sz="28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Tremelimumab</a:t>
            </a:r>
            <a:endParaRPr lang="en-US" sz="2800" b="0" dirty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8111C4-6E1F-C5E2-BCCD-DF03B9620787}"/>
              </a:ext>
            </a:extLst>
          </p:cNvPr>
          <p:cNvSpPr txBox="1"/>
          <p:nvPr/>
        </p:nvSpPr>
        <p:spPr>
          <a:xfrm>
            <a:off x="1235413" y="5516122"/>
            <a:ext cx="93549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But…this is the wrong control arm at this point…need comparison to chemo + anti-PD-(L)1</a:t>
            </a:r>
          </a:p>
        </p:txBody>
      </p:sp>
    </p:spTree>
    <p:extLst>
      <p:ext uri="{BB962C8B-B14F-4D97-AF65-F5344CB8AC3E}">
        <p14:creationId xmlns:p14="http://schemas.microsoft.com/office/powerpoint/2010/main" val="191731134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FC11CB-0284-6C44-BFB9-47E29E0A7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72277"/>
              </p:ext>
            </p:extLst>
          </p:nvPr>
        </p:nvGraphicFramePr>
        <p:xfrm>
          <a:off x="867894" y="754380"/>
          <a:ext cx="10256519" cy="6109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6687">
                  <a:extLst>
                    <a:ext uri="{9D8B030D-6E8A-4147-A177-3AD203B41FA5}">
                      <a16:colId xmlns:a16="http://schemas.microsoft.com/office/drawing/2014/main" val="3200279516"/>
                    </a:ext>
                  </a:extLst>
                </a:gridCol>
                <a:gridCol w="7289832">
                  <a:extLst>
                    <a:ext uri="{9D8B030D-6E8A-4147-A177-3AD203B41FA5}">
                      <a16:colId xmlns:a16="http://schemas.microsoft.com/office/drawing/2014/main" val="3919710572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PD-L1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200" dirty="0">
                        <a:latin typeface="Franklin Gothic Book" panose="020B050302010202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017238577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High ( </a:t>
                      </a:r>
                      <a:r>
                        <a:rPr lang="en-US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≥</a:t>
                      </a:r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 50%, TC3/IC3)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Pembrolizumab, atezolizumab, cemiplimab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63482945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Low (TPS </a:t>
                      </a:r>
                      <a:r>
                        <a:rPr lang="en-US" sz="2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≥</a:t>
                      </a:r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1%)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pembrolizumab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95751224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Any (squamous)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carboplatin, paclitaxel, pembrolizumab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ipilimumab/nivolumab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carboplatin paclitaxel, ipilimumab/nivolumab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platinum-doublet, durvalumab, </a:t>
                      </a:r>
                      <a:r>
                        <a:rPr lang="en-US" sz="2200" dirty="0" err="1">
                          <a:latin typeface="Franklin Gothic Book" panose="020B0503020102020204" pitchFamily="34" charset="0"/>
                        </a:rPr>
                        <a:t>tremelimumab</a:t>
                      </a:r>
                      <a:endParaRPr lang="en-US" sz="2200" dirty="0">
                        <a:latin typeface="Franklin Gothic Book" panose="020B0503020102020204" pitchFamily="34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platinum-doublet, cemiplimab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243276804"/>
                  </a:ext>
                </a:extLst>
              </a:tr>
              <a:tr h="1950720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Any (non-squamous)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carboplatin, pemetrexed, pembrolizumab</a:t>
                      </a:r>
                    </a:p>
                    <a:p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carboplatin, paclitaxel, bevacizumab, atezolizumab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carboplatin, nab-paclitaxel, atezolizumab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ipilimumab/nivolumab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carboplatin, pemetrexed, ipilimumab/nivolumab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platinum-doublet, durvalumab, </a:t>
                      </a:r>
                      <a:r>
                        <a:rPr lang="en-US" sz="2200" dirty="0" err="1">
                          <a:latin typeface="Franklin Gothic Book" panose="020B0503020102020204" pitchFamily="34" charset="0"/>
                        </a:rPr>
                        <a:t>tremelimumab</a:t>
                      </a:r>
                      <a:endParaRPr lang="en-US" sz="2200" dirty="0">
                        <a:latin typeface="Franklin Gothic Book" panose="020B0503020102020204" pitchFamily="34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Franklin Gothic Book" panose="020B0503020102020204" pitchFamily="34" charset="0"/>
                        </a:rPr>
                        <a:t>platinum-doublet, cemiplimab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83906398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4000B20-B721-CA49-836E-81B170E64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So, our options…</a:t>
            </a:r>
          </a:p>
        </p:txBody>
      </p:sp>
    </p:spTree>
    <p:extLst>
      <p:ext uri="{BB962C8B-B14F-4D97-AF65-F5344CB8AC3E}">
        <p14:creationId xmlns:p14="http://schemas.microsoft.com/office/powerpoint/2010/main" val="429176302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8DF21-FDEB-478B-866C-304DD0129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4"/>
            <a:ext cx="11582400" cy="2743197"/>
          </a:xfrm>
        </p:spPr>
        <p:txBody>
          <a:bodyPr>
            <a:normAutofit/>
          </a:bodyPr>
          <a:lstStyle/>
          <a:p>
            <a:r>
              <a:rPr lang="en-US" dirty="0"/>
              <a:t>PD-L1 (is it &lt;50%?) status and symptoms determines whether patient gets chemotherapy or just pembrolizumab</a:t>
            </a:r>
          </a:p>
          <a:p>
            <a:endParaRPr lang="en-US" dirty="0"/>
          </a:p>
          <a:p>
            <a:r>
              <a:rPr lang="en-US" dirty="0"/>
              <a:t>Histology determines the chemotherapy combination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8D263B-C665-414A-B183-03B2EBEAE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493148"/>
              </p:ext>
            </p:extLst>
          </p:nvPr>
        </p:nvGraphicFramePr>
        <p:xfrm>
          <a:off x="2743200" y="4191000"/>
          <a:ext cx="73152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1524732838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1752255375"/>
                    </a:ext>
                  </a:extLst>
                </a:gridCol>
              </a:tblGrid>
              <a:tr h="4499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Franklin Gothic Book" panose="020B0503020102020204" pitchFamily="34" charset="0"/>
                        </a:rPr>
                        <a:t>Histology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Franklin Gothic Book" panose="020B0503020102020204" pitchFamily="34" charset="0"/>
                        </a:rPr>
                        <a:t>Regimen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69510"/>
                  </a:ext>
                </a:extLst>
              </a:tr>
              <a:tr h="77656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Franklin Gothic Book" panose="020B0503020102020204" pitchFamily="34" charset="0"/>
                        </a:rPr>
                        <a:t>“Non-Squamous”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Franklin Gothic Book" panose="020B0503020102020204" pitchFamily="34" charset="0"/>
                        </a:rPr>
                        <a:t>Platin/Pemetrexed/Pembrolizumab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254329"/>
                  </a:ext>
                </a:extLst>
              </a:tr>
              <a:tr h="44991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Franklin Gothic Book" panose="020B0503020102020204" pitchFamily="34" charset="0"/>
                        </a:rPr>
                        <a:t>Squamous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Franklin Gothic Book" panose="020B0503020102020204" pitchFamily="34" charset="0"/>
                        </a:rPr>
                        <a:t>Carboplatin/Taxane/Pembrolizumab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18864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EAD3243-8804-420F-8E9B-91E78BC66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First line therapy – what do we do in clinic? </a:t>
            </a:r>
            <a:br>
              <a:rPr lang="en-US" sz="40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40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(in the absence of a driver oncogene)</a:t>
            </a:r>
          </a:p>
        </p:txBody>
      </p:sp>
    </p:spTree>
    <p:extLst>
      <p:ext uri="{BB962C8B-B14F-4D97-AF65-F5344CB8AC3E}">
        <p14:creationId xmlns:p14="http://schemas.microsoft.com/office/powerpoint/2010/main" val="242523498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C2C1C-46AB-8A6A-CAD7-0DAC2ED24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036575-11B1-5F77-5CC3-7AC3B9B0AB4B}"/>
              </a:ext>
            </a:extLst>
          </p:cNvPr>
          <p:cNvSpPr/>
          <p:nvPr/>
        </p:nvSpPr>
        <p:spPr>
          <a:xfrm>
            <a:off x="8673110" y="393563"/>
            <a:ext cx="2909290" cy="1524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Franklin Gothic Book" panose="020B0503020102020204" pitchFamily="34" charset="0"/>
              </a:rPr>
              <a:t>Targeted therapy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6CC254-81B9-09D0-0780-9E96012E3FC8}"/>
              </a:ext>
            </a:extLst>
          </p:cNvPr>
          <p:cNvSpPr/>
          <p:nvPr/>
        </p:nvSpPr>
        <p:spPr>
          <a:xfrm>
            <a:off x="4187855" y="409329"/>
            <a:ext cx="4057733" cy="1524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Franklin Gothic Book" panose="020B0503020102020204" pitchFamily="34" charset="0"/>
              </a:rPr>
              <a:t>Chemotherapy </a:t>
            </a:r>
          </a:p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(including VEGF targeting)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0D5D06-F675-E3DF-071E-492B7FDA1523}"/>
              </a:ext>
            </a:extLst>
          </p:cNvPr>
          <p:cNvSpPr/>
          <p:nvPr/>
        </p:nvSpPr>
        <p:spPr>
          <a:xfrm>
            <a:off x="506835" y="393563"/>
            <a:ext cx="3200400" cy="15240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Franklin Gothic Book" panose="020B0503020102020204" pitchFamily="34" charset="0"/>
              </a:rPr>
              <a:t>Immune Checkpoint Inhibitors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E112E-C46C-CF65-E1C2-A76FFE6764E6}"/>
              </a:ext>
            </a:extLst>
          </p:cNvPr>
          <p:cNvSpPr txBox="1"/>
          <p:nvPr/>
        </p:nvSpPr>
        <p:spPr>
          <a:xfrm>
            <a:off x="4174165" y="1917563"/>
            <a:ext cx="4085112" cy="42473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u="sng" dirty="0">
                <a:latin typeface="Franklin Gothic Book" panose="020B0503020102020204" pitchFamily="34" charset="0"/>
              </a:rPr>
              <a:t>“non-squamous” 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Cis/carboplatin + pemetrexed 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carboplatin + paclitaxel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carboplatin + paclitaxel + bevacizumab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carboplatin + albumin-bound paclitaxel 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u="sng" dirty="0">
                <a:latin typeface="Franklin Gothic Book" panose="020B0503020102020204" pitchFamily="34" charset="0"/>
              </a:rPr>
              <a:t>Squamous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carboplatin + paclitaxel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carboplatin + albumin-bound paclitaxel 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Cis/carboplatin + gemcitabine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2</a:t>
            </a:r>
            <a:r>
              <a:rPr lang="en-US" baseline="30000" dirty="0">
                <a:latin typeface="Franklin Gothic Book" panose="020B0503020102020204" pitchFamily="34" charset="0"/>
              </a:rPr>
              <a:t>nd</a:t>
            </a:r>
            <a:r>
              <a:rPr lang="en-US" dirty="0">
                <a:latin typeface="Franklin Gothic Book" panose="020B0503020102020204" pitchFamily="34" charset="0"/>
              </a:rPr>
              <a:t> line chemotherapy</a:t>
            </a:r>
          </a:p>
          <a:p>
            <a:r>
              <a:rPr lang="en-US" dirty="0">
                <a:latin typeface="Franklin Gothic Book" panose="020B0503020102020204" pitchFamily="34" charset="0"/>
              </a:rPr>
              <a:t>Docetaxel +/- ramucirumab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5C5ED-CDB5-8D3C-A2E9-325C0BDE07D6}"/>
              </a:ext>
            </a:extLst>
          </p:cNvPr>
          <p:cNvSpPr txBox="1"/>
          <p:nvPr/>
        </p:nvSpPr>
        <p:spPr>
          <a:xfrm>
            <a:off x="502877" y="1917563"/>
            <a:ext cx="3200400" cy="3693319"/>
          </a:xfrm>
          <a:prstGeom prst="rect">
            <a:avLst/>
          </a:prstGeom>
          <a:solidFill>
            <a:srgbClr val="FFEEB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u="sng" dirty="0">
                <a:latin typeface="Franklin Gothic Book" panose="020B0503020102020204" pitchFamily="34" charset="0"/>
              </a:rPr>
              <a:t>PD-1/PD-L1 antibodies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i="0" u="none" strike="noStrike" kern="1200" dirty="0">
                <a:effectLst/>
                <a:latin typeface="Franklin Gothic Book" panose="020B0503020102020204" pitchFamily="34" charset="0"/>
              </a:rPr>
              <a:t>nivolumab</a:t>
            </a:r>
            <a:endParaRPr lang="en-US" i="0" u="none" strike="noStrike" dirty="0">
              <a:effectLst/>
              <a:latin typeface="Franklin Gothic Book" panose="020B05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kern="1200" dirty="0">
                <a:effectLst/>
                <a:latin typeface="Franklin Gothic Book" panose="020B0503020102020204" pitchFamily="34" charset="0"/>
              </a:rPr>
              <a:t>pembrolizumab</a:t>
            </a:r>
            <a:endParaRPr lang="en-US" b="0" i="0" u="none" strike="noStrike" dirty="0">
              <a:effectLst/>
              <a:latin typeface="Franklin Gothic Book" panose="020B05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kern="1200" dirty="0">
                <a:effectLst/>
                <a:latin typeface="Franklin Gothic Book" panose="020B0503020102020204" pitchFamily="34" charset="0"/>
              </a:rPr>
              <a:t>atezolizumab</a:t>
            </a:r>
            <a:endParaRPr lang="en-US" b="0" i="0" u="none" strike="noStrike" dirty="0">
              <a:effectLst/>
              <a:latin typeface="Franklin Gothic Book" panose="020B05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Franklin Gothic Book" panose="020B0503020102020204" pitchFamily="34" charset="0"/>
              </a:rPr>
              <a:t>d</a:t>
            </a:r>
            <a:r>
              <a:rPr lang="en-US" b="0" i="0" u="none" strike="noStrike" kern="1200" dirty="0">
                <a:effectLst/>
                <a:latin typeface="Franklin Gothic Book" panose="020B0503020102020204" pitchFamily="34" charset="0"/>
              </a:rPr>
              <a:t>urvalumab</a:t>
            </a:r>
            <a:endParaRPr lang="en-US" b="0" i="0" u="none" strike="noStrike" dirty="0">
              <a:effectLst/>
              <a:latin typeface="Franklin Gothic Book" panose="020B05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kern="1200" dirty="0">
                <a:effectLst/>
                <a:latin typeface="Franklin Gothic Book" panose="020B0503020102020204" pitchFamily="34" charset="0"/>
              </a:rPr>
              <a:t>cemiplimab</a:t>
            </a:r>
            <a:endParaRPr lang="en-US" b="0" i="0" u="none" strike="noStrike" dirty="0">
              <a:effectLst/>
              <a:latin typeface="Franklin Gothic Book" panose="020B05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Franklin Gothic Book" panose="020B05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b="0" i="0" u="sng" strike="noStrike" dirty="0">
                <a:effectLst/>
                <a:latin typeface="Franklin Gothic Book" panose="020B0503020102020204" pitchFamily="34" charset="0"/>
              </a:rPr>
              <a:t>PD-1/CTLA-4 combinations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dirty="0">
                <a:effectLst/>
                <a:latin typeface="Franklin Gothic Book" panose="020B0503020102020204" pitchFamily="34" charset="0"/>
              </a:rPr>
              <a:t>nivolumab +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dirty="0">
                <a:effectLst/>
                <a:latin typeface="Franklin Gothic Book" panose="020B0503020102020204" pitchFamily="34" charset="0"/>
              </a:rPr>
              <a:t>ipilimumab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b="0" i="0" u="none" strike="noStrike" dirty="0">
              <a:effectLst/>
              <a:latin typeface="Franklin Gothic Book" panose="020B05030201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dirty="0">
                <a:effectLst/>
                <a:latin typeface="Franklin Gothic Book" panose="020B0503020102020204" pitchFamily="34" charset="0"/>
              </a:rPr>
              <a:t>durvalumab +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dirty="0" err="1">
                <a:effectLst/>
                <a:latin typeface="Franklin Gothic Book" panose="020B0503020102020204" pitchFamily="34" charset="0"/>
              </a:rPr>
              <a:t>tremelimumab</a:t>
            </a:r>
            <a:endParaRPr lang="en-US" sz="2800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62000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25472"/>
            <a:ext cx="10972800" cy="1143000"/>
          </a:xfrm>
        </p:spPr>
        <p:txBody>
          <a:bodyPr>
            <a:noAutofit/>
          </a:bodyPr>
          <a:lstStyle/>
          <a:p>
            <a:pPr algn="l"/>
            <a:br>
              <a:rPr lang="en-US" sz="3200" b="1" dirty="0">
                <a:solidFill>
                  <a:schemeClr val="tx1"/>
                </a:solidFill>
                <a:latin typeface="Franklin Gothic Book" panose="020B0503020102020204" pitchFamily="34" charset="0"/>
              </a:rPr>
            </a:br>
            <a:r>
              <a:rPr lang="en-US" sz="3200" b="1" dirty="0">
                <a:solidFill>
                  <a:schemeClr val="tx1"/>
                </a:solidFill>
                <a:latin typeface="Franklin Gothic Book" panose="020B0503020102020204" pitchFamily="34" charset="0"/>
              </a:rPr>
              <a:t>72 year old woman presents with a lung mass.  Biopsy is done and pathologist says patient has NSCLC.  You ask for each of the following except: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5415" y="2332036"/>
            <a:ext cx="9945859" cy="41449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2800"/>
              <a:t>Tumor Histology (adenocarcinoma, squamous, etc.)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/>
              <a:t>Tumor mutational burden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/>
              <a:t>EGFR mutational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/>
              <a:t>Tumor Next Generation Sequencing 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/>
              <a:t>PD-L1</a:t>
            </a:r>
          </a:p>
        </p:txBody>
      </p:sp>
    </p:spTree>
    <p:extLst>
      <p:ext uri="{BB962C8B-B14F-4D97-AF65-F5344CB8AC3E}">
        <p14:creationId xmlns:p14="http://schemas.microsoft.com/office/powerpoint/2010/main" val="187183182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>
            <a:graphicFrameLocks/>
          </p:cNvGraphicFramePr>
          <p:nvPr/>
        </p:nvGraphicFramePr>
        <p:xfrm>
          <a:off x="3716792" y="1119582"/>
          <a:ext cx="5808209" cy="1177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869191" y="2270435"/>
            <a:ext cx="1323343" cy="384717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defTabSz="914196"/>
            <a:r>
              <a:rPr lang="en-US" sz="1900" dirty="0">
                <a:latin typeface="Franklin Gothic Book" panose="020B0503020102020204" pitchFamily="34" charset="0"/>
              </a:rPr>
              <a:t>Squamous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9791" y="1066801"/>
            <a:ext cx="752097" cy="384717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defTabSz="914196"/>
            <a:r>
              <a:rPr lang="en-US" sz="1900" dirty="0">
                <a:latin typeface="Franklin Gothic Book" panose="020B0503020102020204" pitchFamily="34" charset="0"/>
              </a:rPr>
              <a:t>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6591" y="1084481"/>
            <a:ext cx="1901770" cy="384717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defTabSz="914196"/>
            <a:r>
              <a:rPr lang="en-US" sz="1900" dirty="0">
                <a:latin typeface="Franklin Gothic Book" panose="020B0503020102020204" pitchFamily="34" charset="0"/>
              </a:rPr>
              <a:t>Adenocarcinoma</a:t>
            </a:r>
          </a:p>
        </p:txBody>
      </p:sp>
      <p:sp>
        <p:nvSpPr>
          <p:cNvPr id="6" name="Left Brace 5"/>
          <p:cNvSpPr/>
          <p:nvPr/>
        </p:nvSpPr>
        <p:spPr>
          <a:xfrm rot="16200000">
            <a:off x="4364491" y="1590881"/>
            <a:ext cx="381000" cy="10668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91424" tIns="45718" rIns="91424" bIns="45718" rtlCol="0" anchor="ctr"/>
          <a:lstStyle/>
          <a:p>
            <a:pPr algn="ctr" defTabSz="914196"/>
            <a:endParaRPr lang="en-US" sz="1900" dirty="0">
              <a:latin typeface="Franklin Gothic Book" panose="020B05030201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26592" y="2256086"/>
            <a:ext cx="1761219" cy="384717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defTabSz="914196"/>
            <a:r>
              <a:rPr lang="en-US" sz="1900" dirty="0">
                <a:latin typeface="Franklin Gothic Book" panose="020B0503020102020204" pitchFamily="34" charset="0"/>
              </a:rPr>
              <a:t>Non-Squamous</a:t>
            </a:r>
          </a:p>
        </p:txBody>
      </p:sp>
      <p:pic>
        <p:nvPicPr>
          <p:cNvPr id="20" name="Picture 8" descr="http://www.mdconsult.com/das/book/body/199444570-2/0/2060/f4-u1.0-B978-1-4377-0792-2..50020-1..gr4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21440" y="2996847"/>
            <a:ext cx="2814870" cy="2016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8" descr="http://www.mdconsult.com/das/book/body/199444570-2/0/2060/f4-u1.0-B978-1-4377-0792-2..50020-1..gr4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59991" y="2996847"/>
            <a:ext cx="2823892" cy="2022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TextBox 21"/>
          <p:cNvSpPr txBox="1"/>
          <p:nvPr/>
        </p:nvSpPr>
        <p:spPr>
          <a:xfrm>
            <a:off x="2857763" y="5130460"/>
            <a:ext cx="2884412" cy="677104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algn="ctr" defTabSz="914196"/>
            <a:r>
              <a:rPr lang="en-US" sz="1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Squamous Cell Carcinoma</a:t>
            </a:r>
          </a:p>
          <a:p>
            <a:pPr algn="ctr" defTabSz="914196"/>
            <a:r>
              <a:rPr lang="en-US" sz="19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p63 (p40)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9708" y="5130460"/>
            <a:ext cx="1901770" cy="677104"/>
          </a:xfrm>
          <a:prstGeom prst="rect">
            <a:avLst/>
          </a:prstGeom>
          <a:noFill/>
        </p:spPr>
        <p:txBody>
          <a:bodyPr wrap="none" lIns="91424" tIns="45718" rIns="91424" bIns="45718" rtlCol="0">
            <a:spAutoFit/>
          </a:bodyPr>
          <a:lstStyle/>
          <a:p>
            <a:pPr algn="ctr" defTabSz="914196"/>
            <a:r>
              <a:rPr lang="en-US" sz="1900" dirty="0">
                <a:latin typeface="Franklin Gothic Book" panose="020B0503020102020204" pitchFamily="34" charset="0"/>
              </a:rPr>
              <a:t>Adenocarcinoma</a:t>
            </a:r>
          </a:p>
          <a:p>
            <a:pPr algn="ctr" defTabSz="914196"/>
            <a:r>
              <a:rPr lang="en-US" sz="1900" dirty="0">
                <a:latin typeface="Franklin Gothic Book" panose="020B0503020102020204" pitchFamily="34" charset="0"/>
              </a:rPr>
              <a:t>TTF-1, Napsin </a:t>
            </a:r>
          </a:p>
        </p:txBody>
      </p:sp>
      <p:sp>
        <p:nvSpPr>
          <p:cNvPr id="15" name="Left Brace 14"/>
          <p:cNvSpPr/>
          <p:nvPr/>
        </p:nvSpPr>
        <p:spPr>
          <a:xfrm rot="16200000">
            <a:off x="6705600" y="332413"/>
            <a:ext cx="381000" cy="35814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91424" tIns="45718" rIns="91424" bIns="45718" rtlCol="0" anchor="ctr"/>
          <a:lstStyle/>
          <a:p>
            <a:pPr algn="ctr" defTabSz="914196"/>
            <a:endParaRPr lang="en-US" sz="1900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How do we describe NSCLC?</a:t>
            </a:r>
          </a:p>
        </p:txBody>
      </p:sp>
    </p:spTree>
    <p:extLst>
      <p:ext uri="{BB962C8B-B14F-4D97-AF65-F5344CB8AC3E}">
        <p14:creationId xmlns:p14="http://schemas.microsoft.com/office/powerpoint/2010/main" val="28642192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FD546B-F11B-4616-C834-CD8CE8FF25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778230" y="1849648"/>
            <a:ext cx="6413770" cy="4503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585E67-F34A-3646-A8D4-1DF871A68661}"/>
              </a:ext>
            </a:extLst>
          </p:cNvPr>
          <p:cNvSpPr txBox="1"/>
          <p:nvPr/>
        </p:nvSpPr>
        <p:spPr>
          <a:xfrm>
            <a:off x="6946644" y="1375740"/>
            <a:ext cx="3488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Mutations/Gene Fusions (by NGS)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787BD-00D1-269D-958F-977E1B95AA21}"/>
              </a:ext>
            </a:extLst>
          </p:cNvPr>
          <p:cNvSpPr txBox="1"/>
          <p:nvPr/>
        </p:nvSpPr>
        <p:spPr>
          <a:xfrm>
            <a:off x="1460345" y="1356284"/>
            <a:ext cx="3118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PD-L1 Tumor Proportion Score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0B64F3-4529-D19F-E55B-9CA1AC72D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647" t="11441" r="16781" b="6571"/>
          <a:stretch/>
        </p:blipFill>
        <p:spPr>
          <a:xfrm>
            <a:off x="446253" y="1560406"/>
            <a:ext cx="5208759" cy="4812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337A60-F8AB-1E15-4595-584580722424}"/>
              </a:ext>
            </a:extLst>
          </p:cNvPr>
          <p:cNvSpPr txBox="1"/>
          <p:nvPr/>
        </p:nvSpPr>
        <p:spPr>
          <a:xfrm>
            <a:off x="6096000" y="4124528"/>
            <a:ext cx="795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other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B72194-2A41-BFE7-06CC-F5DF92DC0886}"/>
              </a:ext>
            </a:extLst>
          </p:cNvPr>
          <p:cNvCxnSpPr/>
          <p:nvPr/>
        </p:nvCxnSpPr>
        <p:spPr>
          <a:xfrm>
            <a:off x="5486400" y="1560406"/>
            <a:ext cx="0" cy="47929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A8A70D8-9A4F-7555-0238-C69B7699B3D5}"/>
              </a:ext>
            </a:extLst>
          </p:cNvPr>
          <p:cNvSpPr txBox="1"/>
          <p:nvPr/>
        </p:nvSpPr>
        <p:spPr>
          <a:xfrm>
            <a:off x="739302" y="6488668"/>
            <a:ext cx="3086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Franklin Gothic Book" panose="020B0503020102020204" pitchFamily="34" charset="0"/>
              </a:rPr>
              <a:t>Data from Jee et al, Nature 2024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CE9B96-E386-295E-F510-6E1E282A8294}"/>
              </a:ext>
            </a:extLst>
          </p:cNvPr>
          <p:cNvSpPr txBox="1"/>
          <p:nvPr/>
        </p:nvSpPr>
        <p:spPr>
          <a:xfrm>
            <a:off x="8070715" y="6434612"/>
            <a:ext cx="3512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Franklin Gothic Book" panose="020B0503020102020204" pitchFamily="34" charset="0"/>
              </a:rPr>
              <a:t>Data from Choudhury et al, CCR 2023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7BC0C9-0BB9-2A41-9277-205B4E894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Classification of NSCLC by biomarkers</a:t>
            </a:r>
          </a:p>
        </p:txBody>
      </p:sp>
    </p:spTree>
    <p:extLst>
      <p:ext uri="{BB962C8B-B14F-4D97-AF65-F5344CB8AC3E}">
        <p14:creationId xmlns:p14="http://schemas.microsoft.com/office/powerpoint/2010/main" val="196591966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C2562-512B-1781-9E05-0F33E7A255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969477" y="1429260"/>
            <a:ext cx="8861234" cy="4807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CBEE42-A099-A4A4-4315-3AFE9770AD76}"/>
              </a:ext>
            </a:extLst>
          </p:cNvPr>
          <p:cNvSpPr txBox="1"/>
          <p:nvPr/>
        </p:nvSpPr>
        <p:spPr>
          <a:xfrm>
            <a:off x="196947" y="6021215"/>
            <a:ext cx="4084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272524"/>
                </a:solidFill>
                <a:latin typeface="Franklin Gothic Book" panose="020B0503020102020204" pitchFamily="34" charset="0"/>
              </a:rPr>
              <a:t>AACR GENIE BPC lung, Choudhury et al, CCR 2023; </a:t>
            </a:r>
          </a:p>
          <a:p>
            <a:pPr algn="l"/>
            <a:r>
              <a:rPr lang="en-US" sz="1400" dirty="0">
                <a:solidFill>
                  <a:srgbClr val="272524"/>
                </a:solidFill>
                <a:latin typeface="Franklin Gothic Book" panose="020B0503020102020204" pitchFamily="34" charset="0"/>
              </a:rPr>
              <a:t>Data available at https://genie.cbioportal.org/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Oncogenic Drivers of Lung Cancers</a:t>
            </a:r>
          </a:p>
        </p:txBody>
      </p:sp>
    </p:spTree>
    <p:extLst>
      <p:ext uri="{BB962C8B-B14F-4D97-AF65-F5344CB8AC3E}">
        <p14:creationId xmlns:p14="http://schemas.microsoft.com/office/powerpoint/2010/main" val="212699367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23" y="1524002"/>
            <a:ext cx="206692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2520955" y="2681288"/>
            <a:ext cx="9763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erlotinib</a:t>
            </a:r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3733800"/>
            <a:ext cx="2362200" cy="103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2651142" y="4913313"/>
            <a:ext cx="9666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gefitinib</a:t>
            </a:r>
          </a:p>
        </p:txBody>
      </p:sp>
      <p:pic>
        <p:nvPicPr>
          <p:cNvPr id="5325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13" y="1905001"/>
            <a:ext cx="5026025" cy="362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5" name="Text Box 7"/>
          <p:cNvSpPr txBox="1">
            <a:spLocks noChangeArrowheads="1"/>
          </p:cNvSpPr>
          <p:nvPr/>
        </p:nvSpPr>
        <p:spPr bwMode="auto">
          <a:xfrm>
            <a:off x="6054741" y="6324600"/>
            <a:ext cx="4003675" cy="24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7000"/>
              </a:lnSpc>
              <a:buClr>
                <a:srgbClr val="000000"/>
              </a:buClr>
              <a:buSzPct val="4500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GB" sz="1600" dirty="0">
                <a:solidFill>
                  <a:prstClr val="black"/>
                </a:solidFill>
                <a:latin typeface="Franklin Gothic Book" panose="020B0503020102020204" pitchFamily="34" charset="0"/>
              </a:rPr>
              <a:t>Pao, W. et al. JCO 23:2556-2568 2005</a:t>
            </a:r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4318799" y="762024"/>
            <a:ext cx="544713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prstClr val="black"/>
                </a:solidFill>
                <a:latin typeface="Franklin Gothic Book" panose="020B0503020102020204" pitchFamily="34" charset="0"/>
              </a:rPr>
              <a:t>Epidermal Growth Factor Receptor 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  <a:latin typeface="Franklin Gothic Book" panose="020B0503020102020204" pitchFamily="34" charset="0"/>
              </a:rPr>
              <a:t>signaling</a:t>
            </a:r>
          </a:p>
        </p:txBody>
      </p:sp>
    </p:spTree>
    <p:extLst>
      <p:ext uri="{BB962C8B-B14F-4D97-AF65-F5344CB8AC3E}">
        <p14:creationId xmlns:p14="http://schemas.microsoft.com/office/powerpoint/2010/main" val="219731839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/>
          <p:cNvSpPr>
            <a:spLocks noChangeArrowheads="1"/>
          </p:cNvSpPr>
          <p:nvPr/>
        </p:nvSpPr>
        <p:spPr bwMode="auto">
          <a:xfrm>
            <a:off x="457200" y="228600"/>
            <a:ext cx="11274552" cy="1051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6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Is erlotinib (an EGFR TKI) superior to placebo in </a:t>
            </a:r>
            <a:r>
              <a:rPr lang="en-US" sz="36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non-small</a:t>
            </a:r>
            <a:r>
              <a:rPr lang="en-US" sz="36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cell lung cancer</a:t>
            </a:r>
          </a:p>
        </p:txBody>
      </p:sp>
      <p:sp>
        <p:nvSpPr>
          <p:cNvPr id="542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286000" y="2909910"/>
            <a:ext cx="3505200" cy="1019175"/>
          </a:xfrm>
          <a:ln>
            <a:solidFill>
              <a:schemeClr val="tx1"/>
            </a:solidFill>
          </a:ln>
        </p:spPr>
        <p:txBody>
          <a:bodyPr anchor="ctr">
            <a:normAutofit fontScale="92500" lnSpcReduction="10000"/>
          </a:bodyPr>
          <a:lstStyle/>
          <a:p>
            <a:r>
              <a:rPr lang="en-US" sz="2000">
                <a:ea typeface="ＭＳ Ｐゴシック" pitchFamily="34" charset="-128"/>
              </a:rPr>
              <a:t>Stage IIIB/IV NSCLC</a:t>
            </a:r>
          </a:p>
          <a:p>
            <a:r>
              <a:rPr lang="en-US" sz="2000">
                <a:ea typeface="ＭＳ Ｐゴシック" pitchFamily="34" charset="-128"/>
              </a:rPr>
              <a:t>PS 0–3</a:t>
            </a:r>
          </a:p>
          <a:p>
            <a:r>
              <a:rPr lang="en-US" sz="2000">
                <a:ea typeface="ＭＳ Ｐゴシック" pitchFamily="34" charset="-128"/>
              </a:rPr>
              <a:t>1-2 prior therapies</a:t>
            </a:r>
          </a:p>
        </p:txBody>
      </p:sp>
      <p:sp>
        <p:nvSpPr>
          <p:cNvPr id="54276" name="Text Box 8"/>
          <p:cNvSpPr txBox="1">
            <a:spLocks noChangeArrowheads="1"/>
          </p:cNvSpPr>
          <p:nvPr/>
        </p:nvSpPr>
        <p:spPr bwMode="auto">
          <a:xfrm>
            <a:off x="5878514" y="6251599"/>
            <a:ext cx="446577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Franklin Gothic Book" panose="020B0503020102020204" pitchFamily="34" charset="0"/>
              </a:rPr>
              <a:t>Shepherd FA, et al. N Engl J Med. 2005;353:123-132. </a:t>
            </a:r>
          </a:p>
        </p:txBody>
      </p:sp>
      <p:sp>
        <p:nvSpPr>
          <p:cNvPr id="54277" name="Text Box 9"/>
          <p:cNvSpPr txBox="1">
            <a:spLocks noChangeArrowheads="1"/>
          </p:cNvSpPr>
          <p:nvPr/>
        </p:nvSpPr>
        <p:spPr bwMode="auto">
          <a:xfrm>
            <a:off x="6527801" y="2829580"/>
            <a:ext cx="41573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Franklin Gothic Book" panose="020B0503020102020204" pitchFamily="34" charset="0"/>
              </a:rPr>
              <a:t>erlotinib + supportive care</a:t>
            </a:r>
          </a:p>
        </p:txBody>
      </p:sp>
      <p:sp>
        <p:nvSpPr>
          <p:cNvPr id="54278" name="Text Box 10"/>
          <p:cNvSpPr txBox="1">
            <a:spLocks noChangeArrowheads="1"/>
          </p:cNvSpPr>
          <p:nvPr/>
        </p:nvSpPr>
        <p:spPr bwMode="auto">
          <a:xfrm>
            <a:off x="6504008" y="3700463"/>
            <a:ext cx="41217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Franklin Gothic Book" panose="020B0503020102020204" pitchFamily="34" charset="0"/>
              </a:rPr>
              <a:t>placebo + supportive care</a:t>
            </a:r>
          </a:p>
        </p:txBody>
      </p:sp>
      <p:sp>
        <p:nvSpPr>
          <p:cNvPr id="54279" name="Line 11"/>
          <p:cNvSpPr>
            <a:spLocks noChangeShapeType="1"/>
          </p:cNvSpPr>
          <p:nvPr/>
        </p:nvSpPr>
        <p:spPr bwMode="auto">
          <a:xfrm flipV="1">
            <a:off x="5878516" y="3090885"/>
            <a:ext cx="598487" cy="428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3200" dirty="0">
              <a:solidFill>
                <a:prstClr val="black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4280" name="Line 12"/>
          <p:cNvSpPr>
            <a:spLocks noChangeShapeType="1"/>
          </p:cNvSpPr>
          <p:nvPr/>
        </p:nvSpPr>
        <p:spPr bwMode="auto">
          <a:xfrm>
            <a:off x="5878516" y="3519509"/>
            <a:ext cx="598487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sz="3200" dirty="0">
              <a:solidFill>
                <a:prstClr val="black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60686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43200" y="1676400"/>
            <a:ext cx="7086600" cy="4601688"/>
          </a:xfrm>
          <a:prstGeom prst="rect">
            <a:avLst/>
          </a:prstGeom>
          <a:noFill/>
        </p:spPr>
      </p:pic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6858023" y="6411936"/>
            <a:ext cx="297870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Franklin Gothic Book" panose="020B0503020102020204" pitchFamily="34" charset="0"/>
              </a:rPr>
              <a:t>Shepherd et al NEJM 353:123-132 </a:t>
            </a: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6604001" y="2414611"/>
            <a:ext cx="26251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Franklin Gothic Book" panose="020B0503020102020204" pitchFamily="34" charset="0"/>
              </a:rPr>
              <a:t>Response Rate 9%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Erlotinib is (a little bit) superior to placebo </a:t>
            </a:r>
            <a:b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in </a:t>
            </a:r>
            <a:r>
              <a:rPr lang="en-US" sz="2800" b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non-small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cell lung cancer</a:t>
            </a:r>
          </a:p>
        </p:txBody>
      </p:sp>
    </p:spTree>
    <p:extLst>
      <p:ext uri="{BB962C8B-B14F-4D97-AF65-F5344CB8AC3E}">
        <p14:creationId xmlns:p14="http://schemas.microsoft.com/office/powerpoint/2010/main" val="82973360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4000" y="1"/>
            <a:ext cx="9144000" cy="7066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5623508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2601" y="1371600"/>
            <a:ext cx="431165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00800" y="1457326"/>
            <a:ext cx="4064000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3035329" y="5969023"/>
            <a:ext cx="1920875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  <a:cs typeface="Arial" pitchFamily="34" charset="0"/>
              </a:rPr>
              <a:t>Day 1			</a:t>
            </a:r>
          </a:p>
        </p:txBody>
      </p:sp>
      <p:sp>
        <p:nvSpPr>
          <p:cNvPr id="55301" name="Text Box 6"/>
          <p:cNvSpPr txBox="1">
            <a:spLocks noChangeArrowheads="1"/>
          </p:cNvSpPr>
          <p:nvPr/>
        </p:nvSpPr>
        <p:spPr bwMode="auto">
          <a:xfrm>
            <a:off x="7388241" y="6016647"/>
            <a:ext cx="1920875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  <a:cs typeface="Arial" pitchFamily="34" charset="0"/>
              </a:rPr>
              <a:t>Day 5			</a:t>
            </a:r>
          </a:p>
        </p:txBody>
      </p:sp>
      <p:sp>
        <p:nvSpPr>
          <p:cNvPr id="55302" name="Text Box 5"/>
          <p:cNvSpPr txBox="1">
            <a:spLocks noChangeArrowheads="1"/>
          </p:cNvSpPr>
          <p:nvPr/>
        </p:nvSpPr>
        <p:spPr bwMode="auto">
          <a:xfrm>
            <a:off x="457200" y="228600"/>
            <a:ext cx="11274552" cy="1051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Why are 1 in 10 like this?</a:t>
            </a:r>
          </a:p>
        </p:txBody>
      </p:sp>
    </p:spTree>
    <p:extLst>
      <p:ext uri="{BB962C8B-B14F-4D97-AF65-F5344CB8AC3E}">
        <p14:creationId xmlns:p14="http://schemas.microsoft.com/office/powerpoint/2010/main" val="51011311"/>
      </p:ext>
    </p:extLst>
  </p:cSld>
  <p:clrMapOvr>
    <a:masterClrMapping/>
  </p:clrMapOvr>
  <p:transition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East Asian</a:t>
            </a:r>
          </a:p>
          <a:p>
            <a:r>
              <a:rPr lang="en-US"/>
              <a:t>Never Smokers</a:t>
            </a:r>
          </a:p>
          <a:p>
            <a:r>
              <a:rPr lang="en-US"/>
              <a:t>Tumors with adenocarcinoma histology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Clinical Factors Associated With Response to EGFR TKI</a:t>
            </a:r>
          </a:p>
        </p:txBody>
      </p:sp>
    </p:spTree>
    <p:extLst>
      <p:ext uri="{BB962C8B-B14F-4D97-AF65-F5344CB8AC3E}">
        <p14:creationId xmlns:p14="http://schemas.microsoft.com/office/powerpoint/2010/main" val="71904203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676400"/>
            <a:ext cx="3592848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610484" y="914424"/>
            <a:ext cx="544713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prstClr val="black"/>
                </a:solidFill>
                <a:latin typeface="Franklin Gothic Book" panose="020B0503020102020204" pitchFamily="34" charset="0"/>
              </a:rPr>
              <a:t>Epidermal Growth Factor Receptor </a:t>
            </a:r>
          </a:p>
          <a:p>
            <a:pPr algn="ctr"/>
            <a:endParaRPr lang="en-US" sz="2800" dirty="0">
              <a:solidFill>
                <a:prstClr val="black"/>
              </a:solidFill>
              <a:latin typeface="Franklin Gothic Book" panose="020B0503020102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6019800" y="2819400"/>
            <a:ext cx="1371600" cy="838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29400" y="4191022"/>
            <a:ext cx="3657600" cy="2332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8801401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82895" y="2633521"/>
            <a:ext cx="6732587" cy="1933575"/>
          </a:xfrm>
          <a:prstGeom prst="rect">
            <a:avLst/>
          </a:prstGeom>
          <a:ln w="28575">
            <a:noFill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572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7638" y="433410"/>
            <a:ext cx="3981450" cy="2038351"/>
          </a:xfrm>
          <a:prstGeom prst="rect">
            <a:avLst/>
          </a:prstGeom>
          <a:ln w="28575">
            <a:noFill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573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41645" y="4735191"/>
            <a:ext cx="6415087" cy="1446212"/>
          </a:xfrm>
          <a:prstGeom prst="rect">
            <a:avLst/>
          </a:prstGeom>
          <a:ln w="28575">
            <a:noFill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737970" y="6249079"/>
            <a:ext cx="48846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prstClr val="white"/>
                </a:solidFill>
                <a:latin typeface="Franklin Gothic Book" panose="020B0503020102020204" pitchFamily="34" charset="0"/>
              </a:rPr>
              <a:t>Paez JG, et al. </a:t>
            </a:r>
            <a:r>
              <a:rPr lang="fr-FR" sz="1000" i="1" dirty="0">
                <a:solidFill>
                  <a:prstClr val="white"/>
                </a:solidFill>
                <a:latin typeface="Franklin Gothic Book" panose="020B0503020102020204" pitchFamily="34" charset="0"/>
              </a:rPr>
              <a:t>Science. </a:t>
            </a:r>
            <a:r>
              <a:rPr lang="fr-FR" sz="1000" dirty="0">
                <a:solidFill>
                  <a:prstClr val="white"/>
                </a:solidFill>
                <a:latin typeface="Franklin Gothic Book" panose="020B0503020102020204" pitchFamily="34" charset="0"/>
              </a:rPr>
              <a:t>2004;304(5676):1497-1500.</a:t>
            </a:r>
          </a:p>
          <a:p>
            <a:pPr algn="r"/>
            <a:r>
              <a:rPr lang="fr-FR" sz="1000" dirty="0">
                <a:solidFill>
                  <a:prstClr val="white"/>
                </a:solidFill>
                <a:latin typeface="Franklin Gothic Book" panose="020B0503020102020204" pitchFamily="34" charset="0"/>
              </a:rPr>
              <a:t>Lynch TJ, et al. </a:t>
            </a:r>
            <a:r>
              <a:rPr lang="en-US" sz="1000" i="1" dirty="0">
                <a:solidFill>
                  <a:prstClr val="white"/>
                </a:solidFill>
                <a:latin typeface="Franklin Gothic Book" panose="020B0503020102020204" pitchFamily="34" charset="0"/>
              </a:rPr>
              <a:t>N Engl J Med. </a:t>
            </a:r>
            <a:r>
              <a:rPr lang="en-US" sz="1000" dirty="0">
                <a:solidFill>
                  <a:prstClr val="white"/>
                </a:solidFill>
                <a:latin typeface="Franklin Gothic Book" panose="020B0503020102020204" pitchFamily="34" charset="0"/>
              </a:rPr>
              <a:t>2004;350(21):2129-2139.</a:t>
            </a:r>
          </a:p>
          <a:p>
            <a:pPr algn="r"/>
            <a:r>
              <a:rPr lang="en-US" sz="1000" dirty="0">
                <a:solidFill>
                  <a:prstClr val="white"/>
                </a:solidFill>
                <a:latin typeface="Franklin Gothic Book" panose="020B0503020102020204" pitchFamily="34" charset="0"/>
              </a:rPr>
              <a:t>Pao W, et al</a:t>
            </a:r>
            <a:r>
              <a:rPr lang="en-US" sz="1000" i="1" dirty="0">
                <a:solidFill>
                  <a:prstClr val="white"/>
                </a:solidFill>
                <a:latin typeface="Franklin Gothic Book" panose="020B0503020102020204" pitchFamily="34" charset="0"/>
              </a:rPr>
              <a:t>.</a:t>
            </a:r>
            <a:r>
              <a:rPr lang="pl-PL" sz="1000" i="1" dirty="0">
                <a:solidFill>
                  <a:prstClr val="white"/>
                </a:solidFill>
                <a:latin typeface="Franklin Gothic Book" panose="020B0503020102020204" pitchFamily="34" charset="0"/>
              </a:rPr>
              <a:t> Proc Natl Acad Sci U S A. </a:t>
            </a:r>
            <a:r>
              <a:rPr lang="pl-PL" sz="1000" dirty="0">
                <a:solidFill>
                  <a:prstClr val="white"/>
                </a:solidFill>
                <a:latin typeface="Franklin Gothic Book" panose="020B0503020102020204" pitchFamily="34" charset="0"/>
              </a:rPr>
              <a:t>2004;101(36):13306-</a:t>
            </a:r>
            <a:r>
              <a:rPr lang="en-US" sz="1000" dirty="0">
                <a:solidFill>
                  <a:prstClr val="white"/>
                </a:solidFill>
                <a:latin typeface="Franklin Gothic Book" panose="020B0503020102020204" pitchFamily="34" charset="0"/>
              </a:rPr>
              <a:t>133</a:t>
            </a:r>
            <a:r>
              <a:rPr lang="pl-PL" sz="1000" dirty="0">
                <a:solidFill>
                  <a:prstClr val="white"/>
                </a:solidFill>
                <a:latin typeface="Franklin Gothic Book" panose="020B0503020102020204" pitchFamily="34" charset="0"/>
              </a:rPr>
              <a:t>11. </a:t>
            </a:r>
            <a:r>
              <a:rPr lang="en-US" sz="1000" dirty="0">
                <a:solidFill>
                  <a:prstClr val="white"/>
                </a:solidFill>
                <a:latin typeface="Franklin Gothic Book" panose="020B0503020102020204" pitchFamily="34" charset="0"/>
              </a:rPr>
              <a:t>   </a:t>
            </a:r>
            <a:r>
              <a:rPr lang="fr-FR" sz="1000" dirty="0">
                <a:solidFill>
                  <a:prstClr val="white"/>
                </a:solidFill>
                <a:latin typeface="Franklin Gothic Book" panose="020B0503020102020204" pitchFamily="34" charset="0"/>
              </a:rPr>
              <a:t> </a:t>
            </a:r>
            <a:endParaRPr lang="en-US" sz="1000" dirty="0">
              <a:solidFill>
                <a:prstClr val="white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391412" y="6172200"/>
            <a:ext cx="1146468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</a:rPr>
              <a:t>2004</a:t>
            </a:r>
          </a:p>
        </p:txBody>
      </p:sp>
    </p:spTree>
    <p:extLst>
      <p:ext uri="{BB962C8B-B14F-4D97-AF65-F5344CB8AC3E}">
        <p14:creationId xmlns:p14="http://schemas.microsoft.com/office/powerpoint/2010/main" val="366252743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7986713" y="1538304"/>
            <a:ext cx="1943100" cy="1628775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b="1" dirty="0">
              <a:solidFill>
                <a:prstClr val="black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3376613" y="1538304"/>
            <a:ext cx="1943100" cy="1628775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black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44700" y="2892425"/>
            <a:ext cx="78867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Box 4"/>
          <p:cNvSpPr txBox="1">
            <a:spLocks noChangeArrowheads="1"/>
          </p:cNvSpPr>
          <p:nvPr/>
        </p:nvSpPr>
        <p:spPr bwMode="auto">
          <a:xfrm>
            <a:off x="8636001" y="1700213"/>
            <a:ext cx="9124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9pPr>
          </a:lstStyle>
          <a:p>
            <a:r>
              <a:rPr lang="en-US" sz="2000" b="1" dirty="0">
                <a:solidFill>
                  <a:prstClr val="black"/>
                </a:solidFill>
                <a:latin typeface="Franklin Gothic Book" panose="020B0503020102020204" pitchFamily="34" charset="0"/>
              </a:rPr>
              <a:t>L858R</a:t>
            </a:r>
          </a:p>
        </p:txBody>
      </p:sp>
      <p:sp>
        <p:nvSpPr>
          <p:cNvPr id="19462" name="TextBox 5"/>
          <p:cNvSpPr txBox="1">
            <a:spLocks noChangeArrowheads="1"/>
          </p:cNvSpPr>
          <p:nvPr/>
        </p:nvSpPr>
        <p:spPr bwMode="auto">
          <a:xfrm>
            <a:off x="3794354" y="1700213"/>
            <a:ext cx="120449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9pPr>
          </a:lstStyle>
          <a:p>
            <a:pPr algn="ctr"/>
            <a:r>
              <a:rPr lang="en-US" sz="2000" b="1" dirty="0">
                <a:solidFill>
                  <a:prstClr val="black"/>
                </a:solidFill>
                <a:latin typeface="Franklin Gothic Book" panose="020B0503020102020204" pitchFamily="34" charset="0"/>
              </a:rPr>
              <a:t>Exon 19 </a:t>
            </a:r>
          </a:p>
          <a:p>
            <a:pPr algn="ctr"/>
            <a:r>
              <a:rPr lang="en-US" sz="2000" b="1" dirty="0">
                <a:solidFill>
                  <a:prstClr val="black"/>
                </a:solidFill>
                <a:latin typeface="Franklin Gothic Book" panose="020B0503020102020204" pitchFamily="34" charset="0"/>
              </a:rPr>
              <a:t>Deletions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240213" y="2408244"/>
            <a:ext cx="0" cy="48418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9155113" y="2184404"/>
            <a:ext cx="0" cy="62547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467" name="TextBox 13"/>
          <p:cNvSpPr txBox="1">
            <a:spLocks noChangeArrowheads="1"/>
          </p:cNvSpPr>
          <p:nvPr/>
        </p:nvSpPr>
        <p:spPr bwMode="auto">
          <a:xfrm>
            <a:off x="2044700" y="4200525"/>
            <a:ext cx="714663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charset="0"/>
                <a:ea typeface="ＭＳ Ｐゴシック" charset="0"/>
              </a:defRPr>
            </a:lvl9pPr>
          </a:lstStyle>
          <a:p>
            <a:r>
              <a:rPr lang="en-US" sz="2400" b="1" dirty="0">
                <a:solidFill>
                  <a:prstClr val="black"/>
                </a:solidFill>
                <a:latin typeface="Franklin Gothic Book" panose="020B0503020102020204" pitchFamily="34" charset="0"/>
                <a:cs typeface="Calibri" panose="020F0502020204030204" pitchFamily="34" charset="0"/>
              </a:rPr>
              <a:t>Less common mutations:</a:t>
            </a:r>
          </a:p>
          <a:p>
            <a:r>
              <a:rPr lang="en-US" sz="2400" b="1" dirty="0">
                <a:solidFill>
                  <a:prstClr val="black"/>
                </a:solidFill>
                <a:latin typeface="Franklin Gothic Book" panose="020B0503020102020204" pitchFamily="34" charset="0"/>
                <a:cs typeface="Calibri" panose="020F0502020204030204" pitchFamily="34" charset="0"/>
              </a:rPr>
              <a:t>-G719A/S</a:t>
            </a:r>
          </a:p>
          <a:p>
            <a:r>
              <a:rPr lang="en-US" sz="2400" b="1" dirty="0">
                <a:solidFill>
                  <a:prstClr val="black"/>
                </a:solidFill>
                <a:latin typeface="Franklin Gothic Book" panose="020B0503020102020204" pitchFamily="34" charset="0"/>
                <a:cs typeface="Calibri" panose="020F0502020204030204" pitchFamily="34" charset="0"/>
              </a:rPr>
              <a:t>-L861</a:t>
            </a:r>
          </a:p>
          <a:p>
            <a:r>
              <a:rPr lang="en-US" sz="2400" b="1" dirty="0">
                <a:solidFill>
                  <a:prstClr val="black"/>
                </a:solidFill>
                <a:latin typeface="Franklin Gothic Book" panose="020B0503020102020204" pitchFamily="34" charset="0"/>
                <a:cs typeface="Calibri" panose="020F0502020204030204" pitchFamily="34" charset="0"/>
              </a:rPr>
              <a:t>**Exon 20 insertions (Resistant to most EGFR TKI)**</a:t>
            </a:r>
          </a:p>
          <a:p>
            <a:endParaRPr lang="en-US" sz="2400" b="1" dirty="0">
              <a:solidFill>
                <a:prstClr val="black"/>
              </a:solidFill>
              <a:latin typeface="Franklin Gothic Book" panose="020B0503020102020204" pitchFamily="34" charset="0"/>
              <a:cs typeface="Calibri" panose="020F0502020204030204" pitchFamily="34" charset="0"/>
            </a:endParaRPr>
          </a:p>
        </p:txBody>
      </p:sp>
      <p:sp>
        <p:nvSpPr>
          <p:cNvPr id="19459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Exon 19 Deletions &amp; L858R </a:t>
            </a:r>
            <a:b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are Most Common EGFR mutations</a:t>
            </a:r>
          </a:p>
        </p:txBody>
      </p:sp>
    </p:spTree>
    <p:extLst>
      <p:ext uri="{BB962C8B-B14F-4D97-AF65-F5344CB8AC3E}">
        <p14:creationId xmlns:p14="http://schemas.microsoft.com/office/powerpoint/2010/main" val="330554889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67427" y="77600"/>
            <a:ext cx="4600575" cy="3046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714"/>
          <a:stretch>
            <a:fillRect/>
          </a:stretch>
        </p:blipFill>
        <p:spPr bwMode="auto">
          <a:xfrm>
            <a:off x="1524000" y="3505200"/>
            <a:ext cx="4766146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0371" y="304803"/>
            <a:ext cx="4572000" cy="278130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1752632" y="6474047"/>
            <a:ext cx="941706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prstClr val="black"/>
                </a:solidFill>
                <a:latin typeface="Franklin Gothic Book" panose="020B0503020102020204" pitchFamily="34" charset="0"/>
              </a:rPr>
              <a:t>Maemondo</a:t>
            </a:r>
            <a:r>
              <a:rPr lang="en-US" sz="1400" dirty="0">
                <a:solidFill>
                  <a:prstClr val="black"/>
                </a:solidFill>
                <a:latin typeface="Franklin Gothic Book" panose="020B0503020102020204" pitchFamily="34" charset="0"/>
              </a:rPr>
              <a:t> et al NEJM 2010, </a:t>
            </a:r>
            <a:r>
              <a:rPr lang="en-US" sz="1400" dirty="0" err="1">
                <a:solidFill>
                  <a:prstClr val="black"/>
                </a:solidFill>
                <a:latin typeface="Franklin Gothic Book" panose="020B0503020102020204" pitchFamily="34" charset="0"/>
              </a:rPr>
              <a:t>Mitsudomi</a:t>
            </a:r>
            <a:r>
              <a:rPr lang="en-US" sz="1400" dirty="0">
                <a:solidFill>
                  <a:prstClr val="black"/>
                </a:solidFill>
                <a:latin typeface="Franklin Gothic Book" panose="020B0503020102020204" pitchFamily="34" charset="0"/>
              </a:rPr>
              <a:t> et al Lancet Oncol 2010, Rosell et al Lancet Oncol 2012, Sequist et al, JCO 2013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61045" y="3581400"/>
            <a:ext cx="4388812" cy="2565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60991" y="1371600"/>
            <a:ext cx="6508320" cy="24929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</a:rPr>
              <a:t>EGFR Tyrosine Kinase Inhibitors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  <a:latin typeface="Franklin Gothic Book" panose="020B0503020102020204" pitchFamily="34" charset="0"/>
              </a:rPr>
              <a:t>(Erlotinib, Gefitinib, or Afatinib)</a:t>
            </a:r>
          </a:p>
          <a:p>
            <a:pPr algn="ctr"/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</a:rPr>
              <a:t>improve progression free survival</a:t>
            </a:r>
          </a:p>
          <a:p>
            <a:pPr algn="ctr"/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</a:rPr>
              <a:t>compared with platinum doublets </a:t>
            </a:r>
          </a:p>
          <a:p>
            <a:pPr algn="ctr"/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</a:rPr>
              <a:t>in patients with EGFR mutant NSCLC</a:t>
            </a:r>
          </a:p>
        </p:txBody>
      </p:sp>
    </p:spTree>
    <p:extLst>
      <p:ext uri="{BB962C8B-B14F-4D97-AF65-F5344CB8AC3E}">
        <p14:creationId xmlns:p14="http://schemas.microsoft.com/office/powerpoint/2010/main" val="407286196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/>
              <a:t>72 year old woman presents with a lung mass.  Biopsy is done and pathologist says patient has NSCLC.  You ask for each of the following except: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20" y="5638801"/>
            <a:ext cx="8305801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Franklin Gothic Book" panose="020B0503020102020204" pitchFamily="34" charset="0"/>
              </a:rPr>
              <a:t>Testing for all of the above is important, except for tumor mutational burden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37698A-5F32-4CA6-84C2-64BBA2335D7A}"/>
              </a:ext>
            </a:extLst>
          </p:cNvPr>
          <p:cNvSpPr txBox="1">
            <a:spLocks/>
          </p:cNvSpPr>
          <p:nvPr/>
        </p:nvSpPr>
        <p:spPr>
          <a:xfrm>
            <a:off x="1055077" y="2332036"/>
            <a:ext cx="10255348" cy="41449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lphaUcPeriod"/>
            </a:pPr>
            <a:r>
              <a:rPr lang="en-US" dirty="0">
                <a:latin typeface="Franklin Gothic Book" panose="020B0503020102020204" pitchFamily="34" charset="0"/>
              </a:rPr>
              <a:t>Tumor Histology (adenocarcinoma, squamous, etc.)</a:t>
            </a:r>
            <a:endParaRPr lang="en-US" sz="3600" dirty="0">
              <a:latin typeface="Franklin Gothic Book" panose="020B0503020102020204" pitchFamily="34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latin typeface="Franklin Gothic Book" panose="020B0503020102020204" pitchFamily="34" charset="0"/>
              </a:rPr>
              <a:t>Tumor mutational burden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latin typeface="Franklin Gothic Book" panose="020B0503020102020204" pitchFamily="34" charset="0"/>
              </a:rPr>
              <a:t>EGFR mutational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latin typeface="Franklin Gothic Book" panose="020B0503020102020204" pitchFamily="34" charset="0"/>
              </a:rPr>
              <a:t>Tumor Next Generation Sequencing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>
                <a:latin typeface="Franklin Gothic Book" panose="020B0503020102020204" pitchFamily="34" charset="0"/>
              </a:rPr>
              <a:t>PD-L1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7073FF-6CC4-4377-A48F-F199F7AEF1ED}"/>
                  </a:ext>
                </a:extLst>
              </p14:cNvPr>
              <p14:cNvContentPartPr/>
              <p14:nvPr/>
            </p14:nvContentPartPr>
            <p14:xfrm>
              <a:off x="1179956" y="3096836"/>
              <a:ext cx="4698000" cy="109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7073FF-6CC4-4377-A48F-F199F7AEF1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5956" y="2988836"/>
                <a:ext cx="480564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09E8498-33FC-BF3B-9B89-DD5857D3F300}"/>
                  </a:ext>
                </a:extLst>
              </p14:cNvPr>
              <p14:cNvContentPartPr/>
              <p14:nvPr/>
            </p14:nvContentPartPr>
            <p14:xfrm>
              <a:off x="1268156" y="3156956"/>
              <a:ext cx="4779000" cy="349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09E8498-33FC-BF3B-9B89-DD5857D3F3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4156" y="3048956"/>
                <a:ext cx="4886640" cy="56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449120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29" y="1779836"/>
            <a:ext cx="6429375" cy="425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8076500" y="6400800"/>
            <a:ext cx="3020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Franklin Gothic Book" panose="020B0503020102020204" pitchFamily="34" charset="0"/>
              </a:rPr>
              <a:t>Maemondo</a:t>
            </a:r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 et al, NEJM 2010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4200" y="3200423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Median 10.8 vs 5.4 months, HR 0.30,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What drives acquired resistance to EGFR TKI</a:t>
            </a:r>
          </a:p>
        </p:txBody>
      </p:sp>
    </p:spTree>
    <p:extLst>
      <p:ext uri="{BB962C8B-B14F-4D97-AF65-F5344CB8AC3E}">
        <p14:creationId xmlns:p14="http://schemas.microsoft.com/office/powerpoint/2010/main" val="96143860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61161" y="2931671"/>
            <a:ext cx="2286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Diagnosed with </a:t>
            </a:r>
            <a:r>
              <a:rPr lang="en-US" i="1" dirty="0">
                <a:solidFill>
                  <a:prstClr val="black"/>
                </a:solidFill>
                <a:latin typeface="Franklin Gothic Book" panose="020B0503020102020204" pitchFamily="34" charset="0"/>
              </a:rPr>
              <a:t>EGFR</a:t>
            </a:r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 mutant NSCLC</a:t>
            </a:r>
          </a:p>
        </p:txBody>
      </p:sp>
      <p:cxnSp>
        <p:nvCxnSpPr>
          <p:cNvPr id="7" name="Straight Arrow Connector 6"/>
          <p:cNvCxnSpPr>
            <a:stCxn id="5" idx="3"/>
            <a:endCxn id="9" idx="1"/>
          </p:cNvCxnSpPr>
          <p:nvPr/>
        </p:nvCxnSpPr>
        <p:spPr>
          <a:xfrm>
            <a:off x="4447161" y="3254837"/>
            <a:ext cx="1496439" cy="26229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0" y="4343401"/>
            <a:ext cx="22860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Biopsy to understand mechanism of resistance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819401"/>
            <a:ext cx="22860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Development of Clinical Resistance to EGFR TKI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086600" y="3810000"/>
            <a:ext cx="0" cy="533400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00610" y="2907268"/>
            <a:ext cx="976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erlotinib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6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What causes resistance?</a:t>
            </a:r>
          </a:p>
        </p:txBody>
      </p:sp>
    </p:spTree>
    <p:extLst>
      <p:ext uri="{BB962C8B-B14F-4D97-AF65-F5344CB8AC3E}">
        <p14:creationId xmlns:p14="http://schemas.microsoft.com/office/powerpoint/2010/main" val="267738731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6500" y="1600203"/>
            <a:ext cx="5600700" cy="3571461"/>
          </a:xfrm>
        </p:spPr>
      </p:pic>
      <p:sp>
        <p:nvSpPr>
          <p:cNvPr id="5" name="TextBox 4"/>
          <p:cNvSpPr txBox="1"/>
          <p:nvPr/>
        </p:nvSpPr>
        <p:spPr>
          <a:xfrm>
            <a:off x="9906000" y="5921266"/>
            <a:ext cx="2003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Yu et al, CCR 2013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Mechanisms of Acquired Resistance to EGFR Tyrosine Kinase Inhibitors</a:t>
            </a:r>
          </a:p>
        </p:txBody>
      </p:sp>
    </p:spTree>
    <p:extLst>
      <p:ext uri="{BB962C8B-B14F-4D97-AF65-F5344CB8AC3E}">
        <p14:creationId xmlns:p14="http://schemas.microsoft.com/office/powerpoint/2010/main" val="235231530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Third Generation EGFR TKI (osimertinib) 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838200" y="1130383"/>
            <a:ext cx="10515600" cy="4203616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prstClr val="black"/>
                </a:solidFill>
              </a:rPr>
              <a:t>Developed to target mutant EGFR, particularly EGFR T790M, and spare normal EGFR</a:t>
            </a:r>
          </a:p>
          <a:p>
            <a:r>
              <a:rPr lang="en-US" sz="3200"/>
              <a:t>Oral, irreversible, with a distinct profile from gefitinib, erlotinib, afatinib, and dacomitinib</a:t>
            </a:r>
          </a:p>
          <a:p>
            <a:r>
              <a:rPr lang="en-US" sz="3200"/>
              <a:t>Notable toxicities: rash, interstitial lung disease</a:t>
            </a:r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16364604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Clinically targeting EGFR mutant NSCLC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5587909"/>
              </p:ext>
            </p:extLst>
          </p:nvPr>
        </p:nvGraphicFramePr>
        <p:xfrm>
          <a:off x="728349" y="1169115"/>
          <a:ext cx="10735301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7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6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9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0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05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2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endParaRPr lang="en-US" sz="2400" b="0" dirty="0">
                        <a:latin typeface="Franklin Gothic Book" panose="020B0503020102020204" pitchFamily="34" charset="0"/>
                      </a:endParaRP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Franklin Gothic Book" panose="020B0503020102020204" pitchFamily="34" charset="0"/>
                        </a:rPr>
                        <a:t>Drug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Franklin Gothic Book" panose="020B0503020102020204" pitchFamily="34" charset="0"/>
                        </a:rPr>
                        <a:t>EGFR L858R</a:t>
                      </a:r>
                    </a:p>
                    <a:p>
                      <a:pPr algn="ctr"/>
                      <a:endParaRPr lang="en-US" sz="2400" b="0" dirty="0">
                        <a:latin typeface="Franklin Gothic Book" panose="020B0503020102020204" pitchFamily="34" charset="0"/>
                      </a:endParaRP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Franklin Gothic Book" panose="020B0503020102020204" pitchFamily="34" charset="0"/>
                        </a:rPr>
                        <a:t>EGFR Exon 19 del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Franklin Gothic Book" panose="020B0503020102020204" pitchFamily="34" charset="0"/>
                        </a:rPr>
                        <a:t>EGFR</a:t>
                      </a: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Franklin Gothic Book" panose="020B0503020102020204" pitchFamily="34" charset="0"/>
                        </a:rPr>
                        <a:t>EGFR</a:t>
                      </a:r>
                    </a:p>
                    <a:p>
                      <a:pPr algn="ctr"/>
                      <a:r>
                        <a:rPr lang="en-US" sz="2400" b="0" baseline="0" dirty="0">
                          <a:latin typeface="Franklin Gothic Book" panose="020B0503020102020204" pitchFamily="34" charset="0"/>
                        </a:rPr>
                        <a:t>T790M</a:t>
                      </a:r>
                      <a:endParaRPr lang="en-US" sz="2400" b="0" dirty="0">
                        <a:latin typeface="Franklin Gothic Book" panose="020B0503020102020204" pitchFamily="34" charset="0"/>
                      </a:endParaRPr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Franklin Gothic Book" panose="020B0503020102020204" pitchFamily="34" charset="0"/>
                        </a:rPr>
                        <a:t>HER2</a:t>
                      </a:r>
                    </a:p>
                  </a:txBody>
                  <a:tcPr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Franklin Gothic Book" panose="020B0503020102020204" pitchFamily="34" charset="0"/>
                        </a:rPr>
                        <a:t>1</a:t>
                      </a:r>
                      <a:r>
                        <a:rPr lang="en-US" sz="2400" b="0" baseline="30000" dirty="0">
                          <a:latin typeface="Franklin Gothic Book" panose="020B0503020102020204" pitchFamily="34" charset="0"/>
                        </a:rPr>
                        <a:t>st</a:t>
                      </a:r>
                      <a:r>
                        <a:rPr lang="en-US" sz="2400" b="0" dirty="0">
                          <a:latin typeface="Franklin Gothic Book" panose="020B0503020102020204" pitchFamily="34" charset="0"/>
                        </a:rPr>
                        <a:t> gen</a:t>
                      </a:r>
                    </a:p>
                  </a:txBody>
                  <a:tcPr marT="60960" marB="6096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Franklin Gothic Book" panose="020B0503020102020204" pitchFamily="34" charset="0"/>
                        </a:rPr>
                        <a:t>gefitinib</a:t>
                      </a:r>
                    </a:p>
                  </a:txBody>
                  <a:tcPr marT="60960" marB="6096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-</a:t>
                      </a:r>
                    </a:p>
                  </a:txBody>
                  <a:tcPr marT="60960" marB="6096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-</a:t>
                      </a:r>
                    </a:p>
                  </a:txBody>
                  <a:tcPr marT="60960" marB="6096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 vMerge="1"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Franklin Gothic Book" panose="020B0503020102020204" pitchFamily="34" charset="0"/>
                        </a:rPr>
                        <a:t>erlotinib</a:t>
                      </a:r>
                    </a:p>
                  </a:txBody>
                  <a:tcPr marT="60960" marB="6096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-</a:t>
                      </a:r>
                    </a:p>
                  </a:txBody>
                  <a:tcPr marT="60960" marB="6096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-</a:t>
                      </a:r>
                    </a:p>
                  </a:txBody>
                  <a:tcPr marT="60960" marB="6096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Franklin Gothic Book" panose="020B0503020102020204" pitchFamily="34" charset="0"/>
                        </a:rPr>
                        <a:t>2</a:t>
                      </a:r>
                      <a:r>
                        <a:rPr lang="en-US" sz="2400" b="0" baseline="30000" dirty="0">
                          <a:latin typeface="Franklin Gothic Book" panose="020B0503020102020204" pitchFamily="34" charset="0"/>
                        </a:rPr>
                        <a:t>nd</a:t>
                      </a:r>
                      <a:r>
                        <a:rPr lang="en-US" sz="2400" b="0" dirty="0">
                          <a:latin typeface="Franklin Gothic Book" panose="020B0503020102020204" pitchFamily="34" charset="0"/>
                        </a:rPr>
                        <a:t> gen</a:t>
                      </a:r>
                    </a:p>
                  </a:txBody>
                  <a:tcPr marT="60960" marB="6096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Franklin Gothic Book" panose="020B0503020102020204" pitchFamily="34" charset="0"/>
                        </a:rPr>
                        <a:t>afatinib</a:t>
                      </a:r>
                    </a:p>
                    <a:p>
                      <a:r>
                        <a:rPr lang="en-US" sz="2400" b="0" dirty="0">
                          <a:latin typeface="Franklin Gothic Book" panose="020B0503020102020204" pitchFamily="34" charset="0"/>
                        </a:rPr>
                        <a:t>dacomitinib</a:t>
                      </a:r>
                    </a:p>
                  </a:txBody>
                  <a:tcPr marT="60960" marB="609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-</a:t>
                      </a:r>
                    </a:p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-</a:t>
                      </a:r>
                    </a:p>
                  </a:txBody>
                  <a:tcPr marT="60960" marB="609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  <a:p>
                      <a:pPr algn="ctr"/>
                      <a:r>
                        <a:rPr lang="en-US" sz="2800" b="0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>
                          <a:latin typeface="Franklin Gothic Book" panose="020B0503020102020204" pitchFamily="34" charset="0"/>
                        </a:rPr>
                        <a:t>3</a:t>
                      </a:r>
                      <a:r>
                        <a:rPr lang="en-US" sz="2400" b="0" i="0" baseline="30000" dirty="0">
                          <a:latin typeface="Franklin Gothic Book" panose="020B0503020102020204" pitchFamily="34" charset="0"/>
                        </a:rPr>
                        <a:t>rd</a:t>
                      </a:r>
                      <a:r>
                        <a:rPr lang="en-US" sz="2400" b="0" i="0" dirty="0">
                          <a:latin typeface="Franklin Gothic Book" panose="020B0503020102020204" pitchFamily="34" charset="0"/>
                        </a:rPr>
                        <a:t> gen </a:t>
                      </a:r>
                    </a:p>
                  </a:txBody>
                  <a:tcPr marT="60960" marB="6096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Franklin Gothic Book" panose="020B0503020102020204" pitchFamily="34" charset="0"/>
                        </a:rPr>
                        <a:t>Osimertinib</a:t>
                      </a:r>
                      <a:endParaRPr lang="en-US" sz="2800" b="0" i="0" dirty="0">
                        <a:latin typeface="Franklin Gothic Book" panose="020B0503020102020204" pitchFamily="34" charset="0"/>
                      </a:endParaRPr>
                    </a:p>
                  </a:txBody>
                  <a:tcPr marT="60960" marB="6096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latin typeface="Franklin Gothic Book" panose="020B0503020102020204" pitchFamily="34" charset="0"/>
                        </a:rPr>
                        <a:t>-</a:t>
                      </a:r>
                    </a:p>
                  </a:txBody>
                  <a:tcPr marT="60960" marB="6096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Franklin Gothic Book" panose="020B0503020102020204" pitchFamily="34" charset="0"/>
                        </a:rPr>
                        <a:t>-</a:t>
                      </a:r>
                    </a:p>
                  </a:txBody>
                  <a:tcPr marT="60960" marB="6096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endParaRPr lang="en-US" sz="2800" b="0" i="0" dirty="0">
                        <a:latin typeface="Franklin Gothic Book" panose="020B0503020102020204" pitchFamily="34" charset="0"/>
                      </a:endParaRPr>
                    </a:p>
                  </a:txBody>
                  <a:tcPr marT="60960" marB="6096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Franklin Gothic Book" panose="020B0503020102020204" pitchFamily="34" charset="0"/>
                        </a:rPr>
                        <a:t>Lazertinib</a:t>
                      </a:r>
                    </a:p>
                  </a:txBody>
                  <a:tcPr marT="60960" marB="6096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latin typeface="Franklin Gothic Book" panose="020B0503020102020204" pitchFamily="34" charset="0"/>
                        </a:rPr>
                        <a:t>-</a:t>
                      </a:r>
                    </a:p>
                  </a:txBody>
                  <a:tcPr marT="60960" marB="6096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latin typeface="Franklin Gothic Book" panose="020B0503020102020204" pitchFamily="34" charset="0"/>
                        </a:rPr>
                        <a:t>+</a:t>
                      </a:r>
                    </a:p>
                  </a:txBody>
                  <a:tcPr marT="60960" marB="6096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latin typeface="Franklin Gothic Book" panose="020B0503020102020204" pitchFamily="34" charset="0"/>
                        </a:rPr>
                        <a:t>-</a:t>
                      </a:r>
                    </a:p>
                  </a:txBody>
                  <a:tcPr marT="60960" marB="6096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0321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962AB3-6D7C-51E4-5411-5AC83B6EA8C0}"/>
                  </a:ext>
                </a:extLst>
              </p14:cNvPr>
              <p14:cNvContentPartPr/>
              <p14:nvPr/>
            </p14:nvContentPartPr>
            <p14:xfrm>
              <a:off x="727436" y="445367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962AB3-6D7C-51E4-5411-5AC83B6EA8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9796" y="443603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61D38B3-B27A-BCFF-49B1-2D7DF1B1C8B6}"/>
                  </a:ext>
                </a:extLst>
              </p14:cNvPr>
              <p14:cNvContentPartPr/>
              <p14:nvPr/>
            </p14:nvContentPartPr>
            <p14:xfrm>
              <a:off x="421796" y="4453676"/>
              <a:ext cx="409680" cy="1149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61D38B3-B27A-BCFF-49B1-2D7DF1B1C8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3796" y="4436036"/>
                <a:ext cx="445320" cy="11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7F0BFE-4697-0074-C341-1EE1D31FC1E2}"/>
                  </a:ext>
                </a:extLst>
              </p14:cNvPr>
              <p14:cNvContentPartPr/>
              <p14:nvPr/>
            </p14:nvContentPartPr>
            <p14:xfrm>
              <a:off x="611156" y="4334876"/>
              <a:ext cx="11058480" cy="1438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D7F0BFE-4697-0074-C341-1EE1D31FC1E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3156" y="4316876"/>
                <a:ext cx="11094120" cy="147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853243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Osimertinib in Patients With Acquired Resistance to EGFR TKI and </a:t>
            </a:r>
            <a:r>
              <a:rPr lang="en-US" sz="2800" b="0" i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EGFR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T790M</a:t>
            </a: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403855" y="6312359"/>
            <a:ext cx="6019800" cy="365125"/>
          </a:xfrm>
          <a:prstGeom prst="rect">
            <a:avLst/>
          </a:prstGeom>
        </p:spPr>
        <p:txBody>
          <a:bodyPr/>
          <a:lstStyle/>
          <a:p>
            <a:r>
              <a:rPr lang="da-DK"/>
              <a:t>Jänne PA, et al. </a:t>
            </a:r>
            <a:r>
              <a:rPr lang="da-DK" i="1"/>
              <a:t>N Engl J Med. </a:t>
            </a:r>
            <a:r>
              <a:rPr lang="da-DK"/>
              <a:t>2015;372(18):1689-1699.</a:t>
            </a:r>
            <a:endParaRPr lang="en-US"/>
          </a:p>
        </p:txBody>
      </p:sp>
      <p:pic>
        <p:nvPicPr>
          <p:cNvPr id="5" name="Picture 4" descr="Screenshot 2015-05-08 22.12.08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0" y="1803404"/>
            <a:ext cx="9144000" cy="32320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27" y="5453391"/>
            <a:ext cx="3523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8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Response Rate = 61%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270751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7239" y="2650699"/>
            <a:ext cx="187583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defTabSz="457200"/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</a:rPr>
              <a:t>Diagnosis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768153" y="2926816"/>
            <a:ext cx="2250194" cy="0"/>
          </a:xfrm>
          <a:prstGeom prst="straightConnector1">
            <a:avLst/>
          </a:prstGeom>
          <a:ln w="5715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47707" y="3158126"/>
            <a:ext cx="15776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9-11 months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Median PFS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1</a:t>
            </a:r>
            <a:r>
              <a:rPr lang="en-US" sz="2000" baseline="30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st</a:t>
            </a:r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 Gen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322610" y="2926816"/>
            <a:ext cx="1614623" cy="0"/>
          </a:xfrm>
          <a:prstGeom prst="straightConnector1">
            <a:avLst/>
          </a:prstGeom>
          <a:ln w="5715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33028" y="3158126"/>
            <a:ext cx="15084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~10 months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Median PFS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3</a:t>
            </a:r>
            <a:r>
              <a:rPr lang="en-US" sz="2000" baseline="30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rd</a:t>
            </a:r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 Gen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EA1B6AD-EAD8-4906-EC38-EB0E4F383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 back then…</a:t>
            </a:r>
          </a:p>
        </p:txBody>
      </p:sp>
    </p:spTree>
    <p:extLst>
      <p:ext uri="{BB962C8B-B14F-4D97-AF65-F5344CB8AC3E}">
        <p14:creationId xmlns:p14="http://schemas.microsoft.com/office/powerpoint/2010/main" val="301490680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3DBC-442A-4CFF-947A-C6D332140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1053D-674A-4C90-B1BF-6201FB3A1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Drug A works</a:t>
            </a:r>
          </a:p>
          <a:p>
            <a:r>
              <a:rPr lang="en-US"/>
              <a:t>Drug B (with same mechanism of action) works after drug A stops working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Maybe we should try giving drug B first?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E4284E-5439-46D8-ABBD-C8B0986D7D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5800" y="3273912"/>
            <a:ext cx="1060938" cy="160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4470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7239" y="2650699"/>
            <a:ext cx="187583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defTabSz="457200"/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</a:rPr>
              <a:t>Diagnosis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768153" y="2926816"/>
            <a:ext cx="2250194" cy="0"/>
          </a:xfrm>
          <a:prstGeom prst="straightConnector1">
            <a:avLst/>
          </a:prstGeom>
          <a:ln w="5715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47707" y="3158126"/>
            <a:ext cx="15776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9-11 months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Median PFS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1</a:t>
            </a:r>
            <a:r>
              <a:rPr lang="en-US" sz="2000" baseline="30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st</a:t>
            </a:r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 Gen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322610" y="2926816"/>
            <a:ext cx="1614623" cy="0"/>
          </a:xfrm>
          <a:prstGeom prst="straightConnector1">
            <a:avLst/>
          </a:prstGeom>
          <a:ln w="5715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33028" y="3158126"/>
            <a:ext cx="15084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~10 months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Median PFS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3</a:t>
            </a:r>
            <a:r>
              <a:rPr lang="en-US" sz="2000" baseline="30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rd</a:t>
            </a:r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 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7783" y="4708327"/>
            <a:ext cx="187583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defTabSz="457200"/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</a:rPr>
              <a:t>Diagnosis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768701" y="4984444"/>
            <a:ext cx="2553902" cy="0"/>
          </a:xfrm>
          <a:prstGeom prst="straightConnector1">
            <a:avLst/>
          </a:prstGeom>
          <a:ln w="57150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11784" y="5208115"/>
            <a:ext cx="3617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</a:rPr>
              <a:t>Start with 3</a:t>
            </a:r>
            <a:r>
              <a:rPr lang="en-US" sz="3200" baseline="30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rd</a:t>
            </a:r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</a:rPr>
              <a:t> Gen ?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661149" y="4984444"/>
            <a:ext cx="2553902" cy="0"/>
          </a:xfrm>
          <a:prstGeom prst="straightConnector1">
            <a:avLst/>
          </a:prstGeom>
          <a:ln w="57150" cmpd="sng">
            <a:solidFill>
              <a:schemeClr val="tx1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11714" y="485372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6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How should we treat EGFR mutant patients?</a:t>
            </a:r>
          </a:p>
        </p:txBody>
      </p:sp>
    </p:spTree>
    <p:extLst>
      <p:ext uri="{BB962C8B-B14F-4D97-AF65-F5344CB8AC3E}">
        <p14:creationId xmlns:p14="http://schemas.microsoft.com/office/powerpoint/2010/main" val="420195541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48800" y="5521788"/>
            <a:ext cx="8694400" cy="750199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marL="171438" indent="-171438" defTabSz="457166">
              <a:buFont typeface="Arial" panose="020B0604020202020204" pitchFamily="34" charset="0"/>
              <a:buChar char="•"/>
            </a:pPr>
            <a:r>
              <a:rPr lang="en-US" sz="1425" b="1" dirty="0">
                <a:solidFill>
                  <a:prstClr val="black"/>
                </a:solidFill>
                <a:latin typeface="Franklin Gothic Book" panose="020B0503020102020204" pitchFamily="34" charset="0"/>
              </a:rPr>
              <a:t>Primary</a:t>
            </a:r>
            <a:r>
              <a:rPr lang="en-US" sz="1425" dirty="0">
                <a:solidFill>
                  <a:prstClr val="black"/>
                </a:solidFill>
                <a:latin typeface="Franklin Gothic Book" panose="020B0503020102020204" pitchFamily="34" charset="0"/>
              </a:rPr>
              <a:t> </a:t>
            </a:r>
            <a:r>
              <a:rPr lang="en-US" sz="1425" b="1" dirty="0">
                <a:solidFill>
                  <a:prstClr val="black"/>
                </a:solidFill>
                <a:latin typeface="Franklin Gothic Book" panose="020B0503020102020204" pitchFamily="34" charset="0"/>
              </a:rPr>
              <a:t>endpoint:</a:t>
            </a:r>
            <a:r>
              <a:rPr lang="en-US" sz="1425" dirty="0">
                <a:solidFill>
                  <a:prstClr val="black"/>
                </a:solidFill>
                <a:latin typeface="Franklin Gothic Book" panose="020B0503020102020204" pitchFamily="34" charset="0"/>
              </a:rPr>
              <a:t> PFS</a:t>
            </a:r>
            <a:endParaRPr lang="en-GB" sz="1425" dirty="0">
              <a:solidFill>
                <a:prstClr val="black"/>
              </a:solidFill>
              <a:latin typeface="Franklin Gothic Book" panose="020B0503020102020204" pitchFamily="34" charset="0"/>
            </a:endParaRPr>
          </a:p>
          <a:p>
            <a:pPr marL="171438" indent="-171438" defTabSz="457166">
              <a:buFont typeface="Arial" panose="020B0604020202020204" pitchFamily="34" charset="0"/>
              <a:buChar char="•"/>
            </a:pPr>
            <a:r>
              <a:rPr lang="en-GB" sz="1425" b="1" dirty="0">
                <a:solidFill>
                  <a:prstClr val="black"/>
                </a:solidFill>
                <a:latin typeface="Franklin Gothic Book" panose="020B0503020102020204" pitchFamily="34" charset="0"/>
              </a:rPr>
              <a:t>Secondary endpoints: </a:t>
            </a:r>
            <a:r>
              <a:rPr lang="en-US" sz="1425" dirty="0">
                <a:solidFill>
                  <a:prstClr val="black"/>
                </a:solidFill>
                <a:latin typeface="Franklin Gothic Book" panose="020B0503020102020204" pitchFamily="34" charset="0"/>
              </a:rPr>
              <a:t>response rate, duration of response, disease control rate, depth of response, overall survival, patient reported outcomes, safety </a:t>
            </a:r>
            <a:endParaRPr lang="en-GB" sz="1425" dirty="0">
              <a:solidFill>
                <a:prstClr val="black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47314" y="6332874"/>
            <a:ext cx="2406224" cy="369326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defTabSz="457166"/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Soria et al, NEJM 2017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B2AB5-74EB-6D98-25A1-0397FE02F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919" y="1413026"/>
            <a:ext cx="10291904" cy="37814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Is Osimertinib superior to gefitinib/erlotinib as initial therapy for patients with EGFR mutant lung cancer (FLAURA)?</a:t>
            </a:r>
          </a:p>
        </p:txBody>
      </p:sp>
    </p:spTree>
    <p:extLst>
      <p:ext uri="{BB962C8B-B14F-4D97-AF65-F5344CB8AC3E}">
        <p14:creationId xmlns:p14="http://schemas.microsoft.com/office/powerpoint/2010/main" val="46350392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309125" y="6276844"/>
            <a:ext cx="2406224" cy="369326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defTabSz="457166"/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Soria et al, NEJM 2017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411941" y="1757833"/>
            <a:ext cx="7807095" cy="4400919"/>
            <a:chOff x="1024597" y="1173709"/>
            <a:chExt cx="6670431" cy="3658154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4597" y="1173709"/>
              <a:ext cx="6670431" cy="3658154"/>
            </a:xfrm>
            <a:prstGeom prst="rect">
              <a:avLst/>
            </a:prstGeom>
            <a:noFill/>
            <a:ln w="9525" cap="flat">
              <a:noFill/>
              <a:round/>
              <a:headEnd/>
              <a:tailEnd/>
            </a:ln>
            <a:effectLst/>
          </p:spPr>
        </p:pic>
        <p:sp>
          <p:nvSpPr>
            <p:cNvPr id="7" name="Rectangle 6"/>
            <p:cNvSpPr/>
            <p:nvPr/>
          </p:nvSpPr>
          <p:spPr>
            <a:xfrm>
              <a:off x="2838298" y="1173709"/>
              <a:ext cx="1075334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66"/>
              <a:endParaRPr lang="en-US" dirty="0">
                <a:solidFill>
                  <a:prstClr val="white"/>
                </a:solidFill>
                <a:latin typeface="Franklin Gothic Book" panose="020B0503020102020204" pitchFamily="34" charset="0"/>
              </a:endParaRPr>
            </a:p>
          </p:txBody>
        </p:sp>
      </p:grp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03043" y="1579716"/>
            <a:ext cx="3727939" cy="1139483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6333508" y="2683574"/>
            <a:ext cx="712520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 defTabSz="457166"/>
            <a:endParaRPr lang="en-US" dirty="0">
              <a:solidFill>
                <a:prstClr val="white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Osimertinib is superior to first generation EGFR TKI as initial treatment for NSCLC: Progression-Free Survival</a:t>
            </a:r>
            <a:endParaRPr lang="en-US" sz="2800" b="0" dirty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6110136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51360" y="6248400"/>
            <a:ext cx="4435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Ramalingam et al, ESMO 2019/NEJM 2020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3E82A9-35DB-A946-9D48-247321E8F5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76669" y="1122839"/>
            <a:ext cx="10016264" cy="49589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GB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Osimertinib is superior to first generation EGFR TKI as initial treatment for NSCLC Overall Survival</a:t>
            </a:r>
            <a:endParaRPr lang="en-US" sz="2800" b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7241519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80066-0F80-6E65-EAC8-AA35660FF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04" y="2037944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 b="0" dirty="0">
                <a:solidFill>
                  <a:srgbClr val="005A8E"/>
                </a:solidFill>
                <a:latin typeface="Franklin Gothic Book" panose="020B0503020102020204" pitchFamily="34" charset="0"/>
                <a:ea typeface="Franklin Gothic Medium"/>
                <a:cs typeface="Franklin Gothic Medium"/>
              </a:rPr>
              <a:t>So, single-agent osimertinib (EGFR TKI) gives </a:t>
            </a:r>
            <a:br>
              <a:rPr lang="en-US" sz="4000" b="0" dirty="0">
                <a:solidFill>
                  <a:srgbClr val="005A8E"/>
                </a:solidFill>
                <a:latin typeface="Franklin Gothic Book" panose="020B0503020102020204" pitchFamily="34" charset="0"/>
                <a:ea typeface="Franklin Gothic Medium"/>
                <a:cs typeface="Franklin Gothic Medium"/>
              </a:rPr>
            </a:br>
            <a:r>
              <a:rPr lang="en-US" sz="4000" b="0" dirty="0">
                <a:solidFill>
                  <a:srgbClr val="005A8E"/>
                </a:solidFill>
                <a:latin typeface="Franklin Gothic Book" panose="020B0503020102020204" pitchFamily="34" charset="0"/>
                <a:ea typeface="Franklin Gothic Medium"/>
                <a:cs typeface="Franklin Gothic Medium"/>
              </a:rPr>
              <a:t>~ 3 year median OS…it’s the standard.</a:t>
            </a:r>
            <a:br>
              <a:rPr lang="en-US" sz="40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br>
              <a:rPr lang="en-US" sz="40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40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Can we improve outcomes ?</a:t>
            </a:r>
          </a:p>
        </p:txBody>
      </p:sp>
    </p:spTree>
    <p:extLst>
      <p:ext uri="{BB962C8B-B14F-4D97-AF65-F5344CB8AC3E}">
        <p14:creationId xmlns:p14="http://schemas.microsoft.com/office/powerpoint/2010/main" val="273050152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B5D001-5E0F-E252-D578-A7AED1DF5D3C}"/>
              </a:ext>
            </a:extLst>
          </p:cNvPr>
          <p:cNvSpPr txBox="1"/>
          <p:nvPr/>
        </p:nvSpPr>
        <p:spPr>
          <a:xfrm>
            <a:off x="1768376" y="1328386"/>
            <a:ext cx="2282227" cy="913199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Add </a:t>
            </a:r>
          </a:p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Chemotherapy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75BE8E-7996-7DA3-4D8D-409ED01A091E}"/>
              </a:ext>
            </a:extLst>
          </p:cNvPr>
          <p:cNvSpPr txBox="1"/>
          <p:nvPr/>
        </p:nvSpPr>
        <p:spPr>
          <a:xfrm>
            <a:off x="7719270" y="1328385"/>
            <a:ext cx="2267113" cy="913199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Dual EGFR inhibition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02A11-E2A8-1388-D46E-D9D872FDD9B8}"/>
              </a:ext>
            </a:extLst>
          </p:cNvPr>
          <p:cNvSpPr txBox="1"/>
          <p:nvPr/>
        </p:nvSpPr>
        <p:spPr>
          <a:xfrm>
            <a:off x="3553509" y="5943600"/>
            <a:ext cx="752340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Planchard et al, NEJM 2023; Cho et al, NEJM 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52369D-DB39-4BE2-B70E-3D6472DD8CA4}"/>
              </a:ext>
            </a:extLst>
          </p:cNvPr>
          <p:cNvSpPr txBox="1"/>
          <p:nvPr/>
        </p:nvSpPr>
        <p:spPr>
          <a:xfrm>
            <a:off x="1849710" y="6473952"/>
            <a:ext cx="9342109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err="1"/>
              <a:t>Gonzalvez</a:t>
            </a:r>
            <a:r>
              <a:rPr lang="en-US" sz="1300"/>
              <a:t> et al, Cancer Discov 2021; adapted from Guo et al, Touch Reviews 2021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6A9F97-C0DA-3364-8EF3-16B31A7B3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39789" y="2947820"/>
            <a:ext cx="3075964" cy="11897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1FA73F-68B8-AA4A-7BB6-082BD86B1B40}"/>
              </a:ext>
            </a:extLst>
          </p:cNvPr>
          <p:cNvSpPr txBox="1"/>
          <p:nvPr/>
        </p:nvSpPr>
        <p:spPr>
          <a:xfrm>
            <a:off x="7217560" y="4201872"/>
            <a:ext cx="1229824" cy="748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33"/>
              <a:t>Antibody</a:t>
            </a:r>
          </a:p>
          <a:p>
            <a:pPr algn="ctr"/>
            <a:r>
              <a:rPr lang="en-US" sz="2133"/>
              <a:t>IV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5ED3DE-7F58-6FCA-129B-38B31CBEB981}"/>
              </a:ext>
            </a:extLst>
          </p:cNvPr>
          <p:cNvSpPr txBox="1"/>
          <p:nvPr/>
        </p:nvSpPr>
        <p:spPr>
          <a:xfrm>
            <a:off x="851401" y="2757195"/>
            <a:ext cx="3967451" cy="1323632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Platinum + Pemetrexed</a:t>
            </a:r>
          </a:p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+ </a:t>
            </a:r>
          </a:p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osimertinib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DBFBA9-F216-7616-3686-F5FD1181654F}"/>
              </a:ext>
            </a:extLst>
          </p:cNvPr>
          <p:cNvSpPr txBox="1"/>
          <p:nvPr/>
        </p:nvSpPr>
        <p:spPr>
          <a:xfrm>
            <a:off x="9133119" y="2649559"/>
            <a:ext cx="470000" cy="502766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+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9661F6-FBC8-2FF2-1DD8-D45C8FE2EB2F}"/>
              </a:ext>
            </a:extLst>
          </p:cNvPr>
          <p:cNvSpPr txBox="1"/>
          <p:nvPr/>
        </p:nvSpPr>
        <p:spPr>
          <a:xfrm>
            <a:off x="6747502" y="2649559"/>
            <a:ext cx="2172261" cy="502766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amivantamab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4160C6-4F63-00C9-C71D-24A9BF23B0CE}"/>
              </a:ext>
            </a:extLst>
          </p:cNvPr>
          <p:cNvSpPr txBox="1"/>
          <p:nvPr/>
        </p:nvSpPr>
        <p:spPr>
          <a:xfrm>
            <a:off x="9825257" y="2667152"/>
            <a:ext cx="1523302" cy="502766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667" dirty="0" err="1">
                <a:latin typeface="Franklin Gothic Book" panose="020B0503020102020204" pitchFamily="34" charset="0"/>
              </a:rPr>
              <a:t>lazertinib</a:t>
            </a:r>
            <a:endParaRPr lang="en-US" sz="2667" dirty="0">
              <a:latin typeface="Franklin Gothic Book" panose="020B0503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26486A-4AE8-00AE-79CE-88A12E60F8F3}"/>
              </a:ext>
            </a:extLst>
          </p:cNvPr>
          <p:cNvSpPr txBox="1"/>
          <p:nvPr/>
        </p:nvSpPr>
        <p:spPr>
          <a:xfrm>
            <a:off x="9697776" y="3456082"/>
            <a:ext cx="1813317" cy="748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33"/>
              <a:t>3</a:t>
            </a:r>
            <a:r>
              <a:rPr lang="en-US" sz="2133" baseline="30000"/>
              <a:t>rd</a:t>
            </a:r>
            <a:r>
              <a:rPr lang="en-US" sz="2133"/>
              <a:t> generation </a:t>
            </a:r>
          </a:p>
          <a:p>
            <a:pPr algn="ctr"/>
            <a:r>
              <a:rPr lang="en-US" sz="2133"/>
              <a:t>EGFR TKI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F081DA5-0E5D-B603-59B5-3C0B18C83F0E}"/>
              </a:ext>
            </a:extLst>
          </p:cNvPr>
          <p:cNvCxnSpPr/>
          <p:nvPr/>
        </p:nvCxnSpPr>
        <p:spPr>
          <a:xfrm flipH="1">
            <a:off x="5729591" y="1328385"/>
            <a:ext cx="68094" cy="460548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5FDD2B68-B2B9-8BDA-7A58-51B9A8BE8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How do we improve on TKI for EGFR mut lung cancer?</a:t>
            </a:r>
          </a:p>
        </p:txBody>
      </p:sp>
    </p:spTree>
    <p:extLst>
      <p:ext uri="{BB962C8B-B14F-4D97-AF65-F5344CB8AC3E}">
        <p14:creationId xmlns:p14="http://schemas.microsoft.com/office/powerpoint/2010/main" val="354237783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C4CFD9-EF64-5A41-4AE8-63148E922E6E}"/>
              </a:ext>
            </a:extLst>
          </p:cNvPr>
          <p:cNvSpPr txBox="1"/>
          <p:nvPr/>
        </p:nvSpPr>
        <p:spPr>
          <a:xfrm>
            <a:off x="7837715" y="6307232"/>
            <a:ext cx="3224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anklin Gothic Book" panose="020B0503020102020204" pitchFamily="34" charset="0"/>
              </a:rPr>
              <a:t>Janne et al WCLC 2023</a:t>
            </a:r>
          </a:p>
        </p:txBody>
      </p:sp>
      <p:cxnSp>
        <p:nvCxnSpPr>
          <p:cNvPr id="4" name="AutoShape 9">
            <a:extLst>
              <a:ext uri="{FF2B5EF4-FFF2-40B4-BE49-F238E27FC236}">
                <a16:creationId xmlns:a16="http://schemas.microsoft.com/office/drawing/2014/main" id="{4270C17E-1A39-D92A-96B2-63CD9F56BAD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4510883" y="2426495"/>
            <a:ext cx="1220788" cy="908050"/>
          </a:xfrm>
          <a:prstGeom prst="bentConnector3">
            <a:avLst>
              <a:gd name="adj1" fmla="val 100444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8" name="Text Box 3">
            <a:extLst>
              <a:ext uri="{FF2B5EF4-FFF2-40B4-BE49-F238E27FC236}">
                <a16:creationId xmlns:a16="http://schemas.microsoft.com/office/drawing/2014/main" id="{0D470596-C084-1D98-831F-6EE468410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508" y="3595920"/>
            <a:ext cx="4230354" cy="147117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10000"/>
              </a:spcBef>
            </a:pPr>
            <a:r>
              <a:rPr lang="en-US" altLang="en-US" sz="2800" dirty="0">
                <a:solidFill>
                  <a:srgbClr val="000000"/>
                </a:solidFill>
                <a:latin typeface="Franklin Gothic Book" panose="020B0503020102020204" pitchFamily="34" charset="0"/>
                <a:ea typeface="ＭＳ Ｐゴシック"/>
                <a:sym typeface="Symbol" panose="05050102010706020507" pitchFamily="18" charset="2"/>
              </a:rPr>
              <a:t>osimertinib </a:t>
            </a:r>
          </a:p>
          <a:p>
            <a:pPr algn="ctr">
              <a:spcBef>
                <a:spcPct val="10000"/>
              </a:spcBef>
            </a:pPr>
            <a:r>
              <a:rPr lang="en-US" altLang="en-US" sz="2800" dirty="0">
                <a:solidFill>
                  <a:srgbClr val="000000"/>
                </a:solidFill>
                <a:latin typeface="Franklin Gothic Book" panose="020B0503020102020204" pitchFamily="34" charset="0"/>
                <a:ea typeface="ＭＳ Ｐゴシック"/>
                <a:sym typeface="Symbol" panose="05050102010706020507" pitchFamily="18" charset="2"/>
              </a:rPr>
              <a:t>+ pemetrexed/platin </a:t>
            </a:r>
          </a:p>
          <a:p>
            <a:pPr algn="ctr">
              <a:spcBef>
                <a:spcPct val="10000"/>
              </a:spcBef>
            </a:pPr>
            <a:r>
              <a:rPr lang="en-US" altLang="en-US" sz="2800" dirty="0">
                <a:solidFill>
                  <a:srgbClr val="000000"/>
                </a:solidFill>
                <a:latin typeface="Franklin Gothic Book" panose="020B0503020102020204" pitchFamily="34" charset="0"/>
                <a:ea typeface="ＭＳ Ｐゴシック"/>
                <a:sym typeface="Symbol" panose="05050102010706020507" pitchFamily="18" charset="2"/>
              </a:rPr>
              <a:t>q 3 weeks </a:t>
            </a:r>
            <a:endParaRPr lang="en-US" altLang="en-US" sz="2800" dirty="0">
              <a:solidFill>
                <a:srgbClr val="000000"/>
              </a:solidFill>
              <a:latin typeface="Franklin Gothic Book" panose="020B0503020102020204" pitchFamily="34" charset="0"/>
              <a:ea typeface="ＭＳ Ｐゴシック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65151E75-B634-0170-80B4-65006D3FC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8663" y="2049477"/>
            <a:ext cx="4117223" cy="52322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10000"/>
              </a:spcBef>
            </a:pPr>
            <a:r>
              <a:rPr lang="en-US" altLang="en-US" sz="2800" dirty="0">
                <a:solidFill>
                  <a:srgbClr val="000000"/>
                </a:solidFill>
                <a:latin typeface="Franklin Gothic Book" panose="020B0503020102020204" pitchFamily="34" charset="0"/>
                <a:ea typeface="ＭＳ Ｐゴシック"/>
              </a:rPr>
              <a:t>osimertinib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532CE6-A58C-B857-5EFE-45549162EBF1}"/>
              </a:ext>
            </a:extLst>
          </p:cNvPr>
          <p:cNvCxnSpPr/>
          <p:nvPr/>
        </p:nvCxnSpPr>
        <p:spPr>
          <a:xfrm>
            <a:off x="3591499" y="3541003"/>
            <a:ext cx="1070471" cy="146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4">
            <a:extLst>
              <a:ext uri="{FF2B5EF4-FFF2-40B4-BE49-F238E27FC236}">
                <a16:creationId xmlns:a16="http://schemas.microsoft.com/office/drawing/2014/main" id="{81167DF5-AC37-0985-0D8D-22A8E7CAE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698" y="2289156"/>
            <a:ext cx="2894012" cy="193899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 anchor="t">
            <a:spAutoFit/>
          </a:bodyPr>
          <a:lstStyle>
            <a:lvl1pPr marL="119063" indent="-119063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marL="118745" indent="-118745" eaLnBrk="1" hangingPunct="1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Franklin Gothic Book" panose="020B0503020102020204" pitchFamily="34" charset="0"/>
                <a:ea typeface="ＭＳ Ｐゴシック"/>
              </a:rPr>
              <a:t>Patients with </a:t>
            </a:r>
            <a:endParaRPr lang="en-US" dirty="0">
              <a:latin typeface="Franklin Gothic Book" panose="020B0503020102020204" pitchFamily="34" charset="0"/>
              <a:ea typeface="ＭＳ Ｐゴシック"/>
            </a:endParaRPr>
          </a:p>
          <a:p>
            <a:pPr marL="118745" indent="-118745"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Franklin Gothic Book" panose="020B0503020102020204" pitchFamily="34" charset="0"/>
                <a:ea typeface="ＭＳ Ｐゴシック"/>
              </a:rPr>
              <a:t>metastatic NSCLC</a:t>
            </a:r>
          </a:p>
          <a:p>
            <a:pPr marL="118745" indent="-118745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Franklin Gothic Book" panose="020B0503020102020204" pitchFamily="34" charset="0"/>
                <a:ea typeface="ＭＳ Ｐゴシック"/>
              </a:rPr>
              <a:t>EGFR Exon 19 del or EGFR L858R</a:t>
            </a:r>
            <a:endParaRPr lang="en-US" dirty="0">
              <a:solidFill>
                <a:srgbClr val="000000"/>
              </a:solidFill>
              <a:latin typeface="Franklin Gothic Book" panose="020B0503020102020204" pitchFamily="34" charset="0"/>
              <a:ea typeface="ＭＳ Ｐゴシック"/>
            </a:endParaRPr>
          </a:p>
          <a:p>
            <a:pPr marL="118745" indent="-118745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Franklin Gothic Book" panose="020B0503020102020204" pitchFamily="34" charset="0"/>
                <a:ea typeface="ＭＳ Ｐゴシック"/>
              </a:rPr>
              <a:t>no prior chemo</a:t>
            </a:r>
            <a:endParaRPr lang="en-US" dirty="0">
              <a:solidFill>
                <a:srgbClr val="000000"/>
              </a:solidFill>
              <a:latin typeface="Franklin Gothic Book" panose="020B0503020102020204" pitchFamily="34" charset="0"/>
              <a:ea typeface="ＭＳ Ｐゴシック"/>
            </a:endParaRPr>
          </a:p>
          <a:p>
            <a:pPr marL="118745" indent="-118745" eaLnBrk="1" hangingPunct="1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Franklin Gothic Book" panose="020B0503020102020204" pitchFamily="34" charset="0"/>
                <a:ea typeface="ＭＳ Ｐゴシック"/>
              </a:rPr>
              <a:t>n=557</a:t>
            </a:r>
            <a:endParaRPr lang="en-US" altLang="en-US" sz="2000" b="1" dirty="0">
              <a:latin typeface="Franklin Gothic Book" panose="020B0503020102020204" pitchFamily="34" charset="0"/>
            </a:endParaRPr>
          </a:p>
        </p:txBody>
      </p:sp>
      <p:cxnSp>
        <p:nvCxnSpPr>
          <p:cNvPr id="18" name="AutoShape 10">
            <a:extLst>
              <a:ext uri="{FF2B5EF4-FFF2-40B4-BE49-F238E27FC236}">
                <a16:creationId xmlns:a16="http://schemas.microsoft.com/office/drawing/2014/main" id="{A4288F46-94A9-E455-6745-EDBA24EBDA4A}"/>
              </a:ext>
            </a:extLst>
          </p:cNvPr>
          <p:cNvCxnSpPr>
            <a:cxnSpLocks noChangeShapeType="1"/>
            <a:endCxn id="8" idx="1"/>
          </p:cNvCxnSpPr>
          <p:nvPr/>
        </p:nvCxnSpPr>
        <p:spPr bwMode="auto">
          <a:xfrm rot="16200000" flipH="1">
            <a:off x="4650991" y="3430989"/>
            <a:ext cx="916794" cy="884240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CD5019-CFFF-80F3-0AE8-35D3BC3D6B6D}"/>
              </a:ext>
            </a:extLst>
          </p:cNvPr>
          <p:cNvSpPr txBox="1"/>
          <p:nvPr/>
        </p:nvSpPr>
        <p:spPr>
          <a:xfrm>
            <a:off x="3781250" y="5581880"/>
            <a:ext cx="394587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Franklin Gothic Book" panose="020B0503020102020204" pitchFamily="34" charset="0"/>
              </a:rPr>
              <a:t>Primary Endpoint: PFS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E4BEC0-9C19-FA0A-7583-BFD057AAB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Does adding chemotherapy to osimertinib improve outcomes?</a:t>
            </a:r>
          </a:p>
        </p:txBody>
      </p:sp>
    </p:spTree>
    <p:extLst>
      <p:ext uri="{BB962C8B-B14F-4D97-AF65-F5344CB8AC3E}">
        <p14:creationId xmlns:p14="http://schemas.microsoft.com/office/powerpoint/2010/main" val="390112178"/>
      </p:ext>
    </p:extLst>
  </p:cSld>
  <p:clrMapOvr>
    <a:masterClrMapping/>
  </p:clrMapOvr>
  <p:transition spd="med"/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C4CFD9-EF64-5A41-4AE8-63148E922E6E}"/>
              </a:ext>
            </a:extLst>
          </p:cNvPr>
          <p:cNvSpPr txBox="1"/>
          <p:nvPr/>
        </p:nvSpPr>
        <p:spPr>
          <a:xfrm>
            <a:off x="8265227" y="6396335"/>
            <a:ext cx="3746538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400" dirty="0">
                <a:latin typeface="Franklin Gothic Book" panose="020B0503020102020204" pitchFamily="34" charset="0"/>
              </a:rPr>
              <a:t>Planchard et al NEJM 2023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EDCCD2-D5D2-7EA7-B79C-BB81CEFCF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028" y="909351"/>
            <a:ext cx="7265967" cy="519537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5E4BEC0-9C19-FA0A-7583-BFD057AAB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Adding chemotherapy to osimertinib improves PFS</a:t>
            </a:r>
          </a:p>
        </p:txBody>
      </p:sp>
    </p:spTree>
    <p:extLst>
      <p:ext uri="{BB962C8B-B14F-4D97-AF65-F5344CB8AC3E}">
        <p14:creationId xmlns:p14="http://schemas.microsoft.com/office/powerpoint/2010/main" val="2588908367"/>
      </p:ext>
    </p:extLst>
  </p:cSld>
  <p:clrMapOvr>
    <a:masterClrMapping/>
  </p:clrMapOvr>
  <p:transition spd="med"/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1776E-0514-6DA1-8646-E9F178BD2D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63354" y="6086323"/>
            <a:ext cx="12192000" cy="533399"/>
          </a:xfrm>
        </p:spPr>
        <p:txBody>
          <a:bodyPr/>
          <a:lstStyle/>
          <a:p>
            <a:r>
              <a:rPr lang="en-US" dirty="0" err="1"/>
              <a:t>Planchard</a:t>
            </a:r>
            <a:r>
              <a:rPr lang="en-US" dirty="0"/>
              <a:t> et al, NEJM 2023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347B17-7200-8C20-3727-9689045EC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439774" y="39197"/>
            <a:ext cx="5312452" cy="7315200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D521CC8-15DB-C5F7-240A-227109E3A2DA}"/>
              </a:ext>
            </a:extLst>
          </p:cNvPr>
          <p:cNvGraphicFramePr>
            <a:graphicFrameLocks noGrp="1"/>
          </p:cNvGraphicFramePr>
          <p:nvPr/>
        </p:nvGraphicFramePr>
        <p:xfrm>
          <a:off x="2728687" y="2122665"/>
          <a:ext cx="6434667" cy="26957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4889">
                  <a:extLst>
                    <a:ext uri="{9D8B030D-6E8A-4147-A177-3AD203B41FA5}">
                      <a16:colId xmlns:a16="http://schemas.microsoft.com/office/drawing/2014/main" val="1436259421"/>
                    </a:ext>
                  </a:extLst>
                </a:gridCol>
                <a:gridCol w="2144889">
                  <a:extLst>
                    <a:ext uri="{9D8B030D-6E8A-4147-A177-3AD203B41FA5}">
                      <a16:colId xmlns:a16="http://schemas.microsoft.com/office/drawing/2014/main" val="1959218484"/>
                    </a:ext>
                  </a:extLst>
                </a:gridCol>
                <a:gridCol w="2144889">
                  <a:extLst>
                    <a:ext uri="{9D8B030D-6E8A-4147-A177-3AD203B41FA5}">
                      <a16:colId xmlns:a16="http://schemas.microsoft.com/office/drawing/2014/main" val="1072091160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Osimertinib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Osimertinib +chemo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34283398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2400"/>
                        <a:t>Grade 3 or higher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27%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64%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21454385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/>
                        <a:t>SAE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19%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38%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371938706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/>
                        <a:t>Death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 patient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5 patients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2042893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AFCA389-36D7-CAC7-AB76-978B3001D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Adding chemotherapy to osimertinib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increases toxicity</a:t>
            </a:r>
          </a:p>
        </p:txBody>
      </p:sp>
    </p:spTree>
    <p:extLst>
      <p:ext uri="{BB962C8B-B14F-4D97-AF65-F5344CB8AC3E}">
        <p14:creationId xmlns:p14="http://schemas.microsoft.com/office/powerpoint/2010/main" val="142767196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D18591-DF54-F646-DD5F-0F7FAC3F7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63081" y="1561858"/>
            <a:ext cx="8968860" cy="3233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107116-C4D5-7528-6F98-E3342F9F01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9598" y="3714636"/>
            <a:ext cx="2802402" cy="21621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F66E8B-AB94-3669-D72D-EFE7055C717C}"/>
              </a:ext>
            </a:extLst>
          </p:cNvPr>
          <p:cNvSpPr txBox="1"/>
          <p:nvPr/>
        </p:nvSpPr>
        <p:spPr>
          <a:xfrm>
            <a:off x="9609957" y="6380453"/>
            <a:ext cx="20034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Jänne et al, NEJM 2025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E4BEC0-9C19-FA0A-7583-BFD057AAB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Adding chemotherapy to osimertinib improves OS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6CB96CA-DA6C-03FE-D5A7-9767F1498E23}"/>
              </a:ext>
            </a:extLst>
          </p:cNvPr>
          <p:cNvGrpSpPr/>
          <p:nvPr/>
        </p:nvGrpSpPr>
        <p:grpSpPr>
          <a:xfrm>
            <a:off x="9979796" y="2526596"/>
            <a:ext cx="372960" cy="263520"/>
            <a:chOff x="9979796" y="2526596"/>
            <a:chExt cx="37296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CB14178-4E66-4A82-5FBE-EFD78D6B7F4C}"/>
                    </a:ext>
                  </a:extLst>
                </p14:cNvPr>
                <p14:cNvContentPartPr/>
                <p14:nvPr/>
              </p14:nvContentPartPr>
              <p14:xfrm>
                <a:off x="10075916" y="2526596"/>
                <a:ext cx="197280" cy="201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CB14178-4E66-4A82-5FBE-EFD78D6B7F4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58276" y="2508596"/>
                  <a:ext cx="232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3B08112-0C4B-3E20-1AF2-8DC8A595F9D7}"/>
                    </a:ext>
                  </a:extLst>
                </p14:cNvPr>
                <p14:cNvContentPartPr/>
                <p14:nvPr/>
              </p14:nvContentPartPr>
              <p14:xfrm>
                <a:off x="10027676" y="2536676"/>
                <a:ext cx="247320" cy="253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3B08112-0C4B-3E20-1AF2-8DC8A595F9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09676" y="2518676"/>
                  <a:ext cx="2829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69C064-DE6E-C29D-7D9D-B357F0BFDCE5}"/>
                    </a:ext>
                  </a:extLst>
                </p14:cNvPr>
                <p14:cNvContentPartPr/>
                <p14:nvPr/>
              </p14:nvContentPartPr>
              <p14:xfrm>
                <a:off x="9979796" y="2595716"/>
                <a:ext cx="372960" cy="30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69C064-DE6E-C29D-7D9D-B357F0BFDCE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61796" y="2577716"/>
                  <a:ext cx="408600" cy="65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93996496"/>
      </p:ext>
    </p:extLst>
  </p:cSld>
  <p:clrMapOvr>
    <a:masterClrMapping/>
  </p:clrMapOvr>
  <p:transition spd="med"/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B5D001-5E0F-E252-D578-A7AED1DF5D3C}"/>
              </a:ext>
            </a:extLst>
          </p:cNvPr>
          <p:cNvSpPr txBox="1"/>
          <p:nvPr/>
        </p:nvSpPr>
        <p:spPr>
          <a:xfrm>
            <a:off x="1768376" y="1328386"/>
            <a:ext cx="2282227" cy="913199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Add </a:t>
            </a:r>
          </a:p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Chemotherapy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75BE8E-7996-7DA3-4D8D-409ED01A091E}"/>
              </a:ext>
            </a:extLst>
          </p:cNvPr>
          <p:cNvSpPr txBox="1"/>
          <p:nvPr/>
        </p:nvSpPr>
        <p:spPr>
          <a:xfrm>
            <a:off x="7719270" y="1328385"/>
            <a:ext cx="2267113" cy="913199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Dual EGFR inhibition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52369D-DB39-4BE2-B70E-3D6472DD8CA4}"/>
              </a:ext>
            </a:extLst>
          </p:cNvPr>
          <p:cNvSpPr txBox="1"/>
          <p:nvPr/>
        </p:nvSpPr>
        <p:spPr>
          <a:xfrm>
            <a:off x="1849710" y="6473952"/>
            <a:ext cx="9342109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err="1"/>
              <a:t>Gonzalvez</a:t>
            </a:r>
            <a:r>
              <a:rPr lang="en-US" sz="1300"/>
              <a:t> et al, Cancer Discov 2021; adapted from Guo et al, Touch Reviews 2021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6A9F97-C0DA-3364-8EF3-16B31A7B3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39789" y="2947820"/>
            <a:ext cx="3075964" cy="11897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1FA73F-68B8-AA4A-7BB6-082BD86B1B40}"/>
              </a:ext>
            </a:extLst>
          </p:cNvPr>
          <p:cNvSpPr txBox="1"/>
          <p:nvPr/>
        </p:nvSpPr>
        <p:spPr>
          <a:xfrm>
            <a:off x="7217560" y="4201872"/>
            <a:ext cx="1229824" cy="748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33"/>
              <a:t>Antibody</a:t>
            </a:r>
          </a:p>
          <a:p>
            <a:pPr algn="ctr"/>
            <a:r>
              <a:rPr lang="en-US" sz="2133"/>
              <a:t>IV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5ED3DE-7F58-6FCA-129B-38B31CBEB981}"/>
              </a:ext>
            </a:extLst>
          </p:cNvPr>
          <p:cNvSpPr txBox="1"/>
          <p:nvPr/>
        </p:nvSpPr>
        <p:spPr>
          <a:xfrm>
            <a:off x="851401" y="2757195"/>
            <a:ext cx="3967451" cy="1323632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Platinum + Pemetrexed</a:t>
            </a:r>
          </a:p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+ </a:t>
            </a:r>
          </a:p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osimertinib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DBFBA9-F216-7616-3686-F5FD1181654F}"/>
              </a:ext>
            </a:extLst>
          </p:cNvPr>
          <p:cNvSpPr txBox="1"/>
          <p:nvPr/>
        </p:nvSpPr>
        <p:spPr>
          <a:xfrm>
            <a:off x="9133119" y="2649559"/>
            <a:ext cx="470000" cy="502766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+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9661F6-FBC8-2FF2-1DD8-D45C8FE2EB2F}"/>
              </a:ext>
            </a:extLst>
          </p:cNvPr>
          <p:cNvSpPr txBox="1"/>
          <p:nvPr/>
        </p:nvSpPr>
        <p:spPr>
          <a:xfrm>
            <a:off x="6747502" y="2649559"/>
            <a:ext cx="2172261" cy="502766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amivantamab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4160C6-4F63-00C9-C71D-24A9BF23B0CE}"/>
              </a:ext>
            </a:extLst>
          </p:cNvPr>
          <p:cNvSpPr txBox="1"/>
          <p:nvPr/>
        </p:nvSpPr>
        <p:spPr>
          <a:xfrm>
            <a:off x="9825257" y="2667152"/>
            <a:ext cx="1523302" cy="502766"/>
          </a:xfrm>
          <a:prstGeom prst="rect">
            <a:avLst/>
          </a:prstGeom>
          <a:solidFill>
            <a:srgbClr val="CCFFCC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667" dirty="0" err="1">
                <a:latin typeface="Franklin Gothic Book" panose="020B0503020102020204" pitchFamily="34" charset="0"/>
              </a:rPr>
              <a:t>lazertinib</a:t>
            </a:r>
            <a:endParaRPr lang="en-US" sz="2667" dirty="0">
              <a:latin typeface="Franklin Gothic Book" panose="020B0503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26486A-4AE8-00AE-79CE-88A12E60F8F3}"/>
              </a:ext>
            </a:extLst>
          </p:cNvPr>
          <p:cNvSpPr txBox="1"/>
          <p:nvPr/>
        </p:nvSpPr>
        <p:spPr>
          <a:xfrm>
            <a:off x="9697776" y="3456082"/>
            <a:ext cx="1813317" cy="748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33"/>
              <a:t>3</a:t>
            </a:r>
            <a:r>
              <a:rPr lang="en-US" sz="2133" baseline="30000"/>
              <a:t>rd</a:t>
            </a:r>
            <a:r>
              <a:rPr lang="en-US" sz="2133"/>
              <a:t> generation </a:t>
            </a:r>
          </a:p>
          <a:p>
            <a:pPr algn="ctr"/>
            <a:r>
              <a:rPr lang="en-US" sz="2133"/>
              <a:t>EGFR TKI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F081DA5-0E5D-B603-59B5-3C0B18C83F0E}"/>
              </a:ext>
            </a:extLst>
          </p:cNvPr>
          <p:cNvCxnSpPr/>
          <p:nvPr/>
        </p:nvCxnSpPr>
        <p:spPr>
          <a:xfrm flipH="1">
            <a:off x="5729591" y="1328385"/>
            <a:ext cx="68094" cy="460548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5FDD2B68-B2B9-8BDA-7A58-51B9A8BE8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How do we improve on TKI for EGFR mut lung cancer?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8DE89F6-AF1D-4DF4-B4C6-CC1868C68B6B}"/>
                  </a:ext>
                </a:extLst>
              </p14:cNvPr>
              <p14:cNvContentPartPr/>
              <p14:nvPr/>
            </p14:nvContentPartPr>
            <p14:xfrm>
              <a:off x="6046796" y="5958228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8DE89F6-AF1D-4DF4-B4C6-CC1868C68B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29156" y="5940588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594684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396297-CCDF-7FBB-3BA9-8B7DC3E59A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8779" y="1807410"/>
            <a:ext cx="10074443" cy="36516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11B130-08D5-11AE-30C7-A9D329084D14}"/>
              </a:ext>
            </a:extLst>
          </p:cNvPr>
          <p:cNvSpPr txBox="1"/>
          <p:nvPr/>
        </p:nvSpPr>
        <p:spPr>
          <a:xfrm>
            <a:off x="274320" y="5897880"/>
            <a:ext cx="3809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Cho et al, Future Oncol 2022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59B83E-6499-BA48-B806-09AA525FA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  <a:prstGeom prst="rect">
            <a:avLst/>
          </a:prstGeo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Can dual EGFR blockade + MET inhibition delay resistance as initial therapy for patients with EGFR mutant NSCLC?</a:t>
            </a:r>
          </a:p>
        </p:txBody>
      </p:sp>
    </p:spTree>
    <p:extLst>
      <p:ext uri="{BB962C8B-B14F-4D97-AF65-F5344CB8AC3E}">
        <p14:creationId xmlns:p14="http://schemas.microsoft.com/office/powerpoint/2010/main" val="28207729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648BBC-F4BC-A5F0-A863-3599CA79E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1D1C2-02C0-1F04-55A6-658D283CBB79}"/>
              </a:ext>
            </a:extLst>
          </p:cNvPr>
          <p:cNvSpPr txBox="1"/>
          <p:nvPr/>
        </p:nvSpPr>
        <p:spPr>
          <a:xfrm>
            <a:off x="496187" y="1825627"/>
            <a:ext cx="10857613" cy="4327080"/>
          </a:xfrm>
          <a:prstGeom prst="rect">
            <a:avLst/>
          </a:prstGeom>
        </p:spPr>
        <p:txBody>
          <a:bodyPr rot="0" spcFirstLastPara="0" vertOverflow="overflow" horzOverflow="overflow" vert="horz" lIns="91400" tIns="45719" rIns="91400" bIns="45719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28488" indent="-228488" defTabSz="913924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Franklin Gothic Book" panose="020B0503020102020204" pitchFamily="34" charset="0"/>
              </a:rPr>
              <a:t>AMI/LAZER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DAEC46-9905-CD6B-2411-B861D68B7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35" y="1825628"/>
            <a:ext cx="11908731" cy="35919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B18648-3BFE-FA70-AD79-B81A4EC0C214}"/>
              </a:ext>
            </a:extLst>
          </p:cNvPr>
          <p:cNvSpPr txBox="1"/>
          <p:nvPr/>
        </p:nvSpPr>
        <p:spPr>
          <a:xfrm>
            <a:off x="8544847" y="6255973"/>
            <a:ext cx="3316292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Cho et al, NEJM 2024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FF137B5-D770-EB30-9E69-316DD9BE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amivantamab+lazertinib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improves PFS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compared with osimertinib</a:t>
            </a:r>
          </a:p>
        </p:txBody>
      </p:sp>
    </p:spTree>
    <p:extLst>
      <p:ext uri="{BB962C8B-B14F-4D97-AF65-F5344CB8AC3E}">
        <p14:creationId xmlns:p14="http://schemas.microsoft.com/office/powerpoint/2010/main" val="220781564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648BBC-F4BC-A5F0-A863-3599CA79E7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1D1C2-02C0-1F04-55A6-658D283CBB79}"/>
              </a:ext>
            </a:extLst>
          </p:cNvPr>
          <p:cNvSpPr txBox="1"/>
          <p:nvPr/>
        </p:nvSpPr>
        <p:spPr>
          <a:xfrm>
            <a:off x="496187" y="1825627"/>
            <a:ext cx="10857613" cy="4327080"/>
          </a:xfrm>
          <a:prstGeom prst="rect">
            <a:avLst/>
          </a:prstGeom>
        </p:spPr>
        <p:txBody>
          <a:bodyPr rot="0" spcFirstLastPara="0" vertOverflow="overflow" horzOverflow="overflow" vert="horz" lIns="91400" tIns="45719" rIns="91400" bIns="45719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28488" indent="-228488" defTabSz="913924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Franklin Gothic Book" panose="020B0503020102020204" pitchFamily="34" charset="0"/>
              </a:rPr>
              <a:t>AMI/LAZER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18648-3BFE-FA70-AD79-B81A4EC0C214}"/>
              </a:ext>
            </a:extLst>
          </p:cNvPr>
          <p:cNvSpPr txBox="1"/>
          <p:nvPr/>
        </p:nvSpPr>
        <p:spPr>
          <a:xfrm>
            <a:off x="8544847" y="6255973"/>
            <a:ext cx="3316292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67" dirty="0">
                <a:latin typeface="Franklin Gothic Book" panose="020B0503020102020204" pitchFamily="34" charset="0"/>
              </a:rPr>
              <a:t>Cho et al, NEJM 2024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A98DB-AFE2-C1AB-0419-6838FC474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97" y="1519084"/>
            <a:ext cx="3412812" cy="4142363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791E2BF-95E0-6243-07D2-89DD93580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774455"/>
              </p:ext>
            </p:extLst>
          </p:nvPr>
        </p:nvGraphicFramePr>
        <p:xfrm>
          <a:off x="3908999" y="2122665"/>
          <a:ext cx="6434667" cy="26957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4889">
                  <a:extLst>
                    <a:ext uri="{9D8B030D-6E8A-4147-A177-3AD203B41FA5}">
                      <a16:colId xmlns:a16="http://schemas.microsoft.com/office/drawing/2014/main" val="1436259421"/>
                    </a:ext>
                  </a:extLst>
                </a:gridCol>
                <a:gridCol w="2144889">
                  <a:extLst>
                    <a:ext uri="{9D8B030D-6E8A-4147-A177-3AD203B41FA5}">
                      <a16:colId xmlns:a16="http://schemas.microsoft.com/office/drawing/2014/main" val="1959218484"/>
                    </a:ext>
                  </a:extLst>
                </a:gridCol>
                <a:gridCol w="2144889">
                  <a:extLst>
                    <a:ext uri="{9D8B030D-6E8A-4147-A177-3AD203B41FA5}">
                      <a16:colId xmlns:a16="http://schemas.microsoft.com/office/drawing/2014/main" val="1072091160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Osimertinib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Amivantamab + Lazertinib 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34283398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r>
                        <a:rPr lang="en-US" sz="2400"/>
                        <a:t>Grade 3 or higher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43%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75%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21454385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/>
                        <a:t>SAE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33%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49%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371938706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/>
                        <a:t>Death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204289307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1FF137B5-D770-EB30-9E69-316DD9BE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amivantamab+lazertinib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increases toxicity when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compared with osimertinib</a:t>
            </a:r>
          </a:p>
        </p:txBody>
      </p:sp>
    </p:spTree>
    <p:extLst>
      <p:ext uri="{BB962C8B-B14F-4D97-AF65-F5344CB8AC3E}">
        <p14:creationId xmlns:p14="http://schemas.microsoft.com/office/powerpoint/2010/main" val="325019643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2F0E0-2392-16E9-A7C5-B2D7E584EB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50056" y="6138827"/>
            <a:ext cx="2604977" cy="533399"/>
          </a:xfrm>
        </p:spPr>
        <p:txBody>
          <a:bodyPr/>
          <a:lstStyle/>
          <a:p>
            <a:r>
              <a:rPr lang="en-US" dirty="0"/>
              <a:t>Yang et al, NEJM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BA8734-3BC7-C11A-371F-0281B225D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8562" y="1656199"/>
            <a:ext cx="9307863" cy="31988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8B5CF0-2B88-4B85-B650-CCFBCD2547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04306" y="4855091"/>
            <a:ext cx="2188724" cy="17242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9EE729-417D-62B1-BEE4-F98265F96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amivantamab+lazertinib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improves OS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compared with osimertinib</a:t>
            </a:r>
          </a:p>
        </p:txBody>
      </p:sp>
    </p:spTree>
    <p:extLst>
      <p:ext uri="{BB962C8B-B14F-4D97-AF65-F5344CB8AC3E}">
        <p14:creationId xmlns:p14="http://schemas.microsoft.com/office/powerpoint/2010/main" val="365918246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03" y="1280160"/>
            <a:ext cx="11768447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EGFR mutations occur in ~20% of patients with lung adenocarcinoma</a:t>
            </a:r>
          </a:p>
          <a:p>
            <a:r>
              <a:rPr lang="en-US" dirty="0"/>
              <a:t>EGFR mutations are more common in never/light smokers BUT CAN OCCUR IN ANYONE</a:t>
            </a:r>
          </a:p>
          <a:p>
            <a:r>
              <a:rPr lang="en-US" dirty="0"/>
              <a:t>First line treatment with EGFR TKI is superior to chemotherapy</a:t>
            </a:r>
          </a:p>
          <a:p>
            <a:r>
              <a:rPr lang="en-US" dirty="0"/>
              <a:t>Osimertinib is superior to erlotinib/gefitinib as first line therapy</a:t>
            </a:r>
          </a:p>
          <a:p>
            <a:r>
              <a:rPr lang="en-US" dirty="0"/>
              <a:t>Adding chemotherapy to osimertinib OR combining an EGFR-MET bispecific antibody to EGFR TKI improves PFS and 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FEE5F-49C2-333A-FBD7-678EAD8287CF}"/>
              </a:ext>
            </a:extLst>
          </p:cNvPr>
          <p:cNvSpPr txBox="1"/>
          <p:nvPr/>
        </p:nvSpPr>
        <p:spPr>
          <a:xfrm>
            <a:off x="2459158" y="5921514"/>
            <a:ext cx="7230139" cy="70788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masis MT Pro" panose="02040504050005020304" pitchFamily="18" charset="0"/>
              </a:rPr>
              <a:t>In general, we recommend </a:t>
            </a:r>
            <a:r>
              <a:rPr lang="en-US" sz="2000" dirty="0" err="1">
                <a:latin typeface="Amasis MT Pro" panose="02040504050005020304" pitchFamily="18" charset="0"/>
              </a:rPr>
              <a:t>osimertinib+chemotherapy</a:t>
            </a:r>
            <a:r>
              <a:rPr lang="en-US" sz="2000" dirty="0">
                <a:latin typeface="Amasis MT Pro" panose="02040504050005020304" pitchFamily="18" charset="0"/>
              </a:rPr>
              <a:t> based on similar overall efficacy and sense of less toxicity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Metastatic EGFR mutant (exon 19 del/L858R) NSCLC</a:t>
            </a:r>
          </a:p>
        </p:txBody>
      </p:sp>
    </p:spTree>
    <p:extLst>
      <p:ext uri="{BB962C8B-B14F-4D97-AF65-F5344CB8AC3E}">
        <p14:creationId xmlns:p14="http://schemas.microsoft.com/office/powerpoint/2010/main" val="33582609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What about immunotherapy in patients with EGFR mutations?</a:t>
            </a:r>
          </a:p>
        </p:txBody>
      </p:sp>
    </p:spTree>
    <p:extLst>
      <p:ext uri="{BB962C8B-B14F-4D97-AF65-F5344CB8AC3E}">
        <p14:creationId xmlns:p14="http://schemas.microsoft.com/office/powerpoint/2010/main" val="144083869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76429" y="1201740"/>
            <a:ext cx="8736013" cy="522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5539" name="Title 1"/>
          <p:cNvSpPr txBox="1">
            <a:spLocks/>
          </p:cNvSpPr>
          <p:nvPr/>
        </p:nvSpPr>
        <p:spPr bwMode="auto">
          <a:xfrm>
            <a:off x="457200" y="228600"/>
            <a:ext cx="11274552" cy="1051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45720" tIns="45720" rIns="45720" bIns="45720" rtlCol="0" anchor="t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9pPr>
          </a:lstStyle>
          <a:p>
            <a:pPr marL="0" indent="0" algn="l" eaLnBrk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Nivolumab in Non-Squamous Cell Lung Cancer</a:t>
            </a:r>
          </a:p>
        </p:txBody>
      </p:sp>
      <p:sp>
        <p:nvSpPr>
          <p:cNvPr id="65540" name="Title 1"/>
          <p:cNvSpPr txBox="1">
            <a:spLocks/>
          </p:cNvSpPr>
          <p:nvPr/>
        </p:nvSpPr>
        <p:spPr bwMode="auto">
          <a:xfrm>
            <a:off x="1330325" y="6426200"/>
            <a:ext cx="8839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9pPr>
          </a:lstStyle>
          <a:p>
            <a:pPr algn="ctr">
              <a:lnSpc>
                <a:spcPct val="112000"/>
              </a:lnSpc>
              <a:buClr>
                <a:srgbClr val="000000"/>
              </a:buClr>
              <a:buSzPct val="45000"/>
              <a:defRPr/>
            </a:pPr>
            <a:r>
              <a:rPr lang="en-US" sz="1800" b="1" dirty="0">
                <a:solidFill>
                  <a:srgbClr val="000000"/>
                </a:solidFill>
                <a:latin typeface="Franklin Gothic Book" panose="020B0503020102020204" pitchFamily="34" charset="0"/>
                <a:cs typeface="Lucida Sans Unicode" charset="0"/>
              </a:rPr>
              <a:t>Paz-Ares et al ASCO 2015</a:t>
            </a:r>
          </a:p>
        </p:txBody>
      </p:sp>
      <p:sp>
        <p:nvSpPr>
          <p:cNvPr id="3" name="Rectangle 2"/>
          <p:cNvSpPr/>
          <p:nvPr/>
        </p:nvSpPr>
        <p:spPr>
          <a:xfrm>
            <a:off x="2193925" y="4919340"/>
            <a:ext cx="7521668" cy="840759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663217"/>
      </p:ext>
    </p:extLst>
  </p:cSld>
  <p:clrMapOvr>
    <a:masterClrMapping/>
  </p:clrMapOvr>
  <p:transition spd="med"/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3" descr="Screenshot 2016-09-07 22.26.2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70101" y="1826097"/>
            <a:ext cx="7678738" cy="420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3" name="TextBox 4"/>
          <p:cNvSpPr txBox="1">
            <a:spLocks noChangeArrowheads="1"/>
          </p:cNvSpPr>
          <p:nvPr/>
        </p:nvSpPr>
        <p:spPr bwMode="auto">
          <a:xfrm>
            <a:off x="7151692" y="6473825"/>
            <a:ext cx="26631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800" dirty="0">
                <a:solidFill>
                  <a:prstClr val="black"/>
                </a:solidFill>
                <a:latin typeface="Franklin Gothic Book" panose="020B0503020102020204" pitchFamily="34" charset="0"/>
              </a:rPr>
              <a:t>Herbst et al, Lancet 2016</a:t>
            </a:r>
          </a:p>
        </p:txBody>
      </p:sp>
      <p:sp>
        <p:nvSpPr>
          <p:cNvPr id="5" name="Rectangle 4"/>
          <p:cNvSpPr/>
          <p:nvPr/>
        </p:nvSpPr>
        <p:spPr>
          <a:xfrm>
            <a:off x="2171608" y="4164804"/>
            <a:ext cx="7521668" cy="116275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66561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PFS of Pembrolizumab vs Docetaxel </a:t>
            </a:r>
            <a:b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in NSCLC subsets</a:t>
            </a:r>
          </a:p>
        </p:txBody>
      </p:sp>
    </p:spTree>
    <p:extLst>
      <p:ext uri="{BB962C8B-B14F-4D97-AF65-F5344CB8AC3E}">
        <p14:creationId xmlns:p14="http://schemas.microsoft.com/office/powerpoint/2010/main" val="327522944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919370" y="5633473"/>
            <a:ext cx="2165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Franklin Gothic Book" panose="020B0503020102020204" pitchFamily="34" charset="0"/>
              </a:rPr>
              <a:t>Lisberg et al, JTO 2018</a:t>
            </a:r>
          </a:p>
        </p:txBody>
      </p:sp>
      <p:pic>
        <p:nvPicPr>
          <p:cNvPr id="6" name="Picture 5" descr="Screenshot 2019-02-10 23.25.06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52650" y="1094641"/>
            <a:ext cx="6950924" cy="1212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84172" y="3294553"/>
            <a:ext cx="1424371" cy="58477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Franklin Gothic Book" panose="020B0503020102020204" pitchFamily="34" charset="0"/>
              </a:rPr>
              <a:t>11 patients enrolled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3951" y="3168682"/>
            <a:ext cx="1424371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Franklin Gothic Book" panose="020B0503020102020204" pitchFamily="34" charset="0"/>
              </a:rPr>
              <a:t>10 patients with EGFR mutation</a:t>
            </a:r>
          </a:p>
        </p:txBody>
      </p:sp>
      <p:cxnSp>
        <p:nvCxnSpPr>
          <p:cNvPr id="11" name="Straight Arrow Connector 10"/>
          <p:cNvCxnSpPr>
            <a:stCxn id="8" idx="3"/>
            <a:endCxn id="9" idx="1"/>
          </p:cNvCxnSpPr>
          <p:nvPr/>
        </p:nvCxnSpPr>
        <p:spPr>
          <a:xfrm flipV="1">
            <a:off x="3108541" y="3584179"/>
            <a:ext cx="295408" cy="27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98352" y="2527960"/>
            <a:ext cx="1424371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Franklin Gothic Book" panose="020B0503020102020204" pitchFamily="34" charset="0"/>
              </a:rPr>
              <a:t>7 patients with PD-L1 &gt;50%</a:t>
            </a:r>
          </a:p>
        </p:txBody>
      </p:sp>
      <p:cxnSp>
        <p:nvCxnSpPr>
          <p:cNvPr id="13" name="Straight Arrow Connector 12"/>
          <p:cNvCxnSpPr>
            <a:stCxn id="9" idx="3"/>
            <a:endCxn id="12" idx="1"/>
          </p:cNvCxnSpPr>
          <p:nvPr/>
        </p:nvCxnSpPr>
        <p:spPr>
          <a:xfrm flipV="1">
            <a:off x="4828322" y="2943459"/>
            <a:ext cx="570030" cy="6407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98352" y="3797346"/>
            <a:ext cx="1424371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Franklin Gothic Book" panose="020B0503020102020204" pitchFamily="34" charset="0"/>
              </a:rPr>
              <a:t>3 patients with PD-L1</a:t>
            </a:r>
          </a:p>
          <a:p>
            <a:pPr algn="ctr"/>
            <a:r>
              <a:rPr lang="en-US" sz="1600" dirty="0">
                <a:latin typeface="Franklin Gothic Book" panose="020B0503020102020204" pitchFamily="34" charset="0"/>
              </a:rPr>
              <a:t>1-49%</a:t>
            </a:r>
          </a:p>
        </p:txBody>
      </p:sp>
      <p:cxnSp>
        <p:nvCxnSpPr>
          <p:cNvPr id="16" name="Straight Arrow Connector 15"/>
          <p:cNvCxnSpPr>
            <a:stCxn id="9" idx="3"/>
            <a:endCxn id="15" idx="1"/>
          </p:cNvCxnSpPr>
          <p:nvPr/>
        </p:nvCxnSpPr>
        <p:spPr>
          <a:xfrm>
            <a:off x="4828320" y="3584179"/>
            <a:ext cx="570030" cy="6286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65224" y="3248389"/>
            <a:ext cx="2625141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0% Response Rate</a:t>
            </a:r>
          </a:p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0/10 </a:t>
            </a:r>
          </a:p>
        </p:txBody>
      </p:sp>
    </p:spTree>
    <p:extLst>
      <p:ext uri="{BB962C8B-B14F-4D97-AF65-F5344CB8AC3E}">
        <p14:creationId xmlns:p14="http://schemas.microsoft.com/office/powerpoint/2010/main" val="298579904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98C70-63C5-EF4C-B3C3-C05E13ABC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39" y="274639"/>
            <a:ext cx="11582400" cy="1143000"/>
          </a:xfrm>
        </p:spPr>
        <p:txBody>
          <a:bodyPr>
            <a:noAutofit/>
          </a:bodyPr>
          <a:lstStyle/>
          <a:p>
            <a:r>
              <a:rPr lang="en-US" sz="3600" dirty="0"/>
              <a:t>Summary of Immunotherapy in EGFR mutant NSCLC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1F77D-AF26-B141-AD6A-137CCE8AA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probably doesn’t work by itself (RR &lt;5%)</a:t>
            </a:r>
          </a:p>
          <a:p>
            <a:pPr>
              <a:buFontTx/>
              <a:buChar char="-"/>
            </a:pPr>
            <a:r>
              <a:rPr lang="en-US" dirty="0"/>
              <a:t>Combinations not promising (either ↥ toxicity, or no benefit)</a:t>
            </a:r>
          </a:p>
          <a:p>
            <a:pPr>
              <a:buFontTx/>
              <a:buChar char="-"/>
            </a:pPr>
            <a:r>
              <a:rPr lang="en-US" dirty="0"/>
              <a:t>Most front-line IO trials (single-agent </a:t>
            </a:r>
            <a:r>
              <a:rPr lang="en-US" dirty="0" err="1"/>
              <a:t>pembro</a:t>
            </a:r>
            <a:r>
              <a:rPr lang="en-US" dirty="0"/>
              <a:t>, IO + chemo) excluded patients with EGFR or ALK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We think that these principles apply to patients with the other oncogenic drivers (except KRAS and maybe BRAF)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952548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C2562-512B-1781-9E05-0F33E7A255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969477" y="1429260"/>
            <a:ext cx="8861234" cy="4807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CBEE42-A099-A4A4-4315-3AFE9770AD76}"/>
              </a:ext>
            </a:extLst>
          </p:cNvPr>
          <p:cNvSpPr txBox="1"/>
          <p:nvPr/>
        </p:nvSpPr>
        <p:spPr>
          <a:xfrm>
            <a:off x="196947" y="6021215"/>
            <a:ext cx="4084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272524"/>
                </a:solidFill>
                <a:latin typeface="Franklin Gothic Book" panose="020B0503020102020204" pitchFamily="34" charset="0"/>
              </a:rPr>
              <a:t>AACR GENIE BPC lung, Choudhury et al, CCR 2023; </a:t>
            </a:r>
          </a:p>
          <a:p>
            <a:pPr algn="l"/>
            <a:r>
              <a:rPr lang="en-US" sz="1400" dirty="0">
                <a:solidFill>
                  <a:srgbClr val="272524"/>
                </a:solidFill>
                <a:latin typeface="Franklin Gothic Book" panose="020B0503020102020204" pitchFamily="34" charset="0"/>
              </a:rPr>
              <a:t>Data available at https://genie.cbioportal.org/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024FFC-B86F-E7AB-AC5E-4D67486853BC}"/>
              </a:ext>
            </a:extLst>
          </p:cNvPr>
          <p:cNvSpPr/>
          <p:nvPr/>
        </p:nvSpPr>
        <p:spPr>
          <a:xfrm>
            <a:off x="8808800" y="2548773"/>
            <a:ext cx="1832758" cy="522246"/>
          </a:xfrm>
          <a:prstGeom prst="rect">
            <a:avLst/>
          </a:prstGeom>
          <a:noFill/>
          <a:ln w="4762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Oncogenic Drivers of Lung Cancers</a:t>
            </a:r>
          </a:p>
        </p:txBody>
      </p:sp>
    </p:spTree>
    <p:extLst>
      <p:ext uri="{BB962C8B-B14F-4D97-AF65-F5344CB8AC3E}">
        <p14:creationId xmlns:p14="http://schemas.microsoft.com/office/powerpoint/2010/main" val="60493459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19313" y="1317631"/>
            <a:ext cx="792480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84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3810" r="1299" b="447"/>
          <a:stretch>
            <a:fillRect/>
          </a:stretch>
        </p:blipFill>
        <p:spPr bwMode="auto">
          <a:xfrm>
            <a:off x="2128870" y="1617685"/>
            <a:ext cx="7920037" cy="2317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5382" name="Rectangle 6"/>
          <p:cNvSpPr>
            <a:spLocks noChangeArrowheads="1"/>
          </p:cNvSpPr>
          <p:nvPr/>
        </p:nvSpPr>
        <p:spPr bwMode="auto">
          <a:xfrm>
            <a:off x="2171700" y="4022731"/>
            <a:ext cx="5894388" cy="257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7961" dir="2700000" algn="ctr" rotWithShape="0">
              <a:srgbClr val="000000">
                <a:alpha val="74998"/>
              </a:srgbClr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en-US" dirty="0">
              <a:solidFill>
                <a:prstClr val="black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71686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39952" y="3954488"/>
            <a:ext cx="5691188" cy="2630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5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sz="2800" b="0" i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ALK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Rearrangements in NSCLC</a:t>
            </a:r>
          </a:p>
        </p:txBody>
      </p:sp>
    </p:spTree>
    <p:extLst>
      <p:ext uri="{BB962C8B-B14F-4D97-AF65-F5344CB8AC3E}">
        <p14:creationId xmlns:p14="http://schemas.microsoft.com/office/powerpoint/2010/main" val="1642371215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44675" y="1668463"/>
            <a:ext cx="8675688" cy="386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4732339" y="6437336"/>
            <a:ext cx="5465762" cy="238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97000"/>
              </a:lnSpc>
              <a:buClr>
                <a:srgbClr val="FFFFFF"/>
              </a:buClr>
              <a:buSzPct val="45000"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</a:tabLst>
            </a:pPr>
            <a:r>
              <a:rPr lang="en-GB" sz="1600" dirty="0">
                <a:solidFill>
                  <a:prstClr val="black"/>
                </a:solidFill>
                <a:latin typeface="Franklin Gothic Book" panose="020B0503020102020204" pitchFamily="34" charset="0"/>
              </a:rPr>
              <a:t>Kwak EL et al. N Engl J Med 2010;363:1693-1703</a:t>
            </a:r>
          </a:p>
        </p:txBody>
      </p:sp>
      <p:sp>
        <p:nvSpPr>
          <p:cNvPr id="430096" name="Rectangle 16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Tumor Responses to First-generation ALK inhibitor Crizotinib for Patients with </a:t>
            </a:r>
            <a:r>
              <a:rPr lang="en-US" sz="2800" b="0" i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ALK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-positive NSCLC</a:t>
            </a:r>
            <a:endParaRPr lang="en-GB" sz="2800" b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01641998"/>
      </p:ext>
    </p:extLst>
  </p:cSld>
  <p:clrMapOvr>
    <a:masterClrMapping/>
  </p:clrMapOvr>
  <p:transition spd="med">
    <p:fade/>
  </p:transition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11268" y="1905015"/>
            <a:ext cx="7204139" cy="43140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91197" y="6109311"/>
            <a:ext cx="2770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Solomon et al, NEJM 2014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Crizotinib Treatment Leads to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improved PFS compared to Cisplatin/Pemetrexed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in ALK+ NSCLC First Line</a:t>
            </a:r>
          </a:p>
        </p:txBody>
      </p:sp>
    </p:spTree>
    <p:extLst>
      <p:ext uri="{BB962C8B-B14F-4D97-AF65-F5344CB8AC3E}">
        <p14:creationId xmlns:p14="http://schemas.microsoft.com/office/powerpoint/2010/main" val="82983761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4619"/>
            <a:ext cx="8229600" cy="2239963"/>
          </a:xfrm>
        </p:spPr>
        <p:txBody>
          <a:bodyPr>
            <a:noAutofit/>
          </a:bodyPr>
          <a:lstStyle/>
          <a:p>
            <a:pPr algn="l"/>
            <a:r>
              <a:rPr lang="en-US" sz="2800" b="0">
                <a:solidFill>
                  <a:schemeClr val="tx1"/>
                </a:solidFill>
              </a:rPr>
              <a:t>70 year old man with metastatic ALK positive lung adenocarcinoma involving lung and liver.  </a:t>
            </a:r>
            <a:br>
              <a:rPr lang="en-US" sz="2800" b="0">
                <a:solidFill>
                  <a:schemeClr val="tx1"/>
                </a:solidFill>
              </a:rPr>
            </a:br>
            <a:br>
              <a:rPr lang="en-US" sz="2800" b="0">
                <a:solidFill>
                  <a:schemeClr val="tx1"/>
                </a:solidFill>
              </a:rPr>
            </a:br>
            <a:r>
              <a:rPr lang="en-US" sz="2800" b="0">
                <a:solidFill>
                  <a:schemeClr val="tx1"/>
                </a:solidFill>
              </a:rPr>
              <a:t>What is the best initial therapy?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971804"/>
            <a:ext cx="8229600" cy="31543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2800"/>
              <a:t>Carboplatin, pemetrexed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/>
              <a:t>Ceritinib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/>
              <a:t>Alectinib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/>
              <a:t>Ramucirumab</a:t>
            </a:r>
          </a:p>
        </p:txBody>
      </p:sp>
    </p:spTree>
    <p:extLst>
      <p:ext uri="{BB962C8B-B14F-4D97-AF65-F5344CB8AC3E}">
        <p14:creationId xmlns:p14="http://schemas.microsoft.com/office/powerpoint/2010/main" val="111684816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/>
          <p:cNvSpPr>
            <a:spLocks noGrp="1"/>
          </p:cNvSpPr>
          <p:nvPr>
            <p:ph sz="half" idx="4294967295"/>
          </p:nvPr>
        </p:nvSpPr>
        <p:spPr>
          <a:xfrm>
            <a:off x="1295400" y="2112931"/>
            <a:ext cx="1563261" cy="756212"/>
          </a:xfr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en-US" sz="2400"/>
              <a:t>Crizotinib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8150" y="1779060"/>
            <a:ext cx="2605050" cy="120032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u="sng" dirty="0">
                <a:latin typeface="Franklin Gothic Book" panose="020B0503020102020204" pitchFamily="34" charset="0"/>
              </a:rPr>
              <a:t>Newer ALK Inhibitors</a:t>
            </a:r>
            <a:endParaRPr lang="en-US" dirty="0">
              <a:latin typeface="Franklin Gothic Book" panose="020B0503020102020204" pitchFamily="34" charset="0"/>
            </a:endParaRPr>
          </a:p>
          <a:p>
            <a:pPr algn="ctr"/>
            <a:r>
              <a:rPr lang="en-US" dirty="0">
                <a:latin typeface="Franklin Gothic Book" panose="020B0503020102020204" pitchFamily="34" charset="0"/>
              </a:rPr>
              <a:t>Ceritinib</a:t>
            </a:r>
          </a:p>
          <a:p>
            <a:pPr algn="ctr"/>
            <a:r>
              <a:rPr lang="en-US" dirty="0">
                <a:latin typeface="Franklin Gothic Book" panose="020B0503020102020204" pitchFamily="34" charset="0"/>
              </a:rPr>
              <a:t>Alectinib</a:t>
            </a:r>
          </a:p>
          <a:p>
            <a:pPr algn="ctr"/>
            <a:r>
              <a:rPr lang="en-US" dirty="0">
                <a:latin typeface="Franklin Gothic Book" panose="020B0503020102020204" pitchFamily="34" charset="0"/>
              </a:rPr>
              <a:t>Brigatinib</a:t>
            </a: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2971800" y="2438400"/>
            <a:ext cx="714352" cy="881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74447B9-38A8-B54B-A6D6-43455396F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3333947"/>
            <a:ext cx="5786079" cy="3254669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Historical Approach to Patients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with ALK+ NSCLC</a:t>
            </a:r>
          </a:p>
        </p:txBody>
      </p:sp>
    </p:spTree>
    <p:extLst>
      <p:ext uri="{BB962C8B-B14F-4D97-AF65-F5344CB8AC3E}">
        <p14:creationId xmlns:p14="http://schemas.microsoft.com/office/powerpoint/2010/main" val="301628036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Box 3"/>
          <p:cNvSpPr txBox="1">
            <a:spLocks noChangeArrowheads="1"/>
          </p:cNvSpPr>
          <p:nvPr/>
        </p:nvSpPr>
        <p:spPr bwMode="auto">
          <a:xfrm>
            <a:off x="2710947" y="2634963"/>
            <a:ext cx="1875835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457200"/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</a:rPr>
              <a:t>Diagnosis</a:t>
            </a:r>
          </a:p>
        </p:txBody>
      </p:sp>
      <p:cxnSp>
        <p:nvCxnSpPr>
          <p:cNvPr id="6" name="Straight Arrow Connector 5"/>
          <p:cNvCxnSpPr>
            <a:cxnSpLocks noChangeShapeType="1"/>
          </p:cNvCxnSpPr>
          <p:nvPr/>
        </p:nvCxnSpPr>
        <p:spPr bwMode="auto">
          <a:xfrm>
            <a:off x="4768851" y="2927351"/>
            <a:ext cx="2249488" cy="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33796" name="TextBox 7"/>
          <p:cNvSpPr txBox="1">
            <a:spLocks noChangeArrowheads="1"/>
          </p:cNvSpPr>
          <p:nvPr/>
        </p:nvSpPr>
        <p:spPr bwMode="auto">
          <a:xfrm>
            <a:off x="5195747" y="3157575"/>
            <a:ext cx="1481496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11 months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Median PFS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Crizotinib </a:t>
            </a:r>
          </a:p>
        </p:txBody>
      </p:sp>
      <p:cxnSp>
        <p:nvCxnSpPr>
          <p:cNvPr id="9" name="Straight Arrow Connector 8"/>
          <p:cNvCxnSpPr>
            <a:cxnSpLocks noChangeShapeType="1"/>
          </p:cNvCxnSpPr>
          <p:nvPr/>
        </p:nvCxnSpPr>
        <p:spPr bwMode="auto">
          <a:xfrm>
            <a:off x="7323157" y="2927351"/>
            <a:ext cx="1614487" cy="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33798" name="TextBox 9"/>
          <p:cNvSpPr txBox="1">
            <a:spLocks noChangeArrowheads="1"/>
          </p:cNvSpPr>
          <p:nvPr/>
        </p:nvSpPr>
        <p:spPr bwMode="auto">
          <a:xfrm>
            <a:off x="6873066" y="3157556"/>
            <a:ext cx="2628989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~7-10 months or more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Median PFS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Ceritinib or 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Alectinib or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Brigatinib </a:t>
            </a:r>
          </a:p>
        </p:txBody>
      </p:sp>
      <p:sp>
        <p:nvSpPr>
          <p:cNvPr id="33793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How should we treat Patients with ALK positive NSCLC</a:t>
            </a:r>
          </a:p>
        </p:txBody>
      </p:sp>
    </p:spTree>
    <p:extLst>
      <p:ext uri="{BB962C8B-B14F-4D97-AF65-F5344CB8AC3E}">
        <p14:creationId xmlns:p14="http://schemas.microsoft.com/office/powerpoint/2010/main" val="198014243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9" name="TextBox 11"/>
          <p:cNvSpPr txBox="1">
            <a:spLocks noChangeArrowheads="1"/>
          </p:cNvSpPr>
          <p:nvPr/>
        </p:nvSpPr>
        <p:spPr bwMode="auto">
          <a:xfrm>
            <a:off x="2825515" y="4708527"/>
            <a:ext cx="1875835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457200"/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</a:rPr>
              <a:t>Diagnosis</a:t>
            </a:r>
          </a:p>
        </p:txBody>
      </p:sp>
      <p:cxnSp>
        <p:nvCxnSpPr>
          <p:cNvPr id="13" name="Straight Arrow Connector 12"/>
          <p:cNvCxnSpPr>
            <a:cxnSpLocks noChangeShapeType="1"/>
          </p:cNvCxnSpPr>
          <p:nvPr/>
        </p:nvCxnSpPr>
        <p:spPr bwMode="auto">
          <a:xfrm>
            <a:off x="4768851" y="4984751"/>
            <a:ext cx="4872038" cy="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33801" name="TextBox 14"/>
          <p:cNvSpPr txBox="1">
            <a:spLocks noChangeArrowheads="1"/>
          </p:cNvSpPr>
          <p:nvPr/>
        </p:nvSpPr>
        <p:spPr bwMode="auto">
          <a:xfrm>
            <a:off x="5301452" y="5260976"/>
            <a:ext cx="36016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Franklin Gothic Book" panose="020B0503020102020204" pitchFamily="34" charset="0"/>
              </a:rPr>
              <a:t>Start with next gen TKI</a:t>
            </a:r>
          </a:p>
        </p:txBody>
      </p:sp>
      <p:sp>
        <p:nvSpPr>
          <p:cNvPr id="11" name="TextBox 3"/>
          <p:cNvSpPr txBox="1">
            <a:spLocks noChangeArrowheads="1"/>
          </p:cNvSpPr>
          <p:nvPr/>
        </p:nvSpPr>
        <p:spPr bwMode="auto">
          <a:xfrm>
            <a:off x="2823929" y="2651127"/>
            <a:ext cx="1875835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457200"/>
            <a:r>
              <a:rPr lang="en-US" sz="3200" dirty="0">
                <a:solidFill>
                  <a:prstClr val="black"/>
                </a:solidFill>
                <a:latin typeface="Franklin Gothic Book" panose="020B0503020102020204" pitchFamily="34" charset="0"/>
              </a:rPr>
              <a:t>Diagnosis</a:t>
            </a:r>
          </a:p>
        </p:txBody>
      </p:sp>
      <p:cxnSp>
        <p:nvCxnSpPr>
          <p:cNvPr id="12" name="Straight Arrow Connector 11"/>
          <p:cNvCxnSpPr>
            <a:cxnSpLocks noChangeShapeType="1"/>
          </p:cNvCxnSpPr>
          <p:nvPr/>
        </p:nvCxnSpPr>
        <p:spPr bwMode="auto">
          <a:xfrm>
            <a:off x="4768851" y="2927351"/>
            <a:ext cx="2249488" cy="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14" name="TextBox 7"/>
          <p:cNvSpPr txBox="1">
            <a:spLocks noChangeArrowheads="1"/>
          </p:cNvSpPr>
          <p:nvPr/>
        </p:nvSpPr>
        <p:spPr bwMode="auto">
          <a:xfrm>
            <a:off x="5195747" y="3157575"/>
            <a:ext cx="1481496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11 months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Median PFS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Crizotinib </a:t>
            </a:r>
          </a:p>
        </p:txBody>
      </p:sp>
      <p:cxnSp>
        <p:nvCxnSpPr>
          <p:cNvPr id="15" name="Straight Arrow Connector 14"/>
          <p:cNvCxnSpPr>
            <a:cxnSpLocks noChangeShapeType="1"/>
          </p:cNvCxnSpPr>
          <p:nvPr/>
        </p:nvCxnSpPr>
        <p:spPr bwMode="auto">
          <a:xfrm>
            <a:off x="7323157" y="2927351"/>
            <a:ext cx="1614487" cy="0"/>
          </a:xfrm>
          <a:prstGeom prst="straightConnector1">
            <a:avLst/>
          </a:prstGeom>
          <a:noFill/>
          <a:ln w="57150">
            <a:solidFill>
              <a:schemeClr val="tx1"/>
            </a:solidFill>
            <a:round/>
            <a:headEnd/>
            <a:tailEnd type="arrow" w="med" len="med"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6873066" y="3157556"/>
            <a:ext cx="2628989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~7-10 months or more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Median PFS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Ceritinib or 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Alectinib or</a:t>
            </a:r>
          </a:p>
          <a:p>
            <a:pPr algn="ctr" defTabSz="457200"/>
            <a:r>
              <a:rPr lang="en-US" sz="2000" dirty="0">
                <a:solidFill>
                  <a:prstClr val="black"/>
                </a:solidFill>
                <a:latin typeface="Franklin Gothic Book" panose="020B0503020102020204" pitchFamily="34" charset="0"/>
              </a:rPr>
              <a:t>Brigatinib </a:t>
            </a:r>
          </a:p>
        </p:txBody>
      </p:sp>
      <p:sp>
        <p:nvSpPr>
          <p:cNvPr id="33793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How should we treat Patients with ALK positive NSCLC</a:t>
            </a:r>
          </a:p>
        </p:txBody>
      </p:sp>
    </p:spTree>
    <p:extLst>
      <p:ext uri="{BB962C8B-B14F-4D97-AF65-F5344CB8AC3E}">
        <p14:creationId xmlns:p14="http://schemas.microsoft.com/office/powerpoint/2010/main" val="137025041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AutoShape 28"/>
          <p:cNvCxnSpPr>
            <a:cxnSpLocks noChangeShapeType="1"/>
          </p:cNvCxnSpPr>
          <p:nvPr/>
        </p:nvCxnSpPr>
        <p:spPr bwMode="auto">
          <a:xfrm flipV="1">
            <a:off x="4142569" y="3476905"/>
            <a:ext cx="455681" cy="6151"/>
          </a:xfrm>
          <a:prstGeom prst="straightConnector1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29"/>
          <p:cNvCxnSpPr>
            <a:cxnSpLocks noChangeShapeType="1"/>
          </p:cNvCxnSpPr>
          <p:nvPr/>
        </p:nvCxnSpPr>
        <p:spPr bwMode="auto">
          <a:xfrm flipV="1">
            <a:off x="4582045" y="2702601"/>
            <a:ext cx="460375" cy="1096433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30"/>
          <p:cNvCxnSpPr>
            <a:cxnSpLocks noChangeShapeType="1"/>
          </p:cNvCxnSpPr>
          <p:nvPr/>
        </p:nvCxnSpPr>
        <p:spPr bwMode="auto">
          <a:xfrm>
            <a:off x="4582045" y="3243834"/>
            <a:ext cx="460375" cy="12065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1" name="円/楕円 11"/>
          <p:cNvSpPr/>
          <p:nvPr/>
        </p:nvSpPr>
        <p:spPr>
          <a:xfrm>
            <a:off x="4430196" y="3092879"/>
            <a:ext cx="576000" cy="76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 dirty="0">
              <a:latin typeface="Franklin Gothic Book" panose="020B0503020102020204" pitchFamily="34" charset="0"/>
            </a:endParaRPr>
          </a:p>
        </p:txBody>
      </p:sp>
      <p:sp>
        <p:nvSpPr>
          <p:cNvPr id="12" name="テキスト ボックス 12"/>
          <p:cNvSpPr txBox="1"/>
          <p:nvPr/>
        </p:nvSpPr>
        <p:spPr>
          <a:xfrm>
            <a:off x="4450196" y="3134217"/>
            <a:ext cx="526106" cy="66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867" b="1" dirty="0">
                <a:latin typeface="Franklin Gothic Book" panose="020B0503020102020204" pitchFamily="34" charset="0"/>
              </a:rPr>
              <a:t>R</a:t>
            </a:r>
          </a:p>
          <a:p>
            <a:pPr algn="ctr"/>
            <a:r>
              <a:rPr kumimoji="1" lang="en-US" altLang="ja-JP" sz="1867" b="1" dirty="0">
                <a:latin typeface="Franklin Gothic Book" panose="020B0503020102020204" pitchFamily="34" charset="0"/>
              </a:rPr>
              <a:t>1:1</a:t>
            </a:r>
            <a:endParaRPr kumimoji="1" lang="ja-JP" altLang="en-US" sz="1867" b="1" dirty="0">
              <a:latin typeface="Franklin Gothic Book" panose="020B0503020102020204" pitchFamily="34" charset="0"/>
            </a:endParaRP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1721083" y="1923029"/>
            <a:ext cx="2604251" cy="3120000"/>
          </a:xfrm>
          <a:prstGeom prst="roundRect">
            <a:avLst>
              <a:gd name="adj" fmla="val 4031"/>
            </a:avLst>
          </a:prstGeom>
          <a:solidFill>
            <a:schemeClr val="accent5">
              <a:lumMod val="20000"/>
              <a:lumOff val="80000"/>
            </a:schemeClr>
          </a:solidFill>
          <a:ln w="12700" algn="ctr">
            <a:noFill/>
            <a:round/>
            <a:headEnd/>
            <a:tailEnd/>
          </a:ln>
        </p:spPr>
        <p:txBody>
          <a:bodyPr anchor="ctr"/>
          <a:lstStyle>
            <a:lvl1pPr marL="176213" indent="-176213">
              <a:spcBef>
                <a:spcPct val="50000"/>
              </a:spcBef>
              <a:buClr>
                <a:srgbClr val="6A263F"/>
              </a:buClr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A263F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A263F"/>
              </a:buClr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A263F"/>
              </a:buClr>
              <a:buChar char="–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u="sng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Key Entry Criteria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altLang="en-US" sz="18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Stage IIIB/IV or recurrent </a:t>
            </a:r>
            <a:r>
              <a:rPr lang="en-US" altLang="en-US" sz="1867" b="1" i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ALK</a:t>
            </a:r>
            <a:r>
              <a:rPr lang="en-US" altLang="en-US" sz="18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-positive NSCLC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altLang="en-US" sz="18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ALK positive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altLang="en-US" sz="18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ECOG PS 0-2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altLang="en-US" sz="18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Brain metastases allowed</a:t>
            </a:r>
          </a:p>
          <a:p>
            <a:pPr>
              <a:lnSpc>
                <a:spcPct val="95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altLang="en-US" sz="18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no prior therapy</a:t>
            </a:r>
          </a:p>
        </p:txBody>
      </p:sp>
      <p:cxnSp>
        <p:nvCxnSpPr>
          <p:cNvPr id="14" name="AutoShape 28"/>
          <p:cNvCxnSpPr>
            <a:cxnSpLocks noChangeShapeType="1"/>
          </p:cNvCxnSpPr>
          <p:nvPr/>
        </p:nvCxnSpPr>
        <p:spPr bwMode="auto">
          <a:xfrm flipV="1">
            <a:off x="7283710" y="2689453"/>
            <a:ext cx="455681" cy="6151"/>
          </a:xfrm>
          <a:prstGeom prst="straightConnector1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  <a:round/>
            <a:headEnd/>
            <a:tailEnd type="triangle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5020056" y="1923029"/>
            <a:ext cx="2520000" cy="1344000"/>
          </a:xfrm>
          <a:prstGeom prst="roundRect">
            <a:avLst>
              <a:gd name="adj" fmla="val 8301"/>
            </a:avLst>
          </a:prstGeom>
          <a:solidFill>
            <a:schemeClr val="accent3">
              <a:lumMod val="20000"/>
              <a:lumOff val="80000"/>
            </a:schemeClr>
          </a:solidFill>
          <a:ln w="12700" algn="ctr">
            <a:noFill/>
            <a:round/>
            <a:headEnd/>
            <a:tailEnd/>
          </a:ln>
        </p:spPr>
        <p:txBody>
          <a:bodyPr anchor="ctr"/>
          <a:lstStyle>
            <a:lvl1pPr>
              <a:spcBef>
                <a:spcPct val="50000"/>
              </a:spcBef>
              <a:buClr>
                <a:srgbClr val="6A263F"/>
              </a:buClr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A263F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A263F"/>
              </a:buClr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A263F"/>
              </a:buClr>
              <a:buChar char="–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Newer ALK inhibitor</a:t>
            </a:r>
          </a:p>
        </p:txBody>
      </p:sp>
      <p:cxnSp>
        <p:nvCxnSpPr>
          <p:cNvPr id="16" name="AutoShape 28"/>
          <p:cNvCxnSpPr>
            <a:cxnSpLocks noChangeShapeType="1"/>
          </p:cNvCxnSpPr>
          <p:nvPr/>
        </p:nvCxnSpPr>
        <p:spPr bwMode="auto">
          <a:xfrm flipV="1">
            <a:off x="7283710" y="4444206"/>
            <a:ext cx="455681" cy="6151"/>
          </a:xfrm>
          <a:prstGeom prst="straightConnector1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  <a:round/>
            <a:headEnd/>
            <a:tailEnd type="triangle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7" name="AutoShape 10"/>
          <p:cNvSpPr>
            <a:spLocks noChangeArrowheads="1"/>
          </p:cNvSpPr>
          <p:nvPr/>
        </p:nvSpPr>
        <p:spPr bwMode="auto">
          <a:xfrm>
            <a:off x="5024429" y="3699029"/>
            <a:ext cx="2520000" cy="1344000"/>
          </a:xfrm>
          <a:prstGeom prst="roundRect">
            <a:avLst>
              <a:gd name="adj" fmla="val 8617"/>
            </a:avLst>
          </a:prstGeom>
          <a:solidFill>
            <a:schemeClr val="accent1">
              <a:lumMod val="20000"/>
              <a:lumOff val="80000"/>
            </a:schemeClr>
          </a:solidFill>
          <a:ln w="12700" algn="ctr">
            <a:noFill/>
            <a:round/>
            <a:headEnd/>
            <a:tailEnd/>
          </a:ln>
        </p:spPr>
        <p:txBody>
          <a:bodyPr anchor="ctr"/>
          <a:lstStyle>
            <a:lvl1pPr>
              <a:spcBef>
                <a:spcPct val="50000"/>
              </a:spcBef>
              <a:buClr>
                <a:srgbClr val="6A263F"/>
              </a:buClr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A263F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A263F"/>
              </a:buClr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A263F"/>
              </a:buClr>
              <a:buChar char="–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Crizotinib 250 mg BID PO</a:t>
            </a:r>
          </a:p>
        </p:txBody>
      </p:sp>
      <p:sp>
        <p:nvSpPr>
          <p:cNvPr id="18" name="AutoShape 5"/>
          <p:cNvSpPr>
            <a:spLocks noChangeArrowheads="1"/>
          </p:cNvSpPr>
          <p:nvPr/>
        </p:nvSpPr>
        <p:spPr bwMode="auto">
          <a:xfrm>
            <a:off x="7739364" y="1923056"/>
            <a:ext cx="2393691" cy="3183201"/>
          </a:xfrm>
          <a:prstGeom prst="roundRect">
            <a:avLst>
              <a:gd name="adj" fmla="val 75000"/>
            </a:avLst>
          </a:prstGeom>
          <a:solidFill>
            <a:schemeClr val="accent5">
              <a:lumMod val="20000"/>
              <a:lumOff val="80000"/>
            </a:schemeClr>
          </a:solidFill>
          <a:ln w="12700" algn="ctr">
            <a:noFill/>
            <a:round/>
            <a:headEnd/>
            <a:tailEnd/>
          </a:ln>
        </p:spPr>
        <p:txBody>
          <a:bodyPr anchor="ctr"/>
          <a:lstStyle>
            <a:lvl1pPr marL="176213" indent="-176213">
              <a:spcBef>
                <a:spcPct val="50000"/>
              </a:spcBef>
              <a:buClr>
                <a:srgbClr val="6A263F"/>
              </a:buClr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A263F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A263F"/>
              </a:buClr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A263F"/>
              </a:buClr>
              <a:buChar char="–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9pPr>
          </a:lstStyle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None/>
            </a:pPr>
            <a:r>
              <a:rPr lang="en-US" altLang="ja-JP" sz="1867" b="1" u="sng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Endpoints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18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Primary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None/>
            </a:pPr>
            <a:r>
              <a:rPr lang="en-US" altLang="en-US" sz="14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 </a:t>
            </a:r>
            <a:r>
              <a:rPr lang="ja-JP" altLang="en-US" sz="14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　</a:t>
            </a:r>
            <a:r>
              <a:rPr lang="en-US" altLang="en-US" sz="14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- PFS 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endParaRPr lang="en-US" altLang="en-US" sz="1867" b="1" dirty="0">
              <a:latin typeface="Franklin Gothic Book" panose="020B0503020102020204" pitchFamily="34" charset="0"/>
              <a:ea typeface="HGPｺﾞｼｯｸE" panose="020B0900000000000000" pitchFamily="50" charset="-128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en-US" sz="18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Secondary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None/>
            </a:pPr>
            <a:r>
              <a:rPr lang="ja-JP" altLang="en-US" sz="14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　</a:t>
            </a:r>
            <a:r>
              <a:rPr lang="en-US" altLang="ja-JP" sz="14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 - ORR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None/>
            </a:pPr>
            <a:r>
              <a:rPr lang="en-US" altLang="ja-JP" sz="14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 </a:t>
            </a:r>
            <a:r>
              <a:rPr lang="ja-JP" altLang="en-US" sz="14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　</a:t>
            </a:r>
            <a:r>
              <a:rPr lang="en-US" altLang="ja-JP" sz="14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- OS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ClrTx/>
              <a:buNone/>
            </a:pPr>
            <a:r>
              <a:rPr lang="en-US" altLang="ja-JP" sz="14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 </a:t>
            </a:r>
            <a:r>
              <a:rPr lang="ja-JP" altLang="en-US" sz="1467" b="1" dirty="0">
                <a:latin typeface="Franklin Gothic Book" panose="020B0503020102020204" pitchFamily="34" charset="0"/>
                <a:ea typeface="HGPｺﾞｼｯｸE" panose="020B0900000000000000" pitchFamily="50" charset="-128"/>
              </a:rPr>
              <a:t>　</a:t>
            </a:r>
            <a:endParaRPr lang="en-US" altLang="ja-JP" sz="1467" b="1" dirty="0">
              <a:latin typeface="Franklin Gothic Book" panose="020B0503020102020204" pitchFamily="34" charset="0"/>
              <a:ea typeface="HGPｺﾞｼｯｸE" panose="020B0900000000000000" pitchFamily="50" charset="-128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is a newer ALK inhibitor better than crizotinib in ALK+ NSCLC</a:t>
            </a:r>
          </a:p>
        </p:txBody>
      </p:sp>
    </p:spTree>
    <p:extLst>
      <p:ext uri="{BB962C8B-B14F-4D97-AF65-F5344CB8AC3E}">
        <p14:creationId xmlns:p14="http://schemas.microsoft.com/office/powerpoint/2010/main" val="160854381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7-08-17 at 11.03.3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3200" y="1219200"/>
            <a:ext cx="6248400" cy="5387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25583" y="6398088"/>
            <a:ext cx="2520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  <a:cs typeface="Arial Narrow"/>
              </a:rPr>
              <a:t>Peters et al, NEJM 2017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7200" y="228600"/>
            <a:ext cx="11274552" cy="1051560"/>
          </a:xfrm>
          <a:prstGeom prst="rect">
            <a:avLst/>
          </a:prstGeo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 defTabSz="4572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Alectinib improves PFS compared with Crizotinib as 1st line ALK inhibitor</a:t>
            </a:r>
          </a:p>
        </p:txBody>
      </p:sp>
    </p:spTree>
    <p:extLst>
      <p:ext uri="{BB962C8B-B14F-4D97-AF65-F5344CB8AC3E}">
        <p14:creationId xmlns:p14="http://schemas.microsoft.com/office/powerpoint/2010/main" val="46411899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825583" y="6398088"/>
            <a:ext cx="2520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  <a:cs typeface="Arial Narrow"/>
              </a:rPr>
              <a:t>Peters et al, NEJM 2017</a:t>
            </a:r>
          </a:p>
        </p:txBody>
      </p:sp>
      <p:pic>
        <p:nvPicPr>
          <p:cNvPr id="3" name="Picture 2" descr="Screen Shot 2017-08-17 at 11.08.2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1" y="1295404"/>
            <a:ext cx="7551020" cy="517978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33600" y="1295400"/>
            <a:ext cx="457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28D0D-642A-DB31-C856-6F938EC674BE}"/>
              </a:ext>
            </a:extLst>
          </p:cNvPr>
          <p:cNvSpPr txBox="1">
            <a:spLocks/>
          </p:cNvSpPr>
          <p:nvPr/>
        </p:nvSpPr>
        <p:spPr>
          <a:xfrm>
            <a:off x="457200" y="228600"/>
            <a:ext cx="11274552" cy="1051560"/>
          </a:xfrm>
          <a:prstGeom prst="rect">
            <a:avLst/>
          </a:prstGeo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 defTabSz="4572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Alectinib improves rate of CNS progression compared with Crizotinib</a:t>
            </a:r>
          </a:p>
        </p:txBody>
      </p:sp>
    </p:spTree>
    <p:extLst>
      <p:ext uri="{BB962C8B-B14F-4D97-AF65-F5344CB8AC3E}">
        <p14:creationId xmlns:p14="http://schemas.microsoft.com/office/powerpoint/2010/main" val="279086923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D0110-561C-42FB-8D39-683061821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Comparing newer ALK inhibitors in ALK+ NSCLC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308F3D4-6EC6-48DA-93B3-C35A2F0D44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461020"/>
              </p:ext>
            </p:extLst>
          </p:nvPr>
        </p:nvGraphicFramePr>
        <p:xfrm>
          <a:off x="1080655" y="1602620"/>
          <a:ext cx="9381505" cy="319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468">
                  <a:extLst>
                    <a:ext uri="{9D8B030D-6E8A-4147-A177-3AD203B41FA5}">
                      <a16:colId xmlns:a16="http://schemas.microsoft.com/office/drawing/2014/main" val="2662405846"/>
                    </a:ext>
                  </a:extLst>
                </a:gridCol>
                <a:gridCol w="2466468">
                  <a:extLst>
                    <a:ext uri="{9D8B030D-6E8A-4147-A177-3AD203B41FA5}">
                      <a16:colId xmlns:a16="http://schemas.microsoft.com/office/drawing/2014/main" val="1004714037"/>
                    </a:ext>
                  </a:extLst>
                </a:gridCol>
                <a:gridCol w="2466468">
                  <a:extLst>
                    <a:ext uri="{9D8B030D-6E8A-4147-A177-3AD203B41FA5}">
                      <a16:colId xmlns:a16="http://schemas.microsoft.com/office/drawing/2014/main" val="4194893899"/>
                    </a:ext>
                  </a:extLst>
                </a:gridCol>
                <a:gridCol w="1982101">
                  <a:extLst>
                    <a:ext uri="{9D8B030D-6E8A-4147-A177-3AD203B41FA5}">
                      <a16:colId xmlns:a16="http://schemas.microsoft.com/office/drawing/2014/main" val="2668307599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endParaRPr lang="en-US" sz="2400" dirty="0">
                        <a:latin typeface="Franklin Gothic Book" panose="020B050302010202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RR </a:t>
                      </a:r>
                    </a:p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(vs crizotinib)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12 month PFS (vs crizotinib)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PFS HR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80473587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Alectinib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83% vs 76%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68% vs 49%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0.47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96552226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Brigatinib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71% vs 60%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67% vs 43%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0.49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833801926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Lorlatinib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76% vs 58%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78% vs 39%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0.28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958528248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Franklin Gothic Book" panose="020B0503020102020204" pitchFamily="34" charset="0"/>
                        </a:rPr>
                        <a:t>Ensartinib</a:t>
                      </a:r>
                      <a:endParaRPr lang="en-US" sz="2400" dirty="0">
                        <a:latin typeface="Franklin Gothic Book" panose="020B0503020102020204" pitchFamily="3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74% vs 67%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NR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Franklin Gothic Book" panose="020B0503020102020204" pitchFamily="34" charset="0"/>
                        </a:rPr>
                        <a:t>0.51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272531093"/>
                  </a:ext>
                </a:extLst>
              </a:tr>
            </a:tbl>
          </a:graphicData>
        </a:graphic>
      </p:graphicFrame>
      <p:sp>
        <p:nvSpPr>
          <p:cNvPr id="6" name="Citation (added)"/>
          <p:cNvSpPr txBox="1"/>
          <p:nvPr/>
        </p:nvSpPr>
        <p:spPr>
          <a:xfrm>
            <a:off x="1929383" y="4937760"/>
            <a:ext cx="85404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Peters et al, NEJM 2017; Camidge et al, NEJM 2018; Shaw et al, NEJM 2020; Horn et al, JAMA Oncol 2021</a:t>
            </a:r>
          </a:p>
        </p:txBody>
      </p:sp>
    </p:spTree>
    <p:extLst>
      <p:ext uri="{BB962C8B-B14F-4D97-AF65-F5344CB8AC3E}">
        <p14:creationId xmlns:p14="http://schemas.microsoft.com/office/powerpoint/2010/main" val="402875613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146304"/>
            <a:ext cx="11399520" cy="1243584"/>
          </a:xfrm>
        </p:spPr>
        <p:txBody>
          <a:bodyPr vert="horz" wrap="square" lIns="60960" tIns="45720" rIns="60960" bIns="45720" rtlCol="0" anchor="t">
            <a:noAutofit/>
          </a:bodyPr>
          <a:lstStyle/>
          <a:p>
            <a:pPr algn="l"/>
            <a:r>
              <a:rPr lang="en-US" sz="3733" b="0" dirty="0">
                <a:cs typeface="Franklin Gothic Medium"/>
              </a:rPr>
              <a:t>Lorlatinib leads to longer PFS compared with crizotinib</a:t>
            </a:r>
            <a:endParaRPr sz="2400" b="0" dirty="0">
              <a:latin typeface="Franklin Gothic Book"/>
              <a:cs typeface="Franklin Gothic Book"/>
            </a:endParaRPr>
          </a:p>
        </p:txBody>
      </p:sp>
      <p:pic>
        <p:nvPicPr>
          <p:cNvPr id="4" name="Picture 3" descr="fig2a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397" y="1563865"/>
            <a:ext cx="11860267" cy="35012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16480" y="6156960"/>
            <a:ext cx="9558528" cy="365760"/>
          </a:xfrm>
          <a:prstGeom prst="rect">
            <a:avLst/>
          </a:prstGeom>
          <a:noFill/>
        </p:spPr>
        <p:txBody>
          <a:bodyPr wrap="square" lIns="24384" tIns="24384" rIns="24384" bIns="24384" anchor="t"/>
          <a:lstStyle/>
          <a:p>
            <a:pPr algn="r"/>
            <a:r>
              <a:rPr sz="1333" dirty="0">
                <a:solidFill>
                  <a:srgbClr val="404040"/>
                </a:solidFill>
                <a:latin typeface="Franklin Gothic Book"/>
                <a:cs typeface="Franklin Gothic Book"/>
              </a:rPr>
              <a:t>Shaw et al, Ann Oncol 2026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04619"/>
            <a:ext cx="8229600" cy="2239963"/>
          </a:xfrm>
        </p:spPr>
        <p:txBody>
          <a:bodyPr>
            <a:noAutofit/>
          </a:bodyPr>
          <a:lstStyle/>
          <a:p>
            <a:pPr algn="l"/>
            <a:r>
              <a:rPr lang="en-US" sz="2800" b="0">
                <a:solidFill>
                  <a:schemeClr val="tx1"/>
                </a:solidFill>
              </a:rPr>
              <a:t>70 year old man with metastatic ALK positive lung adenocarcinoma involving lung and liver.  </a:t>
            </a:r>
            <a:br>
              <a:rPr lang="en-US" sz="2800" b="0">
                <a:solidFill>
                  <a:schemeClr val="tx1"/>
                </a:solidFill>
              </a:rPr>
            </a:br>
            <a:br>
              <a:rPr lang="en-US" sz="2800" b="0">
                <a:solidFill>
                  <a:schemeClr val="tx1"/>
                </a:solidFill>
              </a:rPr>
            </a:br>
            <a:r>
              <a:rPr lang="en-US" sz="2800" b="0">
                <a:solidFill>
                  <a:schemeClr val="tx1"/>
                </a:solidFill>
              </a:rPr>
              <a:t>What is the best initial therapy?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971804"/>
            <a:ext cx="8229600" cy="31543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2800"/>
              <a:t>Carboplatin, pemetrexed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/>
              <a:t>Ceritinib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b="1"/>
              <a:t>Alectinib or Brigatinib or Lorlatinib*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/>
              <a:t>Ramucirumab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CC923-C352-0AE1-D92C-DAB606F9F469}"/>
              </a:ext>
            </a:extLst>
          </p:cNvPr>
          <p:cNvSpPr txBox="1"/>
          <p:nvPr/>
        </p:nvSpPr>
        <p:spPr>
          <a:xfrm>
            <a:off x="1413711" y="5895473"/>
            <a:ext cx="935054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2nd or 3rd generation ALK inhibitors are superior to crizotinib, but we mostly use lorlatinib now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49B4F55-C758-E2E7-A5FD-CE66DF7DA8E6}"/>
                  </a:ext>
                </a:extLst>
              </p14:cNvPr>
              <p14:cNvContentPartPr/>
              <p14:nvPr/>
            </p14:nvContentPartPr>
            <p14:xfrm>
              <a:off x="2044804" y="4127268"/>
              <a:ext cx="6085800" cy="376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49B4F55-C758-E2E7-A5FD-CE66DF7DA8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91164" y="4019268"/>
                <a:ext cx="6193440" cy="59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90736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ALK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Occurs in ~5% of patients with NSCLC</a:t>
            </a:r>
          </a:p>
          <a:p>
            <a:r>
              <a:rPr lang="en-US" sz="3200" dirty="0"/>
              <a:t>More likely in younger, never smokers</a:t>
            </a:r>
          </a:p>
          <a:p>
            <a:r>
              <a:rPr lang="en-US" sz="3200" dirty="0"/>
              <a:t>Can be identified by FISH, IHC, NGS, or ACCESS</a:t>
            </a:r>
          </a:p>
          <a:p>
            <a:r>
              <a:rPr lang="en-US" sz="3200" dirty="0"/>
              <a:t>Initial therapy:  </a:t>
            </a:r>
            <a:r>
              <a:rPr lang="en-US" sz="3200" dirty="0" err="1"/>
              <a:t>alectinib</a:t>
            </a:r>
            <a:r>
              <a:rPr lang="en-US" sz="3200" dirty="0"/>
              <a:t> or brigatinib or </a:t>
            </a:r>
            <a:r>
              <a:rPr lang="en-US" sz="3200" dirty="0" err="1"/>
              <a:t>ensartinib</a:t>
            </a:r>
            <a:r>
              <a:rPr lang="en-US" sz="3200" dirty="0"/>
              <a:t> or lorlatinib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1270437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C2562-512B-1781-9E05-0F33E7A255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969477" y="1429260"/>
            <a:ext cx="8861234" cy="4807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CBEE42-A099-A4A4-4315-3AFE9770AD76}"/>
              </a:ext>
            </a:extLst>
          </p:cNvPr>
          <p:cNvSpPr txBox="1"/>
          <p:nvPr/>
        </p:nvSpPr>
        <p:spPr>
          <a:xfrm>
            <a:off x="196947" y="6021215"/>
            <a:ext cx="4084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272524"/>
                </a:solidFill>
                <a:latin typeface="Franklin Gothic Book" panose="020B0503020102020204" pitchFamily="34" charset="0"/>
              </a:rPr>
              <a:t>AACR GENIE BPC lung, Choudhury et al, CCR 2023; </a:t>
            </a:r>
          </a:p>
          <a:p>
            <a:pPr algn="l"/>
            <a:r>
              <a:rPr lang="en-US" sz="1400" dirty="0">
                <a:solidFill>
                  <a:srgbClr val="272524"/>
                </a:solidFill>
                <a:latin typeface="Franklin Gothic Book" panose="020B0503020102020204" pitchFamily="34" charset="0"/>
              </a:rPr>
              <a:t>Data available at https://genie.cbioportal.org/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Oncogenic Drivers of Lung Cancers</a:t>
            </a:r>
          </a:p>
        </p:txBody>
      </p:sp>
    </p:spTree>
    <p:extLst>
      <p:ext uri="{BB962C8B-B14F-4D97-AF65-F5344CB8AC3E}">
        <p14:creationId xmlns:p14="http://schemas.microsoft.com/office/powerpoint/2010/main" val="2122300843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EA05C-1A1F-4145-BA28-FBB0064ED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How do oncogenic drivers work?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2A9D0F-A527-644B-850C-C9F1D3A9E6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1318712"/>
              </p:ext>
            </p:extLst>
          </p:nvPr>
        </p:nvGraphicFramePr>
        <p:xfrm>
          <a:off x="609600" y="1169068"/>
          <a:ext cx="10972800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341619222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97846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Franklin Gothic Book" panose="020B0503020102020204" pitchFamily="34" charset="0"/>
                        </a:rPr>
                        <a:t>Genomic alteration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Franklin Gothic Book" panose="020B0503020102020204" pitchFamily="34" charset="0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00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Franklin Gothic Book" panose="020B0503020102020204" pitchFamily="34" charset="0"/>
                        </a:rPr>
                        <a:t>Mutation that activates enzyme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Franklin Gothic Book" panose="020B0503020102020204" pitchFamily="34" charset="0"/>
                        </a:rPr>
                        <a:t>EGFR, HER2 (mutation), BRAF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726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Franklin Gothic Book" panose="020B0503020102020204" pitchFamily="34" charset="0"/>
                        </a:rPr>
                        <a:t>Gene fusion that leads to over-expression (e.g. low/no normal expression in a particular tissue)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Franklin Gothic Book" panose="020B0503020102020204" pitchFamily="34" charset="0"/>
                        </a:rPr>
                        <a:t>ALK   RET</a:t>
                      </a:r>
                    </a:p>
                    <a:p>
                      <a:pPr algn="ctr"/>
                      <a:r>
                        <a:rPr lang="en-US" sz="2800" dirty="0">
                          <a:latin typeface="Franklin Gothic Book" panose="020B0503020102020204" pitchFamily="34" charset="0"/>
                        </a:rPr>
                        <a:t>ROS1    NTRK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66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Franklin Gothic Book" panose="020B0503020102020204" pitchFamily="34" charset="0"/>
                        </a:rPr>
                        <a:t>Mutations that lead to protein stabilization/overexpression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Franklin Gothic Book" panose="020B0503020102020204" pitchFamily="34" charset="0"/>
                        </a:rPr>
                        <a:t>MET exon 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17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Franklin Gothic Book" panose="020B0503020102020204" pitchFamily="34" charset="0"/>
                        </a:rPr>
                        <a:t>Mutation that inactivates an enzyme (leading to activation of a pathway)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Franklin Gothic Book" panose="020B0503020102020204" pitchFamily="34" charset="0"/>
                        </a:rPr>
                        <a:t>KRAS G12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105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812462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C46BC-A696-6E5D-520B-3B28D4965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What does targeted therapy look like?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8439C-840B-4329-5EC2-761EE66B6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Single-agent, small molecule, targeted therapy </a:t>
            </a:r>
          </a:p>
          <a:p>
            <a:pPr lvl="1"/>
            <a:r>
              <a:rPr lang="en-US" sz="2800" dirty="0"/>
              <a:t>kinase inhibitor that targets wild-type protein (</a:t>
            </a:r>
            <a:r>
              <a:rPr lang="en-US" sz="2800" dirty="0" err="1"/>
              <a:t>e.g</a:t>
            </a:r>
            <a:r>
              <a:rPr lang="en-US" sz="2800" dirty="0"/>
              <a:t> ALK)</a:t>
            </a:r>
          </a:p>
          <a:p>
            <a:pPr lvl="1"/>
            <a:r>
              <a:rPr lang="en-US" sz="2800" dirty="0"/>
              <a:t>mutation-specific kinase inhibitor (e.g. EGFR)</a:t>
            </a:r>
          </a:p>
          <a:p>
            <a:r>
              <a:rPr lang="en-US" sz="2800" dirty="0"/>
              <a:t>Combination small molecule targeted therapy (BRAF/MEK)</a:t>
            </a:r>
          </a:p>
          <a:p>
            <a:r>
              <a:rPr lang="en-US" sz="2800" dirty="0"/>
              <a:t>Antibody to appropriate target (amivantamab – EGFR exon 20)</a:t>
            </a:r>
          </a:p>
          <a:p>
            <a:r>
              <a:rPr lang="en-US" sz="2800" dirty="0"/>
              <a:t>Antibody drug conjugate (ERBB2)</a:t>
            </a:r>
          </a:p>
          <a:p>
            <a:r>
              <a:rPr lang="en-US" sz="2800" dirty="0"/>
              <a:t>Chemotherapy + targeted therapy (chemo + EGFR TKI)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DF756CE-0799-F218-E3A1-9EF175028A0C}"/>
                  </a:ext>
                </a:extLst>
              </p14:cNvPr>
              <p14:cNvContentPartPr/>
              <p14:nvPr/>
            </p14:nvContentPartPr>
            <p14:xfrm>
              <a:off x="9173164" y="3949428"/>
              <a:ext cx="671400" cy="478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DF756CE-0799-F218-E3A1-9EF175028A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55524" y="3931788"/>
                <a:ext cx="707040" cy="51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7B4D62BE-4417-1BC7-C7AA-EF3FB9499E6E}"/>
              </a:ext>
            </a:extLst>
          </p:cNvPr>
          <p:cNvGrpSpPr/>
          <p:nvPr/>
        </p:nvGrpSpPr>
        <p:grpSpPr>
          <a:xfrm>
            <a:off x="8200084" y="1369668"/>
            <a:ext cx="2769480" cy="1010520"/>
            <a:chOff x="8200084" y="1369668"/>
            <a:chExt cx="2769480" cy="10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9D75B5-5758-4AB7-D47C-4966ED13A82D}"/>
                    </a:ext>
                  </a:extLst>
                </p14:cNvPr>
                <p14:cNvContentPartPr/>
                <p14:nvPr/>
              </p14:nvContentPartPr>
              <p14:xfrm>
                <a:off x="9497884" y="1369668"/>
                <a:ext cx="1471680" cy="474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9D75B5-5758-4AB7-D47C-4966ED13A82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80244" y="1351668"/>
                  <a:ext cx="150732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43F43C0-FCFC-9D35-8572-B30708EA920E}"/>
                    </a:ext>
                  </a:extLst>
                </p14:cNvPr>
                <p14:cNvContentPartPr/>
                <p14:nvPr/>
              </p14:nvContentPartPr>
              <p14:xfrm>
                <a:off x="8200084" y="1846668"/>
                <a:ext cx="760680" cy="533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43F43C0-FCFC-9D35-8572-B30708EA92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82084" y="1829028"/>
                  <a:ext cx="796320" cy="569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7955141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i="1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BRAF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mutant NSCLC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020" y="1785655"/>
            <a:ext cx="6054658" cy="4316412"/>
          </a:xfrm>
        </p:spPr>
        <p:txBody>
          <a:bodyPr/>
          <a:lstStyle/>
          <a:p>
            <a:r>
              <a:rPr lang="en-US" sz="2400" dirty="0">
                <a:cs typeface="Arial"/>
              </a:rPr>
              <a:t>1-2% of NSCLC</a:t>
            </a:r>
          </a:p>
          <a:p>
            <a:r>
              <a:rPr lang="en-US" sz="2400" dirty="0">
                <a:cs typeface="Arial"/>
              </a:rPr>
              <a:t>More common in current/former cigarette smokers</a:t>
            </a:r>
          </a:p>
          <a:p>
            <a:r>
              <a:rPr lang="en-US" sz="2400" dirty="0">
                <a:cs typeface="Arial"/>
              </a:rPr>
              <a:t>V600E mutations &lt;50% of mutations</a:t>
            </a:r>
          </a:p>
          <a:p>
            <a:r>
              <a:rPr lang="en-US" sz="2400" dirty="0">
                <a:cs typeface="Arial"/>
              </a:rPr>
              <a:t>Non-V600E often lower activity, not likely to respond to BRAF inhibitors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69684" y="6223003"/>
            <a:ext cx="4230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Litvak, Journal of Thoracic Oncology 2014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9C17765-2B03-356D-0C0B-3FC8EF1739B3}"/>
              </a:ext>
            </a:extLst>
          </p:cNvPr>
          <p:cNvGrpSpPr/>
          <p:nvPr/>
        </p:nvGrpSpPr>
        <p:grpSpPr>
          <a:xfrm>
            <a:off x="6577322" y="1711327"/>
            <a:ext cx="3633480" cy="3806833"/>
            <a:chOff x="6577322" y="1711327"/>
            <a:chExt cx="3633480" cy="3806833"/>
          </a:xfrm>
        </p:grpSpPr>
        <p:grpSp>
          <p:nvGrpSpPr>
            <p:cNvPr id="7" name="Group 6"/>
            <p:cNvGrpSpPr/>
            <p:nvPr/>
          </p:nvGrpSpPr>
          <p:grpSpPr>
            <a:xfrm>
              <a:off x="6577322" y="1741437"/>
              <a:ext cx="3633480" cy="3776723"/>
              <a:chOff x="5559102" y="1304783"/>
              <a:chExt cx="2880840" cy="2670942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619905" y="1339241"/>
                <a:ext cx="2820037" cy="2636484"/>
              </a:xfrm>
              <a:prstGeom prst="rect">
                <a:avLst/>
              </a:prstGeom>
            </p:spPr>
          </p:pic>
          <p:sp>
            <p:nvSpPr>
              <p:cNvPr id="6" name="Rectangle 5"/>
              <p:cNvSpPr/>
              <p:nvPr/>
            </p:nvSpPr>
            <p:spPr>
              <a:xfrm>
                <a:off x="5559102" y="1304783"/>
                <a:ext cx="146414" cy="2611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 anchor="ctr">
                <a:spAutoFit/>
              </a:bodyPr>
              <a:lstStyle/>
              <a:p>
                <a:pPr algn="ctr"/>
                <a:endParaRPr lang="en-US" dirty="0">
                  <a:solidFill>
                    <a:prstClr val="black"/>
                  </a:solidFill>
                  <a:latin typeface="Franklin Gothic Book" panose="020B0503020102020204" pitchFamily="34" charset="0"/>
                </a:endParaRP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EDF6DB-9199-2F65-2C74-FBBA774E0DD6}"/>
                </a:ext>
              </a:extLst>
            </p:cNvPr>
            <p:cNvSpPr/>
            <p:nvPr/>
          </p:nvSpPr>
          <p:spPr>
            <a:xfrm>
              <a:off x="6577322" y="1711327"/>
              <a:ext cx="450799" cy="5002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466849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15-10-15 02.06.3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2133600"/>
            <a:ext cx="6144775" cy="27939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33409" y="6245002"/>
            <a:ext cx="2596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Hyman et al, NEJM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1549" y="2722985"/>
            <a:ext cx="2339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</a:rPr>
              <a:t>Response Rate = 42%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C9CF79-021E-EF40-9000-7519DE2FC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193829"/>
            <a:ext cx="4880179" cy="46512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1D3930-6326-ED47-A3B5-3A80F609A4F0}"/>
              </a:ext>
            </a:extLst>
          </p:cNvPr>
          <p:cNvSpPr txBox="1"/>
          <p:nvPr/>
        </p:nvSpPr>
        <p:spPr>
          <a:xfrm>
            <a:off x="8638705" y="6245002"/>
            <a:ext cx="327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Franklin Gothic Book" panose="020B0503020102020204" pitchFamily="34" charset="0"/>
                <a:cs typeface="Arial Narrow"/>
              </a:rPr>
              <a:t>Planchard</a:t>
            </a:r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  <a:cs typeface="Arial Narrow"/>
              </a:rPr>
              <a:t> et al, Lanc </a:t>
            </a:r>
            <a:r>
              <a:rPr lang="en-US" dirty="0" err="1">
                <a:solidFill>
                  <a:prstClr val="black"/>
                </a:solidFill>
                <a:latin typeface="Franklin Gothic Book" panose="020B0503020102020204" pitchFamily="34" charset="0"/>
                <a:cs typeface="Arial Narrow"/>
              </a:rPr>
              <a:t>Onc</a:t>
            </a:r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  <a:cs typeface="Arial Narrow"/>
              </a:rPr>
              <a:t> 2016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8A9136-63F8-E349-928F-00353863EF31}"/>
              </a:ext>
            </a:extLst>
          </p:cNvPr>
          <p:cNvSpPr txBox="1"/>
          <p:nvPr/>
        </p:nvSpPr>
        <p:spPr>
          <a:xfrm>
            <a:off x="8636646" y="2587965"/>
            <a:ext cx="3066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  <a:cs typeface="Arial Narrow"/>
              </a:rPr>
              <a:t>Overall Response Rate – 33%</a:t>
            </a:r>
          </a:p>
          <a:p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  <a:cs typeface="Arial Narrow"/>
              </a:rPr>
              <a:t>median PFS &lt; 6 months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FDF75-D5FB-8B47-A365-F5A074458D37}"/>
              </a:ext>
            </a:extLst>
          </p:cNvPr>
          <p:cNvSpPr txBox="1"/>
          <p:nvPr/>
        </p:nvSpPr>
        <p:spPr>
          <a:xfrm>
            <a:off x="2286000" y="1828800"/>
            <a:ext cx="1400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vemurafenib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8F716-FDE5-D149-8C8B-713052BCB69E}"/>
              </a:ext>
            </a:extLst>
          </p:cNvPr>
          <p:cNvSpPr txBox="1"/>
          <p:nvPr/>
        </p:nvSpPr>
        <p:spPr>
          <a:xfrm>
            <a:off x="8632333" y="1948934"/>
            <a:ext cx="1236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dabrafenib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Single-agent BRAF inhibitors in Patients with </a:t>
            </a:r>
            <a:r>
              <a:rPr lang="en-US" sz="2800" b="0" i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BRAF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V600E NSCLC</a:t>
            </a:r>
          </a:p>
        </p:txBody>
      </p:sp>
    </p:spTree>
    <p:extLst>
      <p:ext uri="{BB962C8B-B14F-4D97-AF65-F5344CB8AC3E}">
        <p14:creationId xmlns:p14="http://schemas.microsoft.com/office/powerpoint/2010/main" val="77737170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CA0AE7-6E5C-F822-FBC8-9E974FE0F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464" y="1373332"/>
            <a:ext cx="6163735" cy="46042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683210-B481-B2E0-A546-14168D58F618}"/>
              </a:ext>
            </a:extLst>
          </p:cNvPr>
          <p:cNvSpPr txBox="1"/>
          <p:nvPr/>
        </p:nvSpPr>
        <p:spPr>
          <a:xfrm>
            <a:off x="8386215" y="6399564"/>
            <a:ext cx="359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Subbiah et al, Trends in Cancer 2020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0785A-00EC-29AA-06CC-D89D8979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Perhaps dual-targeting of BRAF and MEK will improve outcomes</a:t>
            </a:r>
          </a:p>
        </p:txBody>
      </p:sp>
    </p:spTree>
    <p:extLst>
      <p:ext uri="{BB962C8B-B14F-4D97-AF65-F5344CB8AC3E}">
        <p14:creationId xmlns:p14="http://schemas.microsoft.com/office/powerpoint/2010/main" val="3330005835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57200" y="228600"/>
            <a:ext cx="11274552" cy="1051560"/>
          </a:xfrm>
          <a:prstGeom prst="rect">
            <a:avLst/>
          </a:prstGeom>
        </p:spPr>
        <p:txBody>
          <a:bodyPr wrap="square" lIns="45720" tIns="45720" rIns="45720" bIns="45720" rtlCol="0" anchor="t">
            <a:noAutofit/>
          </a:bodyPr>
          <a:lstStyle>
            <a:lvl1pPr algn="l" defTabSz="4572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3200" b="1" kern="1200">
                <a:solidFill>
                  <a:srgbClr val="0C606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Dual BRAF/MEK inhibition in </a:t>
            </a:r>
            <a:r>
              <a:rPr lang="en-US" sz="2800" b="0" i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BRAF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V600E mutant NSCLC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127" y="2701942"/>
            <a:ext cx="4438947" cy="313695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65326" y="1716148"/>
            <a:ext cx="30572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Franklin Gothic Book" panose="020B0503020102020204" pitchFamily="34" charset="0"/>
              </a:rPr>
              <a:t>Response Rate 63%</a:t>
            </a:r>
          </a:p>
          <a:p>
            <a:r>
              <a:rPr lang="en-US" sz="2400" dirty="0">
                <a:solidFill>
                  <a:prstClr val="black"/>
                </a:solidFill>
                <a:latin typeface="Franklin Gothic Book" panose="020B0503020102020204" pitchFamily="34" charset="0"/>
              </a:rPr>
              <a:t>median PFS 9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5064" y="6380479"/>
            <a:ext cx="532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Franklin Gothic Book" panose="020B0503020102020204" pitchFamily="34" charset="0"/>
                <a:cs typeface="Arial Narrow"/>
              </a:rPr>
              <a:t>Planchard</a:t>
            </a:r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  <a:cs typeface="Arial Narrow"/>
              </a:rPr>
              <a:t> et al, Lanc </a:t>
            </a:r>
            <a:r>
              <a:rPr lang="en-US" dirty="0" err="1">
                <a:solidFill>
                  <a:prstClr val="black"/>
                </a:solidFill>
                <a:latin typeface="Franklin Gothic Book" panose="020B0503020102020204" pitchFamily="34" charset="0"/>
                <a:cs typeface="Arial Narrow"/>
              </a:rPr>
              <a:t>Onc</a:t>
            </a:r>
            <a:r>
              <a:rPr lang="en-US" dirty="0">
                <a:solidFill>
                  <a:prstClr val="black"/>
                </a:solidFill>
                <a:latin typeface="Franklin Gothic Book" panose="020B0503020102020204" pitchFamily="34" charset="0"/>
                <a:cs typeface="Arial Narrow"/>
              </a:rPr>
              <a:t> 2016, Riely et al JCO 2023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993CAA-1EA3-2BAA-6CB8-5A3B3D80A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469" y="2701942"/>
            <a:ext cx="5625953" cy="2921323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C240DAF-8144-F5D0-FBF4-FA98075B8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976294"/>
              </p:ext>
            </p:extLst>
          </p:nvPr>
        </p:nvGraphicFramePr>
        <p:xfrm>
          <a:off x="7144782" y="1716148"/>
          <a:ext cx="4067529" cy="6609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7529">
                  <a:extLst>
                    <a:ext uri="{9D8B030D-6E8A-4147-A177-3AD203B41FA5}">
                      <a16:colId xmlns:a16="http://schemas.microsoft.com/office/drawing/2014/main" val="2705560446"/>
                    </a:ext>
                  </a:extLst>
                </a:gridCol>
              </a:tblGrid>
              <a:tr h="66090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Franklin Gothic Book" panose="020B0503020102020204" pitchFamily="34" charset="0"/>
                        </a:rPr>
                        <a:t>Response rate 75% (95% CI: 62-85)</a:t>
                      </a:r>
                    </a:p>
                  </a:txBody>
                  <a:tcPr marL="121920" marR="121920" marT="0" marB="0" anchor="ctr"/>
                </a:tc>
                <a:extLst>
                  <a:ext uri="{0D108BD9-81ED-4DB2-BD59-A6C34878D82A}">
                    <a16:rowId xmlns:a16="http://schemas.microsoft.com/office/drawing/2014/main" val="55909374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2380B99-D29C-9F82-881F-F1C2F71683E2}"/>
              </a:ext>
            </a:extLst>
          </p:cNvPr>
          <p:cNvSpPr txBox="1"/>
          <p:nvPr/>
        </p:nvSpPr>
        <p:spPr>
          <a:xfrm>
            <a:off x="7892160" y="5766218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/>
              <a:t>encorafenib</a:t>
            </a:r>
            <a:r>
              <a:rPr lang="en-US"/>
              <a:t>/</a:t>
            </a:r>
            <a:r>
              <a:rPr lang="en-US" err="1"/>
              <a:t>binimetinib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E9D94-9287-C66E-8375-208F51EF1CFE}"/>
              </a:ext>
            </a:extLst>
          </p:cNvPr>
          <p:cNvSpPr txBox="1"/>
          <p:nvPr/>
        </p:nvSpPr>
        <p:spPr>
          <a:xfrm>
            <a:off x="1847741" y="5718624"/>
            <a:ext cx="2743199" cy="3693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dabrafenib/trametinib</a:t>
            </a:r>
          </a:p>
        </p:txBody>
      </p:sp>
    </p:spTree>
    <p:extLst>
      <p:ext uri="{BB962C8B-B14F-4D97-AF65-F5344CB8AC3E}">
        <p14:creationId xmlns:p14="http://schemas.microsoft.com/office/powerpoint/2010/main" val="287157945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C2562-512B-1781-9E05-0F33E7A255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455460" y="1452252"/>
            <a:ext cx="8861234" cy="4807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CBEE42-A099-A4A4-4315-3AFE9770AD76}"/>
              </a:ext>
            </a:extLst>
          </p:cNvPr>
          <p:cNvSpPr txBox="1"/>
          <p:nvPr/>
        </p:nvSpPr>
        <p:spPr>
          <a:xfrm>
            <a:off x="196947" y="6021215"/>
            <a:ext cx="4084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272524"/>
                </a:solidFill>
                <a:latin typeface="Franklin Gothic Book" panose="020B0503020102020204" pitchFamily="34" charset="0"/>
              </a:rPr>
              <a:t>AACR GENIE BPC lung, Choudhury et al, CCR 2023; </a:t>
            </a:r>
          </a:p>
          <a:p>
            <a:pPr algn="l"/>
            <a:r>
              <a:rPr lang="en-US" sz="1400" dirty="0">
                <a:solidFill>
                  <a:srgbClr val="272524"/>
                </a:solidFill>
                <a:latin typeface="Franklin Gothic Book" panose="020B0503020102020204" pitchFamily="34" charset="0"/>
              </a:rPr>
              <a:t>Data available at https://genie.cbioportal.org/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BE3886-39CD-2FF0-6861-8D6184619A8F}"/>
              </a:ext>
            </a:extLst>
          </p:cNvPr>
          <p:cNvSpPr/>
          <p:nvPr/>
        </p:nvSpPr>
        <p:spPr>
          <a:xfrm>
            <a:off x="8483936" y="4177345"/>
            <a:ext cx="1832758" cy="522246"/>
          </a:xfrm>
          <a:prstGeom prst="rect">
            <a:avLst/>
          </a:prstGeom>
          <a:noFill/>
          <a:ln w="4762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Oncogenic Drivers of Lung Cancers</a:t>
            </a:r>
          </a:p>
        </p:txBody>
      </p:sp>
    </p:spTree>
    <p:extLst>
      <p:ext uri="{BB962C8B-B14F-4D97-AF65-F5344CB8AC3E}">
        <p14:creationId xmlns:p14="http://schemas.microsoft.com/office/powerpoint/2010/main" val="1633173270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582F6A-59A6-2043-8E28-358FCEF0C43F}"/>
              </a:ext>
            </a:extLst>
          </p:cNvPr>
          <p:cNvSpPr txBox="1"/>
          <p:nvPr/>
        </p:nvSpPr>
        <p:spPr>
          <a:xfrm>
            <a:off x="8229601" y="6263641"/>
            <a:ext cx="2738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anklin Gothic Book" panose="020B0503020102020204" pitchFamily="34" charset="0"/>
              </a:rPr>
              <a:t>Li et al, NEJM 2022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033BC7-0F35-4049-B581-A68BD7FB9E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35" b="1"/>
          <a:stretch/>
        </p:blipFill>
        <p:spPr>
          <a:xfrm>
            <a:off x="3381153" y="2314901"/>
            <a:ext cx="8629308" cy="34368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28BDF4-C48E-419A-A932-A35252071F10}"/>
              </a:ext>
            </a:extLst>
          </p:cNvPr>
          <p:cNvSpPr txBox="1"/>
          <p:nvPr/>
        </p:nvSpPr>
        <p:spPr>
          <a:xfrm>
            <a:off x="7304567" y="4051499"/>
            <a:ext cx="214680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Response Rate 55%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B9851A-3D2E-90F7-8E2B-82EC60EAE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6580" y="2314901"/>
            <a:ext cx="3404187" cy="22494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B93FE3-9DEC-4454-9C29-E22DF9C9C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Trastuzumab </a:t>
            </a:r>
            <a:r>
              <a:rPr lang="en-US" sz="28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Deruxtecan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in Patients with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Her2 </a:t>
            </a:r>
            <a:r>
              <a:rPr lang="en-US" sz="2800" b="0" u="sng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Mutated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</a:t>
            </a:r>
            <a:r>
              <a:rPr lang="en-US" sz="2800" b="0" u="sng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NSCLC</a:t>
            </a:r>
          </a:p>
        </p:txBody>
      </p:sp>
    </p:spTree>
    <p:extLst>
      <p:ext uri="{BB962C8B-B14F-4D97-AF65-F5344CB8AC3E}">
        <p14:creationId xmlns:p14="http://schemas.microsoft.com/office/powerpoint/2010/main" val="2928384967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73E6EBE6-803B-4629-3D1C-B29076B94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8996" y="1679382"/>
            <a:ext cx="3077004" cy="3305636"/>
          </a:xfrm>
          <a:prstGeom prst="rect">
            <a:avLst/>
          </a:prstGeom>
        </p:spPr>
      </p:pic>
      <p:pic>
        <p:nvPicPr>
          <p:cNvPr id="7" name="Picture 6" descr="A graph of a survival curve&#10;&#10;AI-generated content may be incorrect.">
            <a:extLst>
              <a:ext uri="{FF2B5EF4-FFF2-40B4-BE49-F238E27FC236}">
                <a16:creationId xmlns:a16="http://schemas.microsoft.com/office/drawing/2014/main" id="{FEE8E6C9-CD1D-CB4B-A1B0-FB68383C05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8569" y="1679382"/>
            <a:ext cx="4944165" cy="3296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55B9A1-0255-D7B7-D927-FC92B7A5C0C8}"/>
              </a:ext>
            </a:extLst>
          </p:cNvPr>
          <p:cNvSpPr txBox="1"/>
          <p:nvPr/>
        </p:nvSpPr>
        <p:spPr>
          <a:xfrm>
            <a:off x="8920716" y="6156251"/>
            <a:ext cx="2882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asis MT Pro" panose="02040504050005020304" pitchFamily="18" charset="0"/>
              </a:rPr>
              <a:t>Heymach et al, NEJM 2025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6D204DA-E52C-0DEA-57D7-9C008E9F0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7427" y="1679382"/>
            <a:ext cx="2771569" cy="2771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FBED2C-A728-7F31-15DD-7560AAD05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Zongertinib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with efficacy in ERBB2 (HER2) mutant NSCLC</a:t>
            </a:r>
          </a:p>
        </p:txBody>
      </p:sp>
    </p:spTree>
    <p:extLst>
      <p:ext uri="{BB962C8B-B14F-4D97-AF65-F5344CB8AC3E}">
        <p14:creationId xmlns:p14="http://schemas.microsoft.com/office/powerpoint/2010/main" val="198138917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C2562-512B-1781-9E05-0F33E7A255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455460" y="1452252"/>
            <a:ext cx="8861234" cy="4807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CBEE42-A099-A4A4-4315-3AFE9770AD76}"/>
              </a:ext>
            </a:extLst>
          </p:cNvPr>
          <p:cNvSpPr txBox="1"/>
          <p:nvPr/>
        </p:nvSpPr>
        <p:spPr>
          <a:xfrm>
            <a:off x="196947" y="6021215"/>
            <a:ext cx="4084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272524"/>
                </a:solidFill>
                <a:latin typeface="Franklin Gothic Book" panose="020B0503020102020204" pitchFamily="34" charset="0"/>
              </a:rPr>
              <a:t>AACR GENIE BPC lung, Choudhury et al, CCR 2023; </a:t>
            </a:r>
          </a:p>
          <a:p>
            <a:pPr algn="l"/>
            <a:r>
              <a:rPr lang="en-US" sz="1400" dirty="0">
                <a:solidFill>
                  <a:srgbClr val="272524"/>
                </a:solidFill>
                <a:latin typeface="Franklin Gothic Book" panose="020B0503020102020204" pitchFamily="34" charset="0"/>
              </a:rPr>
              <a:t>Data available at https://genie.cbioportal.org/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BE3886-39CD-2FF0-6861-8D6184619A8F}"/>
              </a:ext>
            </a:extLst>
          </p:cNvPr>
          <p:cNvSpPr/>
          <p:nvPr/>
        </p:nvSpPr>
        <p:spPr>
          <a:xfrm>
            <a:off x="8077725" y="2178424"/>
            <a:ext cx="1832758" cy="295835"/>
          </a:xfrm>
          <a:prstGeom prst="rect">
            <a:avLst/>
          </a:prstGeom>
          <a:noFill/>
          <a:ln w="4762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Oncogenic Drivers of Lung Cancers</a:t>
            </a:r>
          </a:p>
        </p:txBody>
      </p:sp>
    </p:spTree>
    <p:extLst>
      <p:ext uri="{BB962C8B-B14F-4D97-AF65-F5344CB8AC3E}">
        <p14:creationId xmlns:p14="http://schemas.microsoft.com/office/powerpoint/2010/main" val="2979713727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178FF2-C153-42B3-882E-34B9A2C55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2000" y="1734097"/>
            <a:ext cx="6227145" cy="269666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6721F5F-BC15-4CFC-832B-4C377DF148E3}"/>
              </a:ext>
            </a:extLst>
          </p:cNvPr>
          <p:cNvSpPr txBox="1"/>
          <p:nvPr/>
        </p:nvSpPr>
        <p:spPr>
          <a:xfrm>
            <a:off x="6949440" y="6398694"/>
            <a:ext cx="4527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Park et al, JCO 2021/prescribing information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4C8E03-4A7E-4FCF-86C4-727E8AB08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437" y="2757237"/>
            <a:ext cx="4495800" cy="24479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8949CA-0A65-ACC2-5041-3A8AF4CF4994}"/>
              </a:ext>
            </a:extLst>
          </p:cNvPr>
          <p:cNvSpPr txBox="1"/>
          <p:nvPr/>
        </p:nvSpPr>
        <p:spPr>
          <a:xfrm>
            <a:off x="1814763" y="5735053"/>
            <a:ext cx="51695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Single-agent data led to FDA accelerated approval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80305-7D4D-4948-B3C0-548038AC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Single-agent amivantamab in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patients with EGFR exon 20 insertion NSCLC</a:t>
            </a:r>
          </a:p>
        </p:txBody>
      </p:sp>
    </p:spTree>
    <p:extLst>
      <p:ext uri="{BB962C8B-B14F-4D97-AF65-F5344CB8AC3E}">
        <p14:creationId xmlns:p14="http://schemas.microsoft.com/office/powerpoint/2010/main" val="36755143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30DF53-FC81-9461-25DF-CEAC99773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258" y="1716910"/>
            <a:ext cx="6045507" cy="4030108"/>
          </a:xfrm>
          <a:prstGeom prst="rect">
            <a:avLst/>
          </a:prstGeom>
        </p:spPr>
      </p:pic>
      <p:cxnSp>
        <p:nvCxnSpPr>
          <p:cNvPr id="6" name="AutoShape 29">
            <a:extLst>
              <a:ext uri="{FF2B5EF4-FFF2-40B4-BE49-F238E27FC236}">
                <a16:creationId xmlns:a16="http://schemas.microsoft.com/office/drawing/2014/main" id="{7CC8B8E3-D339-D629-01CC-5606031BC5E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54093" y="2702601"/>
            <a:ext cx="460375" cy="1096433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30">
            <a:extLst>
              <a:ext uri="{FF2B5EF4-FFF2-40B4-BE49-F238E27FC236}">
                <a16:creationId xmlns:a16="http://schemas.microsoft.com/office/drawing/2014/main" id="{3AA5CA79-614D-70AE-9D58-BBCC8E31C9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54093" y="3243834"/>
            <a:ext cx="460375" cy="12065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2" name="AutoShape 5">
            <a:extLst>
              <a:ext uri="{FF2B5EF4-FFF2-40B4-BE49-F238E27FC236}">
                <a16:creationId xmlns:a16="http://schemas.microsoft.com/office/drawing/2014/main" id="{0E51FCDD-DD2E-2B1D-D150-2DCAFB989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83" y="2758474"/>
            <a:ext cx="2604251" cy="1513375"/>
          </a:xfrm>
          <a:prstGeom prst="roundRect">
            <a:avLst>
              <a:gd name="adj" fmla="val 4031"/>
            </a:avLst>
          </a:prstGeom>
          <a:solidFill>
            <a:schemeClr val="accent5">
              <a:lumMod val="20000"/>
              <a:lumOff val="80000"/>
            </a:schemeClr>
          </a:solidFill>
          <a:ln w="12700" algn="ctr">
            <a:noFill/>
            <a:round/>
            <a:headEnd/>
            <a:tailEnd/>
          </a:ln>
        </p:spPr>
        <p:txBody>
          <a:bodyPr lIns="91440" tIns="45720" rIns="91440" bIns="45720" anchor="ctr"/>
          <a:lstStyle>
            <a:lvl1pPr marL="176213" indent="-176213">
              <a:spcBef>
                <a:spcPct val="50000"/>
              </a:spcBef>
              <a:buClr>
                <a:srgbClr val="6A263F"/>
              </a:buClr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A263F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A263F"/>
              </a:buClr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A263F"/>
              </a:buClr>
              <a:buChar char="–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9pPr>
          </a:lstStyle>
          <a:p>
            <a:pPr marL="175895" indent="-175895" eaLnBrk="1" hangingPunct="1">
              <a:lnSpc>
                <a:spcPct val="95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altLang="en-US" sz="1850" b="1" dirty="0">
                <a:latin typeface="Franklin Gothic Book" panose="020B0503020102020204" pitchFamily="34" charset="0"/>
                <a:ea typeface="HGPｺﾞｼｯｸE"/>
                <a:cs typeface="Tahoma"/>
              </a:rPr>
              <a:t>Stage IV or recurrent NSCLC</a:t>
            </a:r>
            <a:endParaRPr lang="en-US" dirty="0">
              <a:latin typeface="Franklin Gothic Book" panose="020B0503020102020204" pitchFamily="34" charset="0"/>
            </a:endParaRPr>
          </a:p>
          <a:p>
            <a:pPr marL="175895" indent="-175895">
              <a:lnSpc>
                <a:spcPct val="95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altLang="en-US" sz="1850" b="1" dirty="0">
                <a:latin typeface="Franklin Gothic Book" panose="020B0503020102020204" pitchFamily="34" charset="0"/>
                <a:ea typeface="HGPｺﾞｼｯｸE"/>
                <a:cs typeface="Tahoma"/>
              </a:rPr>
              <a:t>EGFR Exon 20 insertion</a:t>
            </a:r>
          </a:p>
          <a:p>
            <a:pPr marL="175895" indent="-175895">
              <a:lnSpc>
                <a:spcPct val="95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altLang="en-US" sz="1850" b="1" dirty="0">
                <a:latin typeface="Franklin Gothic Book" panose="020B0503020102020204" pitchFamily="34" charset="0"/>
                <a:ea typeface="HGPｺﾞｼｯｸE"/>
                <a:cs typeface="Tahoma"/>
              </a:rPr>
              <a:t>no prior therapy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B37413E3-6810-8AB4-CAC6-BE74F8358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9646" y="4062137"/>
            <a:ext cx="2520000" cy="774796"/>
          </a:xfrm>
          <a:prstGeom prst="roundRect">
            <a:avLst>
              <a:gd name="adj" fmla="val 8301"/>
            </a:avLst>
          </a:prstGeom>
          <a:solidFill>
            <a:schemeClr val="bg1">
              <a:lumMod val="85000"/>
            </a:schemeClr>
          </a:solidFill>
          <a:ln w="12700" algn="ctr">
            <a:noFill/>
            <a:round/>
            <a:headEnd/>
            <a:tailEnd/>
          </a:ln>
        </p:spPr>
        <p:txBody>
          <a:bodyPr lIns="91440" tIns="45720" rIns="91440" bIns="45720" anchor="ctr"/>
          <a:lstStyle>
            <a:lvl1pPr>
              <a:spcBef>
                <a:spcPct val="50000"/>
              </a:spcBef>
              <a:buClr>
                <a:srgbClr val="6A263F"/>
              </a:buClr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A263F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A263F"/>
              </a:buClr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A263F"/>
              </a:buClr>
              <a:buChar char="–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en-US" sz="1850" b="1" dirty="0">
                <a:latin typeface="Franklin Gothic Book" panose="020B0503020102020204" pitchFamily="34" charset="0"/>
                <a:ea typeface="HGPｺﾞｼｯｸE"/>
                <a:cs typeface="Tahoma"/>
              </a:rPr>
              <a:t>Chemotherapy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16" name="AutoShape 10">
            <a:extLst>
              <a:ext uri="{FF2B5EF4-FFF2-40B4-BE49-F238E27FC236}">
                <a16:creationId xmlns:a16="http://schemas.microsoft.com/office/drawing/2014/main" id="{B5029210-7974-062A-8CDE-5626B47A5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838" y="2211751"/>
            <a:ext cx="2510820" cy="976772"/>
          </a:xfrm>
          <a:prstGeom prst="roundRect">
            <a:avLst>
              <a:gd name="adj" fmla="val 8617"/>
            </a:avLst>
          </a:prstGeom>
          <a:solidFill>
            <a:schemeClr val="accent1">
              <a:lumMod val="20000"/>
              <a:lumOff val="80000"/>
            </a:schemeClr>
          </a:solidFill>
          <a:ln w="12700" algn="ctr">
            <a:noFill/>
            <a:round/>
            <a:headEnd/>
            <a:tailEnd/>
          </a:ln>
        </p:spPr>
        <p:txBody>
          <a:bodyPr lIns="91440" tIns="45720" rIns="91440" bIns="45720" anchor="ctr"/>
          <a:lstStyle>
            <a:lvl1pPr>
              <a:spcBef>
                <a:spcPct val="50000"/>
              </a:spcBef>
              <a:buClr>
                <a:srgbClr val="6A263F"/>
              </a:buClr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A263F"/>
              </a:buClr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A263F"/>
              </a:buClr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A263F"/>
              </a:buClr>
              <a:buChar char="–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A263F"/>
              </a:buClr>
              <a:buChar char="»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en-US" sz="1850" b="1" dirty="0">
                <a:latin typeface="Franklin Gothic Book" panose="020B0503020102020204" pitchFamily="34" charset="0"/>
                <a:ea typeface="HGPｺﾞｼｯｸE"/>
                <a:cs typeface="Tahoma"/>
              </a:rPr>
              <a:t>Chemotherapy + Amivantamab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50232-AE0D-8C7B-E112-B0AEBF573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Amivantamab + Chemotherapy improves PFS compared with Chemotherapy alone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81F8E-D758-E470-6349-2BB4D4ECD492}"/>
              </a:ext>
            </a:extLst>
          </p:cNvPr>
          <p:cNvSpPr txBox="1"/>
          <p:nvPr/>
        </p:nvSpPr>
        <p:spPr>
          <a:xfrm>
            <a:off x="8760542" y="6312310"/>
            <a:ext cx="230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Zhou et al, NEJM 2023</a:t>
            </a:r>
          </a:p>
        </p:txBody>
      </p:sp>
    </p:spTree>
    <p:extLst>
      <p:ext uri="{BB962C8B-B14F-4D97-AF65-F5344CB8AC3E}">
        <p14:creationId xmlns:p14="http://schemas.microsoft.com/office/powerpoint/2010/main" val="725232271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C2562-512B-1781-9E05-0F33E7A255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455460" y="1452252"/>
            <a:ext cx="8861234" cy="4807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CBEE42-A099-A4A4-4315-3AFE9770AD76}"/>
              </a:ext>
            </a:extLst>
          </p:cNvPr>
          <p:cNvSpPr txBox="1"/>
          <p:nvPr/>
        </p:nvSpPr>
        <p:spPr>
          <a:xfrm>
            <a:off x="196947" y="6021215"/>
            <a:ext cx="4084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272524"/>
                </a:solidFill>
                <a:latin typeface="Franklin Gothic Book" panose="020B0503020102020204" pitchFamily="34" charset="0"/>
              </a:rPr>
              <a:t>AACR GENIE BPC lung, Choudhury et al, CCR 2023; </a:t>
            </a:r>
          </a:p>
          <a:p>
            <a:pPr algn="l"/>
            <a:r>
              <a:rPr lang="en-US" sz="1400" dirty="0">
                <a:solidFill>
                  <a:srgbClr val="272524"/>
                </a:solidFill>
                <a:latin typeface="Franklin Gothic Book" panose="020B0503020102020204" pitchFamily="34" charset="0"/>
              </a:rPr>
              <a:t>Data available at https://genie.cbioportal.org/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BE3886-39CD-2FF0-6861-8D6184619A8F}"/>
              </a:ext>
            </a:extLst>
          </p:cNvPr>
          <p:cNvSpPr/>
          <p:nvPr/>
        </p:nvSpPr>
        <p:spPr>
          <a:xfrm>
            <a:off x="8292878" y="5056094"/>
            <a:ext cx="1832758" cy="295835"/>
          </a:xfrm>
          <a:prstGeom prst="rect">
            <a:avLst/>
          </a:prstGeom>
          <a:noFill/>
          <a:ln w="4762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Oncogenic Drivers of Lung Cancers</a:t>
            </a:r>
          </a:p>
        </p:txBody>
      </p:sp>
    </p:spTree>
    <p:extLst>
      <p:ext uri="{BB962C8B-B14F-4D97-AF65-F5344CB8AC3E}">
        <p14:creationId xmlns:p14="http://schemas.microsoft.com/office/powerpoint/2010/main" val="115522416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646C9-2A76-C954-AAB2-E496574BF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65 year old woman with metastatic NSCLC</a:t>
            </a:r>
          </a:p>
          <a:p>
            <a:r>
              <a:rPr lang="en-US" sz="2800" dirty="0"/>
              <a:t>PD-L1 negative</a:t>
            </a:r>
          </a:p>
          <a:p>
            <a:r>
              <a:rPr lang="en-US" sz="2800" dirty="0"/>
              <a:t>KRAS G12C mutation</a:t>
            </a:r>
          </a:p>
          <a:p>
            <a:r>
              <a:rPr lang="en-US" sz="2800" dirty="0"/>
              <a:t>No brain metastases</a:t>
            </a:r>
          </a:p>
          <a:p>
            <a:r>
              <a:rPr lang="en-US" sz="2800" dirty="0"/>
              <a:t>Progresses on first-line carboplatin, pemetrexed, pembrolizumab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What is best choice for next-line systemic therapy?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Afatinib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Carboplatin/paclitaxel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Adagrasib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Cemiplimab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Docetaxel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37059190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6804-8485-C843-B964-FF392E282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KRAS mutant NSCLC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4FE86-758D-1049-BEB6-01096A429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~25% of Patients with NSCLC have KRAS mutations</a:t>
            </a:r>
          </a:p>
          <a:p>
            <a:endParaRPr lang="en-US"/>
          </a:p>
          <a:p>
            <a:r>
              <a:rPr lang="en-US"/>
              <a:t>The most common KRAS mutation in NSCLC is G12C</a:t>
            </a:r>
          </a:p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58D9728-DA8D-474B-B4FB-99AF1C9B2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24143" y="1725639"/>
            <a:ext cx="6039685" cy="485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1765ED-DE47-4664-9C1E-F9C4CE02B7BA}"/>
              </a:ext>
            </a:extLst>
          </p:cNvPr>
          <p:cNvSpPr txBox="1"/>
          <p:nvPr/>
        </p:nvSpPr>
        <p:spPr>
          <a:xfrm>
            <a:off x="8458200" y="6399564"/>
            <a:ext cx="2401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Arbour et al, CCR 2017</a:t>
            </a:r>
          </a:p>
        </p:txBody>
      </p:sp>
    </p:spTree>
    <p:extLst>
      <p:ext uri="{BB962C8B-B14F-4D97-AF65-F5344CB8AC3E}">
        <p14:creationId xmlns:p14="http://schemas.microsoft.com/office/powerpoint/2010/main" val="789135561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Screenshot 2015-11-16 18.13.37.png">
            <a:extLst>
              <a:ext uri="{FF2B5EF4-FFF2-40B4-BE49-F238E27FC236}">
                <a16:creationId xmlns:a16="http://schemas.microsoft.com/office/drawing/2014/main" id="{EF603FE6-B194-CC47-86EF-DF6E2B4DF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53697" y="2411413"/>
            <a:ext cx="8605838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 descr="Screenshot 2015-11-16 18.09.59.png">
            <a:extLst>
              <a:ext uri="{FF2B5EF4-FFF2-40B4-BE49-F238E27FC236}">
                <a16:creationId xmlns:a16="http://schemas.microsoft.com/office/drawing/2014/main" id="{B0DB2BBC-DE66-AA41-BC0F-6BBA3AFE5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42585" y="971550"/>
            <a:ext cx="8797925" cy="1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CB1318A7-BDC1-F849-89AF-E7AFFCA72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6922" y="2008188"/>
            <a:ext cx="14590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latin typeface="Franklin Gothic Book" panose="020B0503020102020204" pitchFamily="34" charset="0"/>
              </a:rPr>
              <a:t>Nature 2013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7B3B140-E587-4A4F-9468-4878A7018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085" y="4741863"/>
            <a:ext cx="47791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 err="1">
                <a:latin typeface="Franklin Gothic Book" panose="020B0503020102020204" pitchFamily="34" charset="0"/>
              </a:rPr>
              <a:t>Angewandte</a:t>
            </a:r>
            <a:r>
              <a:rPr lang="en-US" altLang="en-US" sz="1800" dirty="0">
                <a:latin typeface="Franklin Gothic Book" panose="020B0503020102020204" pitchFamily="34" charset="0"/>
              </a:rPr>
              <a:t> Chemie International Edition 2013</a:t>
            </a: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64442727-F4C5-414E-AEA4-BE5739EC651C}"/>
              </a:ext>
            </a:extLst>
          </p:cNvPr>
          <p:cNvSpPr txBox="1">
            <a:spLocks/>
          </p:cNvSpPr>
          <p:nvPr/>
        </p:nvSpPr>
        <p:spPr>
          <a:xfrm>
            <a:off x="457200" y="228600"/>
            <a:ext cx="11274552" cy="105156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lIns="45720" tIns="45720" rIns="4572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The New Hope – Direct RAS inhibitors</a:t>
            </a:r>
          </a:p>
        </p:txBody>
      </p:sp>
      <p:pic>
        <p:nvPicPr>
          <p:cNvPr id="7" name="Picture 1" descr="Screenshot 2018-02-24 10.24.46.png">
            <a:extLst>
              <a:ext uri="{FF2B5EF4-FFF2-40B4-BE49-F238E27FC236}">
                <a16:creationId xmlns:a16="http://schemas.microsoft.com/office/drawing/2014/main" id="{A52E4BF4-C9CA-1A4A-A395-303C25D743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93347" y="5276850"/>
            <a:ext cx="9144000" cy="124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1CD47C35-5D28-F745-BA8C-49F4F2BD5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6922" y="6526213"/>
            <a:ext cx="11380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rbel" panose="020B0503020204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dirty="0">
                <a:latin typeface="Franklin Gothic Book" panose="020B0503020102020204" pitchFamily="34" charset="0"/>
              </a:rPr>
              <a:t>Cell 2018</a:t>
            </a:r>
          </a:p>
        </p:txBody>
      </p:sp>
    </p:spTree>
    <p:extLst>
      <p:ext uri="{BB962C8B-B14F-4D97-AF65-F5344CB8AC3E}">
        <p14:creationId xmlns:p14="http://schemas.microsoft.com/office/powerpoint/2010/main" val="3610276410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9C907E-2ECA-4CE6-8E04-B9A3E38B3B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4132" y="412977"/>
            <a:ext cx="10687050" cy="15533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B6846B-BB89-44F1-9E8A-279A3D718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32" y="2071845"/>
            <a:ext cx="3939268" cy="40038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3BD9FB-F7D0-B54A-A652-78551D55C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435" y="2582424"/>
            <a:ext cx="6298523" cy="2218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AA58B8-6BFB-4075-9445-25D94CA7A770}"/>
              </a:ext>
            </a:extLst>
          </p:cNvPr>
          <p:cNvSpPr txBox="1"/>
          <p:nvPr/>
        </p:nvSpPr>
        <p:spPr>
          <a:xfrm>
            <a:off x="8363727" y="6075691"/>
            <a:ext cx="2799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2569"/>
                </a:solidFill>
                <a:effectLst/>
                <a:uLnTx/>
                <a:uFillTx/>
                <a:latin typeface="Franklin Gothic Book" panose="020B0503020102020204" pitchFamily="34" charset="0"/>
                <a:ea typeface="+mn-ea"/>
                <a:cs typeface="+mn-cs"/>
              </a:rPr>
              <a:t>Skoulidis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569"/>
                </a:solidFill>
                <a:effectLst/>
                <a:uLnTx/>
                <a:uFillTx/>
                <a:latin typeface="Franklin Gothic Book" panose="020B0503020102020204" pitchFamily="34" charset="0"/>
                <a:ea typeface="+mn-ea"/>
                <a:cs typeface="+mn-cs"/>
              </a:rPr>
              <a:t> et al, NEJM 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2D09FB-B568-4B7A-89B7-F0710E72E0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159" y="4913335"/>
            <a:ext cx="6507709" cy="956369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5228554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F56787-E377-4A9E-AD30-BEA8D7FAEF44}"/>
              </a:ext>
            </a:extLst>
          </p:cNvPr>
          <p:cNvSpPr txBox="1"/>
          <p:nvPr/>
        </p:nvSpPr>
        <p:spPr>
          <a:xfrm>
            <a:off x="3200713" y="6259285"/>
            <a:ext cx="830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Jänne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 et al. N Engl J Med 2022;387(2):120-31.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569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816FBAB-A4C0-4842-8E12-53E495ABD5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484215" y="2163031"/>
            <a:ext cx="7645056" cy="2794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256515-71AF-4905-8376-05681E76C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572"/>
            <a:ext cx="12192000" cy="1700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4F44BC-4AAE-427C-9192-F8891E41D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20" y="2078635"/>
            <a:ext cx="4114973" cy="32486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E58720-7CCC-4213-842B-8DB3283DE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754" y="4976335"/>
            <a:ext cx="6767929" cy="9132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0372457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A7E7A-27B8-7948-8883-65400813E51C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6337299"/>
            <a:ext cx="7772400" cy="2460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/>
              <a:t>Johnson et al, ESMO 2022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DA7D1-599F-8046-80FA-377C913EF3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7915" y="1607574"/>
            <a:ext cx="9556169" cy="45311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F5B4EC-B91F-7511-CE23-1B18BC445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Q: Does </a:t>
            </a:r>
            <a:r>
              <a:rPr lang="en-US" sz="28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sotorasib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improve outcomes in KRAS G12C mutant NSCLC, compared with docetaxel?</a:t>
            </a:r>
          </a:p>
        </p:txBody>
      </p:sp>
    </p:spTree>
    <p:extLst>
      <p:ext uri="{BB962C8B-B14F-4D97-AF65-F5344CB8AC3E}">
        <p14:creationId xmlns:p14="http://schemas.microsoft.com/office/powerpoint/2010/main" val="1943992797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0B1076B-70A9-47B8-8C3A-69D1BAFE285B}"/>
              </a:ext>
            </a:extLst>
          </p:cNvPr>
          <p:cNvSpPr txBox="1"/>
          <p:nvPr/>
        </p:nvSpPr>
        <p:spPr>
          <a:xfrm>
            <a:off x="7803175" y="6324520"/>
            <a:ext cx="4440511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67" b="0" i="0" u="none" strike="noStrike" kern="1200" cap="none" spc="0" normalizeH="0" baseline="0" noProof="0" dirty="0">
                <a:ln>
                  <a:noFill/>
                </a:ln>
                <a:solidFill>
                  <a:srgbClr val="002569"/>
                </a:solidFill>
                <a:effectLst/>
                <a:uLnTx/>
                <a:uFillTx/>
                <a:latin typeface="Franklin Gothic Book" panose="020B0503020102020204" pitchFamily="34" charset="0"/>
                <a:ea typeface="+mn-ea"/>
                <a:cs typeface="+mn-cs"/>
              </a:rPr>
              <a:t>de Langen et al, Lancet 2023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026B84-5300-429F-9989-F434D6D90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122" y="1324273"/>
            <a:ext cx="9829273" cy="44809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8D1EE5-8912-BA40-89D5-E58310C5C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Sotorasib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Improves Progression-Free Survival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(compared with docetaxel)</a:t>
            </a:r>
          </a:p>
        </p:txBody>
      </p:sp>
    </p:spTree>
    <p:extLst>
      <p:ext uri="{BB962C8B-B14F-4D97-AF65-F5344CB8AC3E}">
        <p14:creationId xmlns:p14="http://schemas.microsoft.com/office/powerpoint/2010/main" val="562972669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61804F-9275-20C9-C01B-A3967F8D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Mok et al, Lancet 2024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12B57F-CA19-DB61-7312-8ECA067D8A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2063" y="2222695"/>
            <a:ext cx="11276194" cy="3910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F4D629-BC9D-723E-1381-D3077C82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Adagrasib Improves Progression-Free Survival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(compared with docetaxel)</a:t>
            </a:r>
          </a:p>
        </p:txBody>
      </p:sp>
    </p:spTree>
    <p:extLst>
      <p:ext uri="{BB962C8B-B14F-4D97-AF65-F5344CB8AC3E}">
        <p14:creationId xmlns:p14="http://schemas.microsoft.com/office/powerpoint/2010/main" val="188729301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7C5AEE-D026-4DED-9AD2-5E90A421C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068" y="1127201"/>
            <a:ext cx="9755395" cy="49350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BDAF6F-BB26-4563-8905-399D8DD94B35}"/>
              </a:ext>
            </a:extLst>
          </p:cNvPr>
          <p:cNvSpPr txBox="1"/>
          <p:nvPr/>
        </p:nvSpPr>
        <p:spPr>
          <a:xfrm>
            <a:off x="7803175" y="6324520"/>
            <a:ext cx="4440511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67" b="0" i="0" u="none" strike="noStrike" kern="1200" cap="none" spc="0" normalizeH="0" baseline="0" noProof="0" dirty="0">
                <a:ln>
                  <a:noFill/>
                </a:ln>
                <a:solidFill>
                  <a:srgbClr val="002569"/>
                </a:solidFill>
                <a:effectLst/>
                <a:uLnTx/>
                <a:uFillTx/>
                <a:latin typeface="Franklin Gothic Book" panose="020B0503020102020204" pitchFamily="34" charset="0"/>
                <a:ea typeface="+mn-ea"/>
                <a:cs typeface="+mn-cs"/>
              </a:rPr>
              <a:t>de Langen et al, Lancet 2023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6A3F9-2625-D947-B96A-EFEF41EEC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Sotorasib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</a:t>
            </a:r>
            <a:r>
              <a:rPr lang="en-US" sz="2800" b="0" u="sng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does not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Improve Overall Survival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(compared with docetaxel)</a:t>
            </a:r>
          </a:p>
        </p:txBody>
      </p:sp>
    </p:spTree>
    <p:extLst>
      <p:ext uri="{BB962C8B-B14F-4D97-AF65-F5344CB8AC3E}">
        <p14:creationId xmlns:p14="http://schemas.microsoft.com/office/powerpoint/2010/main" val="2960854581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9F81D-D784-486D-76B3-2B6B76C2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B5358-7E81-3ED1-3D08-2EE15BA45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688259"/>
            <a:ext cx="11184422" cy="541726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65 year old woman with metastatic NSCLC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PD-L1 negative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KRAS G12C mutation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 brain metastases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Progresses on first-line carboplatin, pemetrexed, pembrolizumab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What is best choice for next-line systemic therapy?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Afatinib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Carboplatin/paclitaxel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Adagrasib or Sotorasib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Cemiplimab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dirty="0"/>
              <a:t>Docetaxel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08B641-AED9-242B-C7B7-058900BEF5F6}"/>
              </a:ext>
            </a:extLst>
          </p:cNvPr>
          <p:cNvSpPr txBox="1"/>
          <p:nvPr/>
        </p:nvSpPr>
        <p:spPr>
          <a:xfrm>
            <a:off x="1703375" y="5938908"/>
            <a:ext cx="9094541" cy="46166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solidFill>
                  <a:srgbClr val="272524"/>
                </a:solidFill>
              </a:rPr>
              <a:t>RAS Targeted therapy is superior to docetaxel in PFS and toxicity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F8E4137-83FE-D52D-77FA-CF113B5512D7}"/>
                  </a:ext>
                </a:extLst>
              </p14:cNvPr>
              <p14:cNvContentPartPr/>
              <p14:nvPr/>
            </p14:nvContentPartPr>
            <p14:xfrm>
              <a:off x="569884" y="4678788"/>
              <a:ext cx="3674160" cy="267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F8E4137-83FE-D52D-77FA-CF113B5512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6244" y="4571148"/>
                <a:ext cx="3781800" cy="48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6480010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275744"/>
              </p:ext>
            </p:extLst>
          </p:nvPr>
        </p:nvGraphicFramePr>
        <p:xfrm>
          <a:off x="327624" y="25266"/>
          <a:ext cx="10440276" cy="6367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9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3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720">
                  <a:extLst>
                    <a:ext uri="{9D8B030D-6E8A-4147-A177-3AD203B41FA5}">
                      <a16:colId xmlns:a16="http://schemas.microsoft.com/office/drawing/2014/main" val="3878279537"/>
                    </a:ext>
                  </a:extLst>
                </a:gridCol>
                <a:gridCol w="2115609">
                  <a:extLst>
                    <a:ext uri="{9D8B030D-6E8A-4147-A177-3AD203B41FA5}">
                      <a16:colId xmlns:a16="http://schemas.microsoft.com/office/drawing/2014/main" val="2562256601"/>
                    </a:ext>
                  </a:extLst>
                </a:gridCol>
                <a:gridCol w="3480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2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masis MT Pro" panose="02040504050005020304" pitchFamily="18" charset="0"/>
                        </a:rPr>
                        <a:t>Target</a:t>
                      </a:r>
                    </a:p>
                  </a:txBody>
                  <a:tcPr marT="60960" marB="6096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masis MT Pro" panose="02040504050005020304" pitchFamily="18" charset="0"/>
                        </a:rPr>
                        <a:t>Available</a:t>
                      </a:r>
                    </a:p>
                  </a:txBody>
                  <a:tcPr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masis MT Pro" panose="02040504050005020304" pitchFamily="18" charset="0"/>
                        </a:rPr>
                        <a:t>Most common 1</a:t>
                      </a:r>
                      <a:r>
                        <a:rPr lang="en-US" sz="1800" baseline="30000" dirty="0">
                          <a:latin typeface="Amasis MT Pro" panose="02040504050005020304" pitchFamily="18" charset="0"/>
                        </a:rPr>
                        <a:t>st</a:t>
                      </a:r>
                      <a:r>
                        <a:rPr lang="en-US" sz="1800" dirty="0">
                          <a:latin typeface="Amasis MT Pro" panose="02040504050005020304" pitchFamily="18" charset="0"/>
                        </a:rPr>
                        <a:t> in clinic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0614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latin typeface="Amasis MT Pro" panose="02040504050005020304" pitchFamily="18" charset="0"/>
                        </a:rPr>
                        <a:t>EGFR (Exon 19 del, L858R, G719, L861)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masis MT Pro" panose="02040504050005020304" pitchFamily="18" charset="0"/>
                        </a:rPr>
                        <a:t>gefitinib</a:t>
                      </a:r>
                    </a:p>
                    <a:p>
                      <a:pPr algn="ctr"/>
                      <a:r>
                        <a:rPr lang="en-US" sz="1200" dirty="0">
                          <a:latin typeface="Amasis MT Pro" panose="02040504050005020304" pitchFamily="18" charset="0"/>
                        </a:rPr>
                        <a:t>afatinib</a:t>
                      </a:r>
                    </a:p>
                    <a:p>
                      <a:pPr algn="ctr"/>
                      <a:r>
                        <a:rPr lang="en-US" sz="1200" dirty="0">
                          <a:latin typeface="Amasis MT Pro" panose="02040504050005020304" pitchFamily="18" charset="0"/>
                        </a:rPr>
                        <a:t>Dacomitinib</a:t>
                      </a:r>
                    </a:p>
                    <a:p>
                      <a:pPr algn="ctr"/>
                      <a:r>
                        <a:rPr lang="en-US" sz="1200" dirty="0" err="1">
                          <a:latin typeface="Amasis MT Pro" panose="02040504050005020304" pitchFamily="18" charset="0"/>
                        </a:rPr>
                        <a:t>Amivantamab</a:t>
                      </a:r>
                      <a:r>
                        <a:rPr lang="en-US" sz="1200" dirty="0">
                          <a:latin typeface="Amasis MT Pro" panose="02040504050005020304" pitchFamily="18" charset="0"/>
                        </a:rPr>
                        <a:t> +</a:t>
                      </a:r>
                      <a:r>
                        <a:rPr lang="en-US" sz="1200" dirty="0" err="1">
                          <a:latin typeface="Amasis MT Pro" panose="02040504050005020304" pitchFamily="18" charset="0"/>
                        </a:rPr>
                        <a:t>lazertinib</a:t>
                      </a:r>
                      <a:endParaRPr lang="en-US" sz="12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masis MT Pro" panose="02040504050005020304" pitchFamily="18" charset="0"/>
                        </a:rPr>
                        <a:t>erlotinib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masis MT Pro" panose="02040504050005020304" pitchFamily="18" charset="0"/>
                        </a:rPr>
                        <a:t>osimertinib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masis MT Pro" panose="02040504050005020304" pitchFamily="18" charset="0"/>
                        </a:rPr>
                        <a:t>erlotinib + ramucirumab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dirty="0">
                          <a:latin typeface="Amasis MT Pro" panose="02040504050005020304" pitchFamily="18" charset="0"/>
                        </a:rPr>
                        <a:t>osimertinib + chemotherapy</a:t>
                      </a:r>
                    </a:p>
                  </a:txBody>
                  <a:tcPr marT="60960" marB="6096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Erlotinib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Osimertinib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Erlotinib + Ramucirumab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masis MT Pro" panose="02040504050005020304" pitchFamily="18" charset="0"/>
                        </a:rPr>
                        <a:t>Osimertinib + chemotherapy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15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latin typeface="Amasis MT Pro" panose="02040504050005020304" pitchFamily="18" charset="0"/>
                        </a:rPr>
                        <a:t>EGFR</a:t>
                      </a:r>
                      <a:r>
                        <a:rPr lang="en-US" sz="1800" i="0" u="none" dirty="0">
                          <a:latin typeface="Amasis MT Pro" panose="02040504050005020304" pitchFamily="18" charset="0"/>
                        </a:rPr>
                        <a:t> (exon 20)</a:t>
                      </a:r>
                    </a:p>
                  </a:txBody>
                  <a:tcPr marT="60960" marB="6096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masis MT Pro" panose="02040504050005020304" pitchFamily="18" charset="0"/>
                        </a:rPr>
                        <a:t>Amivantamab +/- chemotherapy, (</a:t>
                      </a:r>
                      <a:r>
                        <a:rPr lang="en-US" sz="1200" dirty="0" err="1">
                          <a:latin typeface="Amasis MT Pro" panose="02040504050005020304" pitchFamily="18" charset="0"/>
                        </a:rPr>
                        <a:t>sunvozertinib</a:t>
                      </a:r>
                      <a:r>
                        <a:rPr lang="en-US" sz="1200" dirty="0">
                          <a:latin typeface="Amasis MT Pro" panose="02040504050005020304" pitchFamily="18" charset="0"/>
                        </a:rPr>
                        <a:t>)</a:t>
                      </a:r>
                    </a:p>
                  </a:txBody>
                  <a:tcPr marT="60960" marB="6096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/>
                    </a:p>
                  </a:txBody>
                  <a:tcPr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masis MT Pro" panose="02040504050005020304" pitchFamily="18" charset="0"/>
                        </a:rPr>
                        <a:t>Amivantamab +/- chemotherapy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202634754"/>
                  </a:ext>
                </a:extLst>
              </a:tr>
              <a:tr h="651430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latin typeface="Amasis MT Pro" panose="02040504050005020304" pitchFamily="18" charset="0"/>
                        </a:rPr>
                        <a:t>ALK</a:t>
                      </a:r>
                      <a:r>
                        <a:rPr lang="en-US" sz="1800" i="0" dirty="0">
                          <a:latin typeface="Amasis MT Pro" panose="02040504050005020304" pitchFamily="18" charset="0"/>
                        </a:rPr>
                        <a:t> fusions</a:t>
                      </a:r>
                      <a:endParaRPr lang="en-US" sz="1800" i="1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masis MT Pro" panose="02040504050005020304" pitchFamily="18" charset="0"/>
                        </a:rPr>
                        <a:t>crizotinib</a:t>
                      </a:r>
                    </a:p>
                    <a:p>
                      <a:pPr algn="ctr"/>
                      <a:r>
                        <a:rPr lang="en-US" sz="1200" dirty="0" err="1">
                          <a:latin typeface="Amasis MT Pro" panose="02040504050005020304" pitchFamily="18" charset="0"/>
                        </a:rPr>
                        <a:t>alectinib</a:t>
                      </a:r>
                      <a:endParaRPr lang="en-US" sz="12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masis MT Pro" panose="02040504050005020304" pitchFamily="18" charset="0"/>
                        </a:rPr>
                        <a:t>ceritinib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masis MT Pro" panose="02040504050005020304" pitchFamily="18" charset="0"/>
                        </a:rPr>
                        <a:t>brigatinib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masis MT Pro" panose="02040504050005020304" pitchFamily="18" charset="0"/>
                        </a:rPr>
                        <a:t>lorlatinib</a:t>
                      </a:r>
                    </a:p>
                  </a:txBody>
                  <a:tcPr marT="60960" marB="60960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Ceritinib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Brigatinib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lorlatinib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Amasis MT Pro" panose="02040504050005020304" pitchFamily="18" charset="0"/>
                        </a:rPr>
                        <a:t>alectinib</a:t>
                      </a:r>
                      <a:r>
                        <a:rPr lang="en-US" sz="1600" dirty="0">
                          <a:latin typeface="Amasis MT Pro" panose="02040504050005020304" pitchFamily="18" charset="0"/>
                        </a:rPr>
                        <a:t> or lorlatinib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430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latin typeface="Amasis MT Pro" panose="02040504050005020304" pitchFamily="18" charset="0"/>
                        </a:rPr>
                        <a:t>BRAF</a:t>
                      </a:r>
                      <a:r>
                        <a:rPr lang="en-US" sz="1800" i="1" baseline="0" dirty="0">
                          <a:latin typeface="Amasis MT Pro" panose="02040504050005020304" pitchFamily="18" charset="0"/>
                        </a:rPr>
                        <a:t> </a:t>
                      </a:r>
                      <a:r>
                        <a:rPr lang="en-US" sz="1800" i="0" baseline="0" dirty="0">
                          <a:latin typeface="Amasis MT Pro" panose="02040504050005020304" pitchFamily="18" charset="0"/>
                        </a:rPr>
                        <a:t>V600E</a:t>
                      </a:r>
                      <a:endParaRPr lang="en-US" sz="1800" i="1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masis MT Pro" panose="02040504050005020304" pitchFamily="18" charset="0"/>
                        </a:rPr>
                        <a:t>dabrafenib +trametinib</a:t>
                      </a:r>
                    </a:p>
                    <a:p>
                      <a:pPr algn="ctr"/>
                      <a:r>
                        <a:rPr lang="en-US" sz="1600" dirty="0" err="1">
                          <a:latin typeface="Amasis MT Pro" panose="02040504050005020304" pitchFamily="18" charset="0"/>
                        </a:rPr>
                        <a:t>encorafenib</a:t>
                      </a:r>
                      <a:r>
                        <a:rPr lang="en-US" sz="1600" dirty="0">
                          <a:latin typeface="Amasis MT Pro" panose="02040504050005020304" pitchFamily="18" charset="0"/>
                        </a:rPr>
                        <a:t> + </a:t>
                      </a:r>
                      <a:r>
                        <a:rPr lang="en-US" sz="1600" dirty="0" err="1">
                          <a:latin typeface="Amasis MT Pro" panose="02040504050005020304" pitchFamily="18" charset="0"/>
                        </a:rPr>
                        <a:t>binimetinib</a:t>
                      </a:r>
                      <a:endParaRPr lang="en-US" sz="16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Amasis MT Pro" panose="02040504050005020304" pitchFamily="18" charset="0"/>
                        </a:rPr>
                        <a:t>encorafenib</a:t>
                      </a:r>
                      <a:r>
                        <a:rPr lang="en-US" sz="1600" dirty="0">
                          <a:latin typeface="Amasis MT Pro" panose="02040504050005020304" pitchFamily="18" charset="0"/>
                        </a:rPr>
                        <a:t> + </a:t>
                      </a:r>
                      <a:r>
                        <a:rPr lang="en-US" sz="1600" dirty="0" err="1">
                          <a:latin typeface="Amasis MT Pro" panose="02040504050005020304" pitchFamily="18" charset="0"/>
                        </a:rPr>
                        <a:t>binimetinib</a:t>
                      </a:r>
                      <a:endParaRPr lang="en-US" sz="16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307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latin typeface="Amasis MT Pro" panose="02040504050005020304" pitchFamily="18" charset="0"/>
                        </a:rPr>
                        <a:t>ROS1</a:t>
                      </a:r>
                      <a:r>
                        <a:rPr lang="en-US" sz="1800" i="1" baseline="0" dirty="0">
                          <a:latin typeface="Amasis MT Pro" panose="02040504050005020304" pitchFamily="18" charset="0"/>
                        </a:rPr>
                        <a:t> </a:t>
                      </a:r>
                      <a:r>
                        <a:rPr lang="en-US" sz="1800" i="0" baseline="0" dirty="0">
                          <a:latin typeface="Amasis MT Pro" panose="02040504050005020304" pitchFamily="18" charset="0"/>
                        </a:rPr>
                        <a:t>fusions</a:t>
                      </a:r>
                      <a:endParaRPr lang="en-US" sz="1800" i="1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masis MT Pro" panose="02040504050005020304" pitchFamily="18" charset="0"/>
                        </a:rPr>
                        <a:t>crizotinib </a:t>
                      </a:r>
                    </a:p>
                    <a:p>
                      <a:pPr algn="ctr"/>
                      <a:r>
                        <a:rPr lang="en-US" sz="1200" dirty="0">
                          <a:latin typeface="Amasis MT Pro" panose="02040504050005020304" pitchFamily="18" charset="0"/>
                        </a:rPr>
                        <a:t>ceritinib </a:t>
                      </a:r>
                    </a:p>
                    <a:p>
                      <a:pPr algn="ctr"/>
                      <a:r>
                        <a:rPr lang="en-US" sz="1200" dirty="0" err="1">
                          <a:latin typeface="Amasis MT Pro" panose="02040504050005020304" pitchFamily="18" charset="0"/>
                        </a:rPr>
                        <a:t>zidesamtinib</a:t>
                      </a:r>
                      <a:endParaRPr lang="en-US" sz="12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masis MT Pro" panose="02040504050005020304" pitchFamily="18" charset="0"/>
                        </a:rPr>
                        <a:t>entrectinib</a:t>
                      </a:r>
                    </a:p>
                    <a:p>
                      <a:pPr algn="ctr"/>
                      <a:r>
                        <a:rPr lang="en-US" sz="1200" dirty="0">
                          <a:latin typeface="Amasis MT Pro" panose="02040504050005020304" pitchFamily="18" charset="0"/>
                        </a:rPr>
                        <a:t>repotrectinib</a:t>
                      </a:r>
                    </a:p>
                    <a:p>
                      <a:pPr algn="ctr"/>
                      <a:r>
                        <a:rPr lang="en-US" sz="1200" dirty="0" err="1">
                          <a:latin typeface="Amasis MT Pro" panose="02040504050005020304" pitchFamily="18" charset="0"/>
                        </a:rPr>
                        <a:t>taletrectinib</a:t>
                      </a:r>
                      <a:endParaRPr lang="en-US" sz="12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Amasis MT Pro" panose="02040504050005020304" pitchFamily="18" charset="0"/>
                        </a:rPr>
                        <a:t>taletrectinib</a:t>
                      </a:r>
                      <a:endParaRPr lang="en-US" sz="16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46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latin typeface="Amasis MT Pro" panose="02040504050005020304" pitchFamily="18" charset="0"/>
                        </a:rPr>
                        <a:t>NTRK </a:t>
                      </a:r>
                      <a:r>
                        <a:rPr lang="en-US" sz="1800" i="0" dirty="0">
                          <a:latin typeface="Amasis MT Pro" panose="02040504050005020304" pitchFamily="18" charset="0"/>
                        </a:rPr>
                        <a:t>fusions</a:t>
                      </a:r>
                    </a:p>
                  </a:txBody>
                  <a:tcPr marT="60960" marB="6096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Amasis MT Pro" panose="02040504050005020304" pitchFamily="18" charset="0"/>
                        </a:rPr>
                        <a:t>larotrectinib</a:t>
                      </a:r>
                      <a:r>
                        <a:rPr lang="en-US" sz="1800" dirty="0">
                          <a:latin typeface="Amasis MT Pro" panose="02040504050005020304" pitchFamily="18" charset="0"/>
                        </a:rPr>
                        <a:t>, entrectinib</a:t>
                      </a:r>
                    </a:p>
                  </a:txBody>
                  <a:tcPr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Amasis MT Pro" panose="02040504050005020304" pitchFamily="18" charset="0"/>
                        </a:rPr>
                        <a:t>larotrectinib</a:t>
                      </a:r>
                      <a:r>
                        <a:rPr lang="en-US" sz="1600" dirty="0">
                          <a:latin typeface="Amasis MT Pro" panose="02040504050005020304" pitchFamily="18" charset="0"/>
                        </a:rPr>
                        <a:t>, entrectinib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508350464"/>
                  </a:ext>
                </a:extLst>
              </a:tr>
              <a:tr h="372246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latin typeface="Amasis MT Pro" panose="02040504050005020304" pitchFamily="18" charset="0"/>
                        </a:rPr>
                        <a:t>RET</a:t>
                      </a:r>
                      <a:r>
                        <a:rPr lang="en-US" sz="1800" i="0" dirty="0">
                          <a:latin typeface="Amasis MT Pro" panose="02040504050005020304" pitchFamily="18" charset="0"/>
                        </a:rPr>
                        <a:t> fusions</a:t>
                      </a:r>
                    </a:p>
                  </a:txBody>
                  <a:tcPr marT="60960" marB="6096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Amasis MT Pro" panose="02040504050005020304" pitchFamily="18" charset="0"/>
                        </a:rPr>
                        <a:t>selpercatinib</a:t>
                      </a:r>
                      <a:r>
                        <a:rPr lang="en-US" sz="1800" dirty="0">
                          <a:latin typeface="Amasis MT Pro" panose="02040504050005020304" pitchFamily="18" charset="0"/>
                        </a:rPr>
                        <a:t>, </a:t>
                      </a:r>
                      <a:r>
                        <a:rPr lang="en-US" sz="1800" dirty="0" err="1">
                          <a:latin typeface="Amasis MT Pro" panose="02040504050005020304" pitchFamily="18" charset="0"/>
                        </a:rPr>
                        <a:t>pralsetinib</a:t>
                      </a:r>
                      <a:endParaRPr lang="en-US" sz="18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Amasis MT Pro" panose="02040504050005020304" pitchFamily="18" charset="0"/>
                        </a:rPr>
                        <a:t>selpercatinib</a:t>
                      </a:r>
                      <a:endParaRPr lang="en-US" sz="16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922760294"/>
                  </a:ext>
                </a:extLst>
              </a:tr>
              <a:tr h="372246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latin typeface="Amasis MT Pro" panose="02040504050005020304" pitchFamily="18" charset="0"/>
                        </a:rPr>
                        <a:t>MET</a:t>
                      </a:r>
                      <a:r>
                        <a:rPr lang="en-US" sz="1800" i="0" dirty="0">
                          <a:latin typeface="Amasis MT Pro" panose="02040504050005020304" pitchFamily="18" charset="0"/>
                        </a:rPr>
                        <a:t> exon 14</a:t>
                      </a:r>
                    </a:p>
                  </a:txBody>
                  <a:tcPr marT="60960" marB="6096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Amasis MT Pro" panose="02040504050005020304" pitchFamily="18" charset="0"/>
                        </a:rPr>
                        <a:t>capmatinib</a:t>
                      </a:r>
                      <a:r>
                        <a:rPr lang="en-US" sz="1800" dirty="0">
                          <a:latin typeface="Amasis MT Pro" panose="02040504050005020304" pitchFamily="18" charset="0"/>
                        </a:rPr>
                        <a:t>, </a:t>
                      </a:r>
                      <a:r>
                        <a:rPr lang="en-US" sz="1800" dirty="0" err="1">
                          <a:latin typeface="Amasis MT Pro" panose="02040504050005020304" pitchFamily="18" charset="0"/>
                        </a:rPr>
                        <a:t>tepotinib</a:t>
                      </a:r>
                      <a:endParaRPr lang="en-US" sz="18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Amasis MT Pro" panose="02040504050005020304" pitchFamily="18" charset="0"/>
                        </a:rPr>
                        <a:t>tepotinib</a:t>
                      </a:r>
                      <a:endParaRPr lang="en-US" sz="16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947554160"/>
                  </a:ext>
                </a:extLst>
              </a:tr>
              <a:tr h="372246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latin typeface="Amasis MT Pro" panose="02040504050005020304" pitchFamily="18" charset="0"/>
                        </a:rPr>
                        <a:t>ERBB2</a:t>
                      </a:r>
                      <a:r>
                        <a:rPr lang="en-US" sz="1600" i="0" dirty="0">
                          <a:latin typeface="Amasis MT Pro" panose="02040504050005020304" pitchFamily="18" charset="0"/>
                        </a:rPr>
                        <a:t> (HER2) mut</a:t>
                      </a:r>
                    </a:p>
                  </a:txBody>
                  <a:tcPr marT="60960" marB="6096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masis MT Pro" panose="02040504050005020304" pitchFamily="18" charset="0"/>
                        </a:rPr>
                        <a:t>trastuzumab deruxtecan*, </a:t>
                      </a:r>
                      <a:r>
                        <a:rPr lang="en-US" sz="1800" dirty="0" err="1">
                          <a:latin typeface="Amasis MT Pro" panose="02040504050005020304" pitchFamily="18" charset="0"/>
                        </a:rPr>
                        <a:t>zongertinib</a:t>
                      </a:r>
                      <a:r>
                        <a:rPr lang="en-US" sz="1800" dirty="0">
                          <a:latin typeface="Amasis MT Pro" panose="02040504050005020304" pitchFamily="18" charset="0"/>
                        </a:rPr>
                        <a:t>, </a:t>
                      </a:r>
                      <a:r>
                        <a:rPr lang="en-US" sz="1800" dirty="0" err="1">
                          <a:latin typeface="Amasis MT Pro" panose="02040504050005020304" pitchFamily="18" charset="0"/>
                        </a:rPr>
                        <a:t>sevabertinib</a:t>
                      </a:r>
                      <a:endParaRPr lang="en-US" sz="18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Amasis MT Pro" panose="02040504050005020304" pitchFamily="18" charset="0"/>
                        </a:rPr>
                        <a:t>zongertinib</a:t>
                      </a:r>
                      <a:endParaRPr lang="en-US" sz="16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541922807"/>
                  </a:ext>
                </a:extLst>
              </a:tr>
              <a:tr h="372246"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>
                          <a:latin typeface="Amasis MT Pro" panose="02040504050005020304" pitchFamily="18" charset="0"/>
                        </a:rPr>
                        <a:t>NRG1 fusions</a:t>
                      </a:r>
                    </a:p>
                  </a:txBody>
                  <a:tcPr marT="60960" marB="6096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Amasis MT Pro" panose="02040504050005020304" pitchFamily="18" charset="0"/>
                        </a:rPr>
                        <a:t>zenocutuzumab</a:t>
                      </a:r>
                      <a:endParaRPr lang="en-US" sz="18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Amasis MT Pro" panose="02040504050005020304" pitchFamily="18" charset="0"/>
                        </a:rPr>
                        <a:t>zenocutuzumab</a:t>
                      </a:r>
                      <a:endParaRPr lang="en-US" sz="1600" dirty="0">
                        <a:latin typeface="Amasis MT Pro" panose="02040504050005020304" pitchFamily="18" charset="0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76312361"/>
                  </a:ext>
                </a:extLst>
              </a:tr>
              <a:tr h="372246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latin typeface="Amasis MT Pro" panose="02040504050005020304" pitchFamily="18" charset="0"/>
                        </a:rPr>
                        <a:t>KRAS</a:t>
                      </a:r>
                      <a:r>
                        <a:rPr lang="en-US" sz="1600" i="0" dirty="0">
                          <a:latin typeface="Amasis MT Pro" panose="02040504050005020304" pitchFamily="18" charset="0"/>
                        </a:rPr>
                        <a:t> G12C</a:t>
                      </a:r>
                    </a:p>
                  </a:txBody>
                  <a:tcPr marT="60960" marB="6096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Amasis MT Pro" panose="02040504050005020304" pitchFamily="18" charset="0"/>
                        </a:rPr>
                        <a:t>adagrasib</a:t>
                      </a:r>
                      <a:r>
                        <a:rPr lang="en-US" sz="1800" dirty="0">
                          <a:latin typeface="Amasis MT Pro" panose="02040504050005020304" pitchFamily="18" charset="0"/>
                        </a:rPr>
                        <a:t>*, </a:t>
                      </a:r>
                      <a:r>
                        <a:rPr lang="en-US" sz="1800" dirty="0" err="1">
                          <a:latin typeface="Amasis MT Pro" panose="02040504050005020304" pitchFamily="18" charset="0"/>
                        </a:rPr>
                        <a:t>sotorasib</a:t>
                      </a:r>
                      <a:r>
                        <a:rPr lang="en-US" sz="1800" dirty="0">
                          <a:latin typeface="Amasis MT Pro" panose="02040504050005020304" pitchFamily="18" charset="0"/>
                        </a:rPr>
                        <a:t>*</a:t>
                      </a:r>
                    </a:p>
                  </a:txBody>
                  <a:tcPr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latin typeface="Amasis MT Pro" panose="02040504050005020304" pitchFamily="18" charset="0"/>
                        </a:rPr>
                        <a:t>adagrasib</a:t>
                      </a:r>
                      <a:r>
                        <a:rPr lang="en-US" sz="1600" dirty="0">
                          <a:latin typeface="Amasis MT Pro" panose="02040504050005020304" pitchFamily="18" charset="0"/>
                        </a:rPr>
                        <a:t>*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75328979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11993FD-A23C-66A6-9A9E-5105161FFCC3}"/>
              </a:ext>
            </a:extLst>
          </p:cNvPr>
          <p:cNvSpPr txBox="1"/>
          <p:nvPr/>
        </p:nvSpPr>
        <p:spPr>
          <a:xfrm>
            <a:off x="3348789" y="6487026"/>
            <a:ext cx="318125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272524"/>
                </a:solidFill>
                <a:latin typeface="Franklin Gothic Book" panose="020B0503020102020204" pitchFamily="34" charset="0"/>
                <a:cs typeface="Arial" panose="020B0604020202020204"/>
              </a:rPr>
              <a:t>*second-line approvals</a:t>
            </a:r>
          </a:p>
        </p:txBody>
      </p:sp>
    </p:spTree>
    <p:extLst>
      <p:ext uri="{BB962C8B-B14F-4D97-AF65-F5344CB8AC3E}">
        <p14:creationId xmlns:p14="http://schemas.microsoft.com/office/powerpoint/2010/main" val="140031255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EGFR is the paradigm of an oncogene-addicted lung cancer.</a:t>
            </a:r>
          </a:p>
          <a:p>
            <a:r>
              <a:rPr lang="en-US" sz="2800" dirty="0"/>
              <a:t>Molecular analysis has defined mechanisms of sensitivity and resistance for patients with EGFR mutant NSCLC.  Drugs targeting molecular defined pathways of resistance are available.</a:t>
            </a:r>
          </a:p>
          <a:p>
            <a:r>
              <a:rPr lang="en-US" sz="2800" dirty="0"/>
              <a:t>Multiple targetable oncogene-driven cancers exist, including EGFR, ALK, BRAF V600E, RET, Met Exon 14 splice site mutations, ROS1, KRAS G12C, ERBB2</a:t>
            </a:r>
          </a:p>
          <a:p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Molecularly Targeted Therapy of NSCLC</a:t>
            </a:r>
          </a:p>
        </p:txBody>
      </p:sp>
    </p:spTree>
    <p:extLst>
      <p:ext uri="{BB962C8B-B14F-4D97-AF65-F5344CB8AC3E}">
        <p14:creationId xmlns:p14="http://schemas.microsoft.com/office/powerpoint/2010/main" val="327023704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2D1E3-F2F9-64C1-163D-F18EC4145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E62079-B4E5-9DA2-4C6F-D0C2AB6CA740}"/>
              </a:ext>
            </a:extLst>
          </p:cNvPr>
          <p:cNvSpPr/>
          <p:nvPr/>
        </p:nvSpPr>
        <p:spPr>
          <a:xfrm>
            <a:off x="8673110" y="-53916"/>
            <a:ext cx="2909290" cy="1524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Targeted therapy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036DC9-A607-27BF-996B-BCB3A4BB616C}"/>
              </a:ext>
            </a:extLst>
          </p:cNvPr>
          <p:cNvSpPr/>
          <p:nvPr/>
        </p:nvSpPr>
        <p:spPr>
          <a:xfrm>
            <a:off x="4187855" y="-38150"/>
            <a:ext cx="4057733" cy="1524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Chemotherapy </a:t>
            </a:r>
          </a:p>
          <a:p>
            <a:pPr algn="ctr"/>
            <a:r>
              <a:rPr lang="en-US" sz="2400"/>
              <a:t>(including VEGF targeting)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65B52C-67A7-F214-C69D-C2F0D921BB3C}"/>
              </a:ext>
            </a:extLst>
          </p:cNvPr>
          <p:cNvSpPr/>
          <p:nvPr/>
        </p:nvSpPr>
        <p:spPr>
          <a:xfrm>
            <a:off x="506835" y="-53916"/>
            <a:ext cx="3200400" cy="15240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Immune Checkpoint Inhibitors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D15E6-C344-2292-D600-E2FDCDB9D2DC}"/>
              </a:ext>
            </a:extLst>
          </p:cNvPr>
          <p:cNvSpPr txBox="1"/>
          <p:nvPr/>
        </p:nvSpPr>
        <p:spPr>
          <a:xfrm>
            <a:off x="4174165" y="1470084"/>
            <a:ext cx="4085112" cy="37856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“non-squamous”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Cis/carboplatin + pemetrexed 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carboplatin + paclitaxel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carboplatin + paclitaxel + bevacizumab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carboplatin + albumin-bound paclitaxel 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Squamous</a:t>
            </a:r>
            <a:endParaRPr lang="en-US" sz="1600" u="sng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carboplatin + paclitaxel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carboplatin + albumin-bound paclitaxel 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Cis/carboplatin + gemcitabine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line chemotherapy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docetaxel +/- ramucirumab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0053C-3415-ED39-BF2B-FB8B4376336F}"/>
              </a:ext>
            </a:extLst>
          </p:cNvPr>
          <p:cNvSpPr txBox="1"/>
          <p:nvPr/>
        </p:nvSpPr>
        <p:spPr>
          <a:xfrm>
            <a:off x="502877" y="1470084"/>
            <a:ext cx="3200400" cy="3293209"/>
          </a:xfrm>
          <a:prstGeom prst="rect">
            <a:avLst/>
          </a:prstGeom>
          <a:solidFill>
            <a:srgbClr val="FFEEB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PD-1/PD-L1 antibodies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nivolumab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pembrolizumab</a:t>
            </a:r>
            <a:endParaRPr lang="en-US" sz="1600" b="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atezolizumab</a:t>
            </a:r>
            <a:endParaRPr lang="en-US" sz="1600" b="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600" b="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urvalumab</a:t>
            </a:r>
            <a:endParaRPr lang="en-US" sz="1600" b="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cemiplimab</a:t>
            </a:r>
            <a:endParaRPr lang="en-US" sz="1600" b="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sng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PD-1/CTLA-4 combinations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nivolumab +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ipilimumab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600" b="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durvalumab +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tremelimumab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7D83EE-E658-3013-23E7-C69D18457667}"/>
              </a:ext>
            </a:extLst>
          </p:cNvPr>
          <p:cNvSpPr txBox="1"/>
          <p:nvPr/>
        </p:nvSpPr>
        <p:spPr>
          <a:xfrm>
            <a:off x="8669219" y="1473790"/>
            <a:ext cx="2894037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 font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gefitinib, erlotinib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font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afatinib, dacomitinib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osimertinib,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lazertinib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amivantamab,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sunvozertinib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font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crizotinib, ceritinib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alectinib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brigatinib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ensartinib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lorlatinib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dabrafenib +trametinib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encorafenib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binimetinib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entrectinib, 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zidesamtinib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repotrectinib, 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taletrectinib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larotrectinib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entrectinib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selpercatinib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pralsetinib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capmatinib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tepotinib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trastuzumab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deruxtecan, 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zongertinib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sevabertinib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dagrasib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sotorasib</a:t>
            </a: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zenocotuzumab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795A6B-A156-4DEE-CF43-1EFCA29453CE}"/>
              </a:ext>
            </a:extLst>
          </p:cNvPr>
          <p:cNvSpPr/>
          <p:nvPr/>
        </p:nvSpPr>
        <p:spPr>
          <a:xfrm>
            <a:off x="5263848" y="5638181"/>
            <a:ext cx="3200400" cy="719847"/>
          </a:xfrm>
          <a:prstGeom prst="rect">
            <a:avLst/>
          </a:prstGeom>
          <a:solidFill>
            <a:srgbClr val="66FFC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Antibody Drug Conjugates</a:t>
            </a:r>
          </a:p>
        </p:txBody>
      </p:sp>
    </p:spTree>
    <p:extLst>
      <p:ext uri="{BB962C8B-B14F-4D97-AF65-F5344CB8AC3E}">
        <p14:creationId xmlns:p14="http://schemas.microsoft.com/office/powerpoint/2010/main" val="347094025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DNA outline">
            <a:extLst>
              <a:ext uri="{FF2B5EF4-FFF2-40B4-BE49-F238E27FC236}">
                <a16:creationId xmlns:a16="http://schemas.microsoft.com/office/drawing/2014/main" id="{8C46F16C-AB14-DE9C-20DC-8B82258B91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94344" y="1291222"/>
            <a:ext cx="1154488" cy="1154488"/>
          </a:xfrm>
          <a:prstGeom prst="rect">
            <a:avLst/>
          </a:prstGeom>
        </p:spPr>
      </p:pic>
      <p:pic>
        <p:nvPicPr>
          <p:cNvPr id="4" name="Graphic 3" descr="DNA outline">
            <a:extLst>
              <a:ext uri="{FF2B5EF4-FFF2-40B4-BE49-F238E27FC236}">
                <a16:creationId xmlns:a16="http://schemas.microsoft.com/office/drawing/2014/main" id="{0AAE50B4-F767-912B-F6CF-7E55DF41B3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94344" y="2354897"/>
            <a:ext cx="1154488" cy="11544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A3825A-384F-652A-71D6-6E97EAAA6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197" y="1194169"/>
            <a:ext cx="3150876" cy="22348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9B7E13-521C-3E34-9BAD-8DCDACB9E61A}"/>
              </a:ext>
            </a:extLst>
          </p:cNvPr>
          <p:cNvSpPr txBox="1"/>
          <p:nvPr/>
        </p:nvSpPr>
        <p:spPr>
          <a:xfrm>
            <a:off x="6361534" y="6287578"/>
            <a:ext cx="6093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 et al, JTO 2015, </a:t>
            </a:r>
          </a:p>
          <a:p>
            <a:r>
              <a:rPr lang="en-US" dirty="0"/>
              <a:t>Hirsch et al, Molecular and Cellular Pathology 2002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37040F5-490A-6449-C23A-24C8E48D4458}"/>
              </a:ext>
            </a:extLst>
          </p:cNvPr>
          <p:cNvSpPr/>
          <p:nvPr/>
        </p:nvSpPr>
        <p:spPr>
          <a:xfrm>
            <a:off x="4448832" y="3795386"/>
            <a:ext cx="2114806" cy="2073812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ERBB2 (HER2) mutation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6806510-E792-804F-4B4B-B99B3016375F}"/>
              </a:ext>
            </a:extLst>
          </p:cNvPr>
          <p:cNvSpPr/>
          <p:nvPr/>
        </p:nvSpPr>
        <p:spPr>
          <a:xfrm>
            <a:off x="6427955" y="3822984"/>
            <a:ext cx="2114806" cy="2073812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41D90D-EE3A-F6C7-AC57-72F2051001FA}"/>
              </a:ext>
            </a:extLst>
          </p:cNvPr>
          <p:cNvSpPr txBox="1"/>
          <p:nvPr/>
        </p:nvSpPr>
        <p:spPr>
          <a:xfrm>
            <a:off x="6621062" y="4509126"/>
            <a:ext cx="17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HER2 overexpression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BB8A58-8948-DC42-387B-6DE65D3DB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What about HER2 overexpression?</a:t>
            </a:r>
          </a:p>
        </p:txBody>
      </p:sp>
    </p:spTree>
    <p:extLst>
      <p:ext uri="{BB962C8B-B14F-4D97-AF65-F5344CB8AC3E}">
        <p14:creationId xmlns:p14="http://schemas.microsoft.com/office/powerpoint/2010/main" val="189931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1105FA-5749-472A-6368-B0C5F3394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6375" y="1426250"/>
            <a:ext cx="2961496" cy="26196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74640C-B55D-1344-B3A8-5E03F86B9AB6}"/>
              </a:ext>
            </a:extLst>
          </p:cNvPr>
          <p:cNvSpPr txBox="1"/>
          <p:nvPr/>
        </p:nvSpPr>
        <p:spPr>
          <a:xfrm>
            <a:off x="3636724" y="1621685"/>
            <a:ext cx="8555276" cy="25545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latin typeface="Bierstadt" panose="020B0004020202020204" pitchFamily="34" charset="0"/>
              </a:rPr>
              <a:t>FDA approval for trastuzumab </a:t>
            </a:r>
            <a:r>
              <a:rPr lang="en-US" sz="2000" dirty="0" err="1">
                <a:latin typeface="Bierstadt" panose="020B0004020202020204" pitchFamily="34" charset="0"/>
              </a:rPr>
              <a:t>deruxtecan</a:t>
            </a:r>
            <a:r>
              <a:rPr lang="en-US" sz="2000" dirty="0">
                <a:latin typeface="Bierstadt" panose="020B00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ierstadt" panose="020B0004020202020204" pitchFamily="34" charset="0"/>
              </a:rPr>
              <a:t>adult patients with unresectable or metastatic </a:t>
            </a:r>
            <a:r>
              <a:rPr lang="en-US" sz="2000" dirty="0" err="1">
                <a:latin typeface="Bierstadt" panose="020B0004020202020204" pitchFamily="34" charset="0"/>
              </a:rPr>
              <a:t>non-small</a:t>
            </a:r>
            <a:r>
              <a:rPr lang="en-US" sz="2000" dirty="0">
                <a:latin typeface="Bierstadt" panose="020B0004020202020204" pitchFamily="34" charset="0"/>
              </a:rPr>
              <a:t> cell lung cancer (NSCLC) whose tumors have activating HER2 (ERBB2) mutations, as detected by an FDA approved test, and who have received a prior systemic therapy.* (1.3)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00"/>
                </a:highlight>
                <a:latin typeface="Bierstadt" panose="020B0004020202020204" pitchFamily="34" charset="0"/>
              </a:rPr>
              <a:t>adult patients with unresectable or metastatic HER2-positive (IHC 3+) solid tumors who have received prior systemic treatment and have no satisfactory alternative treatment options.* (1.5)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BB8A58-8948-DC42-387B-6DE65D3DB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Same tool…different target</a:t>
            </a:r>
          </a:p>
        </p:txBody>
      </p:sp>
      <p:sp>
        <p:nvSpPr>
          <p:cNvPr id="6" name="Citation (added)"/>
          <p:cNvSpPr txBox="1"/>
          <p:nvPr/>
        </p:nvSpPr>
        <p:spPr>
          <a:xfrm>
            <a:off x="6716268" y="6355080"/>
            <a:ext cx="5125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Fam-trastuzumab deruxtecan, prescribing information</a:t>
            </a:r>
          </a:p>
        </p:txBody>
      </p:sp>
    </p:spTree>
    <p:extLst>
      <p:ext uri="{BB962C8B-B14F-4D97-AF65-F5344CB8AC3E}">
        <p14:creationId xmlns:p14="http://schemas.microsoft.com/office/powerpoint/2010/main" val="33880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A9D437-10DC-348F-64D5-F7D02E87C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4060"/>
            <a:ext cx="6685738" cy="23911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A9794D-F9AC-5161-2B43-1A1FCECE6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35882"/>
            <a:ext cx="6685738" cy="23928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510910-72CA-A8D5-6E6E-490FDFBDC303}"/>
              </a:ext>
            </a:extLst>
          </p:cNvPr>
          <p:cNvSpPr txBox="1"/>
          <p:nvPr/>
        </p:nvSpPr>
        <p:spPr>
          <a:xfrm>
            <a:off x="8881025" y="6233363"/>
            <a:ext cx="2943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i="1" dirty="0">
                <a:latin typeface="Bierstadt" panose="020B0004020202020204" pitchFamily="34" charset="0"/>
              </a:rPr>
              <a:t>Smit et al, Lancet </a:t>
            </a:r>
            <a:r>
              <a:rPr lang="en-US" i="1" dirty="0" err="1">
                <a:latin typeface="Bierstadt" panose="020B0004020202020204" pitchFamily="34" charset="0"/>
              </a:rPr>
              <a:t>Onc</a:t>
            </a:r>
            <a:r>
              <a:rPr lang="en-US" i="1" dirty="0">
                <a:latin typeface="Bierstadt" panose="020B0004020202020204" pitchFamily="34" charset="0"/>
              </a:rPr>
              <a:t> 2024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C85A71-DFBD-D2CB-D98A-E3B2CA8A0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721" y="2543068"/>
            <a:ext cx="4891059" cy="32564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5E6D34-4B9A-1AFE-0612-BA6E2587B59B}"/>
              </a:ext>
            </a:extLst>
          </p:cNvPr>
          <p:cNvSpPr txBox="1"/>
          <p:nvPr/>
        </p:nvSpPr>
        <p:spPr>
          <a:xfrm>
            <a:off x="6864263" y="6444108"/>
            <a:ext cx="5398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Fam-trastuzumab-</a:t>
            </a:r>
            <a:r>
              <a:rPr lang="en-US" dirty="0" err="1"/>
              <a:t>deruxtecan</a:t>
            </a:r>
            <a:r>
              <a:rPr lang="en-US" dirty="0"/>
              <a:t>, prescribing information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C16E51-5F99-2029-ABA3-1762B1BB4E32}"/>
              </a:ext>
            </a:extLst>
          </p:cNvPr>
          <p:cNvSpPr/>
          <p:nvPr/>
        </p:nvSpPr>
        <p:spPr>
          <a:xfrm>
            <a:off x="9563335" y="2976880"/>
            <a:ext cx="1114825" cy="2052320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D8B977D-560F-E751-A3FB-95E354D7E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Trastuzumab </a:t>
            </a:r>
            <a:r>
              <a:rPr lang="en-US" sz="28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Deruxtecan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in patients with HER2 overexpression</a:t>
            </a:r>
          </a:p>
        </p:txBody>
      </p:sp>
    </p:spTree>
    <p:extLst>
      <p:ext uri="{BB962C8B-B14F-4D97-AF65-F5344CB8AC3E}">
        <p14:creationId xmlns:p14="http://schemas.microsoft.com/office/powerpoint/2010/main" val="359586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35DF9E-508B-FDF2-C771-BAD848F0D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57870" y="1233374"/>
            <a:ext cx="8424530" cy="3551275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327445D7-DE34-DD19-D149-5E02572D0E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3507" y="4784650"/>
            <a:ext cx="6868484" cy="1086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CC842D-67F1-C1ED-3EB5-BFE9915AF2DB}"/>
              </a:ext>
            </a:extLst>
          </p:cNvPr>
          <p:cNvSpPr txBox="1"/>
          <p:nvPr/>
        </p:nvSpPr>
        <p:spPr>
          <a:xfrm>
            <a:off x="9160414" y="6398695"/>
            <a:ext cx="2638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masis MT Pro" panose="02040504050005020304" pitchFamily="18" charset="0"/>
              </a:rPr>
              <a:t>Camidge et al, JCO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C1EB5-EF4E-CDAC-B3F6-C596E5899B2E}"/>
              </a:ext>
            </a:extLst>
          </p:cNvPr>
          <p:cNvSpPr txBox="1"/>
          <p:nvPr/>
        </p:nvSpPr>
        <p:spPr>
          <a:xfrm>
            <a:off x="2325871" y="6121696"/>
            <a:ext cx="9742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Approval: high c-Met protein overexpression [≥50% of tumor cells with strong (3+) staining]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DE2CB5-8BEA-3B5C-C94C-8900418C0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Telisotuzumab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</a:t>
            </a:r>
            <a:r>
              <a:rPr lang="en-US" sz="28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vedotin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a MET-targeted ADC</a:t>
            </a:r>
          </a:p>
        </p:txBody>
      </p:sp>
    </p:spTree>
    <p:extLst>
      <p:ext uri="{BB962C8B-B14F-4D97-AF65-F5344CB8AC3E}">
        <p14:creationId xmlns:p14="http://schemas.microsoft.com/office/powerpoint/2010/main" val="3741088455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036575-11B1-5F77-5CC3-7AC3B9B0AB4B}"/>
              </a:ext>
            </a:extLst>
          </p:cNvPr>
          <p:cNvSpPr/>
          <p:nvPr/>
        </p:nvSpPr>
        <p:spPr>
          <a:xfrm>
            <a:off x="8673110" y="-53916"/>
            <a:ext cx="2909290" cy="1524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Targeted therapy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6CC254-81B9-09D0-0780-9E96012E3FC8}"/>
              </a:ext>
            </a:extLst>
          </p:cNvPr>
          <p:cNvSpPr/>
          <p:nvPr/>
        </p:nvSpPr>
        <p:spPr>
          <a:xfrm>
            <a:off x="4187855" y="-38150"/>
            <a:ext cx="4057733" cy="15240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Chemotherapy </a:t>
            </a:r>
          </a:p>
          <a:p>
            <a:pPr algn="ctr"/>
            <a:r>
              <a:rPr lang="en-US" sz="2400"/>
              <a:t>(including VEGF targeting)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0D5D06-F675-E3DF-071E-492B7FDA1523}"/>
              </a:ext>
            </a:extLst>
          </p:cNvPr>
          <p:cNvSpPr/>
          <p:nvPr/>
        </p:nvSpPr>
        <p:spPr>
          <a:xfrm>
            <a:off x="506835" y="-53916"/>
            <a:ext cx="3200400" cy="15240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Immune Checkpoint Inhibitors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E112E-C46C-CF65-E1C2-A76FFE6764E6}"/>
              </a:ext>
            </a:extLst>
          </p:cNvPr>
          <p:cNvSpPr txBox="1"/>
          <p:nvPr/>
        </p:nvSpPr>
        <p:spPr>
          <a:xfrm>
            <a:off x="4174165" y="1470084"/>
            <a:ext cx="4085112" cy="37856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“non-squamous”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Cis/carboplatin + pemetrexed 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carboplatin + paclitaxel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carboplatin + paclitaxel + bevacizumab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carboplatin + albumin-bound paclitaxel 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Squamous</a:t>
            </a:r>
            <a:endParaRPr lang="en-US" sz="1600" u="sng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carboplatin + paclitaxel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carboplatin + albumin-bound paclitaxel 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Cis/carboplatin + gemcitabine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line chemotherapy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docetaxel +/- ramucirumab</a:t>
            </a:r>
            <a:endParaRPr lang="en-US" sz="16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5C5ED-CDB5-8D3C-A2E9-325C0BDE07D6}"/>
              </a:ext>
            </a:extLst>
          </p:cNvPr>
          <p:cNvSpPr txBox="1"/>
          <p:nvPr/>
        </p:nvSpPr>
        <p:spPr>
          <a:xfrm>
            <a:off x="502877" y="1470084"/>
            <a:ext cx="3200400" cy="3293209"/>
          </a:xfrm>
          <a:prstGeom prst="rect">
            <a:avLst/>
          </a:prstGeom>
          <a:solidFill>
            <a:srgbClr val="FFEEB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PD-1/PD-L1 antibodies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nivolumab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pembrolizumab</a:t>
            </a:r>
            <a:endParaRPr lang="en-US" sz="1600" b="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atezolizumab</a:t>
            </a:r>
            <a:endParaRPr lang="en-US" sz="1600" b="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600" b="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urvalumab</a:t>
            </a:r>
            <a:endParaRPr lang="en-US" sz="1600" b="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cemiplimab</a:t>
            </a:r>
            <a:endParaRPr lang="en-US" sz="1600" b="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sng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PD-1/CTLA-4 combinations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nivolumab +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ipilimumab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US" sz="1600" b="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durvalumab +</a:t>
            </a:r>
          </a:p>
          <a:p>
            <a:pPr marL="0" algn="ct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tremelimumab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B89BC-F2D9-47D3-BE60-63C7C5C2A1F8}"/>
              </a:ext>
            </a:extLst>
          </p:cNvPr>
          <p:cNvSpPr txBox="1"/>
          <p:nvPr/>
        </p:nvSpPr>
        <p:spPr>
          <a:xfrm>
            <a:off x="8669219" y="1473790"/>
            <a:ext cx="2894037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 font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gefitinib, erlotinib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font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afatinib, dacomitinib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osimertinib,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lazertinib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amivantamab,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sunvozertinib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font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crizotinib, ceritinib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alectinib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brigatinib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ctr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ensartinib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lorlatinib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dabrafenib +trametinib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encorafenib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binimetinib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entrectinib, 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zidesamtinib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repotrectinib, 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taletrectinib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larotrectinib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entrectinib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selpercatinib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pralsetinib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capmatinib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tepotinib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trastuzumab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deruxtecan, 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zongertinib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sevabertinib</a:t>
            </a:r>
            <a:endParaRPr lang="en-US" sz="1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600" i="0" u="none" strike="noStrike" kern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dagrasib</a:t>
            </a:r>
            <a:r>
              <a:rPr lang="en-US" sz="1600" i="0" u="none" strike="noStrike" kern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sotorasib</a:t>
            </a: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zenocotuzumab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0C9218-7A3C-8AA9-B8FF-7119CC060148}"/>
              </a:ext>
            </a:extLst>
          </p:cNvPr>
          <p:cNvSpPr/>
          <p:nvPr/>
        </p:nvSpPr>
        <p:spPr>
          <a:xfrm>
            <a:off x="5163806" y="5255736"/>
            <a:ext cx="3200400" cy="719847"/>
          </a:xfrm>
          <a:prstGeom prst="rect">
            <a:avLst/>
          </a:prstGeom>
          <a:solidFill>
            <a:srgbClr val="66FFC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Antibody Drug Conjugates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D184E-4F67-F5C4-871A-6AF0B8953D4A}"/>
              </a:ext>
            </a:extLst>
          </p:cNvPr>
          <p:cNvSpPr txBox="1"/>
          <p:nvPr/>
        </p:nvSpPr>
        <p:spPr>
          <a:xfrm>
            <a:off x="5163806" y="5957979"/>
            <a:ext cx="3200400" cy="923330"/>
          </a:xfrm>
          <a:prstGeom prst="rect">
            <a:avLst/>
          </a:prstGeom>
          <a:solidFill>
            <a:srgbClr val="E5FFF6">
              <a:alpha val="34118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Trastuzumab </a:t>
            </a:r>
            <a:r>
              <a:rPr lang="en-US" dirty="0" err="1"/>
              <a:t>deruxtecan</a:t>
            </a:r>
            <a:endParaRPr lang="en-US" dirty="0"/>
          </a:p>
          <a:p>
            <a:r>
              <a:rPr lang="en-US" dirty="0" err="1"/>
              <a:t>Telisotuzumab</a:t>
            </a:r>
            <a:r>
              <a:rPr lang="en-US" dirty="0"/>
              <a:t> vedotin</a:t>
            </a:r>
          </a:p>
          <a:p>
            <a:r>
              <a:rPr lang="en-US" dirty="0" err="1"/>
              <a:t>Datopotamab</a:t>
            </a:r>
            <a:r>
              <a:rPr lang="en-US" dirty="0"/>
              <a:t> deruxtecan</a:t>
            </a:r>
          </a:p>
        </p:txBody>
      </p:sp>
    </p:spTree>
    <p:extLst>
      <p:ext uri="{BB962C8B-B14F-4D97-AF65-F5344CB8AC3E}">
        <p14:creationId xmlns:p14="http://schemas.microsoft.com/office/powerpoint/2010/main" val="4082057388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267246" y="1817097"/>
            <a:ext cx="2619081" cy="177174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21888" tIns="60944" rIns="121888" bIns="60944" rtlCol="0" anchor="ctr"/>
          <a:lstStyle/>
          <a:p>
            <a:pPr algn="ctr"/>
            <a:r>
              <a:rPr lang="en-US" sz="1867" dirty="0">
                <a:latin typeface="Franklin Gothic Book" panose="020B0503020102020204" pitchFamily="34" charset="0"/>
              </a:rPr>
              <a:t>Histologic Assessment </a:t>
            </a:r>
          </a:p>
          <a:p>
            <a:pPr algn="ctr"/>
            <a:r>
              <a:rPr lang="en-US" sz="1867" dirty="0">
                <a:latin typeface="Franklin Gothic Book" panose="020B0503020102020204" pitchFamily="34" charset="0"/>
              </a:rPr>
              <a:t>+</a:t>
            </a:r>
          </a:p>
          <a:p>
            <a:pPr algn="ctr"/>
            <a:r>
              <a:rPr lang="en-US" sz="1867" dirty="0">
                <a:latin typeface="Franklin Gothic Book" panose="020B0503020102020204" pitchFamily="34" charset="0"/>
              </a:rPr>
              <a:t>Molecular Analysis </a:t>
            </a:r>
          </a:p>
          <a:p>
            <a:pPr algn="ctr"/>
            <a:r>
              <a:rPr lang="en-US" sz="1867" dirty="0">
                <a:latin typeface="Franklin Gothic Book" panose="020B0503020102020204" pitchFamily="34" charset="0"/>
              </a:rPr>
              <a:t>+</a:t>
            </a:r>
          </a:p>
          <a:p>
            <a:pPr algn="ctr"/>
            <a:r>
              <a:rPr lang="en-US" sz="1867" dirty="0">
                <a:latin typeface="Franklin Gothic Book" panose="020B0503020102020204" pitchFamily="34" charset="0"/>
              </a:rPr>
              <a:t>PD-L1 Testing</a:t>
            </a:r>
          </a:p>
        </p:txBody>
      </p:sp>
      <p:sp>
        <p:nvSpPr>
          <p:cNvPr id="38" name="TextBox 37"/>
          <p:cNvSpPr txBox="1">
            <a:spLocks noChangeAspect="1"/>
          </p:cNvSpPr>
          <p:nvPr/>
        </p:nvSpPr>
        <p:spPr>
          <a:xfrm>
            <a:off x="6830069" y="1931816"/>
            <a:ext cx="1685653" cy="451310"/>
          </a:xfrm>
          <a:prstGeom prst="rect">
            <a:avLst/>
          </a:prstGeom>
          <a:noFill/>
        </p:spPr>
        <p:txBody>
          <a:bodyPr wrap="none" lIns="121888" tIns="60944" rIns="121888" bIns="60944" rtlCol="0">
            <a:spAutoFit/>
          </a:bodyPr>
          <a:lstStyle/>
          <a:p>
            <a:r>
              <a:rPr lang="en-US" sz="2133" dirty="0">
                <a:latin typeface="Franklin Gothic Book" panose="020B0503020102020204" pitchFamily="34" charset="0"/>
              </a:rPr>
              <a:t>PD-L1 &lt;50%</a:t>
            </a:r>
          </a:p>
        </p:txBody>
      </p:sp>
      <p:sp>
        <p:nvSpPr>
          <p:cNvPr id="40" name="Rectangle 39"/>
          <p:cNvSpPr>
            <a:spLocks noChangeAspect="1"/>
          </p:cNvSpPr>
          <p:nvPr/>
        </p:nvSpPr>
        <p:spPr>
          <a:xfrm>
            <a:off x="318343" y="1818416"/>
            <a:ext cx="2076583" cy="1168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1888" tIns="60944" rIns="121888" bIns="60944" rtlCol="0" anchor="ctr"/>
          <a:lstStyle/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Targeted Therapy</a:t>
            </a:r>
          </a:p>
        </p:txBody>
      </p:sp>
      <p:cxnSp>
        <p:nvCxnSpPr>
          <p:cNvPr id="41" name="Straight Arrow Connector 40"/>
          <p:cNvCxnSpPr>
            <a:cxnSpLocks/>
            <a:stCxn id="6" idx="2"/>
            <a:endCxn id="45" idx="0"/>
          </p:cNvCxnSpPr>
          <p:nvPr/>
        </p:nvCxnSpPr>
        <p:spPr>
          <a:xfrm>
            <a:off x="5576787" y="3588837"/>
            <a:ext cx="8674" cy="826271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cxnSpLocks/>
            <a:endCxn id="43" idx="1"/>
          </p:cNvCxnSpPr>
          <p:nvPr/>
        </p:nvCxnSpPr>
        <p:spPr>
          <a:xfrm flipV="1">
            <a:off x="6886311" y="2366324"/>
            <a:ext cx="1556092" cy="13541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>
            <a:spLocks noChangeAspect="1"/>
          </p:cNvSpPr>
          <p:nvPr/>
        </p:nvSpPr>
        <p:spPr>
          <a:xfrm>
            <a:off x="8442403" y="1456048"/>
            <a:ext cx="2921293" cy="18205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1888" tIns="60944" rIns="121888" bIns="60944" rtlCol="0" anchor="ctr"/>
          <a:lstStyle/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Chemotherapy + </a:t>
            </a:r>
          </a:p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Immunotherapy</a:t>
            </a:r>
          </a:p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or </a:t>
            </a:r>
          </a:p>
          <a:p>
            <a:pPr algn="ctr"/>
            <a:r>
              <a:rPr lang="en-US" dirty="0">
                <a:latin typeface="Franklin Gothic Book" panose="020B0503020102020204" pitchFamily="34" charset="0"/>
              </a:rPr>
              <a:t>Ipilimumab/nivolumab</a:t>
            </a:r>
          </a:p>
        </p:txBody>
      </p:sp>
      <p:sp>
        <p:nvSpPr>
          <p:cNvPr id="44" name="TextBox 43"/>
          <p:cNvSpPr txBox="1">
            <a:spLocks noChangeAspect="1"/>
          </p:cNvSpPr>
          <p:nvPr/>
        </p:nvSpPr>
        <p:spPr>
          <a:xfrm>
            <a:off x="3725127" y="3818990"/>
            <a:ext cx="1676035" cy="451310"/>
          </a:xfrm>
          <a:prstGeom prst="rect">
            <a:avLst/>
          </a:prstGeom>
          <a:noFill/>
        </p:spPr>
        <p:txBody>
          <a:bodyPr wrap="none" lIns="121888" tIns="60944" rIns="121888" bIns="60944" rtlCol="0">
            <a:spAutoFit/>
          </a:bodyPr>
          <a:lstStyle/>
          <a:p>
            <a:r>
              <a:rPr lang="en-US" sz="2133" dirty="0">
                <a:latin typeface="Franklin Gothic Book" panose="020B0503020102020204" pitchFamily="34" charset="0"/>
              </a:rPr>
              <a:t>PD-L1 ≥50%</a:t>
            </a:r>
          </a:p>
        </p:txBody>
      </p:sp>
      <p:sp>
        <p:nvSpPr>
          <p:cNvPr id="45" name="Rectangle 44"/>
          <p:cNvSpPr>
            <a:spLocks noChangeAspect="1"/>
          </p:cNvSpPr>
          <p:nvPr/>
        </p:nvSpPr>
        <p:spPr>
          <a:xfrm>
            <a:off x="3733801" y="4415108"/>
            <a:ext cx="3703320" cy="12019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1888" tIns="60944" rIns="121888" bIns="60944" rtlCol="0" anchor="ctr"/>
          <a:lstStyle/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ICI</a:t>
            </a:r>
          </a:p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or</a:t>
            </a:r>
          </a:p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Chemotherapy + ICI</a:t>
            </a:r>
          </a:p>
        </p:txBody>
      </p:sp>
      <p:cxnSp>
        <p:nvCxnSpPr>
          <p:cNvPr id="46" name="Straight Arrow Connector 45"/>
          <p:cNvCxnSpPr>
            <a:cxnSpLocks noChangeAspect="1"/>
            <a:endCxn id="40" idx="3"/>
          </p:cNvCxnSpPr>
          <p:nvPr/>
        </p:nvCxnSpPr>
        <p:spPr>
          <a:xfrm flipH="1" flipV="1">
            <a:off x="2394926" y="2402617"/>
            <a:ext cx="1894665" cy="1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3F9148B-FC17-A146-AC8B-AA60D070A920}"/>
              </a:ext>
            </a:extLst>
          </p:cNvPr>
          <p:cNvSpPr txBox="1">
            <a:spLocks noChangeAspect="1"/>
          </p:cNvSpPr>
          <p:nvPr/>
        </p:nvSpPr>
        <p:spPr>
          <a:xfrm>
            <a:off x="2233365" y="2048569"/>
            <a:ext cx="2195440" cy="1107771"/>
          </a:xfrm>
          <a:prstGeom prst="rect">
            <a:avLst/>
          </a:prstGeom>
          <a:noFill/>
        </p:spPr>
        <p:txBody>
          <a:bodyPr wrap="square" lIns="121888" tIns="60944" rIns="121888" bIns="60944" rtlCol="0">
            <a:spAutoFit/>
          </a:bodyPr>
          <a:lstStyle/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“First-line” Mutation/</a:t>
            </a:r>
          </a:p>
          <a:p>
            <a:pPr algn="ctr"/>
            <a:r>
              <a:rPr lang="en-US" sz="2133" dirty="0">
                <a:latin typeface="Franklin Gothic Book" panose="020B0503020102020204" pitchFamily="34" charset="0"/>
              </a:rPr>
              <a:t>rearrangement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4C0C4A-B44E-4F02-9570-9CC50DBDC1E9}"/>
              </a:ext>
            </a:extLst>
          </p:cNvPr>
          <p:cNvSpPr txBox="1"/>
          <p:nvPr/>
        </p:nvSpPr>
        <p:spPr>
          <a:xfrm>
            <a:off x="615735" y="4001972"/>
            <a:ext cx="1870961" cy="230832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none" lIns="0">
            <a:spAutoFit/>
          </a:bodyPr>
          <a:lstStyle/>
          <a:p>
            <a:pPr lvl="1"/>
            <a:r>
              <a:rPr lang="en-US" sz="1800" dirty="0">
                <a:solidFill>
                  <a:schemeClr val="tx2"/>
                </a:solidFill>
                <a:latin typeface="Franklin Gothic Book" panose="020B0503020102020204" pitchFamily="34" charset="0"/>
              </a:rPr>
              <a:t>EGFR</a:t>
            </a:r>
          </a:p>
          <a:p>
            <a:pPr lvl="1"/>
            <a:r>
              <a:rPr lang="en-US" sz="1800" dirty="0">
                <a:solidFill>
                  <a:schemeClr val="tx2"/>
                </a:solidFill>
                <a:latin typeface="Franklin Gothic Book" panose="020B0503020102020204" pitchFamily="34" charset="0"/>
              </a:rPr>
              <a:t>ALK</a:t>
            </a:r>
          </a:p>
          <a:p>
            <a:pPr lvl="1"/>
            <a:r>
              <a:rPr lang="en-US" sz="1800" dirty="0">
                <a:solidFill>
                  <a:schemeClr val="tx2"/>
                </a:solidFill>
                <a:latin typeface="Franklin Gothic Book" panose="020B0503020102020204" pitchFamily="34" charset="0"/>
              </a:rPr>
              <a:t>ROS1 </a:t>
            </a:r>
          </a:p>
          <a:p>
            <a:pPr lvl="1"/>
            <a:r>
              <a:rPr lang="en-US" sz="1800" dirty="0">
                <a:solidFill>
                  <a:schemeClr val="tx2"/>
                </a:solidFill>
                <a:latin typeface="Franklin Gothic Book" panose="020B0503020102020204" pitchFamily="34" charset="0"/>
              </a:rPr>
              <a:t>BRAF </a:t>
            </a:r>
          </a:p>
          <a:p>
            <a:pPr lvl="1"/>
            <a:r>
              <a:rPr lang="en-US" dirty="0">
                <a:solidFill>
                  <a:schemeClr val="tx2"/>
                </a:solidFill>
                <a:latin typeface="Franklin Gothic Book" panose="020B0503020102020204" pitchFamily="34" charset="0"/>
              </a:rPr>
              <a:t>ERBB2</a:t>
            </a:r>
            <a:endParaRPr lang="en-US" sz="1800" dirty="0">
              <a:solidFill>
                <a:schemeClr val="tx2"/>
              </a:solidFill>
              <a:latin typeface="Franklin Gothic Book" panose="020B0503020102020204" pitchFamily="34" charset="0"/>
            </a:endParaRPr>
          </a:p>
          <a:p>
            <a:pPr lvl="1"/>
            <a:r>
              <a:rPr lang="en-US" sz="1800" dirty="0">
                <a:solidFill>
                  <a:schemeClr val="tx2"/>
                </a:solidFill>
                <a:latin typeface="Franklin Gothic Book" panose="020B0503020102020204" pitchFamily="34" charset="0"/>
              </a:rPr>
              <a:t>MET exon 14 </a:t>
            </a:r>
          </a:p>
          <a:p>
            <a:pPr lvl="1"/>
            <a:r>
              <a:rPr lang="en-US" sz="1800" dirty="0">
                <a:solidFill>
                  <a:schemeClr val="tx2"/>
                </a:solidFill>
                <a:latin typeface="Franklin Gothic Book" panose="020B0503020102020204" pitchFamily="34" charset="0"/>
              </a:rPr>
              <a:t>RET</a:t>
            </a:r>
          </a:p>
          <a:p>
            <a:pPr lvl="1"/>
            <a:r>
              <a:rPr lang="en-US" sz="1800" dirty="0">
                <a:solidFill>
                  <a:schemeClr val="tx2"/>
                </a:solidFill>
                <a:latin typeface="Franklin Gothic Book" panose="020B0503020102020204" pitchFamily="34" charset="0"/>
              </a:rPr>
              <a:t>NTRK 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E4BD402-A27F-C8D2-C923-C4D6835FCFE6}"/>
              </a:ext>
            </a:extLst>
          </p:cNvPr>
          <p:cNvCxnSpPr>
            <a:cxnSpLocks/>
          </p:cNvCxnSpPr>
          <p:nvPr/>
        </p:nvCxnSpPr>
        <p:spPr>
          <a:xfrm flipH="1">
            <a:off x="2466498" y="3080360"/>
            <a:ext cx="749932" cy="921612"/>
          </a:xfrm>
          <a:prstGeom prst="straightConnector1">
            <a:avLst/>
          </a:prstGeom>
          <a:ln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46D25EE-5BA6-E5EE-26B9-198EADE872B5}"/>
              </a:ext>
            </a:extLst>
          </p:cNvPr>
          <p:cNvSpPr txBox="1"/>
          <p:nvPr/>
        </p:nvSpPr>
        <p:spPr>
          <a:xfrm>
            <a:off x="7971934" y="4048818"/>
            <a:ext cx="4061322" cy="156966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lIns="0">
            <a:spAutoFit/>
          </a:bodyPr>
          <a:lstStyle/>
          <a:p>
            <a:pPr lvl="1"/>
            <a:r>
              <a:rPr lang="en-US" sz="1600" dirty="0">
                <a:solidFill>
                  <a:schemeClr val="tx2"/>
                </a:solidFill>
                <a:latin typeface="Franklin Gothic Book" panose="020B0503020102020204" pitchFamily="34" charset="0"/>
              </a:rPr>
              <a:t>Docetaxel +/- Ramucirumab</a:t>
            </a:r>
          </a:p>
          <a:p>
            <a:pPr lvl="1"/>
            <a:endParaRPr lang="en-US" sz="1600" dirty="0">
              <a:solidFill>
                <a:schemeClr val="tx2"/>
              </a:solidFill>
              <a:latin typeface="Franklin Gothic Book" panose="020B0503020102020204" pitchFamily="34" charset="0"/>
            </a:endParaRPr>
          </a:p>
          <a:p>
            <a:pPr lvl="1"/>
            <a:r>
              <a:rPr lang="en-US" sz="1600" dirty="0">
                <a:solidFill>
                  <a:schemeClr val="tx2"/>
                </a:solidFill>
                <a:latin typeface="Franklin Gothic Book" panose="020B0503020102020204" pitchFamily="34" charset="0"/>
              </a:rPr>
              <a:t>Unless subsequent therapy targets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Franklin Gothic Book" panose="020B0503020102020204" pitchFamily="34" charset="0"/>
              </a:rPr>
              <a:t>KRAS G12C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Franklin Gothic Book" panose="020B0503020102020204" pitchFamily="34" charset="0"/>
              </a:rPr>
              <a:t>HER2 overexpression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Franklin Gothic Book" panose="020B0503020102020204" pitchFamily="34" charset="0"/>
              </a:rPr>
              <a:t>MET overexpression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D4173AD-F575-C57E-D421-FD94707F475F}"/>
              </a:ext>
            </a:extLst>
          </p:cNvPr>
          <p:cNvCxnSpPr>
            <a:cxnSpLocks/>
            <a:stCxn id="43" idx="2"/>
            <a:endCxn id="3" idx="0"/>
          </p:cNvCxnSpPr>
          <p:nvPr/>
        </p:nvCxnSpPr>
        <p:spPr>
          <a:xfrm>
            <a:off x="9903050" y="3276601"/>
            <a:ext cx="99545" cy="772217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4E1DD3-8901-5786-3DE4-9143693CAA53}"/>
              </a:ext>
            </a:extLst>
          </p:cNvPr>
          <p:cNvCxnSpPr>
            <a:cxnSpLocks/>
            <a:stCxn id="45" idx="3"/>
            <a:endCxn id="3" idx="1"/>
          </p:cNvCxnSpPr>
          <p:nvPr/>
        </p:nvCxnSpPr>
        <p:spPr>
          <a:xfrm flipV="1">
            <a:off x="7437121" y="4833648"/>
            <a:ext cx="534813" cy="182421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 noChangeAspect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The Current Approach to Treatment of Patients with Advanced NSCLC</a:t>
            </a:r>
          </a:p>
        </p:txBody>
      </p:sp>
    </p:spTree>
    <p:extLst>
      <p:ext uri="{BB962C8B-B14F-4D97-AF65-F5344CB8AC3E}">
        <p14:creationId xmlns:p14="http://schemas.microsoft.com/office/powerpoint/2010/main" val="914310642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EA0AD-49FA-A040-9AE2-5BC9F6052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On all lung cancers, there is IHC for PD-L1, c-MET, HER2 protein expression</a:t>
            </a:r>
          </a:p>
          <a:p>
            <a:r>
              <a:rPr lang="en-US" sz="2800" dirty="0"/>
              <a:t>On all lung adenocarcinomas, there is a small panel fusion (ALK, RET, ROS1, NTRK, Met Ex 14) and NGS (MSK-REACT: EGFR, ALK, KRAS, MET, BRAF, ERBB2, NRAS, TP53) for  rapid results</a:t>
            </a:r>
          </a:p>
          <a:p>
            <a:r>
              <a:rPr lang="en-US" sz="2800" dirty="0"/>
              <a:t>Testing for other genes is by MSK-IMPACT, which happens automatically, if genomic DNA control is available</a:t>
            </a:r>
          </a:p>
          <a:p>
            <a:r>
              <a:rPr lang="en-US" sz="2800" dirty="0"/>
              <a:t>If no driver, then do MSK-Target Exome </a:t>
            </a:r>
            <a:r>
              <a:rPr lang="en-US" sz="2800" dirty="0" err="1"/>
              <a:t>RNAseq</a:t>
            </a:r>
            <a:endParaRPr lang="en-US" sz="2800" dirty="0"/>
          </a:p>
          <a:p>
            <a:r>
              <a:rPr lang="en-US" sz="2800" dirty="0"/>
              <a:t>Plasma NGS (MSK-ACCESS or Guardant 360) when tumor tissue is unavailable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038950-80DF-1046-93B6-6D6F3AC2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How we do biomarker testing at MSK</a:t>
            </a:r>
            <a:b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(now…most of the time)</a:t>
            </a:r>
          </a:p>
        </p:txBody>
      </p:sp>
    </p:spTree>
    <p:extLst>
      <p:ext uri="{BB962C8B-B14F-4D97-AF65-F5344CB8AC3E}">
        <p14:creationId xmlns:p14="http://schemas.microsoft.com/office/powerpoint/2010/main" val="413223910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141" y="294805"/>
            <a:ext cx="8229600" cy="27120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819400"/>
            <a:ext cx="35941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905156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28604"/>
            <a:ext cx="10972800" cy="58975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500"/>
              <a:t>64 year-old presents with dyspnea, found to have a large left-sided pleural effusion.  Large volume </a:t>
            </a:r>
            <a:r>
              <a:rPr lang="en-US" sz="3500" err="1"/>
              <a:t>thoracentesis</a:t>
            </a:r>
            <a:r>
              <a:rPr lang="en-US" sz="3500"/>
              <a:t> improves symptoms.  Cytology from pleural effusion shows adenocarcinoma, TTF-1 positive, PD-L1 negative, no targetable oncogenes. 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What is the most appropriate next step?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/>
              <a:t>Carboplatin/pemetrexed/pembrolizumab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/>
              <a:t>Referral to thoracic surgery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err="1"/>
              <a:t>Pembrolizumab</a:t>
            </a:r>
            <a:endParaRPr lang="en-US"/>
          </a:p>
          <a:p>
            <a:pPr marL="971550" lvl="1" indent="-514350">
              <a:buFont typeface="+mj-lt"/>
              <a:buAutoNum type="alphaUcPeriod"/>
            </a:pPr>
            <a:r>
              <a:rPr lang="en-US"/>
              <a:t>Chest radiotherapy</a:t>
            </a:r>
          </a:p>
        </p:txBody>
      </p:sp>
    </p:spTree>
    <p:extLst>
      <p:ext uri="{BB962C8B-B14F-4D97-AF65-F5344CB8AC3E}">
        <p14:creationId xmlns:p14="http://schemas.microsoft.com/office/powerpoint/2010/main" val="2227882950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58458" y="2407285"/>
            <a:ext cx="5749137" cy="39935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6400800"/>
            <a:ext cx="2392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Reck et al, NEJM 2016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Systemic Therapy Response Rates are Low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…in PD-L1 high patients getting pembrolizumab, RR is just 45%</a:t>
            </a:r>
          </a:p>
        </p:txBody>
      </p:sp>
    </p:spTree>
    <p:extLst>
      <p:ext uri="{BB962C8B-B14F-4D97-AF65-F5344CB8AC3E}">
        <p14:creationId xmlns:p14="http://schemas.microsoft.com/office/powerpoint/2010/main" val="99763651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2194561"/>
            <a:ext cx="10972800" cy="22098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/>
              <a:t>Likelihood of benefit from most therapies is relatively low, so if there are sites of impending doom, consider managing with other modalities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191E4-B9BF-317E-4CC2-4B48F057D5CD}"/>
              </a:ext>
            </a:extLst>
          </p:cNvPr>
          <p:cNvSpPr txBox="1"/>
          <p:nvPr/>
        </p:nvSpPr>
        <p:spPr>
          <a:xfrm>
            <a:off x="3251606" y="3916393"/>
            <a:ext cx="5017143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Franklin Gothic Book" panose="020B0503020102020204" pitchFamily="34" charset="0"/>
              </a:rPr>
              <a:t>Cord compression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Franklin Gothic Book" panose="020B0503020102020204" pitchFamily="34" charset="0"/>
              </a:rPr>
              <a:t>Brain metastases &gt;1cm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Franklin Gothic Book" panose="020B0503020102020204" pitchFamily="34" charset="0"/>
              </a:rPr>
              <a:t>Malignant pleural effusion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Key Concept When Thinking About </a:t>
            </a:r>
            <a:b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Initial Chemotherapy of NSCLC</a:t>
            </a:r>
          </a:p>
        </p:txBody>
      </p:sp>
    </p:spTree>
    <p:extLst>
      <p:ext uri="{BB962C8B-B14F-4D97-AF65-F5344CB8AC3E}">
        <p14:creationId xmlns:p14="http://schemas.microsoft.com/office/powerpoint/2010/main" val="1165231691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28604"/>
            <a:ext cx="8229600" cy="58975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500" dirty="0"/>
              <a:t>64 year-old presents with dyspnea, found to have a large left-sided pleural effusion.  Large volume thoracentesis improves symptoms.  Cytology from pleural effusion shows adenocarcinoma, TTF-1 positive, PD-L1 negative, no targetable oncogenes.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most appropriate next step?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Carboplatin/pemetrexed/pembrolizumab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Referral to thoracic surgery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Pembrolizumab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Chest radiotherapy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38400" y="6021376"/>
            <a:ext cx="79248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Franklin Gothic Book" panose="020B0503020102020204" pitchFamily="34" charset="0"/>
              </a:rPr>
              <a:t>We recommend definitive management of malignant pleural effusion prior to initiation of systemic therapy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5776FDC-4940-55A1-B00E-ED41BD738B32}"/>
                  </a:ext>
                </a:extLst>
              </p14:cNvPr>
              <p14:cNvContentPartPr/>
              <p14:nvPr/>
            </p14:nvContentPartPr>
            <p14:xfrm>
              <a:off x="2381534" y="4550065"/>
              <a:ext cx="4429800" cy="33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5776FDC-4940-55A1-B00E-ED41BD738B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7894" y="4442425"/>
                <a:ext cx="45374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7DC68E6-342B-7A37-9647-ACC065328C0F}"/>
                  </a:ext>
                </a:extLst>
              </p14:cNvPr>
              <p14:cNvContentPartPr/>
              <p14:nvPr/>
            </p14:nvContentPartPr>
            <p14:xfrm>
              <a:off x="2636774" y="4623865"/>
              <a:ext cx="3986640" cy="161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7DC68E6-342B-7A37-9647-ACC065328C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83134" y="4516225"/>
                <a:ext cx="4094280" cy="37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5318616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086600" y="1375821"/>
            <a:ext cx="2605306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Franklin Gothic Book" panose="020B0503020102020204" pitchFamily="34" charset="0"/>
              </a:rPr>
              <a:t>NCCN guidelines:  </a:t>
            </a:r>
          </a:p>
          <a:p>
            <a:pPr algn="ctr"/>
            <a:endParaRPr lang="en-US" sz="2400" b="1" u="sng" dirty="0">
              <a:latin typeface="Franklin Gothic Book" panose="020B0503020102020204" pitchFamily="34" charset="0"/>
            </a:endParaRPr>
          </a:p>
          <a:p>
            <a:pPr algn="ctr"/>
            <a:r>
              <a:rPr lang="en-US" sz="2400" b="1" dirty="0">
                <a:latin typeface="Franklin Gothic Book" panose="020B0503020102020204" pitchFamily="34" charset="0"/>
              </a:rPr>
              <a:t>Unfit of any age (performance status 3-4) do not benefit from cytotoxic treatment. 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939423"/>
              </p:ext>
            </p:extLst>
          </p:nvPr>
        </p:nvGraphicFramePr>
        <p:xfrm>
          <a:off x="2057411" y="1325633"/>
          <a:ext cx="4622067" cy="5837167"/>
        </p:xfrm>
        <a:graphic>
          <a:graphicData uri="http://schemas.openxmlformats.org/drawingml/2006/table">
            <a:tbl>
              <a:tblPr/>
              <a:tblGrid>
                <a:gridCol w="1695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79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latin typeface="Franklin Gothic Book" panose="020B0503020102020204" pitchFamily="34" charset="0"/>
                        </a:rPr>
                        <a:t>ECOG Performance Status</a:t>
                      </a:r>
                    </a:p>
                  </a:txBody>
                  <a:tcPr marL="17451" marR="17451" marT="17451" marB="1745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17451" marR="17451" marT="17451" marB="174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70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Franklin Gothic Book" panose="020B0503020102020204" pitchFamily="34" charset="0"/>
                        </a:rPr>
                        <a:t>0</a:t>
                      </a:r>
                    </a:p>
                  </a:txBody>
                  <a:tcPr marL="17451" marR="17451" marT="17451" marB="1745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Franklin Gothic Book" panose="020B0503020102020204" pitchFamily="34" charset="0"/>
                        </a:rPr>
                        <a:t>Fully active, able to carry on all pre-disease performance without restriction</a:t>
                      </a:r>
                    </a:p>
                  </a:txBody>
                  <a:tcPr marL="17451" marR="17451" marT="17451" marB="174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790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Franklin Gothic Book" panose="020B0503020102020204" pitchFamily="34" charset="0"/>
                        </a:rPr>
                        <a:t>1</a:t>
                      </a:r>
                    </a:p>
                  </a:txBody>
                  <a:tcPr marL="17451" marR="17451" marT="17451" marB="1745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Franklin Gothic Book" panose="020B0503020102020204" pitchFamily="34" charset="0"/>
                        </a:rPr>
                        <a:t>Restricted in physically strenuous activity but ambulatory and able to carry out work of a light or sedentary nature, e.g., light house work, office work</a:t>
                      </a:r>
                    </a:p>
                  </a:txBody>
                  <a:tcPr marL="17451" marR="17451" marT="17451" marB="174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30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Franklin Gothic Book" panose="020B0503020102020204" pitchFamily="34" charset="0"/>
                        </a:rPr>
                        <a:t>2</a:t>
                      </a:r>
                    </a:p>
                  </a:txBody>
                  <a:tcPr marL="17451" marR="17451" marT="17451" marB="1745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Franklin Gothic Book" panose="020B0503020102020204" pitchFamily="34" charset="0"/>
                        </a:rPr>
                        <a:t>Ambulatory and capable of all selfcare but unable to carry out any work activities. Up and about more than 50% of waking hours</a:t>
                      </a:r>
                    </a:p>
                  </a:txBody>
                  <a:tcPr marL="17451" marR="17451" marT="17451" marB="174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70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Franklin Gothic Book" panose="020B0503020102020204" pitchFamily="34" charset="0"/>
                        </a:rPr>
                        <a:t>3</a:t>
                      </a:r>
                    </a:p>
                  </a:txBody>
                  <a:tcPr marL="17451" marR="17451" marT="17451" marB="1745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Franklin Gothic Book" panose="020B0503020102020204" pitchFamily="34" charset="0"/>
                        </a:rPr>
                        <a:t>Capable of only limited selfcare, confined to bed or chair more than 50% of waking hours</a:t>
                      </a:r>
                    </a:p>
                  </a:txBody>
                  <a:tcPr marL="17451" marR="17451" marT="17451" marB="174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70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Franklin Gothic Book" panose="020B0503020102020204" pitchFamily="34" charset="0"/>
                        </a:rPr>
                        <a:t>4</a:t>
                      </a:r>
                    </a:p>
                  </a:txBody>
                  <a:tcPr marL="17451" marR="17451" marT="17451" marB="1745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Franklin Gothic Book" panose="020B0503020102020204" pitchFamily="34" charset="0"/>
                        </a:rPr>
                        <a:t>Completely disabled. Cannot carry on any selfcare. Totally confined to bed or chair</a:t>
                      </a:r>
                    </a:p>
                  </a:txBody>
                  <a:tcPr marL="17451" marR="17451" marT="17451" marB="174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69053">
                <a:tc gridSpan="2">
                  <a:txBody>
                    <a:bodyPr/>
                    <a:lstStyle/>
                    <a:p>
                      <a:r>
                        <a:rPr lang="en-US" sz="1500" i="1" dirty="0">
                          <a:latin typeface="Franklin Gothic Book" panose="020B0503020102020204" pitchFamily="34" charset="0"/>
                        </a:rPr>
                        <a:t>Oken, M.M., Creech, R.H., Tormey, D.C., Horton, J., Davis, T.E., McFadden, E.T., Carbone, P.P.: Toxicity And Response Criteria Of The Eastern Cooperative Oncology Group. Am J Clin Oncol 5:649-655, 1982.</a:t>
                      </a:r>
                      <a:r>
                        <a:rPr lang="en-US" sz="1500" dirty="0">
                          <a:latin typeface="Franklin Gothic Book" panose="020B0503020102020204" pitchFamily="34" charset="0"/>
                        </a:rPr>
                        <a:t> </a:t>
                      </a:r>
                    </a:p>
                  </a:txBody>
                  <a:tcPr marL="17451" marR="17451" marT="17451" marB="1745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17451" marR="17451" marT="17451" marB="174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086600" y="4728621"/>
            <a:ext cx="2667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Franklin Gothic Book" panose="020B0503020102020204" pitchFamily="34" charset="0"/>
              </a:rPr>
              <a:t>(Data are mixed on benefit from immunotherapy)</a:t>
            </a:r>
            <a:endParaRPr lang="en-US" dirty="0">
              <a:latin typeface="Franklin Gothic Book" panose="020B05030201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Performance Status</a:t>
            </a:r>
          </a:p>
        </p:txBody>
      </p:sp>
    </p:spTree>
    <p:extLst>
      <p:ext uri="{BB962C8B-B14F-4D97-AF65-F5344CB8AC3E}">
        <p14:creationId xmlns:p14="http://schemas.microsoft.com/office/powerpoint/2010/main" val="1617445819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A83B2-0C7A-8DBB-D1F1-D57928175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010" y="3146612"/>
            <a:ext cx="5589495" cy="3595128"/>
          </a:xfrm>
        </p:spPr>
        <p:txBody>
          <a:bodyPr/>
          <a:lstStyle/>
          <a:p>
            <a:r>
              <a:rPr lang="en-US"/>
              <a:t>Looked at SEER and Medicare data from 2006-2021</a:t>
            </a:r>
          </a:p>
          <a:p>
            <a:r>
              <a:rPr lang="en-US"/>
              <a:t>US patients 65 and older</a:t>
            </a:r>
          </a:p>
          <a:p>
            <a:r>
              <a:rPr lang="en-US"/>
              <a:t>&gt;250,000 patients with metastatic NSCLC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13A386-CF26-8FE3-59E6-E74F0C860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11" y="264309"/>
            <a:ext cx="9273704" cy="24788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52EA46-DECE-0FCF-380A-C8D5E2A74C37}"/>
              </a:ext>
            </a:extLst>
          </p:cNvPr>
          <p:cNvSpPr txBox="1"/>
          <p:nvPr/>
        </p:nvSpPr>
        <p:spPr>
          <a:xfrm>
            <a:off x="5856191" y="2581837"/>
            <a:ext cx="5791200" cy="3211007"/>
          </a:xfrm>
          <a:prstGeom prst="rect">
            <a:avLst/>
          </a:prstGeom>
          <a:noFill/>
          <a:ln w="50800">
            <a:solidFill>
              <a:srgbClr val="0070C0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0666" b="1"/>
              <a:t>46.8% </a:t>
            </a:r>
          </a:p>
          <a:p>
            <a:pPr algn="ctr"/>
            <a:r>
              <a:rPr lang="en-US" sz="4800"/>
              <a:t>ever received systemic therapy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A7CAE-2B6B-D098-B7EF-794B5F8FEA08}"/>
              </a:ext>
            </a:extLst>
          </p:cNvPr>
          <p:cNvSpPr txBox="1"/>
          <p:nvPr/>
        </p:nvSpPr>
        <p:spPr>
          <a:xfrm>
            <a:off x="8751791" y="6341631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Fox et al, JAMA </a:t>
            </a:r>
            <a:r>
              <a:rPr lang="en-US" err="1"/>
              <a:t>Onc</a:t>
            </a:r>
            <a:r>
              <a:rPr lang="en-US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313906739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3AAB36-8831-6C47-B616-0B6B1FAB9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The End of </a:t>
            </a:r>
            <a:r>
              <a:rPr lang="en-US" b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nsclc</a:t>
            </a:r>
            <a:endParaRPr lang="en-US" b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24EBD9-B70D-004F-AF77-44A0CA382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62864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Thymic Tumors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977" y="1600201"/>
            <a:ext cx="5673687" cy="4525963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/>
              <a:t>Thymic tumors (thymoma, thymic carcinoma) are the most common tumor of the anterior mediastinum</a:t>
            </a:r>
          </a:p>
          <a:p>
            <a:pPr>
              <a:spcAft>
                <a:spcPts val="1200"/>
              </a:spcAft>
            </a:pPr>
            <a:r>
              <a:rPr lang="en-US" dirty="0"/>
              <a:t>Thought to derive from thymic epithelial cells</a:t>
            </a:r>
          </a:p>
          <a:p>
            <a:pPr>
              <a:spcAft>
                <a:spcPts val="1200"/>
              </a:spcAft>
            </a:pPr>
            <a:r>
              <a:rPr lang="en-US" dirty="0"/>
              <a:t>No known risk factors, though may be more common in people from Asia and African Americans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53200" y="2057400"/>
            <a:ext cx="38100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Thymic Tumors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467601" y="6400800"/>
            <a:ext cx="271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ierstadt" panose="020B0004020202020204" pitchFamily="34" charset="0"/>
              </a:rPr>
              <a:t>Hsu et al, </a:t>
            </a:r>
            <a:r>
              <a:rPr lang="en-US" dirty="0" err="1">
                <a:latin typeface="Bierstadt" panose="020B0004020202020204" pitchFamily="34" charset="0"/>
              </a:rPr>
              <a:t>PLoS</a:t>
            </a:r>
            <a:r>
              <a:rPr lang="en-US" dirty="0">
                <a:latin typeface="Bierstadt" panose="020B0004020202020204" pitchFamily="34" charset="0"/>
              </a:rPr>
              <a:t> One 2019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BBC49E-38CD-B2D4-C813-24085454C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013" y="1690688"/>
            <a:ext cx="7783011" cy="46964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Thymic tumors rise in frequency with age, but are uncommon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690688"/>
          <a:ext cx="8229600" cy="47701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Epithelial</a:t>
                      </a:r>
                      <a:r>
                        <a:rPr lang="en-US" baseline="0">
                          <a:latin typeface="Bierstadt" panose="020B0004020202020204" pitchFamily="34" charset="0"/>
                        </a:rPr>
                        <a:t> Atypia</a:t>
                      </a:r>
                      <a:endParaRPr lang="en-US">
                        <a:latin typeface="Bierstadt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Predominant Cell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Spindle </a:t>
                      </a:r>
                      <a:r>
                        <a:rPr lang="en-US" baseline="0">
                          <a:latin typeface="Bierstadt" panose="020B0004020202020204" pitchFamily="34" charset="0"/>
                        </a:rPr>
                        <a:t> Cell</a:t>
                      </a:r>
                      <a:endParaRPr lang="en-US">
                        <a:latin typeface="Bierstadt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Epithelial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Mixed Thymoma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ierstadt" panose="020B0004020202020204" pitchFamily="34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Distinct</a:t>
                      </a:r>
                      <a:r>
                        <a:rPr lang="en-US" baseline="0">
                          <a:latin typeface="Bierstadt" panose="020B0004020202020204" pitchFamily="34" charset="0"/>
                        </a:rPr>
                        <a:t> epithelial-rich and lymphoid cell-rich areas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Lymphocyte</a:t>
                      </a:r>
                      <a:r>
                        <a:rPr lang="en-US" baseline="0">
                          <a:latin typeface="Bierstadt" panose="020B0004020202020204" pitchFamily="34" charset="0"/>
                        </a:rPr>
                        <a:t> rich</a:t>
                      </a:r>
                      <a:endParaRPr lang="en-US">
                        <a:latin typeface="Bierstadt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Mixed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Cortical</a:t>
                      </a:r>
                      <a:r>
                        <a:rPr lang="en-US" baseline="0">
                          <a:latin typeface="Bierstadt" panose="020B0004020202020204" pitchFamily="34" charset="0"/>
                        </a:rPr>
                        <a:t> thymoma</a:t>
                      </a:r>
                      <a:endParaRPr lang="en-US">
                        <a:latin typeface="Bierstadt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Mild-moderate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Increasing epithelial component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“well-differentiated thymic carcinoma”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Increasing</a:t>
                      </a:r>
                      <a:r>
                        <a:rPr lang="en-US" baseline="0">
                          <a:latin typeface="Bierstadt" panose="020B0004020202020204" pitchFamily="34" charset="0"/>
                        </a:rPr>
                        <a:t> epithelial atypia</a:t>
                      </a:r>
                      <a:endParaRPr lang="en-US">
                        <a:latin typeface="Bierstadt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Predominantly epithelial, few lymphocytes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Thymic Carcinoma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Bierstadt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ierstadt" panose="020B0004020202020204" pitchFamily="34" charset="0"/>
                        </a:rPr>
                        <a:t>Overtly</a:t>
                      </a:r>
                      <a:r>
                        <a:rPr lang="en-US" baseline="0">
                          <a:latin typeface="Bierstadt" panose="020B0004020202020204" pitchFamily="34" charset="0"/>
                        </a:rPr>
                        <a:t> malignant</a:t>
                      </a:r>
                      <a:endParaRPr lang="en-US">
                        <a:latin typeface="Bierstadt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ierstadt" panose="020B0004020202020204" pitchFamily="34" charset="0"/>
                        </a:rPr>
                        <a:t>Epithelial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F124A2A-AD5D-716E-D788-A791E4FF85FF}"/>
              </a:ext>
            </a:extLst>
          </p:cNvPr>
          <p:cNvSpPr txBox="1"/>
          <p:nvPr/>
        </p:nvSpPr>
        <p:spPr>
          <a:xfrm>
            <a:off x="9453282" y="2599129"/>
            <a:ext cx="2537012" cy="147732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These are widely discussed, may be prognostic, but don’t generally factor into decision-making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Thymic tumors</a:t>
            </a:r>
            <a:b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WHO Pathology Classification</a:t>
            </a:r>
          </a:p>
        </p:txBody>
      </p:sp>
      <p:sp>
        <p:nvSpPr>
          <p:cNvPr id="5" name="Citation (added)"/>
          <p:cNvSpPr txBox="1"/>
          <p:nvPr/>
        </p:nvSpPr>
        <p:spPr>
          <a:xfrm>
            <a:off x="10241280" y="4434840"/>
            <a:ext cx="17373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WHO Classification of Thoracic </a:t>
            </a:r>
            <a:r>
              <a:rPr sz="1100" dirty="0" err="1">
                <a:solidFill>
                  <a:srgbClr val="000000"/>
                </a:solidFill>
                <a:latin typeface="Franklin Gothic Book" panose="020B0503020102020204" pitchFamily="34" charset="0"/>
              </a:rPr>
              <a:t>Tumours</a:t>
            </a:r>
            <a:r>
              <a:rPr sz="1100" dirty="0">
                <a:solidFill>
                  <a:srgbClr val="000000"/>
                </a:solidFill>
                <a:latin typeface="Franklin Gothic Book" panose="020B0503020102020204" pitchFamily="34" charset="0"/>
              </a:rPr>
              <a:t>, 5th ed, 2021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Thymoma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“bland” without </a:t>
            </a:r>
            <a:r>
              <a:rPr lang="en-US" err="1"/>
              <a:t>atypia</a:t>
            </a:r>
            <a:endParaRPr lang="en-US"/>
          </a:p>
          <a:p>
            <a:r>
              <a:rPr lang="en-US"/>
              <a:t>“</a:t>
            </a:r>
            <a:r>
              <a:rPr lang="en-US" err="1"/>
              <a:t>organotypic</a:t>
            </a:r>
            <a:r>
              <a:rPr lang="en-US"/>
              <a:t>”</a:t>
            </a:r>
          </a:p>
          <a:p>
            <a:r>
              <a:rPr lang="en-US"/>
              <a:t>Usually encapsulated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Thymic Carcinoma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“overt </a:t>
            </a:r>
            <a:r>
              <a:rPr lang="en-US" err="1"/>
              <a:t>cytologic</a:t>
            </a:r>
            <a:r>
              <a:rPr lang="en-US"/>
              <a:t> </a:t>
            </a:r>
            <a:r>
              <a:rPr lang="en-US" err="1"/>
              <a:t>atypia</a:t>
            </a:r>
            <a:r>
              <a:rPr lang="en-US"/>
              <a:t>”</a:t>
            </a:r>
          </a:p>
          <a:p>
            <a:r>
              <a:rPr lang="en-US"/>
              <a:t>Squamous is most common histology</a:t>
            </a:r>
          </a:p>
          <a:p>
            <a:r>
              <a:rPr lang="en-US"/>
              <a:t>Usually express CD5</a:t>
            </a:r>
          </a:p>
          <a:p>
            <a:r>
              <a:rPr lang="en-US"/>
              <a:t>Frequently express CD117 (c-KIT)</a:t>
            </a:r>
          </a:p>
          <a:p>
            <a:r>
              <a:rPr lang="en-US" i="1"/>
              <a:t>c-KIT</a:t>
            </a:r>
            <a:r>
              <a:rPr lang="en-US"/>
              <a:t> occasionally mutated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Pathology of Thymic Tumors…simpler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383495" y="6416993"/>
            <a:ext cx="2264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ierstadt" panose="020B0004020202020204" pitchFamily="34" charset="0"/>
              </a:rPr>
              <a:t>Ruffini et al JTO 2023</a:t>
            </a:r>
          </a:p>
        </p:txBody>
      </p:sp>
      <p:pic>
        <p:nvPicPr>
          <p:cNvPr id="4" name="Picture 3" descr="A graph of patients with numbers and a number&#10;&#10;AI-generated content may be incorrect.">
            <a:extLst>
              <a:ext uri="{FF2B5EF4-FFF2-40B4-BE49-F238E27FC236}">
                <a16:creationId xmlns:a16="http://schemas.microsoft.com/office/drawing/2014/main" id="{8DA8E377-415B-4010-EEE8-185DFA5B2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11" y="1164892"/>
            <a:ext cx="7206071" cy="56931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D1A7CD-D7DB-7C55-D3D0-16D9E05B0D47}"/>
              </a:ext>
            </a:extLst>
          </p:cNvPr>
          <p:cNvSpPr txBox="1"/>
          <p:nvPr/>
        </p:nvSpPr>
        <p:spPr>
          <a:xfrm>
            <a:off x="8444753" y="2595280"/>
            <a:ext cx="2643037" cy="92333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Note the x-axis</a:t>
            </a:r>
            <a:r>
              <a:rPr lang="en-US" dirty="0"/>
              <a:t>. Recurrence can happen late.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Incidence of recurrence by stage (AJCC TNM)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467601" y="6400800"/>
            <a:ext cx="2798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Bierstadt" panose="020B0004020202020204" pitchFamily="34" charset="0"/>
              </a:rPr>
              <a:t>Detterbeck et al, JTO 2014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5552" y="1295400"/>
            <a:ext cx="10399648" cy="4873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Thymic tumor staging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33049" y="2032002"/>
            <a:ext cx="8296275" cy="4144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467601" y="6400800"/>
            <a:ext cx="2798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Bierstadt" panose="020B0004020202020204" pitchFamily="34" charset="0"/>
              </a:rPr>
              <a:t>Detterbeck et al, JTO 2014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Thymic tumor staging – </a:t>
            </a:r>
            <a:b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</a:b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Stage </a:t>
            </a:r>
            <a:r>
              <a:rPr lang="en-US" sz="28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IVa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is much more common than </a:t>
            </a:r>
            <a:r>
              <a:rPr lang="en-US" sz="2800" b="0" dirty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IVb</a:t>
            </a:r>
            <a:endParaRPr lang="en-US" sz="2800" b="0" dirty="0">
              <a:solidFill>
                <a:srgbClr val="005A8E"/>
              </a:solidFill>
              <a:latin typeface="Franklin Gothic Medium"/>
              <a:ea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Referral to a specialized center</a:t>
            </a:r>
          </a:p>
          <a:p>
            <a:r>
              <a:rPr lang="en-US" dirty="0"/>
              <a:t>Surgery, if possible—the best predictor of outcome is whether the patient has a complete surgical resection</a:t>
            </a:r>
          </a:p>
          <a:p>
            <a:r>
              <a:rPr lang="en-US" dirty="0"/>
              <a:t>Sometimes we do neoadjuvant therapy (but there is no clear consensus when this should be done)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Thymoma / Thymic Carcinoma Treatment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05800" y="6477000"/>
            <a:ext cx="2506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ierstadt" panose="020B0004020202020204" pitchFamily="34" charset="0"/>
              </a:rPr>
              <a:t>NCCN Guidelines 2025</a:t>
            </a:r>
          </a:p>
        </p:txBody>
      </p:sp>
      <p:pic>
        <p:nvPicPr>
          <p:cNvPr id="6" name="Picture 5" descr="A diagram of a patient's treatment&#10;&#10;AI-generated content may be incorrect.">
            <a:extLst>
              <a:ext uri="{FF2B5EF4-FFF2-40B4-BE49-F238E27FC236}">
                <a16:creationId xmlns:a16="http://schemas.microsoft.com/office/drawing/2014/main" id="{8F89A474-9792-FDCC-2010-464FC5EA7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24" y="1476038"/>
            <a:ext cx="9640645" cy="48203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After Surgery …what next?</a:t>
            </a:r>
          </a:p>
        </p:txBody>
      </p:sp>
    </p:spTree>
    <p:extLst>
      <p:ext uri="{BB962C8B-B14F-4D97-AF65-F5344CB8AC3E}">
        <p14:creationId xmlns:p14="http://schemas.microsoft.com/office/powerpoint/2010/main" val="2997088992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05800" y="6477000"/>
            <a:ext cx="2506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ierstadt" panose="020B0004020202020204" pitchFamily="34" charset="0"/>
              </a:rPr>
              <a:t>NCCN Guidelines 2025</a:t>
            </a:r>
          </a:p>
        </p:txBody>
      </p:sp>
      <p:pic>
        <p:nvPicPr>
          <p:cNvPr id="6" name="Picture 5" descr="A diagram of a patient's treatment&#10;&#10;AI-generated content may be incorrect.">
            <a:extLst>
              <a:ext uri="{FF2B5EF4-FFF2-40B4-BE49-F238E27FC236}">
                <a16:creationId xmlns:a16="http://schemas.microsoft.com/office/drawing/2014/main" id="{8F89A474-9792-FDCC-2010-464FC5EA7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24" y="1476038"/>
            <a:ext cx="9640645" cy="48203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0248" y="2553529"/>
            <a:ext cx="4683552" cy="317009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latin typeface="Bierstadt" panose="020B0004020202020204" pitchFamily="34" charset="0"/>
              </a:rPr>
              <a:t>We generally recommend postoperative radiation for patients with positive margins and/or stage III disease.</a:t>
            </a:r>
          </a:p>
          <a:p>
            <a:pPr algn="ctr"/>
            <a:endParaRPr lang="en-US" sz="2000" b="1">
              <a:latin typeface="Bierstadt" panose="020B0004020202020204" pitchFamily="34" charset="0"/>
            </a:endParaRPr>
          </a:p>
          <a:p>
            <a:pPr algn="ctr"/>
            <a:r>
              <a:rPr lang="en-US" sz="2000" b="1">
                <a:latin typeface="Bierstadt" panose="020B0004020202020204" pitchFamily="34" charset="0"/>
              </a:rPr>
              <a:t>There are no randomized data to define the role of post-operative radiation.</a:t>
            </a:r>
          </a:p>
          <a:p>
            <a:pPr algn="ctr"/>
            <a:endParaRPr lang="en-US" sz="2000" b="1">
              <a:latin typeface="Bierstadt" panose="020B0004020202020204" pitchFamily="34" charset="0"/>
            </a:endParaRPr>
          </a:p>
          <a:p>
            <a:pPr algn="ctr"/>
            <a:r>
              <a:rPr lang="en-US" sz="2000" b="1">
                <a:latin typeface="Bierstadt" panose="020B0004020202020204" pitchFamily="34" charset="0"/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After Surgery …what next?</a:t>
            </a:r>
          </a:p>
        </p:txBody>
      </p:sp>
    </p:spTree>
    <p:extLst>
      <p:ext uri="{BB962C8B-B14F-4D97-AF65-F5344CB8AC3E}">
        <p14:creationId xmlns:p14="http://schemas.microsoft.com/office/powerpoint/2010/main" val="3956609639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05800" y="6477000"/>
            <a:ext cx="2506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ierstadt" panose="020B0004020202020204" pitchFamily="34" charset="0"/>
              </a:rPr>
              <a:t>NCCN Guidelines 2025</a:t>
            </a:r>
          </a:p>
        </p:txBody>
      </p:sp>
      <p:pic>
        <p:nvPicPr>
          <p:cNvPr id="6" name="Picture 5" descr="A diagram of a patient's treatment&#10;&#10;AI-generated content may be incorrect.">
            <a:extLst>
              <a:ext uri="{FF2B5EF4-FFF2-40B4-BE49-F238E27FC236}">
                <a16:creationId xmlns:a16="http://schemas.microsoft.com/office/drawing/2014/main" id="{8F89A474-9792-FDCC-2010-464FC5EA7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24" y="1476038"/>
            <a:ext cx="9640645" cy="48203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54930F-DE92-2D56-9AEF-C349E55B32E9}"/>
              </a:ext>
            </a:extLst>
          </p:cNvPr>
          <p:cNvSpPr txBox="1"/>
          <p:nvPr/>
        </p:nvSpPr>
        <p:spPr>
          <a:xfrm>
            <a:off x="2514600" y="4724401"/>
            <a:ext cx="5791200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Bierstadt" panose="020B0004020202020204" pitchFamily="34" charset="0"/>
              </a:rPr>
              <a:t>We generally recommend surveillance scans annually (or semiannually) for many years (5-10+) since: </a:t>
            </a:r>
          </a:p>
          <a:p>
            <a:pPr marL="342900" indent="-342900">
              <a:buAutoNum type="alphaLcParenBoth"/>
            </a:pPr>
            <a:r>
              <a:rPr lang="en-US" dirty="0">
                <a:latin typeface="Bierstadt" panose="020B0004020202020204" pitchFamily="34" charset="0"/>
              </a:rPr>
              <a:t>tumors are slow-growing and can recur many years later, and </a:t>
            </a:r>
          </a:p>
          <a:p>
            <a:pPr marL="342900" indent="-342900">
              <a:buAutoNum type="alphaLcParenBoth"/>
            </a:pPr>
            <a:r>
              <a:rPr lang="en-US" dirty="0">
                <a:latin typeface="Bierstadt" panose="020B0004020202020204" pitchFamily="34" charset="0"/>
              </a:rPr>
              <a:t>local recurrences (usually in the pleura) can be managed with surgery with long-term disease-free intervals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After Surgery …what next?</a:t>
            </a:r>
          </a:p>
        </p:txBody>
      </p:sp>
    </p:spTree>
    <p:extLst>
      <p:ext uri="{BB962C8B-B14F-4D97-AF65-F5344CB8AC3E}">
        <p14:creationId xmlns:p14="http://schemas.microsoft.com/office/powerpoint/2010/main" val="3444027522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47337" y="4763101"/>
            <a:ext cx="9229165" cy="120032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ierstadt" panose="020B0004020202020204" pitchFamily="34" charset="0"/>
              </a:rPr>
              <a:t>There is </a:t>
            </a:r>
            <a:r>
              <a:rPr lang="en-US" sz="2400" u="sng" dirty="0">
                <a:latin typeface="Bierstadt" panose="020B0004020202020204" pitchFamily="34" charset="0"/>
              </a:rPr>
              <a:t>no comparative data </a:t>
            </a:r>
            <a:r>
              <a:rPr lang="en-US" sz="2400" dirty="0">
                <a:latin typeface="Bierstadt" panose="020B0004020202020204" pitchFamily="34" charset="0"/>
              </a:rPr>
              <a:t>for chemotherapy regimens</a:t>
            </a:r>
          </a:p>
          <a:p>
            <a:r>
              <a:rPr lang="en-US" sz="2400" dirty="0">
                <a:latin typeface="Bierstadt" panose="020B0004020202020204" pitchFamily="34" charset="0"/>
              </a:rPr>
              <a:t>For thymoma, doxorubicin-based regimens are preferred,  RR ≥ 50%</a:t>
            </a:r>
          </a:p>
          <a:p>
            <a:r>
              <a:rPr lang="en-US" sz="2400" dirty="0">
                <a:latin typeface="Bierstadt" panose="020B0004020202020204" pitchFamily="34" charset="0"/>
              </a:rPr>
              <a:t>For thymic carcinoma, platinum/</a:t>
            </a:r>
            <a:r>
              <a:rPr lang="en-US" sz="2400" dirty="0" err="1">
                <a:latin typeface="Bierstadt" panose="020B0004020202020204" pitchFamily="34" charset="0"/>
              </a:rPr>
              <a:t>taxane</a:t>
            </a:r>
            <a:r>
              <a:rPr lang="en-US" sz="2400" dirty="0">
                <a:latin typeface="Bierstadt" panose="020B0004020202020204" pitchFamily="34" charset="0"/>
              </a:rPr>
              <a:t> combinations, RR ≥ 25%</a:t>
            </a:r>
          </a:p>
        </p:txBody>
      </p:sp>
      <p:pic>
        <p:nvPicPr>
          <p:cNvPr id="9" name="Picture 8" descr="A medical report with black text&#10;&#10;AI-generated content may be incorrect.">
            <a:extLst>
              <a:ext uri="{FF2B5EF4-FFF2-40B4-BE49-F238E27FC236}">
                <a16:creationId xmlns:a16="http://schemas.microsoft.com/office/drawing/2014/main" id="{756DD59F-9A76-6FA1-3304-EB7AA5283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7337" y="1494734"/>
            <a:ext cx="10526867" cy="31445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3F60FA-CD65-8A0D-225A-D4C7A7E6B10E}"/>
              </a:ext>
            </a:extLst>
          </p:cNvPr>
          <p:cNvSpPr txBox="1"/>
          <p:nvPr/>
        </p:nvSpPr>
        <p:spPr>
          <a:xfrm>
            <a:off x="8305800" y="6477000"/>
            <a:ext cx="2506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ierstadt" panose="020B0004020202020204" pitchFamily="34" charset="0"/>
              </a:rPr>
              <a:t>NCCN Guidelines 2025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Chemotherapy for Recurrent/Advanced </a:t>
            </a:r>
            <a:r>
              <a:rPr lang="en-US" sz="2800" b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Thymic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Tumors</a:t>
            </a:r>
          </a:p>
        </p:txBody>
      </p:sp>
    </p:spTree>
    <p:extLst>
      <p:ext uri="{BB962C8B-B14F-4D97-AF65-F5344CB8AC3E}">
        <p14:creationId xmlns:p14="http://schemas.microsoft.com/office/powerpoint/2010/main" val="2738864485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480FA2B-BBF5-7AF5-D5E1-EE02EF710784}"/>
              </a:ext>
            </a:extLst>
          </p:cNvPr>
          <p:cNvSpPr/>
          <p:nvPr/>
        </p:nvSpPr>
        <p:spPr>
          <a:xfrm>
            <a:off x="884577" y="3944539"/>
            <a:ext cx="3136094" cy="492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AB59E46F-3FEC-267C-142D-11FB8227B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213" y="1436996"/>
            <a:ext cx="9051246" cy="270035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1FD26D-2830-6277-01A8-A0E732407468}"/>
              </a:ext>
            </a:extLst>
          </p:cNvPr>
          <p:cNvSpPr txBox="1"/>
          <p:nvPr/>
        </p:nvSpPr>
        <p:spPr>
          <a:xfrm>
            <a:off x="8305800" y="6477000"/>
            <a:ext cx="2506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ierstadt" panose="020B0004020202020204" pitchFamily="34" charset="0"/>
              </a:rPr>
              <a:t>NCCN Guidelines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873D3-903C-97B5-0B6E-412A28B51257}"/>
              </a:ext>
            </a:extLst>
          </p:cNvPr>
          <p:cNvSpPr txBox="1"/>
          <p:nvPr/>
        </p:nvSpPr>
        <p:spPr>
          <a:xfrm>
            <a:off x="188259" y="4193557"/>
            <a:ext cx="11698942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Bierstadt" panose="020B0004020202020204" pitchFamily="34" charset="0"/>
              </a:rPr>
              <a:t>There is </a:t>
            </a:r>
            <a:r>
              <a:rPr lang="en-US" u="sng" dirty="0">
                <a:latin typeface="Bierstadt" panose="020B0004020202020204" pitchFamily="34" charset="0"/>
              </a:rPr>
              <a:t>no comparative data.</a:t>
            </a:r>
            <a:endParaRPr lang="en-US" dirty="0">
              <a:latin typeface="Bierstadt" panose="020B0004020202020204" pitchFamily="34" charset="0"/>
            </a:endParaRPr>
          </a:p>
          <a:p>
            <a:r>
              <a:rPr lang="en-US" dirty="0">
                <a:latin typeface="Bierstadt" panose="020B0004020202020204" pitchFamily="34" charset="0"/>
              </a:rPr>
              <a:t>Notable, board-prep notes:</a:t>
            </a:r>
          </a:p>
          <a:p>
            <a:pPr marL="457200" indent="-457200">
              <a:buAutoNum type="arabicParenBoth"/>
            </a:pPr>
            <a:r>
              <a:rPr lang="en-US" dirty="0">
                <a:latin typeface="Bierstadt" panose="020B0004020202020204" pitchFamily="34" charset="0"/>
              </a:rPr>
              <a:t>Octreotide is a well-tolerated, sometimes effective treatment that can be given in patients with avid disease</a:t>
            </a:r>
          </a:p>
          <a:p>
            <a:pPr marL="457200" indent="-457200">
              <a:buAutoNum type="arabicParenBoth"/>
            </a:pPr>
            <a:r>
              <a:rPr lang="en-US" dirty="0">
                <a:latin typeface="Bierstadt" panose="020B0004020202020204" pitchFamily="34" charset="0"/>
              </a:rPr>
              <a:t>Don’t give checkpoint inhibitors to patients with thymoma. They already have a high risk for autoimmune problems and there are many reported cases of fulminant autoimmune problems</a:t>
            </a:r>
          </a:p>
          <a:p>
            <a:pPr marL="457200" indent="-457200">
              <a:buAutoNum type="arabicParenBoth"/>
            </a:pPr>
            <a:r>
              <a:rPr lang="en-US" dirty="0">
                <a:latin typeface="Bierstadt" panose="020B0004020202020204" pitchFamily="34" charset="0"/>
              </a:rPr>
              <a:t>In patients with thymic carcinoma who get checkpoint inhibitors, there is a higher rate of myositis, including myocarditis than with other diseases, but it’s reasonably tolerated and has efficacy.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A1E2F-A386-8146-6506-1BA67016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dirty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Later-line therapy for thymic tumors</a:t>
            </a:r>
          </a:p>
        </p:txBody>
      </p:sp>
    </p:spTree>
    <p:extLst>
      <p:ext uri="{BB962C8B-B14F-4D97-AF65-F5344CB8AC3E}">
        <p14:creationId xmlns:p14="http://schemas.microsoft.com/office/powerpoint/2010/main" val="1505471081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9788" y="1439117"/>
            <a:ext cx="5157787" cy="823912"/>
          </a:xfrm>
        </p:spPr>
        <p:txBody>
          <a:bodyPr/>
          <a:lstStyle/>
          <a:p>
            <a:r>
              <a:rPr lang="en-US"/>
              <a:t>Thymoma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839788" y="2263029"/>
            <a:ext cx="5157787" cy="36845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Neurologic:</a:t>
            </a:r>
          </a:p>
          <a:p>
            <a:pPr lvl="1"/>
            <a:r>
              <a:rPr lang="en-US" dirty="0"/>
              <a:t>Myasthenia gravis (10%/30-40%)</a:t>
            </a:r>
          </a:p>
          <a:p>
            <a:pPr lvl="2"/>
            <a:r>
              <a:rPr lang="en-US" dirty="0"/>
              <a:t>Anti-</a:t>
            </a:r>
            <a:r>
              <a:rPr lang="en-US" dirty="0" err="1"/>
              <a:t>AChR</a:t>
            </a:r>
            <a:r>
              <a:rPr lang="en-US" dirty="0"/>
              <a:t> Ab</a:t>
            </a:r>
          </a:p>
          <a:p>
            <a:pPr lvl="1"/>
            <a:r>
              <a:rPr lang="en-US" dirty="0" err="1"/>
              <a:t>Neuromyotonia +/- encephalitis (multiple, irregular contractions of the long muscles, cramping, weakness, pruritus, hyperhidrosis, insomnia, and delirium) aka Isaacs / Morvan syndrome</a:t>
            </a:r>
          </a:p>
          <a:p>
            <a:pPr lvl="2"/>
            <a:r>
              <a:rPr lang="en-US" dirty="0"/>
              <a:t>Anti-VGKC ab, Anti-</a:t>
            </a:r>
            <a:r>
              <a:rPr lang="en-US" b="0" i="0" dirty="0">
                <a:solidFill>
                  <a:srgbClr val="232323"/>
                </a:solidFill>
                <a:effectLst/>
              </a:rPr>
              <a:t>Caspr2 ab</a:t>
            </a:r>
            <a:endParaRPr lang="en-US" dirty="0"/>
          </a:p>
          <a:p>
            <a:r>
              <a:rPr lang="en-US" dirty="0"/>
              <a:t>Hematologic:</a:t>
            </a:r>
          </a:p>
          <a:p>
            <a:pPr lvl="1"/>
            <a:r>
              <a:rPr lang="en-US" dirty="0"/>
              <a:t>Pure red cell aplasia (&lt;10%)</a:t>
            </a:r>
          </a:p>
          <a:p>
            <a:pPr lvl="1"/>
            <a:r>
              <a:rPr lang="en-US" dirty="0"/>
              <a:t>Hypogammaglobulinemia (6-10%)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6172200" y="1439117"/>
            <a:ext cx="5183188" cy="823912"/>
          </a:xfrm>
        </p:spPr>
        <p:txBody>
          <a:bodyPr/>
          <a:lstStyle/>
          <a:p>
            <a:r>
              <a:rPr lang="en-US"/>
              <a:t>Thymic Carcinoma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6172200" y="2263029"/>
            <a:ext cx="5183188" cy="3684588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rare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F9A1FC-F79E-4649-A393-CCFE686BFF75}"/>
              </a:ext>
            </a:extLst>
          </p:cNvPr>
          <p:cNvSpPr txBox="1"/>
          <p:nvPr/>
        </p:nvSpPr>
        <p:spPr>
          <a:xfrm>
            <a:off x="6858000" y="63550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cap="all">
                <a:solidFill>
                  <a:schemeClr val="tx2"/>
                </a:solidFill>
                <a:effectLst/>
                <a:latin typeface="Bierstadt" panose="020B0004020202020204" pitchFamily="34" charset="0"/>
              </a:rPr>
              <a:t>Thompson et al, JTO 2007</a:t>
            </a:r>
            <a:endParaRPr lang="en-US">
              <a:solidFill>
                <a:schemeClr val="tx2"/>
              </a:solidFill>
              <a:latin typeface="Bierstadt" panose="020B00040202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 err="1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Paraneoplastic</a:t>
            </a: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 Syndromes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The most common tumor of the anterior mediastinum</a:t>
            </a:r>
          </a:p>
          <a:p>
            <a:r>
              <a:rPr lang="en-US" sz="3000" dirty="0"/>
              <a:t>Uncommon tumor occurring in &lt;2000 people per year in the US</a:t>
            </a:r>
          </a:p>
          <a:p>
            <a:r>
              <a:rPr lang="en-US" sz="3000" dirty="0"/>
              <a:t>Treatment is surgery if possible</a:t>
            </a:r>
          </a:p>
          <a:p>
            <a:r>
              <a:rPr lang="en-US" sz="3000" dirty="0"/>
              <a:t>Thymoma is associated with paraneoplastic syndromes, the most common is myasthenia gravis, but notable other ones include pure red cell aplasia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051560"/>
          </a:xfrm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b="0">
                <a:solidFill>
                  <a:srgbClr val="005A8E"/>
                </a:solidFill>
                <a:latin typeface="Franklin Gothic Medium"/>
                <a:ea typeface="Franklin Gothic Medium"/>
                <a:cs typeface="Franklin Gothic Medium"/>
              </a:rPr>
              <a:t>Thymic Tumors Conclusions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A3CB37-E85C-986D-2274-319F1B5EC19B}"/>
                  </a:ext>
                </a:extLst>
              </p14:cNvPr>
              <p14:cNvContentPartPr/>
              <p14:nvPr/>
            </p14:nvContentPartPr>
            <p14:xfrm>
              <a:off x="8593076" y="4325876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A3CB37-E85C-986D-2274-319F1B5EC1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75436" y="430823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94AECAC-6818-76F7-ACC6-09DCE9DD479D}"/>
                  </a:ext>
                </a:extLst>
              </p14:cNvPr>
              <p14:cNvContentPartPr/>
              <p14:nvPr/>
            </p14:nvContentPartPr>
            <p14:xfrm>
              <a:off x="2830741" y="213002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94AECAC-6818-76F7-ACC6-09DCE9DD47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2741" y="211238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924073-1C7E-D3A4-4FF8-6E91D00150DE}"/>
                  </a:ext>
                </a:extLst>
              </p14:cNvPr>
              <p14:cNvContentPartPr/>
              <p14:nvPr/>
            </p14:nvContentPartPr>
            <p14:xfrm>
              <a:off x="2665141" y="209114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924073-1C7E-D3A4-4FF8-6E91D00150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7501" y="2073500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Slide Template 4">
  <a:themeElements>
    <a:clrScheme name="MSK Color Palette">
      <a:dk1>
        <a:sysClr val="windowText" lastClr="000000"/>
      </a:dk1>
      <a:lt1>
        <a:sysClr val="window" lastClr="FFFFFF"/>
      </a:lt1>
      <a:dk2>
        <a:srgbClr val="737373"/>
      </a:dk2>
      <a:lt2>
        <a:srgbClr val="B3B3A6"/>
      </a:lt2>
      <a:accent1>
        <a:srgbClr val="2986E2"/>
      </a:accent1>
      <a:accent2>
        <a:srgbClr val="F26529"/>
      </a:accent2>
      <a:accent3>
        <a:srgbClr val="FFF5BC"/>
      </a:accent3>
      <a:accent4>
        <a:srgbClr val="737373"/>
      </a:accent4>
      <a:accent5>
        <a:srgbClr val="B3B3A6"/>
      </a:accent5>
      <a:accent6>
        <a:srgbClr val="2875B4"/>
      </a:accent6>
      <a:hlink>
        <a:srgbClr val="00BDF2"/>
      </a:hlink>
      <a:folHlink>
        <a:srgbClr val="9BDCFF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Custom Design">
  <a:themeElements>
    <a:clrScheme name="Annual Meeting 18">
      <a:dk1>
        <a:srgbClr val="113468"/>
      </a:dk1>
      <a:lt1>
        <a:sysClr val="window" lastClr="FFFFFF"/>
      </a:lt1>
      <a:dk2>
        <a:srgbClr val="0076A9"/>
      </a:dk2>
      <a:lt2>
        <a:srgbClr val="E7E6E6"/>
      </a:lt2>
      <a:accent1>
        <a:srgbClr val="008764"/>
      </a:accent1>
      <a:accent2>
        <a:srgbClr val="0076A9"/>
      </a:accent2>
      <a:accent3>
        <a:srgbClr val="00457C"/>
      </a:accent3>
      <a:accent4>
        <a:srgbClr val="39B0FF"/>
      </a:accent4>
      <a:accent5>
        <a:srgbClr val="096F76"/>
      </a:accent5>
      <a:accent6>
        <a:srgbClr val="F2CE47"/>
      </a:accent6>
      <a:hlink>
        <a:srgbClr val="F2CE47"/>
      </a:hlink>
      <a:folHlink>
        <a:srgbClr val="39B0FF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600" dirty="0" smtClean="0">
            <a:solidFill>
              <a:srgbClr val="FFFFFF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Slide Template 4">
  <a:themeElements>
    <a:clrScheme name="MSK Color Palette">
      <a:dk1>
        <a:sysClr val="windowText" lastClr="000000"/>
      </a:dk1>
      <a:lt1>
        <a:sysClr val="window" lastClr="FFFFFF"/>
      </a:lt1>
      <a:dk2>
        <a:srgbClr val="737373"/>
      </a:dk2>
      <a:lt2>
        <a:srgbClr val="B3B3A6"/>
      </a:lt2>
      <a:accent1>
        <a:srgbClr val="2986E2"/>
      </a:accent1>
      <a:accent2>
        <a:srgbClr val="F26529"/>
      </a:accent2>
      <a:accent3>
        <a:srgbClr val="FFF5BC"/>
      </a:accent3>
      <a:accent4>
        <a:srgbClr val="737373"/>
      </a:accent4>
      <a:accent5>
        <a:srgbClr val="B3B3A6"/>
      </a:accent5>
      <a:accent6>
        <a:srgbClr val="2875B4"/>
      </a:accent6>
      <a:hlink>
        <a:srgbClr val="00BDF2"/>
      </a:hlink>
      <a:folHlink>
        <a:srgbClr val="9BDCFF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MSK External Template">
  <a:themeElements>
    <a:clrScheme name="MSK Direct">
      <a:dk1>
        <a:srgbClr val="002569"/>
      </a:dk1>
      <a:lt1>
        <a:srgbClr val="FFFFFF"/>
      </a:lt1>
      <a:dk2>
        <a:srgbClr val="272524"/>
      </a:dk2>
      <a:lt2>
        <a:srgbClr val="FBF9F7"/>
      </a:lt2>
      <a:accent1>
        <a:srgbClr val="0073E0"/>
      </a:accent1>
      <a:accent2>
        <a:srgbClr val="70BCFF"/>
      </a:accent2>
      <a:accent3>
        <a:srgbClr val="C3DEFF"/>
      </a:accent3>
      <a:accent4>
        <a:srgbClr val="037D98"/>
      </a:accent4>
      <a:accent5>
        <a:srgbClr val="78E2DA"/>
      </a:accent5>
      <a:accent6>
        <a:srgbClr val="B1FFF9"/>
      </a:accent6>
      <a:hlink>
        <a:srgbClr val="3259E7"/>
      </a:hlink>
      <a:folHlink>
        <a:srgbClr val="863EC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rgbClr val="272524"/>
            </a:solidFill>
          </a:defRPr>
        </a:defPPr>
      </a:lstStyle>
    </a:txDef>
  </a:objectDefaults>
  <a:extraClrSchemeLst/>
  <a:custClrLst>
    <a:custClr name="Dark Warm Gray">
      <a:srgbClr val="272524"/>
    </a:custClr>
    <a:custClr name="Blue">
      <a:srgbClr val="0073E0"/>
    </a:custClr>
    <a:custClr name="Dark Teal">
      <a:srgbClr val="037D98"/>
    </a:custClr>
    <a:custClr name="Dark Green">
      <a:srgbClr val="308229"/>
    </a:custClr>
    <a:custClr name="Dark Orange">
      <a:srgbClr val="E65722"/>
    </a:custClr>
    <a:custClr name="Dark Gold">
      <a:srgbClr val="C28110"/>
    </a:custClr>
    <a:custClr name="Dark Pink">
      <a:srgbClr val="D71D77"/>
    </a:custClr>
    <a:custClr name="Dark Purple">
      <a:srgbClr val="863ECC"/>
    </a:custClr>
    <a:custClr name="White01">
      <a:srgbClr val="FFFFFF"/>
    </a:custClr>
    <a:custClr name="Utility Red">
      <a:srgbClr val="E40D00"/>
    </a:custClr>
    <a:custClr name="Medium Warm Gray">
      <a:srgbClr val="B5B2AD"/>
    </a:custClr>
    <a:custClr name="Medium Blue">
      <a:srgbClr val="70BCFF"/>
    </a:custClr>
    <a:custClr name="Teal">
      <a:srgbClr val="78E2DA"/>
    </a:custClr>
    <a:custClr name="Green">
      <a:srgbClr val="5DCC6F"/>
    </a:custClr>
    <a:custClr name="Orange">
      <a:srgbClr val="FF8834"/>
    </a:custClr>
    <a:custClr name="Gold">
      <a:srgbClr val="FFBE02"/>
    </a:custClr>
    <a:custClr name="Pink">
      <a:srgbClr val="FF85BF"/>
    </a:custClr>
    <a:custClr name="Purple">
      <a:srgbClr val="BD8AEF"/>
    </a:custClr>
    <a:custClr name="White02">
      <a:srgbClr val="FFFFFF"/>
    </a:custClr>
    <a:custClr name="Utility Light Red">
      <a:srgbClr val="FFEDE8"/>
    </a:custClr>
    <a:custClr name="White03">
      <a:srgbClr val="FFFFFF"/>
    </a:custClr>
    <a:custClr name="Light Blue">
      <a:srgbClr val="C3DEFF"/>
    </a:custClr>
    <a:custClr name="Light Teal">
      <a:srgbClr val="B1FFF9"/>
    </a:custClr>
    <a:custClr name="Light Green">
      <a:srgbClr val="C7FCC6"/>
    </a:custClr>
    <a:custClr name="Light Orange">
      <a:srgbClr val="FCD2B4"/>
    </a:custClr>
    <a:custClr name="Light Gold">
      <a:srgbClr val="FFEDBA"/>
    </a:custClr>
    <a:custClr name="Light Pink">
      <a:srgbClr val="FFBBEC"/>
    </a:custClr>
    <a:custClr name="Light Purple">
      <a:srgbClr val="F4BDFF"/>
    </a:custClr>
    <a:custClr name="White04">
      <a:srgbClr val="FFFFFF"/>
    </a:custClr>
    <a:custClr name="Utility Dark Green">
      <a:srgbClr val="008937"/>
    </a:custClr>
    <a:custClr name="Pale Warm Gray">
      <a:srgbClr val="FBF9F7"/>
    </a:custClr>
    <a:custClr name="Pale Blue">
      <a:srgbClr val="F0F7FF"/>
    </a:custClr>
    <a:custClr name="Pale Teal">
      <a:srgbClr val="EBFCFA"/>
    </a:custClr>
    <a:custClr name="White05">
      <a:srgbClr val="FFFFFF"/>
    </a:custClr>
    <a:custClr name="White06">
      <a:srgbClr val="FFFFFF"/>
    </a:custClr>
    <a:custClr name="White07">
      <a:srgbClr val="FFFFFF"/>
    </a:custClr>
    <a:custClr name="White08">
      <a:srgbClr val="FFFFFF"/>
    </a:custClr>
    <a:custClr name="White09">
      <a:srgbClr val="FFFFFF"/>
    </a:custClr>
    <a:custClr name="White10">
      <a:srgbClr val="FFFFFF"/>
    </a:custClr>
    <a:custClr name="Utility Light Green">
      <a:srgbClr val="E4FFE3"/>
    </a:custClr>
  </a:custClrLst>
  <a:extLst>
    <a:ext uri="{05A4C25C-085E-4340-85A3-A5531E510DB2}">
      <thm15:themeFamily xmlns:thm15="http://schemas.microsoft.com/office/thememl/2012/main" name="MSK_External_Template.potx  -  Read-Only" id="{81F19246-7F31-4C28-9B55-204040C7E0D4}" vid="{2827FF01-71A8-4419-9782-FCB31126DD8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0306E0E11EAA4DB461FC8B09FCE607" ma:contentTypeVersion="7" ma:contentTypeDescription="Create a new document." ma:contentTypeScope="" ma:versionID="480ad0e4a62fcec5092ee4f453d3f455">
  <xsd:schema xmlns:xsd="http://www.w3.org/2001/XMLSchema" xmlns:xs="http://www.w3.org/2001/XMLSchema" xmlns:p="http://schemas.microsoft.com/office/2006/metadata/properties" xmlns:ns3="f65bd33f-4642-4d95-937d-1ab46361a753" xmlns:ns4="f5de9215-86bc-4059-b445-233b46b31a63" targetNamespace="http://schemas.microsoft.com/office/2006/metadata/properties" ma:root="true" ma:fieldsID="10913e5191e208ce4284af8d1e42314c" ns3:_="" ns4:_="">
    <xsd:import namespace="f65bd33f-4642-4d95-937d-1ab46361a753"/>
    <xsd:import namespace="f5de9215-86bc-4059-b445-233b46b31a6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bd33f-4642-4d95-937d-1ab46361a7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de9215-86bc-4059-b445-233b46b31a6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224AF-16C2-4A7F-AE4D-59F1CFBE6C94}">
  <ds:schemaRefs>
    <ds:schemaRef ds:uri="f5de9215-86bc-4059-b445-233b46b31a63"/>
    <ds:schemaRef ds:uri="f65bd33f-4642-4d95-937d-1ab46361a7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1BA1ECA-9C5B-4995-A582-2A5F53289C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26CEFE-AFA0-446A-B903-89C96B5D1C8A}">
  <ds:schemaRefs>
    <ds:schemaRef ds:uri="http://schemas.microsoft.com/office/2006/metadata/properties"/>
    <ds:schemaRef ds:uri="f65bd33f-4642-4d95-937d-1ab46361a753"/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f5de9215-86bc-4059-b445-233b46b31a63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9576</Words>
  <Application>Microsoft Macintosh PowerPoint</Application>
  <PresentationFormat>Widescreen</PresentationFormat>
  <Paragraphs>1834</Paragraphs>
  <Slides>230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230</vt:i4>
      </vt:variant>
    </vt:vector>
  </HeadingPairs>
  <TitlesOfParts>
    <vt:vector size="254" baseType="lpstr">
      <vt:lpstr>MS PGothic</vt:lpstr>
      <vt:lpstr>MS PGothic</vt:lpstr>
      <vt:lpstr>Amasis MT Pro</vt:lpstr>
      <vt:lpstr>Aptos</vt:lpstr>
      <vt:lpstr>Arial</vt:lpstr>
      <vt:lpstr>Bierstadt</vt:lpstr>
      <vt:lpstr>Calibri</vt:lpstr>
      <vt:lpstr>Corbel</vt:lpstr>
      <vt:lpstr>Franklin Gothic Book</vt:lpstr>
      <vt:lpstr>Franklin Gothic Demi</vt:lpstr>
      <vt:lpstr>Franklin Gothic Medium</vt:lpstr>
      <vt:lpstr>Gothic</vt:lpstr>
      <vt:lpstr>Helvetica</vt:lpstr>
      <vt:lpstr>HGｺﾞｼｯｸM</vt:lpstr>
      <vt:lpstr>Imago</vt:lpstr>
      <vt:lpstr>System Font Regular</vt:lpstr>
      <vt:lpstr>Wingdings</vt:lpstr>
      <vt:lpstr>Office Theme</vt:lpstr>
      <vt:lpstr>Slide Template 4</vt:lpstr>
      <vt:lpstr>1_Office Theme</vt:lpstr>
      <vt:lpstr>Custom Design</vt:lpstr>
      <vt:lpstr>5_Slide Template 4</vt:lpstr>
      <vt:lpstr>MSK External Template</vt:lpstr>
      <vt:lpstr>think-cell Slide</vt:lpstr>
      <vt:lpstr>Treatment of Patients with Advanced Non-Small Cell Lung Cancers</vt:lpstr>
      <vt:lpstr>Disclosures</vt:lpstr>
      <vt:lpstr>Disclosures</vt:lpstr>
      <vt:lpstr>Disclosures</vt:lpstr>
      <vt:lpstr>Agenda</vt:lpstr>
      <vt:lpstr>Lung cancer is common, and we aren’t great at curing it</vt:lpstr>
      <vt:lpstr>PowerPoint Presentation</vt:lpstr>
      <vt:lpstr>Lung cancer is not just a disease of smoking</vt:lpstr>
      <vt:lpstr>What are the  key things  you need to know  about a patient’s lung cancer  to develop a treatment plan?</vt:lpstr>
      <vt:lpstr>What are the key things you need to know about a patient’s lung cancer to develop a treatment plan?</vt:lpstr>
      <vt:lpstr>Overview of NSCLC Staging</vt:lpstr>
      <vt:lpstr>There are two main histologies of NSCLC</vt:lpstr>
      <vt:lpstr>Classification of NSCLC by biomarkers</vt:lpstr>
      <vt:lpstr>The Current Approach to First-Line Treatment of Patients with Advanced NSCLC</vt:lpstr>
      <vt:lpstr>PowerPoint Presentation</vt:lpstr>
      <vt:lpstr>PowerPoint Presentation</vt:lpstr>
      <vt:lpstr>Back in olden times…</vt:lpstr>
      <vt:lpstr>How I am going to teach this…</vt:lpstr>
      <vt:lpstr>PowerPoint Presentation</vt:lpstr>
      <vt:lpstr>1 vs 2 vs 3 cytotoxic chemotherapies for survival</vt:lpstr>
      <vt:lpstr>1 vs 2 vs 3 cytotoxic chemotherapies for survival</vt:lpstr>
      <vt:lpstr>1 vs 2 vs 3 cytotoxic chemotherapies for survival</vt:lpstr>
      <vt:lpstr>1 vs 2 vs 3 cytotoxic chemotherapies for survival</vt:lpstr>
      <vt:lpstr>Which two drugs are (were) best?</vt:lpstr>
      <vt:lpstr>PowerPoint Presentation</vt:lpstr>
      <vt:lpstr>PowerPoint Presentation</vt:lpstr>
      <vt:lpstr>PowerPoint Presentation</vt:lpstr>
      <vt:lpstr>PowerPoint Presentation</vt:lpstr>
      <vt:lpstr>Agents Targeting the VEGF Pathway</vt:lpstr>
      <vt:lpstr>Q: Does adding bevacizumab to carboplatin/paclitaxel improve outcomes?</vt:lpstr>
      <vt:lpstr>Why were patients with squamous NSCLC excluded?</vt:lpstr>
      <vt:lpstr>NSCLC is now divided into squamous and non-squamous</vt:lpstr>
      <vt:lpstr>Q: Does adding bevacizumab to carboplatin/paclitaxel improve outcomes?</vt:lpstr>
      <vt:lpstr>Adding bevacizumab to carboplatin/paclitaxel improves efficacy</vt:lpstr>
      <vt:lpstr>Adding bevacizumab to carboplatin/paclitaxel increases toxicity</vt:lpstr>
      <vt:lpstr>Adding bevacizumab to cisplatin/gemcitabine improves progression free survival</vt:lpstr>
      <vt:lpstr>But, adding bevacizumab to cisplatin/gemcitabine does not improve overall survival</vt:lpstr>
      <vt:lpstr>PowerPoint Presentation</vt:lpstr>
      <vt:lpstr>Don’t use bevacizumab:</vt:lpstr>
      <vt:lpstr>PowerPoint Presentation</vt:lpstr>
      <vt:lpstr>Q: Is Cisplatin/Pemetrexed non-inferior to Cisplatin/Gemcitabine?</vt:lpstr>
      <vt:lpstr>Cis/Pem is non-inferior to Cis/Gem in Overall Survival for overall population with NSCLC</vt:lpstr>
      <vt:lpstr>For patients with non-squamous histology, Cis/Pemetrexed is superior to Cis/Gemcitabine</vt:lpstr>
      <vt:lpstr>Toxicity of cisplatin/pemetrexed is better than cisplatin/gemcitabine</vt:lpstr>
      <vt:lpstr>PowerPoint Presentation</vt:lpstr>
      <vt:lpstr>PowerPoint Presentation</vt:lpstr>
      <vt:lpstr>Based on poor quality data, initial  platinum-doublet chemotherapy duration is ~ 4 cycles</vt:lpstr>
      <vt:lpstr>PowerPoint Presentation</vt:lpstr>
      <vt:lpstr>History lessons in chemotherapy (or Initial Therapy for Patients Not Appropriate for Immunotherapy)    Summary</vt:lpstr>
      <vt:lpstr>So, back then…first line treatment</vt:lpstr>
      <vt:lpstr>PowerPoint Presentation</vt:lpstr>
      <vt:lpstr>After first line chemotherapy…</vt:lpstr>
      <vt:lpstr>Basics of Immunotherapy</vt:lpstr>
      <vt:lpstr>Cast of Characters</vt:lpstr>
      <vt:lpstr>Q: Are anti-PD-(L)1 drugs superior to  standard second-line chemotherapy?</vt:lpstr>
      <vt:lpstr>Q: Are anti-PD-(L)1 drugs superior to  standard second-line chemotherapy?</vt:lpstr>
      <vt:lpstr>In second line treatment,  nivolumab is superior to docetaxel</vt:lpstr>
      <vt:lpstr>In second line treatment,  atezolizumab is superior to docetaxel</vt:lpstr>
      <vt:lpstr>Single-agent anti-PD-1/PD-L1 is better than a lousy chemotherapy</vt:lpstr>
      <vt:lpstr>But, it isn’t always superior (avelumab is not superior to docetaxel)</vt:lpstr>
      <vt:lpstr>Even when it improves outcomes, can we do better?</vt:lpstr>
      <vt:lpstr>PowerPoint Presentation</vt:lpstr>
      <vt:lpstr>Summary of Immunotherapy after Initial Therapy</vt:lpstr>
      <vt:lpstr>PowerPoint Presentation</vt:lpstr>
      <vt:lpstr>Often, we aren’t so creative</vt:lpstr>
      <vt:lpstr>Q: Does adding pembrolizumab to platinum/pemetrexed in  “non-squamous” NSCLC improve outcomes? (Keynote 189)</vt:lpstr>
      <vt:lpstr>Adding pembrolizumab to chemotherapy  in “non-squamous” NSCLC improves PFS</vt:lpstr>
      <vt:lpstr>Adding pembrolizumab to chemotherapy  in “non-squamous” NSCLC improves PFS</vt:lpstr>
      <vt:lpstr>Adding pembrolizumab to chemotherapy in “non-squamous” NSCLC improves overall survival</vt:lpstr>
      <vt:lpstr>PD-L1 levels predict greater benefit, but all patients appear to benefit</vt:lpstr>
      <vt:lpstr>PowerPoint Presentation</vt:lpstr>
      <vt:lpstr>PowerPoint Presentation</vt:lpstr>
      <vt:lpstr>Q: Does adding atezolizumab to carboplatin/paclitaxel/bevacizumab improve outcomes in non-squamous NSCLC</vt:lpstr>
      <vt:lpstr>Adding atezolizumab to carboplatin/paclitaxel/bevacizumab  improves PFS in non-squamous NSCLC</vt:lpstr>
      <vt:lpstr>Adding atezolizumab to carboplatin/paclitaxel/bevacizumab  improves OS in non-squamous NSCLC</vt:lpstr>
      <vt:lpstr>PowerPoint Presentation</vt:lpstr>
      <vt:lpstr>PowerPoint Presentation</vt:lpstr>
      <vt:lpstr>Q: Does adding pembrolizumab to carboplatin and taxane improve outcomes in Squamous NSCLC?</vt:lpstr>
      <vt:lpstr>Adding pembrolizumab to carboplatin and taxane improves PFS and OS in Squamous NSCLC</vt:lpstr>
      <vt:lpstr>PowerPoint Presentation</vt:lpstr>
      <vt:lpstr>PowerPoint Presentation</vt:lpstr>
      <vt:lpstr>Do you need the chemotherapy?</vt:lpstr>
      <vt:lpstr>PowerPoint Presentation</vt:lpstr>
      <vt:lpstr>Pembrolizumab is better than chemotherapy for patients whose tumors are PD-L1 ≥ 50% by PFS and OS</vt:lpstr>
      <vt:lpstr>Pembrolizumab is Associated with Fewer Adverse Events than Chemotherapy</vt:lpstr>
      <vt:lpstr>There are Immune-Related Adverse Events</vt:lpstr>
      <vt:lpstr>PowerPoint Presentation</vt:lpstr>
      <vt:lpstr>Open question…</vt:lpstr>
      <vt:lpstr>PowerPoint Presentation</vt:lpstr>
      <vt:lpstr>Are there other PD-L1 cut points?</vt:lpstr>
      <vt:lpstr>Q: Does substitution of pembrolizumab for chemotherapy improve outcomes in patients whose tumors are PD-L1 ≥ 1% (Keynote 042)</vt:lpstr>
      <vt:lpstr>Pembrolizumab is better than chemotherapy  for patients whose tumors are PD-L1 ≥ 1% </vt:lpstr>
      <vt:lpstr>Enrolled in the trial</vt:lpstr>
      <vt:lpstr>Pembrolizumab is better than chemotherapy for patients whose  tumors are PD-L1 ≥ 1%: subset PD-L1 ≥ 50%</vt:lpstr>
      <vt:lpstr>Pembrolizumab is better than chemotherapy for patients whose  tumors are PD-L1 ≥ 1%: subset PD-L1 1-49%</vt:lpstr>
      <vt:lpstr>PowerPoint Presentation</vt:lpstr>
      <vt:lpstr>Since overall trial showed improved OS,  FDA has approved for patients with ≥PD-L1 1%</vt:lpstr>
      <vt:lpstr>Are all anti-PD-1/PD-L1 drugs the same in the first-line setting?</vt:lpstr>
      <vt:lpstr>Q: Is nivolumab better than chemotherapy in NSCLC with PDL1 ≥5%? (Checkmate 026)</vt:lpstr>
      <vt:lpstr>PowerPoint Presentation</vt:lpstr>
      <vt:lpstr>Q: Is atezolizumab better than chemotherapy in  patients with high PD-L1 expression</vt:lpstr>
      <vt:lpstr>Atezolizumab is better than chemotherapy in  patients with high PD-L1 expression</vt:lpstr>
      <vt:lpstr>Front Line Single-agent anti-PD1/PD-L1</vt:lpstr>
      <vt:lpstr>What about combinations of  checkpoint inhibitors?</vt:lpstr>
      <vt:lpstr>Q: Is combination PD-1 Ab + CTLA4 Ab superior to chemotherapy?</vt:lpstr>
      <vt:lpstr>Ipi/Nivo improved OS compared with  chemotherapy (w/o IO) in PD-L1 positive</vt:lpstr>
      <vt:lpstr>Ipi/Nivo improved OS compared with chemotherapy (w/o IO) in PD-L1 negative</vt:lpstr>
      <vt:lpstr>Ipi/Nivo improved OS compared with chemotherapy (w/o IO) regardless of PD-L1 status</vt:lpstr>
      <vt:lpstr>The caveat… less chemo doesn’t mean less tox</vt:lpstr>
      <vt:lpstr>Was CTLA4/PD-L1+chemotherapy better than chemotherapy alone? Durvalumab and Tremelimumab</vt:lpstr>
      <vt:lpstr>So, our options…</vt:lpstr>
      <vt:lpstr>First line therapy – what do we do in clinic?  (in the absence of a driver oncogene)</vt:lpstr>
      <vt:lpstr>PowerPoint Presentation</vt:lpstr>
      <vt:lpstr> 72 year old woman presents with a lung mass.  Biopsy is done and pathologist says patient has NSCLC.  You ask for each of the following except:</vt:lpstr>
      <vt:lpstr>How do we describe NSCLC?</vt:lpstr>
      <vt:lpstr>Classification of NSCLC by biomarkers</vt:lpstr>
      <vt:lpstr>Oncogenic Drivers of Lung Cancers</vt:lpstr>
      <vt:lpstr>PowerPoint Presentation</vt:lpstr>
      <vt:lpstr>PowerPoint Presentation</vt:lpstr>
      <vt:lpstr>Erlotinib is (a little bit) superior to placebo  in non-small cell lung cancer</vt:lpstr>
      <vt:lpstr>PowerPoint Presentation</vt:lpstr>
      <vt:lpstr>PowerPoint Presentation</vt:lpstr>
      <vt:lpstr>Clinical Factors Associated With Response to EGFR TKI</vt:lpstr>
      <vt:lpstr>PowerPoint Presentation</vt:lpstr>
      <vt:lpstr>PowerPoint Presentation</vt:lpstr>
      <vt:lpstr>Exon 19 Deletions &amp; L858R  are Most Common EGFR mutations</vt:lpstr>
      <vt:lpstr>PowerPoint Presentation</vt:lpstr>
      <vt:lpstr>72 year old woman presents with a lung mass.  Biopsy is done and pathologist says patient has NSCLC.  You ask for each of the following except:</vt:lpstr>
      <vt:lpstr>What drives acquired resistance to EGFR TKI</vt:lpstr>
      <vt:lpstr>What causes resistance?</vt:lpstr>
      <vt:lpstr>Mechanisms of Acquired Resistance to EGFR Tyrosine Kinase Inhibitors</vt:lpstr>
      <vt:lpstr>PowerPoint Presentation</vt:lpstr>
      <vt:lpstr>Clinically targeting EGFR mutant NSCLC</vt:lpstr>
      <vt:lpstr>Osimertinib in Patients With Acquired Resistance to EGFR TKI and EGFR T790M</vt:lpstr>
      <vt:lpstr>Way back then…</vt:lpstr>
      <vt:lpstr>PowerPoint Presentation</vt:lpstr>
      <vt:lpstr>How should we treat EGFR mutant patients?</vt:lpstr>
      <vt:lpstr>Q: Is Osimertinib superior to gefitinib/erlotinib as initial therapy for patients with EGFR mutant lung cancer (FLAURA)?</vt:lpstr>
      <vt:lpstr>Osimertinib is superior to first generation EGFR TKI as initial treatment for NSCLC: Progression-Free Survival</vt:lpstr>
      <vt:lpstr>Osimertinib is superior to first generation EGFR TKI as initial treatment for NSCLC Overall Survival</vt:lpstr>
      <vt:lpstr>So, single-agent osimertinib (EGFR TKI) gives  ~ 3 year median OS…it’s the standard.  Can we improve outcomes ?</vt:lpstr>
      <vt:lpstr>How do we improve on TKI for EGFR mut lung cancer?</vt:lpstr>
      <vt:lpstr>Q: Does adding chemotherapy to osimertinib improve outcomes?</vt:lpstr>
      <vt:lpstr>Adding chemotherapy to osimertinib improves PFS</vt:lpstr>
      <vt:lpstr>Adding chemotherapy to osimertinib  increases toxicity</vt:lpstr>
      <vt:lpstr>Adding chemotherapy to osimertinib improves OS</vt:lpstr>
      <vt:lpstr>How do we improve on TKI for EGFR mut lung cancer?</vt:lpstr>
      <vt:lpstr>Q: Can dual EGFR blockade + MET inhibition delay resistance as initial therapy for patients with EGFR mutant NSCLC?</vt:lpstr>
      <vt:lpstr>amivantamab+lazertinib improves PFS  compared with osimertinib</vt:lpstr>
      <vt:lpstr>amivantamab+lazertinib increases toxicity when  compared with osimertinib</vt:lpstr>
      <vt:lpstr>amivantamab+lazertinib improves OS  compared with osimertinib</vt:lpstr>
      <vt:lpstr>Metastatic EGFR mutant (exon 19 del/L858R) NSCLC</vt:lpstr>
      <vt:lpstr>PowerPoint Presentation</vt:lpstr>
      <vt:lpstr>PowerPoint Presentation</vt:lpstr>
      <vt:lpstr>PFS of Pembrolizumab vs Docetaxel  in NSCLC subsets</vt:lpstr>
      <vt:lpstr>PowerPoint Presentation</vt:lpstr>
      <vt:lpstr>Summary of Immunotherapy in EGFR mutant NSCLC </vt:lpstr>
      <vt:lpstr>Oncogenic Drivers of Lung Cancers</vt:lpstr>
      <vt:lpstr>ALK Rearrangements in NSCLC</vt:lpstr>
      <vt:lpstr>Tumor Responses to First-generation ALK inhibitor Crizotinib for Patients with ALK-positive NSCLC</vt:lpstr>
      <vt:lpstr>Crizotinib Treatment Leads to improved PFS compared to Cisplatin/Pemetrexed  in ALK+ NSCLC First Line</vt:lpstr>
      <vt:lpstr>70 year old man with metastatic ALK positive lung adenocarcinoma involving lung and liver.    What is the best initial therapy?</vt:lpstr>
      <vt:lpstr>Historical Approach to Patients  with ALK+ NSCLC</vt:lpstr>
      <vt:lpstr>How should we treat Patients with ALK positive NSCLC</vt:lpstr>
      <vt:lpstr>How should we treat Patients with ALK positive NSCLC</vt:lpstr>
      <vt:lpstr>Q: is a newer ALK inhibitor better than crizotinib in ALK+ NSCLC</vt:lpstr>
      <vt:lpstr>PowerPoint Presentation</vt:lpstr>
      <vt:lpstr>PowerPoint Presentation</vt:lpstr>
      <vt:lpstr>Comparing newer ALK inhibitors in ALK+ NSCLC</vt:lpstr>
      <vt:lpstr>Lorlatinib leads to longer PFS compared with crizotinib</vt:lpstr>
      <vt:lpstr>70 year old man with metastatic ALK positive lung adenocarcinoma involving lung and liver.    What is the best initial therapy?</vt:lpstr>
      <vt:lpstr>ALK Summary</vt:lpstr>
      <vt:lpstr>Oncogenic Drivers of Lung Cancers</vt:lpstr>
      <vt:lpstr>How do oncogenic drivers work?</vt:lpstr>
      <vt:lpstr>What does targeted therapy look like?</vt:lpstr>
      <vt:lpstr>BRAF mutant NSCLC</vt:lpstr>
      <vt:lpstr>Single-agent BRAF inhibitors in Patients with BRAF V600E NSCLC</vt:lpstr>
      <vt:lpstr>Perhaps dual-targeting of BRAF and MEK will improve outcomes</vt:lpstr>
      <vt:lpstr>PowerPoint Presentation</vt:lpstr>
      <vt:lpstr>Oncogenic Drivers of Lung Cancers</vt:lpstr>
      <vt:lpstr>Trastuzumab Deruxtecan in Patients with  Her2 Mutated NSCLC</vt:lpstr>
      <vt:lpstr>Zongertinib with efficacy in ERBB2 (HER2) mutant NSCLC</vt:lpstr>
      <vt:lpstr>Oncogenic Drivers of Lung Cancers</vt:lpstr>
      <vt:lpstr>Single-agent amivantamab in  patients with EGFR exon 20 insertion NSCLC</vt:lpstr>
      <vt:lpstr>Amivantamab + Chemotherapy improves PFS compared with Chemotherapy alone</vt:lpstr>
      <vt:lpstr>Oncogenic Drivers of Lung Cancers</vt:lpstr>
      <vt:lpstr>PowerPoint Presentation</vt:lpstr>
      <vt:lpstr>KRAS mutant NSCLC</vt:lpstr>
      <vt:lpstr>PowerPoint Presentation</vt:lpstr>
      <vt:lpstr>PowerPoint Presentation</vt:lpstr>
      <vt:lpstr>PowerPoint Presentation</vt:lpstr>
      <vt:lpstr>Q: Does sotorasib improve outcomes in KRAS G12C mutant NSCLC, compared with docetaxel?</vt:lpstr>
      <vt:lpstr>Sotorasib Improves Progression-Free Survival  (compared with docetaxel)</vt:lpstr>
      <vt:lpstr>Adagrasib Improves Progression-Free Survival  (compared with docetaxel)</vt:lpstr>
      <vt:lpstr>Sotorasib does not Improve Overall Survival  (compared with docetaxel)</vt:lpstr>
      <vt:lpstr>PowerPoint Presentation</vt:lpstr>
      <vt:lpstr>PowerPoint Presentation</vt:lpstr>
      <vt:lpstr>Molecularly Targeted Therapy of NSCLC</vt:lpstr>
      <vt:lpstr>PowerPoint Presentation</vt:lpstr>
      <vt:lpstr>What about HER2 overexpression?</vt:lpstr>
      <vt:lpstr>Same tool…different target</vt:lpstr>
      <vt:lpstr>Trastuzumab Deruxtecan in patients with HER2 overexpression</vt:lpstr>
      <vt:lpstr>Telisotuzumab vedotin a MET-targeted ADC</vt:lpstr>
      <vt:lpstr>PowerPoint Presentation</vt:lpstr>
      <vt:lpstr>The Current Approach to Treatment of Patients with Advanced NSCLC</vt:lpstr>
      <vt:lpstr>How we do biomarker testing at MSK (now…most of the time)</vt:lpstr>
      <vt:lpstr>PowerPoint Presentation</vt:lpstr>
      <vt:lpstr>PowerPoint Presentation</vt:lpstr>
      <vt:lpstr>Systemic Therapy Response Rates are Low …in PD-L1 high patients getting pembrolizumab, RR is just 45%</vt:lpstr>
      <vt:lpstr>Key Concept When Thinking About  Initial Chemotherapy of NSCLC</vt:lpstr>
      <vt:lpstr>PowerPoint Presentation</vt:lpstr>
      <vt:lpstr>Performance Status</vt:lpstr>
      <vt:lpstr>PowerPoint Presentation</vt:lpstr>
      <vt:lpstr>The End of nsclc</vt:lpstr>
      <vt:lpstr>Thymic Tumors</vt:lpstr>
      <vt:lpstr>Thymic Tumors</vt:lpstr>
      <vt:lpstr>Thymic tumors rise in frequency with age, but are uncommon</vt:lpstr>
      <vt:lpstr>Thymic tumors WHO Pathology Classification</vt:lpstr>
      <vt:lpstr>Pathology of Thymic Tumors…simpler</vt:lpstr>
      <vt:lpstr>Incidence of recurrence by stage (AJCC TNM)</vt:lpstr>
      <vt:lpstr>Thymic tumor staging</vt:lpstr>
      <vt:lpstr>Thymic tumor staging –  Stage IVa is much more common than IVb</vt:lpstr>
      <vt:lpstr>Thymoma / Thymic Carcinoma Treatment</vt:lpstr>
      <vt:lpstr>After Surgery …what next?</vt:lpstr>
      <vt:lpstr>After Surgery …what next?</vt:lpstr>
      <vt:lpstr>After Surgery …what next?</vt:lpstr>
      <vt:lpstr>Chemotherapy for Recurrent/Advanced Thymic Tumors</vt:lpstr>
      <vt:lpstr>Later-line therapy for thymic tumors</vt:lpstr>
      <vt:lpstr>Paraneoplastic Syndromes</vt:lpstr>
      <vt:lpstr>Thymic Tumors Conclusions</vt:lpstr>
    </vt:vector>
  </TitlesOfParts>
  <Company>MSKCC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rielyg</dc:creator>
  <cp:lastModifiedBy>Riely, Gregory</cp:lastModifiedBy>
  <cp:revision>4</cp:revision>
  <dcterms:created xsi:type="dcterms:W3CDTF">2009-10-15T16:23:37Z</dcterms:created>
  <dcterms:modified xsi:type="dcterms:W3CDTF">2026-10-24T10:36:53Z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0x0101001B0306E0E11EAA4DB461FC8B09FCE607</vt:lpwstr>
  </property>
</Properties>
</file>