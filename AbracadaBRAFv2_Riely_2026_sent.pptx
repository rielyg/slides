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8" r:id="rId1"/>
    <p:sldMasterId id="2147483986" r:id="rId2"/>
    <p:sldMasterId id="2147483998" r:id="rId3"/>
    <p:sldMasterId id="2147484014" r:id="rId4"/>
  </p:sldMasterIdLst>
  <p:notesMasterIdLst>
    <p:notesMasterId r:id="rId35"/>
  </p:notesMasterIdLst>
  <p:handoutMasterIdLst>
    <p:handoutMasterId r:id="rId36"/>
  </p:handoutMasterIdLst>
  <p:sldIdLst>
    <p:sldId id="2076137836" r:id="rId5"/>
    <p:sldId id="2076137823" r:id="rId6"/>
    <p:sldId id="2076137794" r:id="rId7"/>
    <p:sldId id="2076137837" r:id="rId8"/>
    <p:sldId id="2076137838" r:id="rId9"/>
    <p:sldId id="2076137839" r:id="rId10"/>
    <p:sldId id="2076137840" r:id="rId11"/>
    <p:sldId id="2076137825" r:id="rId12"/>
    <p:sldId id="2076137826" r:id="rId13"/>
    <p:sldId id="2076137787" r:id="rId14"/>
    <p:sldId id="2076137827" r:id="rId15"/>
    <p:sldId id="256" r:id="rId16"/>
    <p:sldId id="2076137830" r:id="rId17"/>
    <p:sldId id="2076137798" r:id="rId18"/>
    <p:sldId id="2076137828" r:id="rId19"/>
    <p:sldId id="2076137785" r:id="rId20"/>
    <p:sldId id="2076137786" r:id="rId21"/>
    <p:sldId id="2076137742" r:id="rId22"/>
    <p:sldId id="2076137773" r:id="rId23"/>
    <p:sldId id="297" r:id="rId24"/>
    <p:sldId id="275" r:id="rId25"/>
    <p:sldId id="2076137820" r:id="rId26"/>
    <p:sldId id="2076137824" r:id="rId27"/>
    <p:sldId id="257" r:id="rId28"/>
    <p:sldId id="2076137829" r:id="rId29"/>
    <p:sldId id="2076137832" r:id="rId30"/>
    <p:sldId id="2076137835" r:id="rId31"/>
    <p:sldId id="2076137831" r:id="rId32"/>
    <p:sldId id="2076137833" r:id="rId33"/>
    <p:sldId id="207613783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Christopher Levonyak" initials="CL" lastIdx="1" clrIdx="6">
    <p:extLst>
      <p:ext uri="{19B8F6BF-5375-455C-9EA6-DF929625EA0E}">
        <p15:presenceInfo xmlns:p15="http://schemas.microsoft.com/office/powerpoint/2012/main" userId="60wuAWXNAt+OCGjf0MkQ2d2Yw1Bm9mXL5CrHOy093Po=" providerId="None"/>
      </p:ext>
    </p:extLst>
  </p:cmAuthor>
  <p:cmAuthor id="1" name="Tom Carr" initials="TC" lastIdx="34" clrIdx="0">
    <p:extLst>
      <p:ext uri="{19B8F6BF-5375-455C-9EA6-DF929625EA0E}">
        <p15:presenceInfo xmlns:p15="http://schemas.microsoft.com/office/powerpoint/2012/main" userId="S::tomc@vaniamgroup.com::80f382c9-719e-4101-9a73-cc7deefae33c" providerId="AD"/>
      </p:ext>
    </p:extLst>
  </p:cmAuthor>
  <p:cmAuthor id="8" name="Michelle Arroyo" initials="MA [2]" lastIdx="1" clrIdx="7">
    <p:extLst>
      <p:ext uri="{19B8F6BF-5375-455C-9EA6-DF929625EA0E}">
        <p15:presenceInfo xmlns:p15="http://schemas.microsoft.com/office/powerpoint/2012/main" userId="umVrHTNQdHDLSgqLYNsh10b4xMXp9b1S/RqfjjrwGtQ=" providerId="None"/>
      </p:ext>
    </p:extLst>
  </p:cmAuthor>
  <p:cmAuthor id="2" name="Lee Lindsey" initials="LL" lastIdx="65" clrIdx="1">
    <p:extLst>
      <p:ext uri="{19B8F6BF-5375-455C-9EA6-DF929625EA0E}">
        <p15:presenceInfo xmlns:p15="http://schemas.microsoft.com/office/powerpoint/2012/main" userId="S::lee@vaniamgroup.com::2cf76fc6-61ed-43fd-adf4-226a15d31a4c" providerId="AD"/>
      </p:ext>
    </p:extLst>
  </p:cmAuthor>
  <p:cmAuthor id="9" name="Chloe Dunnam" initials="CD" lastIdx="1" clrIdx="8">
    <p:extLst>
      <p:ext uri="{19B8F6BF-5375-455C-9EA6-DF929625EA0E}">
        <p15:presenceInfo xmlns:p15="http://schemas.microsoft.com/office/powerpoint/2012/main" userId="S::chloe@vaniamgroup.com::eaf0bd76-00ec-452a-a290-60865cc361c8" providerId="AD"/>
      </p:ext>
    </p:extLst>
  </p:cmAuthor>
  <p:cmAuthor id="3" name="Jenna Scillitani" initials="JS" lastIdx="1" clrIdx="2">
    <p:extLst>
      <p:ext uri="{19B8F6BF-5375-455C-9EA6-DF929625EA0E}">
        <p15:presenceInfo xmlns:p15="http://schemas.microsoft.com/office/powerpoint/2012/main" userId="01ZDhOaEkeWkmJYicHuu3G+rEAgI6VZSw7iESi23H3A=" providerId="None"/>
      </p:ext>
    </p:extLst>
  </p:cmAuthor>
  <p:cmAuthor id="4" name="Tara Anderson" initials="TA" lastIdx="1" clrIdx="3">
    <p:extLst>
      <p:ext uri="{19B8F6BF-5375-455C-9EA6-DF929625EA0E}">
        <p15:presenceInfo xmlns:p15="http://schemas.microsoft.com/office/powerpoint/2012/main" userId="S::tara@vaniamgroup.com::3c66a264-2df6-49b5-94ee-68793c4e917f" providerId="AD"/>
      </p:ext>
    </p:extLst>
  </p:cmAuthor>
  <p:cmAuthor id="5" name="Jim Owers" initials="JO" lastIdx="1" clrIdx="4">
    <p:extLst>
      <p:ext uri="{19B8F6BF-5375-455C-9EA6-DF929625EA0E}">
        <p15:presenceInfo xmlns:p15="http://schemas.microsoft.com/office/powerpoint/2012/main" userId="S::jim@vaniamgroupglobal.com::309f3039-dbfb-401c-a744-17e55abc1826" providerId="AD"/>
      </p:ext>
    </p:extLst>
  </p:cmAuthor>
  <p:cmAuthor id="6" name="Alison Smith" initials="AS" lastIdx="32" clrIdx="5">
    <p:extLst>
      <p:ext uri="{19B8F6BF-5375-455C-9EA6-DF929625EA0E}">
        <p15:presenceInfo xmlns:p15="http://schemas.microsoft.com/office/powerpoint/2012/main" userId="S::ali@vaniamgroup.com::a3873505-97f2-4a9c-9a91-431887c1cd0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4560"/>
    <a:srgbClr val="FF4E00"/>
    <a:srgbClr val="081A26"/>
    <a:srgbClr val="DCF0F4"/>
    <a:srgbClr val="1798CE"/>
    <a:srgbClr val="95BE23"/>
    <a:srgbClr val="FFFFFF"/>
    <a:srgbClr val="C1D52F"/>
    <a:srgbClr val="4AB5C7"/>
    <a:srgbClr val="66C5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9FF27D-4C07-41B8-8098-B8B389CBCF57}" v="21" dt="2026-09-28T19:38:19.0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56" autoAdjust="0"/>
    <p:restoredTop sz="93357" autoAdjust="0"/>
  </p:normalViewPr>
  <p:slideViewPr>
    <p:cSldViewPr snapToGrid="0">
      <p:cViewPr varScale="1">
        <p:scale>
          <a:sx n="99" d="100"/>
          <a:sy n="99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722"/>
    </p:cViewPr>
  </p:sorterViewPr>
  <p:notesViewPr>
    <p:cSldViewPr snapToGrid="0">
      <p:cViewPr varScale="1">
        <p:scale>
          <a:sx n="97" d="100"/>
          <a:sy n="97" d="100"/>
        </p:scale>
        <p:origin x="3120" y="200"/>
      </p:cViewPr>
      <p:guideLst/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ely, Gregory" userId="8e9f1504-5205-4fae-b223-1d04dd54ed12" providerId="ADAL" clId="{820F0C39-9049-4EE1-A70C-B4FAF97CB913}"/>
    <pc:docChg chg="undo custSel addSld delSld modSld">
      <pc:chgData name="Riely, Gregory" userId="8e9f1504-5205-4fae-b223-1d04dd54ed12" providerId="ADAL" clId="{820F0C39-9049-4EE1-A70C-B4FAF97CB913}" dt="2026-09-28T19:42:57.139" v="1145" actId="207"/>
      <pc:docMkLst>
        <pc:docMk/>
      </pc:docMkLst>
      <pc:sldChg chg="modSp mod modNotesTx">
        <pc:chgData name="Riely, Gregory" userId="8e9f1504-5205-4fae-b223-1d04dd54ed12" providerId="ADAL" clId="{820F0C39-9049-4EE1-A70C-B4FAF97CB913}" dt="2026-09-28T18:43:56.770" v="438" actId="14100"/>
        <pc:sldMkLst>
          <pc:docMk/>
          <pc:sldMk cId="0" sldId="257"/>
        </pc:sldMkLst>
        <pc:spChg chg="mod">
          <ac:chgData name="Riely, Gregory" userId="8e9f1504-5205-4fae-b223-1d04dd54ed12" providerId="ADAL" clId="{820F0C39-9049-4EE1-A70C-B4FAF97CB913}" dt="2026-09-28T18:43:56.770" v="438" actId="14100"/>
          <ac:spMkLst>
            <pc:docMk/>
            <pc:sldMk cId="0" sldId="257"/>
            <ac:spMk id="2" creationId="{00000000-0000-0000-0000-000000000000}"/>
          </ac:spMkLst>
        </pc:spChg>
        <pc:spChg chg="mod">
          <ac:chgData name="Riely, Gregory" userId="8e9f1504-5205-4fae-b223-1d04dd54ed12" providerId="ADAL" clId="{820F0C39-9049-4EE1-A70C-B4FAF97CB913}" dt="2026-09-28T18:36:33.789" v="23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Riely, Gregory" userId="8e9f1504-5205-4fae-b223-1d04dd54ed12" providerId="ADAL" clId="{820F0C39-9049-4EE1-A70C-B4FAF97CB913}" dt="2026-09-28T18:30:03.613" v="19" actId="6549"/>
        <pc:sldMkLst>
          <pc:docMk/>
          <pc:sldMk cId="4092267202" sldId="2076137785"/>
        </pc:sldMkLst>
        <pc:spChg chg="mod">
          <ac:chgData name="Riely, Gregory" userId="8e9f1504-5205-4fae-b223-1d04dd54ed12" providerId="ADAL" clId="{820F0C39-9049-4EE1-A70C-B4FAF97CB913}" dt="2026-09-28T18:30:03.613" v="19" actId="6549"/>
          <ac:spMkLst>
            <pc:docMk/>
            <pc:sldMk cId="4092267202" sldId="2076137785"/>
            <ac:spMk id="2" creationId="{07D40C0C-565E-4767-D4BB-66E5598EC311}"/>
          </ac:spMkLst>
        </pc:spChg>
      </pc:sldChg>
      <pc:sldChg chg="modSp mod">
        <pc:chgData name="Riely, Gregory" userId="8e9f1504-5205-4fae-b223-1d04dd54ed12" providerId="ADAL" clId="{820F0C39-9049-4EE1-A70C-B4FAF97CB913}" dt="2026-09-28T19:41:47.764" v="1144" actId="20577"/>
        <pc:sldMkLst>
          <pc:docMk/>
          <pc:sldMk cId="1410997150" sldId="2076137820"/>
        </pc:sldMkLst>
        <pc:spChg chg="mod">
          <ac:chgData name="Riely, Gregory" userId="8e9f1504-5205-4fae-b223-1d04dd54ed12" providerId="ADAL" clId="{820F0C39-9049-4EE1-A70C-B4FAF97CB913}" dt="2026-09-28T19:41:47.764" v="1144" actId="20577"/>
          <ac:spMkLst>
            <pc:docMk/>
            <pc:sldMk cId="1410997150" sldId="2076137820"/>
            <ac:spMk id="3" creationId="{5A9DD960-FA91-F2D1-B28F-CEF0EED755E9}"/>
          </ac:spMkLst>
        </pc:spChg>
        <pc:spChg chg="mod">
          <ac:chgData name="Riely, Gregory" userId="8e9f1504-5205-4fae-b223-1d04dd54ed12" providerId="ADAL" clId="{820F0C39-9049-4EE1-A70C-B4FAF97CB913}" dt="2026-09-28T19:41:11.040" v="1129" actId="20577"/>
          <ac:spMkLst>
            <pc:docMk/>
            <pc:sldMk cId="1410997150" sldId="2076137820"/>
            <ac:spMk id="15" creationId="{87558982-30AB-3301-024A-58A73AE1C84B}"/>
          </ac:spMkLst>
        </pc:spChg>
      </pc:sldChg>
      <pc:sldChg chg="delSp mod">
        <pc:chgData name="Riely, Gregory" userId="8e9f1504-5205-4fae-b223-1d04dd54ed12" providerId="ADAL" clId="{820F0C39-9049-4EE1-A70C-B4FAF97CB913}" dt="2026-09-28T18:27:47.595" v="0" actId="478"/>
        <pc:sldMkLst>
          <pc:docMk/>
          <pc:sldMk cId="1691802397" sldId="2076137823"/>
        </pc:sldMkLst>
        <pc:spChg chg="del">
          <ac:chgData name="Riely, Gregory" userId="8e9f1504-5205-4fae-b223-1d04dd54ed12" providerId="ADAL" clId="{820F0C39-9049-4EE1-A70C-B4FAF97CB913}" dt="2026-09-28T18:27:47.595" v="0" actId="478"/>
          <ac:spMkLst>
            <pc:docMk/>
            <pc:sldMk cId="1691802397" sldId="2076137823"/>
            <ac:spMk id="5" creationId="{0285F19A-4421-0CBB-8546-4FB8BA61957A}"/>
          </ac:spMkLst>
        </pc:spChg>
      </pc:sldChg>
      <pc:sldChg chg="addSp modSp mod">
        <pc:chgData name="Riely, Gregory" userId="8e9f1504-5205-4fae-b223-1d04dd54ed12" providerId="ADAL" clId="{820F0C39-9049-4EE1-A70C-B4FAF97CB913}" dt="2026-09-28T18:29:03.391" v="12" actId="1582"/>
        <pc:sldMkLst>
          <pc:docMk/>
          <pc:sldMk cId="2151271261" sldId="2076137825"/>
        </pc:sldMkLst>
        <pc:spChg chg="add mod">
          <ac:chgData name="Riely, Gregory" userId="8e9f1504-5205-4fae-b223-1d04dd54ed12" providerId="ADAL" clId="{820F0C39-9049-4EE1-A70C-B4FAF97CB913}" dt="2026-09-28T18:29:03.391" v="12" actId="1582"/>
          <ac:spMkLst>
            <pc:docMk/>
            <pc:sldMk cId="2151271261" sldId="2076137825"/>
            <ac:spMk id="3" creationId="{1282288C-B464-11AD-D60E-46DA63E404BD}"/>
          </ac:spMkLst>
        </pc:spChg>
      </pc:sldChg>
      <pc:sldChg chg="modSp mod">
        <pc:chgData name="Riely, Gregory" userId="8e9f1504-5205-4fae-b223-1d04dd54ed12" providerId="ADAL" clId="{820F0C39-9049-4EE1-A70C-B4FAF97CB913}" dt="2026-09-28T18:28:19.528" v="7" actId="20577"/>
        <pc:sldMkLst>
          <pc:docMk/>
          <pc:sldMk cId="573555368" sldId="2076137827"/>
        </pc:sldMkLst>
        <pc:spChg chg="mod">
          <ac:chgData name="Riely, Gregory" userId="8e9f1504-5205-4fae-b223-1d04dd54ed12" providerId="ADAL" clId="{820F0C39-9049-4EE1-A70C-B4FAF97CB913}" dt="2026-09-28T18:28:19.528" v="7" actId="20577"/>
          <ac:spMkLst>
            <pc:docMk/>
            <pc:sldMk cId="573555368" sldId="2076137827"/>
            <ac:spMk id="3" creationId="{547F851A-9BCB-6D9E-C244-F163E5DF6BC5}"/>
          </ac:spMkLst>
        </pc:spChg>
      </pc:sldChg>
      <pc:sldChg chg="modSp mod">
        <pc:chgData name="Riely, Gregory" userId="8e9f1504-5205-4fae-b223-1d04dd54ed12" providerId="ADAL" clId="{820F0C39-9049-4EE1-A70C-B4FAF97CB913}" dt="2026-09-28T18:29:54.052" v="18" actId="14100"/>
        <pc:sldMkLst>
          <pc:docMk/>
          <pc:sldMk cId="3215774810" sldId="2076137828"/>
        </pc:sldMkLst>
        <pc:picChg chg="mod">
          <ac:chgData name="Riely, Gregory" userId="8e9f1504-5205-4fae-b223-1d04dd54ed12" providerId="ADAL" clId="{820F0C39-9049-4EE1-A70C-B4FAF97CB913}" dt="2026-09-28T18:29:54.052" v="18" actId="14100"/>
          <ac:picMkLst>
            <pc:docMk/>
            <pc:sldMk cId="3215774810" sldId="2076137828"/>
            <ac:picMk id="6" creationId="{44DFC2AA-E412-8708-191E-7DD6E2170FA8}"/>
          </ac:picMkLst>
        </pc:picChg>
      </pc:sldChg>
      <pc:sldChg chg="addSp modSp mod">
        <pc:chgData name="Riely, Gregory" userId="8e9f1504-5205-4fae-b223-1d04dd54ed12" providerId="ADAL" clId="{820F0C39-9049-4EE1-A70C-B4FAF97CB913}" dt="2026-09-28T18:36:59.449" v="235" actId="164"/>
        <pc:sldMkLst>
          <pc:docMk/>
          <pc:sldMk cId="455016965" sldId="2076137829"/>
        </pc:sldMkLst>
        <pc:spChg chg="add mod">
          <ac:chgData name="Riely, Gregory" userId="8e9f1504-5205-4fae-b223-1d04dd54ed12" providerId="ADAL" clId="{820F0C39-9049-4EE1-A70C-B4FAF97CB913}" dt="2026-09-28T18:36:59.449" v="235" actId="164"/>
          <ac:spMkLst>
            <pc:docMk/>
            <pc:sldMk cId="455016965" sldId="2076137829"/>
            <ac:spMk id="6" creationId="{4AD8B133-F21F-DDD1-7ABE-E346BF690198}"/>
          </ac:spMkLst>
        </pc:spChg>
        <pc:grpChg chg="mod">
          <ac:chgData name="Riely, Gregory" userId="8e9f1504-5205-4fae-b223-1d04dd54ed12" providerId="ADAL" clId="{820F0C39-9049-4EE1-A70C-B4FAF97CB913}" dt="2026-09-28T18:36:59.449" v="235" actId="164"/>
          <ac:grpSpMkLst>
            <pc:docMk/>
            <pc:sldMk cId="455016965" sldId="2076137829"/>
            <ac:grpSpMk id="5" creationId="{3143F9EF-6D87-37BD-99CC-BA2768959841}"/>
          </ac:grpSpMkLst>
        </pc:grpChg>
        <pc:grpChg chg="add mod">
          <ac:chgData name="Riely, Gregory" userId="8e9f1504-5205-4fae-b223-1d04dd54ed12" providerId="ADAL" clId="{820F0C39-9049-4EE1-A70C-B4FAF97CB913}" dt="2026-09-28T18:36:59.449" v="235" actId="164"/>
          <ac:grpSpMkLst>
            <pc:docMk/>
            <pc:sldMk cId="455016965" sldId="2076137829"/>
            <ac:grpSpMk id="7" creationId="{BF2358D3-3ECC-C0E7-EB95-348A7D00F911}"/>
          </ac:grpSpMkLst>
        </pc:grpChg>
      </pc:sldChg>
      <pc:sldChg chg="modSp mod">
        <pc:chgData name="Riely, Gregory" userId="8e9f1504-5205-4fae-b223-1d04dd54ed12" providerId="ADAL" clId="{820F0C39-9049-4EE1-A70C-B4FAF97CB913}" dt="2026-09-28T18:29:37.172" v="17" actId="14100"/>
        <pc:sldMkLst>
          <pc:docMk/>
          <pc:sldMk cId="0" sldId="2076137830"/>
        </pc:sldMkLst>
        <pc:spChg chg="mod">
          <ac:chgData name="Riely, Gregory" userId="8e9f1504-5205-4fae-b223-1d04dd54ed12" providerId="ADAL" clId="{820F0C39-9049-4EE1-A70C-B4FAF97CB913}" dt="2026-09-28T18:29:37.172" v="17" actId="14100"/>
          <ac:spMkLst>
            <pc:docMk/>
            <pc:sldMk cId="0" sldId="2076137830"/>
            <ac:spMk id="3" creationId="{00000000-0000-0000-0000-000000000000}"/>
          </ac:spMkLst>
        </pc:spChg>
      </pc:sldChg>
      <pc:sldChg chg="addSp modSp mod">
        <pc:chgData name="Riely, Gregory" userId="8e9f1504-5205-4fae-b223-1d04dd54ed12" providerId="ADAL" clId="{820F0C39-9049-4EE1-A70C-B4FAF97CB913}" dt="2026-09-28T18:38:27.760" v="332" actId="14100"/>
        <pc:sldMkLst>
          <pc:docMk/>
          <pc:sldMk cId="3986793052" sldId="2076137831"/>
        </pc:sldMkLst>
        <pc:spChg chg="mod">
          <ac:chgData name="Riely, Gregory" userId="8e9f1504-5205-4fae-b223-1d04dd54ed12" providerId="ADAL" clId="{820F0C39-9049-4EE1-A70C-B4FAF97CB913}" dt="2026-09-28T18:38:23.905" v="331" actId="403"/>
          <ac:spMkLst>
            <pc:docMk/>
            <pc:sldMk cId="3986793052" sldId="2076137831"/>
            <ac:spMk id="2" creationId="{FC91ABE1-021A-7C96-77BD-3574FCFB42DC}"/>
          </ac:spMkLst>
        </pc:spChg>
        <pc:spChg chg="add mod ord">
          <ac:chgData name="Riely, Gregory" userId="8e9f1504-5205-4fae-b223-1d04dd54ed12" providerId="ADAL" clId="{820F0C39-9049-4EE1-A70C-B4FAF97CB913}" dt="2026-09-28T18:38:16.118" v="329" actId="164"/>
          <ac:spMkLst>
            <pc:docMk/>
            <pc:sldMk cId="3986793052" sldId="2076137831"/>
            <ac:spMk id="5" creationId="{7A4F856B-8D3B-930F-A77D-98E0B835BFE1}"/>
          </ac:spMkLst>
        </pc:spChg>
        <pc:spChg chg="add mod">
          <ac:chgData name="Riely, Gregory" userId="8e9f1504-5205-4fae-b223-1d04dd54ed12" providerId="ADAL" clId="{820F0C39-9049-4EE1-A70C-B4FAF97CB913}" dt="2026-09-28T18:37:46.943" v="323" actId="164"/>
          <ac:spMkLst>
            <pc:docMk/>
            <pc:sldMk cId="3986793052" sldId="2076137831"/>
            <ac:spMk id="7" creationId="{E7325D08-87E3-F1D3-C38E-D50F1A96E3E4}"/>
          </ac:spMkLst>
        </pc:spChg>
        <pc:grpChg chg="add mod">
          <ac:chgData name="Riely, Gregory" userId="8e9f1504-5205-4fae-b223-1d04dd54ed12" providerId="ADAL" clId="{820F0C39-9049-4EE1-A70C-B4FAF97CB913}" dt="2026-09-28T18:38:16.118" v="329" actId="164"/>
          <ac:grpSpMkLst>
            <pc:docMk/>
            <pc:sldMk cId="3986793052" sldId="2076137831"/>
            <ac:grpSpMk id="8" creationId="{528C900E-A2AA-CC00-4BF5-50EBFDB41C04}"/>
          </ac:grpSpMkLst>
        </pc:grpChg>
        <pc:grpChg chg="add mod">
          <ac:chgData name="Riely, Gregory" userId="8e9f1504-5205-4fae-b223-1d04dd54ed12" providerId="ADAL" clId="{820F0C39-9049-4EE1-A70C-B4FAF97CB913}" dt="2026-09-28T18:38:27.760" v="332" actId="14100"/>
          <ac:grpSpMkLst>
            <pc:docMk/>
            <pc:sldMk cId="3986793052" sldId="2076137831"/>
            <ac:grpSpMk id="9" creationId="{CF8872E8-2162-E07D-9B87-A7CAB0A451A0}"/>
          </ac:grpSpMkLst>
        </pc:grpChg>
        <pc:picChg chg="mod ord">
          <ac:chgData name="Riely, Gregory" userId="8e9f1504-5205-4fae-b223-1d04dd54ed12" providerId="ADAL" clId="{820F0C39-9049-4EE1-A70C-B4FAF97CB913}" dt="2026-09-28T18:37:54.565" v="324" actId="167"/>
          <ac:picMkLst>
            <pc:docMk/>
            <pc:sldMk cId="3986793052" sldId="2076137831"/>
            <ac:picMk id="6" creationId="{668AA160-359F-33DC-0F70-C6BFDEA252E5}"/>
          </ac:picMkLst>
        </pc:picChg>
      </pc:sldChg>
      <pc:sldChg chg="modSp mod">
        <pc:chgData name="Riely, Gregory" userId="8e9f1504-5205-4fae-b223-1d04dd54ed12" providerId="ADAL" clId="{820F0C39-9049-4EE1-A70C-B4FAF97CB913}" dt="2026-09-28T18:33:05.739" v="45" actId="1076"/>
        <pc:sldMkLst>
          <pc:docMk/>
          <pc:sldMk cId="0" sldId="2076137833"/>
        </pc:sldMkLst>
        <pc:spChg chg="mod">
          <ac:chgData name="Riely, Gregory" userId="8e9f1504-5205-4fae-b223-1d04dd54ed12" providerId="ADAL" clId="{820F0C39-9049-4EE1-A70C-B4FAF97CB913}" dt="2026-09-28T18:33:05.739" v="45" actId="1076"/>
          <ac:spMkLst>
            <pc:docMk/>
            <pc:sldMk cId="0" sldId="2076137833"/>
            <ac:spMk id="4" creationId="{00000000-0000-0000-0000-000000000000}"/>
          </ac:spMkLst>
        </pc:spChg>
        <pc:graphicFrameChg chg="mod modGraphic">
          <ac:chgData name="Riely, Gregory" userId="8e9f1504-5205-4fae-b223-1d04dd54ed12" providerId="ADAL" clId="{820F0C39-9049-4EE1-A70C-B4FAF97CB913}" dt="2026-09-28T18:33:02.375" v="44" actId="1076"/>
          <ac:graphicFrameMkLst>
            <pc:docMk/>
            <pc:sldMk cId="0" sldId="2076137833"/>
            <ac:graphicFrameMk id="3" creationId="{00000000-0000-0000-0000-000000000000}"/>
          </ac:graphicFrameMkLst>
        </pc:graphicFrameChg>
      </pc:sldChg>
      <pc:sldChg chg="delSp modSp mod">
        <pc:chgData name="Riely, Gregory" userId="8e9f1504-5205-4fae-b223-1d04dd54ed12" providerId="ADAL" clId="{820F0C39-9049-4EE1-A70C-B4FAF97CB913}" dt="2026-09-28T18:35:38.321" v="218" actId="478"/>
        <pc:sldMkLst>
          <pc:docMk/>
          <pc:sldMk cId="673952737" sldId="2076137834"/>
        </pc:sldMkLst>
        <pc:spChg chg="del">
          <ac:chgData name="Riely, Gregory" userId="8e9f1504-5205-4fae-b223-1d04dd54ed12" providerId="ADAL" clId="{820F0C39-9049-4EE1-A70C-B4FAF97CB913}" dt="2026-09-28T18:35:38.321" v="218" actId="478"/>
          <ac:spMkLst>
            <pc:docMk/>
            <pc:sldMk cId="673952737" sldId="2076137834"/>
            <ac:spMk id="2" creationId="{62AC4C40-0DE0-264C-134A-851288A2BEFF}"/>
          </ac:spMkLst>
        </pc:spChg>
        <pc:spChg chg="mod">
          <ac:chgData name="Riely, Gregory" userId="8e9f1504-5205-4fae-b223-1d04dd54ed12" providerId="ADAL" clId="{820F0C39-9049-4EE1-A70C-B4FAF97CB913}" dt="2026-09-28T18:35:32.444" v="217" actId="20577"/>
          <ac:spMkLst>
            <pc:docMk/>
            <pc:sldMk cId="673952737" sldId="2076137834"/>
            <ac:spMk id="10" creationId="{00000000-0000-0000-0000-000000000000}"/>
          </ac:spMkLst>
        </pc:spChg>
      </pc:sldChg>
      <pc:sldChg chg="modSp add mod modNotes modNotesTx">
        <pc:chgData name="Riely, Gregory" userId="8e9f1504-5205-4fae-b223-1d04dd54ed12" providerId="ADAL" clId="{820F0C39-9049-4EE1-A70C-B4FAF97CB913}" dt="2026-09-28T18:41:32.998" v="374" actId="6549"/>
        <pc:sldMkLst>
          <pc:docMk/>
          <pc:sldMk cId="0" sldId="2076137835"/>
        </pc:sldMkLst>
        <pc:spChg chg="mod">
          <ac:chgData name="Riely, Gregory" userId="8e9f1504-5205-4fae-b223-1d04dd54ed12" providerId="ADAL" clId="{820F0C39-9049-4EE1-A70C-B4FAF97CB913}" dt="2026-09-28T18:41:21.654" v="373" actId="6549"/>
          <ac:spMkLst>
            <pc:docMk/>
            <pc:sldMk cId="0" sldId="2076137835"/>
            <ac:spMk id="2" creationId="{00000000-0000-0000-0000-000000000000}"/>
          </ac:spMkLst>
        </pc:spChg>
      </pc:sldChg>
      <pc:sldChg chg="modSp add del mod">
        <pc:chgData name="Riely, Gregory" userId="8e9f1504-5205-4fae-b223-1d04dd54ed12" providerId="ADAL" clId="{820F0C39-9049-4EE1-A70C-B4FAF97CB913}" dt="2026-09-28T19:42:57.139" v="1145" actId="207"/>
        <pc:sldMkLst>
          <pc:docMk/>
          <pc:sldMk cId="2730052337" sldId="2076137836"/>
        </pc:sldMkLst>
        <pc:spChg chg="mod">
          <ac:chgData name="Riely, Gregory" userId="8e9f1504-5205-4fae-b223-1d04dd54ed12" providerId="ADAL" clId="{820F0C39-9049-4EE1-A70C-B4FAF97CB913}" dt="2026-09-28T18:54:52.126" v="526" actId="20577"/>
          <ac:spMkLst>
            <pc:docMk/>
            <pc:sldMk cId="2730052337" sldId="2076137836"/>
            <ac:spMk id="2" creationId="{2E42B523-DB4F-9CDA-BE0D-F4467857078C}"/>
          </ac:spMkLst>
        </pc:spChg>
        <pc:spChg chg="mod">
          <ac:chgData name="Riely, Gregory" userId="8e9f1504-5205-4fae-b223-1d04dd54ed12" providerId="ADAL" clId="{820F0C39-9049-4EE1-A70C-B4FAF97CB913}" dt="2026-09-28T19:42:57.139" v="1145" actId="207"/>
          <ac:spMkLst>
            <pc:docMk/>
            <pc:sldMk cId="2730052337" sldId="2076137836"/>
            <ac:spMk id="3" creationId="{693165E0-0B4D-83B7-F73B-2207B5D0641A}"/>
          </ac:spMkLst>
        </pc:spChg>
      </pc:sldChg>
      <pc:sldChg chg="addSp delSp modSp new mod">
        <pc:chgData name="Riely, Gregory" userId="8e9f1504-5205-4fae-b223-1d04dd54ed12" providerId="ADAL" clId="{820F0C39-9049-4EE1-A70C-B4FAF97CB913}" dt="2026-09-28T19:37:03.580" v="1029" actId="20577"/>
        <pc:sldMkLst>
          <pc:docMk/>
          <pc:sldMk cId="3270516551" sldId="2076137837"/>
        </pc:sldMkLst>
        <pc:spChg chg="mod">
          <ac:chgData name="Riely, Gregory" userId="8e9f1504-5205-4fae-b223-1d04dd54ed12" providerId="ADAL" clId="{820F0C39-9049-4EE1-A70C-B4FAF97CB913}" dt="2026-09-28T19:37:03.580" v="1029" actId="20577"/>
          <ac:spMkLst>
            <pc:docMk/>
            <pc:sldMk cId="3270516551" sldId="2076137837"/>
            <ac:spMk id="2" creationId="{A745A35B-3D0D-B9C3-FAD5-441941976B34}"/>
          </ac:spMkLst>
        </pc:spChg>
        <pc:spChg chg="del">
          <ac:chgData name="Riely, Gregory" userId="8e9f1504-5205-4fae-b223-1d04dd54ed12" providerId="ADAL" clId="{820F0C39-9049-4EE1-A70C-B4FAF97CB913}" dt="2026-09-28T18:58:55.712" v="739" actId="478"/>
          <ac:spMkLst>
            <pc:docMk/>
            <pc:sldMk cId="3270516551" sldId="2076137837"/>
            <ac:spMk id="3" creationId="{10C7CFB8-2C97-81BC-FB9A-7C28D6BADF48}"/>
          </ac:spMkLst>
        </pc:spChg>
        <pc:spChg chg="add mod">
          <ac:chgData name="Riely, Gregory" userId="8e9f1504-5205-4fae-b223-1d04dd54ed12" providerId="ADAL" clId="{820F0C39-9049-4EE1-A70C-B4FAF97CB913}" dt="2026-09-28T19:01:00.980" v="758" actId="1076"/>
          <ac:spMkLst>
            <pc:docMk/>
            <pc:sldMk cId="3270516551" sldId="2076137837"/>
            <ac:spMk id="14" creationId="{E8503CAE-4CCD-8377-5AB3-EF4CBBEDF0A0}"/>
          </ac:spMkLst>
        </pc:spChg>
        <pc:spChg chg="add mod">
          <ac:chgData name="Riely, Gregory" userId="8e9f1504-5205-4fae-b223-1d04dd54ed12" providerId="ADAL" clId="{820F0C39-9049-4EE1-A70C-B4FAF97CB913}" dt="2026-09-28T19:01:44.020" v="795" actId="1037"/>
          <ac:spMkLst>
            <pc:docMk/>
            <pc:sldMk cId="3270516551" sldId="2076137837"/>
            <ac:spMk id="15" creationId="{8F575F03-3563-9C6C-F077-8623DA8BBE77}"/>
          </ac:spMkLst>
        </pc:spChg>
        <pc:spChg chg="add mod">
          <ac:chgData name="Riely, Gregory" userId="8e9f1504-5205-4fae-b223-1d04dd54ed12" providerId="ADAL" clId="{820F0C39-9049-4EE1-A70C-B4FAF97CB913}" dt="2026-09-28T19:01:33.668" v="768" actId="20577"/>
          <ac:spMkLst>
            <pc:docMk/>
            <pc:sldMk cId="3270516551" sldId="2076137837"/>
            <ac:spMk id="16" creationId="{3567369A-1E7A-20DE-2392-A67B2DDF7838}"/>
          </ac:spMkLst>
        </pc:spChg>
        <pc:spChg chg="add mod">
          <ac:chgData name="Riely, Gregory" userId="8e9f1504-5205-4fae-b223-1d04dd54ed12" providerId="ADAL" clId="{820F0C39-9049-4EE1-A70C-B4FAF97CB913}" dt="2026-09-28T19:02:24.385" v="885" actId="1037"/>
          <ac:spMkLst>
            <pc:docMk/>
            <pc:sldMk cId="3270516551" sldId="2076137837"/>
            <ac:spMk id="18" creationId="{69D1FA89-36B9-2537-01E6-8F200C3A6EBA}"/>
          </ac:spMkLst>
        </pc:spChg>
        <pc:cxnChg chg="add mod">
          <ac:chgData name="Riely, Gregory" userId="8e9f1504-5205-4fae-b223-1d04dd54ed12" providerId="ADAL" clId="{820F0C39-9049-4EE1-A70C-B4FAF97CB913}" dt="2026-09-28T18:59:29.884" v="744" actId="14100"/>
          <ac:cxnSpMkLst>
            <pc:docMk/>
            <pc:sldMk cId="3270516551" sldId="2076137837"/>
            <ac:cxnSpMk id="6" creationId="{FF2BC941-85F8-896C-E773-10503FD6CC42}"/>
          </ac:cxnSpMkLst>
        </pc:cxnChg>
        <pc:cxnChg chg="add mod">
          <ac:chgData name="Riely, Gregory" userId="8e9f1504-5205-4fae-b223-1d04dd54ed12" providerId="ADAL" clId="{820F0C39-9049-4EE1-A70C-B4FAF97CB913}" dt="2026-09-28T18:59:47.039" v="746" actId="1582"/>
          <ac:cxnSpMkLst>
            <pc:docMk/>
            <pc:sldMk cId="3270516551" sldId="2076137837"/>
            <ac:cxnSpMk id="10" creationId="{EDF8AB8D-5B20-4764-CA33-63BAD2CD23AA}"/>
          </ac:cxnSpMkLst>
        </pc:cxnChg>
        <pc:cxnChg chg="add mod">
          <ac:chgData name="Riely, Gregory" userId="8e9f1504-5205-4fae-b223-1d04dd54ed12" providerId="ADAL" clId="{820F0C39-9049-4EE1-A70C-B4FAF97CB913}" dt="2026-09-28T19:01:44.020" v="795" actId="1037"/>
          <ac:cxnSpMkLst>
            <pc:docMk/>
            <pc:sldMk cId="3270516551" sldId="2076137837"/>
            <ac:cxnSpMk id="11" creationId="{FB0EBE79-11B4-033E-E4E5-545F5A39AE8C}"/>
          </ac:cxnSpMkLst>
        </pc:cxnChg>
        <pc:cxnChg chg="add mod">
          <ac:chgData name="Riely, Gregory" userId="8e9f1504-5205-4fae-b223-1d04dd54ed12" providerId="ADAL" clId="{820F0C39-9049-4EE1-A70C-B4FAF97CB913}" dt="2026-09-28T19:00:00.613" v="749"/>
          <ac:cxnSpMkLst>
            <pc:docMk/>
            <pc:sldMk cId="3270516551" sldId="2076137837"/>
            <ac:cxnSpMk id="12" creationId="{CE943775-071B-E3FE-DB59-4F444728B893}"/>
          </ac:cxnSpMkLst>
        </pc:cxnChg>
        <pc:cxnChg chg="add mod">
          <ac:chgData name="Riely, Gregory" userId="8e9f1504-5205-4fae-b223-1d04dd54ed12" providerId="ADAL" clId="{820F0C39-9049-4EE1-A70C-B4FAF97CB913}" dt="2026-09-28T19:00:07.395" v="752" actId="1076"/>
          <ac:cxnSpMkLst>
            <pc:docMk/>
            <pc:sldMk cId="3270516551" sldId="2076137837"/>
            <ac:cxnSpMk id="13" creationId="{1110B169-E34E-92CA-CF97-A674CBA4BC2C}"/>
          </ac:cxnSpMkLst>
        </pc:cxnChg>
        <pc:cxnChg chg="add mod">
          <ac:chgData name="Riely, Gregory" userId="8e9f1504-5205-4fae-b223-1d04dd54ed12" providerId="ADAL" clId="{820F0C39-9049-4EE1-A70C-B4FAF97CB913}" dt="2026-09-28T19:02:24.385" v="885" actId="1037"/>
          <ac:cxnSpMkLst>
            <pc:docMk/>
            <pc:sldMk cId="3270516551" sldId="2076137837"/>
            <ac:cxnSpMk id="17" creationId="{135B0CB1-6E97-C605-6EE7-95474DB9D32A}"/>
          </ac:cxnSpMkLst>
        </pc:cxnChg>
      </pc:sldChg>
      <pc:sldChg chg="addSp modSp add mod">
        <pc:chgData name="Riely, Gregory" userId="8e9f1504-5205-4fae-b223-1d04dd54ed12" providerId="ADAL" clId="{820F0C39-9049-4EE1-A70C-B4FAF97CB913}" dt="2026-09-28T19:37:17.695" v="1034" actId="1076"/>
        <pc:sldMkLst>
          <pc:docMk/>
          <pc:sldMk cId="717422491" sldId="2076137838"/>
        </pc:sldMkLst>
        <pc:spChg chg="mod">
          <ac:chgData name="Riely, Gregory" userId="8e9f1504-5205-4fae-b223-1d04dd54ed12" providerId="ADAL" clId="{820F0C39-9049-4EE1-A70C-B4FAF97CB913}" dt="2026-09-28T19:36:40.607" v="953"/>
          <ac:spMkLst>
            <pc:docMk/>
            <pc:sldMk cId="717422491" sldId="2076137838"/>
            <ac:spMk id="2" creationId="{97157B7F-6461-89A5-0F9E-C8ABA6E29744}"/>
          </ac:spMkLst>
        </pc:spChg>
        <pc:spChg chg="add mod">
          <ac:chgData name="Riely, Gregory" userId="8e9f1504-5205-4fae-b223-1d04dd54ed12" providerId="ADAL" clId="{820F0C39-9049-4EE1-A70C-B4FAF97CB913}" dt="2026-09-28T19:37:17.695" v="1034" actId="1076"/>
          <ac:spMkLst>
            <pc:docMk/>
            <pc:sldMk cId="717422491" sldId="2076137838"/>
            <ac:spMk id="3" creationId="{3FCA7179-747D-811F-F184-F180DD5F5F3E}"/>
          </ac:spMkLst>
        </pc:spChg>
      </pc:sldChg>
      <pc:sldChg chg="addSp modSp add mod">
        <pc:chgData name="Riely, Gregory" userId="8e9f1504-5205-4fae-b223-1d04dd54ed12" providerId="ADAL" clId="{820F0C39-9049-4EE1-A70C-B4FAF97CB913}" dt="2026-09-28T19:37:34.740" v="1040" actId="20577"/>
        <pc:sldMkLst>
          <pc:docMk/>
          <pc:sldMk cId="653849558" sldId="2076137839"/>
        </pc:sldMkLst>
        <pc:spChg chg="add mod">
          <ac:chgData name="Riely, Gregory" userId="8e9f1504-5205-4fae-b223-1d04dd54ed12" providerId="ADAL" clId="{820F0C39-9049-4EE1-A70C-B4FAF97CB913}" dt="2026-09-28T19:37:34.740" v="1040" actId="20577"/>
          <ac:spMkLst>
            <pc:docMk/>
            <pc:sldMk cId="653849558" sldId="2076137839"/>
            <ac:spMk id="5" creationId="{BDB737E6-C216-BA21-3F39-F811F12B63B4}"/>
          </ac:spMkLst>
        </pc:spChg>
      </pc:sldChg>
      <pc:sldChg chg="addSp modSp add mod">
        <pc:chgData name="Riely, Gregory" userId="8e9f1504-5205-4fae-b223-1d04dd54ed12" providerId="ADAL" clId="{820F0C39-9049-4EE1-A70C-B4FAF97CB913}" dt="2026-09-28T19:38:35.640" v="1061" actId="12789"/>
        <pc:sldMkLst>
          <pc:docMk/>
          <pc:sldMk cId="1140965968" sldId="2076137840"/>
        </pc:sldMkLst>
        <pc:spChg chg="mod">
          <ac:chgData name="Riely, Gregory" userId="8e9f1504-5205-4fae-b223-1d04dd54ed12" providerId="ADAL" clId="{820F0C39-9049-4EE1-A70C-B4FAF97CB913}" dt="2026-09-28T19:38:35.640" v="1061" actId="12789"/>
          <ac:spMkLst>
            <pc:docMk/>
            <pc:sldMk cId="1140965968" sldId="2076137840"/>
            <ac:spMk id="3" creationId="{2AFD7FDB-4A4C-C6F5-2E4A-69653A4D1D8B}"/>
          </ac:spMkLst>
        </pc:spChg>
        <pc:spChg chg="mod">
          <ac:chgData name="Riely, Gregory" userId="8e9f1504-5205-4fae-b223-1d04dd54ed12" providerId="ADAL" clId="{820F0C39-9049-4EE1-A70C-B4FAF97CB913}" dt="2026-09-28T19:38:35.640" v="1061" actId="12789"/>
          <ac:spMkLst>
            <pc:docMk/>
            <pc:sldMk cId="1140965968" sldId="2076137840"/>
            <ac:spMk id="5" creationId="{FB9E4DFD-BEEC-B127-D36A-514858187504}"/>
          </ac:spMkLst>
        </pc:spChg>
        <pc:spChg chg="add mod">
          <ac:chgData name="Riely, Gregory" userId="8e9f1504-5205-4fae-b223-1d04dd54ed12" providerId="ADAL" clId="{820F0C39-9049-4EE1-A70C-B4FAF97CB913}" dt="2026-09-28T19:38:35.640" v="1061" actId="12789"/>
          <ac:spMkLst>
            <pc:docMk/>
            <pc:sldMk cId="1140965968" sldId="2076137840"/>
            <ac:spMk id="7" creationId="{30411E32-6215-A444-092D-A04D75DF76B6}"/>
          </ac:spMkLst>
        </pc:spChg>
        <pc:spChg chg="add mod">
          <ac:chgData name="Riely, Gregory" userId="8e9f1504-5205-4fae-b223-1d04dd54ed12" providerId="ADAL" clId="{820F0C39-9049-4EE1-A70C-B4FAF97CB913}" dt="2026-09-28T19:38:35.640" v="1061" actId="12789"/>
          <ac:spMkLst>
            <pc:docMk/>
            <pc:sldMk cId="1140965968" sldId="2076137840"/>
            <ac:spMk id="8" creationId="{A684D7A1-79B9-ED7A-507D-F3A802CB50A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512600595720364E-2"/>
          <c:y val="5.4260602665270184E-2"/>
          <c:w val="0.87814011002638459"/>
          <c:h val="0.83754624372830611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cat>
            <c:strRef>
              <c:f>'[Tornado plot TRAEs.xlsx]Tornado plot 15%'!$M$28:$M$38</c:f>
              <c:strCache>
                <c:ptCount val="11"/>
                <c:pt idx="0">
                  <c:v>Nausea</c:v>
                </c:pt>
                <c:pt idx="1">
                  <c:v>Diarrhea</c:v>
                </c:pt>
                <c:pt idx="2">
                  <c:v>Fatigue</c:v>
                </c:pt>
                <c:pt idx="3">
                  <c:v>Vomiting</c:v>
                </c:pt>
                <c:pt idx="4">
                  <c:v>Vision blurred</c:v>
                </c:pt>
                <c:pt idx="5">
                  <c:v>ALT increased</c:v>
                </c:pt>
                <c:pt idx="6">
                  <c:v>AST increased</c:v>
                </c:pt>
                <c:pt idx="7">
                  <c:v>Anemia</c:v>
                </c:pt>
                <c:pt idx="8">
                  <c:v>Constipation</c:v>
                </c:pt>
                <c:pt idx="9">
                  <c:v>Pruritus</c:v>
                </c:pt>
                <c:pt idx="10">
                  <c:v>Asthenia </c:v>
                </c:pt>
              </c:strCache>
            </c:strRef>
          </c:cat>
          <c:val>
            <c:numRef>
              <c:f>'[Tornado plot TRAEs.xlsx]Tornado plot 15%'!$N$28:$N$38</c:f>
              <c:numCache>
                <c:formatCode>General</c:formatCode>
                <c:ptCount val="11"/>
                <c:pt idx="0">
                  <c:v>-59.322033898305079</c:v>
                </c:pt>
                <c:pt idx="1">
                  <c:v>-40.677966101694913</c:v>
                </c:pt>
                <c:pt idx="2">
                  <c:v>-30.508474576271187</c:v>
                </c:pt>
                <c:pt idx="3">
                  <c:v>-30.508474576271187</c:v>
                </c:pt>
                <c:pt idx="4">
                  <c:v>-20.338983050847457</c:v>
                </c:pt>
                <c:pt idx="5">
                  <c:v>-18.64406779661017</c:v>
                </c:pt>
                <c:pt idx="6">
                  <c:v>-18.64406779661017</c:v>
                </c:pt>
                <c:pt idx="7">
                  <c:v>-16.949152542372879</c:v>
                </c:pt>
                <c:pt idx="8">
                  <c:v>-15.254237288135592</c:v>
                </c:pt>
                <c:pt idx="9">
                  <c:v>-10.169491525423728</c:v>
                </c:pt>
                <c:pt idx="10">
                  <c:v>-5.0847457627118642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FA-4FC5-B0F3-F87F4CD8ABF5}"/>
            </c:ext>
          </c:extLst>
        </c:ser>
        <c:ser>
          <c:idx val="1"/>
          <c:order val="1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'[Tornado plot TRAEs.xlsx]Tornado plot 15%'!$M$28:$M$38</c:f>
              <c:strCache>
                <c:ptCount val="11"/>
                <c:pt idx="0">
                  <c:v>Nausea</c:v>
                </c:pt>
                <c:pt idx="1">
                  <c:v>Diarrhea</c:v>
                </c:pt>
                <c:pt idx="2">
                  <c:v>Fatigue</c:v>
                </c:pt>
                <c:pt idx="3">
                  <c:v>Vomiting</c:v>
                </c:pt>
                <c:pt idx="4">
                  <c:v>Vision blurred</c:v>
                </c:pt>
                <c:pt idx="5">
                  <c:v>ALT increased</c:v>
                </c:pt>
                <c:pt idx="6">
                  <c:v>AST increased</c:v>
                </c:pt>
                <c:pt idx="7">
                  <c:v>Anemia</c:v>
                </c:pt>
                <c:pt idx="8">
                  <c:v>Constipation</c:v>
                </c:pt>
                <c:pt idx="9">
                  <c:v>Pruritus</c:v>
                </c:pt>
                <c:pt idx="10">
                  <c:v>Asthenia </c:v>
                </c:pt>
              </c:strCache>
            </c:strRef>
          </c:cat>
          <c:val>
            <c:numRef>
              <c:f>'[Tornado plot TRAEs.xlsx]Tornado plot 15%'!$O$28:$O$38</c:f>
              <c:numCache>
                <c:formatCode>General</c:formatCode>
                <c:ptCount val="11"/>
                <c:pt idx="0">
                  <c:v>-59.322033898305079</c:v>
                </c:pt>
                <c:pt idx="1">
                  <c:v>-40.677966101694913</c:v>
                </c:pt>
                <c:pt idx="2">
                  <c:v>-30.508474576271187</c:v>
                </c:pt>
                <c:pt idx="3">
                  <c:v>-30.508474576271187</c:v>
                </c:pt>
                <c:pt idx="4">
                  <c:v>-20.338983050847457</c:v>
                </c:pt>
                <c:pt idx="5">
                  <c:v>-18.64406779661017</c:v>
                </c:pt>
                <c:pt idx="6">
                  <c:v>-18.64406779661017</c:v>
                </c:pt>
                <c:pt idx="7">
                  <c:v>-16.949152542372879</c:v>
                </c:pt>
                <c:pt idx="8">
                  <c:v>-15.254237288135592</c:v>
                </c:pt>
                <c:pt idx="9">
                  <c:v>-10.169491525423728</c:v>
                </c:pt>
                <c:pt idx="10">
                  <c:v>-5.0847457627118642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FA-4FC5-B0F3-F87F4CD8ABF5}"/>
            </c:ext>
          </c:extLst>
        </c:ser>
        <c:ser>
          <c:idx val="2"/>
          <c:order val="2"/>
          <c:spPr>
            <a:solidFill>
              <a:srgbClr val="00344C"/>
            </a:solidFill>
            <a:ln>
              <a:noFill/>
            </a:ln>
            <a:effectLst/>
          </c:spPr>
          <c:invertIfNegative val="0"/>
          <c:cat>
            <c:strRef>
              <c:f>'[Tornado plot TRAEs.xlsx]Tornado plot 15%'!$M$28:$M$38</c:f>
              <c:strCache>
                <c:ptCount val="11"/>
                <c:pt idx="0">
                  <c:v>Nausea</c:v>
                </c:pt>
                <c:pt idx="1">
                  <c:v>Diarrhea</c:v>
                </c:pt>
                <c:pt idx="2">
                  <c:v>Fatigue</c:v>
                </c:pt>
                <c:pt idx="3">
                  <c:v>Vomiting</c:v>
                </c:pt>
                <c:pt idx="4">
                  <c:v>Vision blurred</c:v>
                </c:pt>
                <c:pt idx="5">
                  <c:v>ALT increased</c:v>
                </c:pt>
                <c:pt idx="6">
                  <c:v>AST increased</c:v>
                </c:pt>
                <c:pt idx="7">
                  <c:v>Anemia</c:v>
                </c:pt>
                <c:pt idx="8">
                  <c:v>Constipation</c:v>
                </c:pt>
                <c:pt idx="9">
                  <c:v>Pruritus</c:v>
                </c:pt>
                <c:pt idx="10">
                  <c:v>Asthenia </c:v>
                </c:pt>
              </c:strCache>
            </c:strRef>
          </c:cat>
          <c:val>
            <c:numRef>
              <c:f>'[Tornado plot TRAEs.xlsx]Tornado plot 15%'!$P$28:$P$38</c:f>
              <c:numCache>
                <c:formatCode>General</c:formatCode>
                <c:ptCount val="11"/>
                <c:pt idx="0">
                  <c:v>-59.322033898305079</c:v>
                </c:pt>
                <c:pt idx="1">
                  <c:v>-40.677966101694913</c:v>
                </c:pt>
                <c:pt idx="2">
                  <c:v>-30.508474576271187</c:v>
                </c:pt>
                <c:pt idx="3">
                  <c:v>-30.508474576271187</c:v>
                </c:pt>
                <c:pt idx="4">
                  <c:v>-20.338983050847457</c:v>
                </c:pt>
                <c:pt idx="5">
                  <c:v>-18.64406779661017</c:v>
                </c:pt>
                <c:pt idx="6">
                  <c:v>-18.64406779661017</c:v>
                </c:pt>
                <c:pt idx="7">
                  <c:v>-16.949152542372879</c:v>
                </c:pt>
                <c:pt idx="8">
                  <c:v>-15.254237288135592</c:v>
                </c:pt>
                <c:pt idx="9">
                  <c:v>-10.169491525423728</c:v>
                </c:pt>
                <c:pt idx="10">
                  <c:v>-5.0847457627118642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FA-4FC5-B0F3-F87F4CD8ABF5}"/>
            </c:ext>
          </c:extLst>
        </c:ser>
        <c:ser>
          <c:idx val="3"/>
          <c:order val="3"/>
          <c:spPr>
            <a:solidFill>
              <a:srgbClr val="0071A4"/>
            </a:solidFill>
            <a:ln>
              <a:noFill/>
            </a:ln>
            <a:effectLst/>
          </c:spPr>
          <c:invertIfNegative val="0"/>
          <c:cat>
            <c:strRef>
              <c:f>'[Tornado plot TRAEs.xlsx]Tornado plot 15%'!$M$28:$M$38</c:f>
              <c:strCache>
                <c:ptCount val="11"/>
                <c:pt idx="0">
                  <c:v>Nausea</c:v>
                </c:pt>
                <c:pt idx="1">
                  <c:v>Diarrhea</c:v>
                </c:pt>
                <c:pt idx="2">
                  <c:v>Fatigue</c:v>
                </c:pt>
                <c:pt idx="3">
                  <c:v>Vomiting</c:v>
                </c:pt>
                <c:pt idx="4">
                  <c:v>Vision blurred</c:v>
                </c:pt>
                <c:pt idx="5">
                  <c:v>ALT increased</c:v>
                </c:pt>
                <c:pt idx="6">
                  <c:v>AST increased</c:v>
                </c:pt>
                <c:pt idx="7">
                  <c:v>Anemia</c:v>
                </c:pt>
                <c:pt idx="8">
                  <c:v>Constipation</c:v>
                </c:pt>
                <c:pt idx="9">
                  <c:v>Pruritus</c:v>
                </c:pt>
                <c:pt idx="10">
                  <c:v>Asthenia </c:v>
                </c:pt>
              </c:strCache>
            </c:strRef>
          </c:cat>
          <c:val>
            <c:numRef>
              <c:f>'[Tornado plot TRAEs.xlsx]Tornado plot 15%'!$Q$28:$Q$38</c:f>
              <c:numCache>
                <c:formatCode>General</c:formatCode>
                <c:ptCount val="11"/>
                <c:pt idx="0">
                  <c:v>-54.237288135593218</c:v>
                </c:pt>
                <c:pt idx="1">
                  <c:v>-35.593220338983052</c:v>
                </c:pt>
                <c:pt idx="2">
                  <c:v>-30.508474576271187</c:v>
                </c:pt>
                <c:pt idx="3">
                  <c:v>-28.8135593220339</c:v>
                </c:pt>
                <c:pt idx="4">
                  <c:v>-18.64406779661017</c:v>
                </c:pt>
                <c:pt idx="5">
                  <c:v>-11.864406779661017</c:v>
                </c:pt>
                <c:pt idx="6">
                  <c:v>-8.4745762711864412</c:v>
                </c:pt>
                <c:pt idx="7">
                  <c:v>-13.559322033898304</c:v>
                </c:pt>
                <c:pt idx="8">
                  <c:v>-15.254237288135592</c:v>
                </c:pt>
                <c:pt idx="9">
                  <c:v>-10.169491525423728</c:v>
                </c:pt>
                <c:pt idx="10">
                  <c:v>-3.3898305084745761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CFA-4FC5-B0F3-F87F4CD8ABF5}"/>
            </c:ext>
          </c:extLst>
        </c:ser>
        <c:ser>
          <c:idx val="4"/>
          <c:order val="4"/>
          <c:spPr>
            <a:solidFill>
              <a:srgbClr val="009FE3"/>
            </a:solidFill>
            <a:ln>
              <a:noFill/>
            </a:ln>
            <a:effectLst/>
          </c:spPr>
          <c:invertIfNegative val="0"/>
          <c:cat>
            <c:strRef>
              <c:f>'[Tornado plot TRAEs.xlsx]Tornado plot 15%'!$M$28:$M$38</c:f>
              <c:strCache>
                <c:ptCount val="11"/>
                <c:pt idx="0">
                  <c:v>Nausea</c:v>
                </c:pt>
                <c:pt idx="1">
                  <c:v>Diarrhea</c:v>
                </c:pt>
                <c:pt idx="2">
                  <c:v>Fatigue</c:v>
                </c:pt>
                <c:pt idx="3">
                  <c:v>Vomiting</c:v>
                </c:pt>
                <c:pt idx="4">
                  <c:v>Vision blurred</c:v>
                </c:pt>
                <c:pt idx="5">
                  <c:v>ALT increased</c:v>
                </c:pt>
                <c:pt idx="6">
                  <c:v>AST increased</c:v>
                </c:pt>
                <c:pt idx="7">
                  <c:v>Anemia</c:v>
                </c:pt>
                <c:pt idx="8">
                  <c:v>Constipation</c:v>
                </c:pt>
                <c:pt idx="9">
                  <c:v>Pruritus</c:v>
                </c:pt>
                <c:pt idx="10">
                  <c:v>Asthenia </c:v>
                </c:pt>
              </c:strCache>
            </c:strRef>
          </c:cat>
          <c:val>
            <c:numRef>
              <c:f>'[Tornado plot TRAEs.xlsx]Tornado plot 15%'!$R$28:$R$38</c:f>
              <c:numCache>
                <c:formatCode>General</c:formatCode>
                <c:ptCount val="11"/>
                <c:pt idx="0">
                  <c:v>-33.898305084745765</c:v>
                </c:pt>
                <c:pt idx="1">
                  <c:v>-18.64406779661017</c:v>
                </c:pt>
                <c:pt idx="2">
                  <c:v>-13.559322033898304</c:v>
                </c:pt>
                <c:pt idx="3">
                  <c:v>-16.949152542372882</c:v>
                </c:pt>
                <c:pt idx="4">
                  <c:v>-15.254237288135593</c:v>
                </c:pt>
                <c:pt idx="5">
                  <c:v>-3.3898305084745761</c:v>
                </c:pt>
                <c:pt idx="6">
                  <c:v>-8.4745762711864412</c:v>
                </c:pt>
                <c:pt idx="7">
                  <c:v>-1.6949152542372881</c:v>
                </c:pt>
                <c:pt idx="8">
                  <c:v>-10.169491525423728</c:v>
                </c:pt>
                <c:pt idx="9">
                  <c:v>-8.4745762711864412</c:v>
                </c:pt>
                <c:pt idx="10">
                  <c:v>-1.6949152542372881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CFA-4FC5-B0F3-F87F4CD8ABF5}"/>
            </c:ext>
          </c:extLst>
        </c:ser>
        <c:ser>
          <c:idx val="5"/>
          <c:order val="5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cat>
            <c:strRef>
              <c:f>'[Tornado plot TRAEs.xlsx]Tornado plot 15%'!$M$28:$M$38</c:f>
              <c:strCache>
                <c:ptCount val="11"/>
                <c:pt idx="0">
                  <c:v>Nausea</c:v>
                </c:pt>
                <c:pt idx="1">
                  <c:v>Diarrhea</c:v>
                </c:pt>
                <c:pt idx="2">
                  <c:v>Fatigue</c:v>
                </c:pt>
                <c:pt idx="3">
                  <c:v>Vomiting</c:v>
                </c:pt>
                <c:pt idx="4">
                  <c:v>Vision blurred</c:v>
                </c:pt>
                <c:pt idx="5">
                  <c:v>ALT increased</c:v>
                </c:pt>
                <c:pt idx="6">
                  <c:v>AST increased</c:v>
                </c:pt>
                <c:pt idx="7">
                  <c:v>Anemia</c:v>
                </c:pt>
                <c:pt idx="8">
                  <c:v>Constipation</c:v>
                </c:pt>
                <c:pt idx="9">
                  <c:v>Pruritus</c:v>
                </c:pt>
                <c:pt idx="10">
                  <c:v>Asthenia </c:v>
                </c:pt>
              </c:strCache>
            </c:strRef>
          </c:cat>
          <c:val>
            <c:numRef>
              <c:f>'[Tornado plot TRAEs.xlsx]Tornado plot 15%'!$S$28:$S$38</c:f>
              <c:numCache>
                <c:formatCode>General</c:formatCode>
                <c:ptCount val="11"/>
                <c:pt idx="0">
                  <c:v>41.025641025641029</c:v>
                </c:pt>
                <c:pt idx="1">
                  <c:v>48.717948717948715</c:v>
                </c:pt>
                <c:pt idx="2">
                  <c:v>33.333333333333336</c:v>
                </c:pt>
                <c:pt idx="3">
                  <c:v>28.205128205128204</c:v>
                </c:pt>
                <c:pt idx="4">
                  <c:v>15.384615384615385</c:v>
                </c:pt>
                <c:pt idx="5">
                  <c:v>5.1282051282051286</c:v>
                </c:pt>
                <c:pt idx="6">
                  <c:v>5.1282051282051286</c:v>
                </c:pt>
                <c:pt idx="7">
                  <c:v>17.948717948717949</c:v>
                </c:pt>
                <c:pt idx="8">
                  <c:v>12.820512820512821</c:v>
                </c:pt>
                <c:pt idx="9">
                  <c:v>15.384615384615385</c:v>
                </c:pt>
                <c:pt idx="10">
                  <c:v>17.948717948717949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CFA-4FC5-B0F3-F87F4CD8ABF5}"/>
            </c:ext>
          </c:extLst>
        </c:ser>
        <c:ser>
          <c:idx val="6"/>
          <c:order val="6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'[Tornado plot TRAEs.xlsx]Tornado plot 15%'!$M$28:$M$38</c:f>
              <c:strCache>
                <c:ptCount val="11"/>
                <c:pt idx="0">
                  <c:v>Nausea</c:v>
                </c:pt>
                <c:pt idx="1">
                  <c:v>Diarrhea</c:v>
                </c:pt>
                <c:pt idx="2">
                  <c:v>Fatigue</c:v>
                </c:pt>
                <c:pt idx="3">
                  <c:v>Vomiting</c:v>
                </c:pt>
                <c:pt idx="4">
                  <c:v>Vision blurred</c:v>
                </c:pt>
                <c:pt idx="5">
                  <c:v>ALT increased</c:v>
                </c:pt>
                <c:pt idx="6">
                  <c:v>AST increased</c:v>
                </c:pt>
                <c:pt idx="7">
                  <c:v>Anemia</c:v>
                </c:pt>
                <c:pt idx="8">
                  <c:v>Constipation</c:v>
                </c:pt>
                <c:pt idx="9">
                  <c:v>Pruritus</c:v>
                </c:pt>
                <c:pt idx="10">
                  <c:v>Asthenia </c:v>
                </c:pt>
              </c:strCache>
            </c:strRef>
          </c:cat>
          <c:val>
            <c:numRef>
              <c:f>'[Tornado plot TRAEs.xlsx]Tornado plot 15%'!$T$28:$T$38</c:f>
              <c:numCache>
                <c:formatCode>General</c:formatCode>
                <c:ptCount val="11"/>
                <c:pt idx="0">
                  <c:v>41.025641025641029</c:v>
                </c:pt>
                <c:pt idx="1">
                  <c:v>48.717948717948715</c:v>
                </c:pt>
                <c:pt idx="2">
                  <c:v>33.333333333333336</c:v>
                </c:pt>
                <c:pt idx="3">
                  <c:v>28.205128205128204</c:v>
                </c:pt>
                <c:pt idx="4">
                  <c:v>15.384615384615385</c:v>
                </c:pt>
                <c:pt idx="5">
                  <c:v>5.1282051282051286</c:v>
                </c:pt>
                <c:pt idx="6">
                  <c:v>5.1282051282051286</c:v>
                </c:pt>
                <c:pt idx="7">
                  <c:v>17.948717948717949</c:v>
                </c:pt>
                <c:pt idx="8">
                  <c:v>12.820512820512821</c:v>
                </c:pt>
                <c:pt idx="9">
                  <c:v>15.384615384615385</c:v>
                </c:pt>
                <c:pt idx="10">
                  <c:v>17.948717948717949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CFA-4FC5-B0F3-F87F4CD8ABF5}"/>
            </c:ext>
          </c:extLst>
        </c:ser>
        <c:ser>
          <c:idx val="7"/>
          <c:order val="7"/>
          <c:spPr>
            <a:solidFill>
              <a:srgbClr val="00344C"/>
            </a:solidFill>
            <a:ln>
              <a:noFill/>
            </a:ln>
            <a:effectLst/>
          </c:spPr>
          <c:invertIfNegative val="0"/>
          <c:cat>
            <c:strRef>
              <c:f>'[Tornado plot TRAEs.xlsx]Tornado plot 15%'!$M$28:$M$38</c:f>
              <c:strCache>
                <c:ptCount val="11"/>
                <c:pt idx="0">
                  <c:v>Nausea</c:v>
                </c:pt>
                <c:pt idx="1">
                  <c:v>Diarrhea</c:v>
                </c:pt>
                <c:pt idx="2">
                  <c:v>Fatigue</c:v>
                </c:pt>
                <c:pt idx="3">
                  <c:v>Vomiting</c:v>
                </c:pt>
                <c:pt idx="4">
                  <c:v>Vision blurred</c:v>
                </c:pt>
                <c:pt idx="5">
                  <c:v>ALT increased</c:v>
                </c:pt>
                <c:pt idx="6">
                  <c:v>AST increased</c:v>
                </c:pt>
                <c:pt idx="7">
                  <c:v>Anemia</c:v>
                </c:pt>
                <c:pt idx="8">
                  <c:v>Constipation</c:v>
                </c:pt>
                <c:pt idx="9">
                  <c:v>Pruritus</c:v>
                </c:pt>
                <c:pt idx="10">
                  <c:v>Asthenia </c:v>
                </c:pt>
              </c:strCache>
            </c:strRef>
          </c:cat>
          <c:val>
            <c:numRef>
              <c:f>'[Tornado plot TRAEs.xlsx]Tornado plot 15%'!$U$28:$U$38</c:f>
              <c:numCache>
                <c:formatCode>General</c:formatCode>
                <c:ptCount val="11"/>
                <c:pt idx="0">
                  <c:v>41.025641025641029</c:v>
                </c:pt>
                <c:pt idx="1">
                  <c:v>48.717948717948715</c:v>
                </c:pt>
                <c:pt idx="2">
                  <c:v>33.333333333333336</c:v>
                </c:pt>
                <c:pt idx="3">
                  <c:v>28.205128205128204</c:v>
                </c:pt>
                <c:pt idx="4">
                  <c:v>15.384615384615385</c:v>
                </c:pt>
                <c:pt idx="5">
                  <c:v>5.1282051282051286</c:v>
                </c:pt>
                <c:pt idx="6">
                  <c:v>5.1282051282051286</c:v>
                </c:pt>
                <c:pt idx="7">
                  <c:v>17.948717948717949</c:v>
                </c:pt>
                <c:pt idx="8">
                  <c:v>12.820512820512821</c:v>
                </c:pt>
                <c:pt idx="9">
                  <c:v>15.384615384615385</c:v>
                </c:pt>
                <c:pt idx="10">
                  <c:v>17.948717948717949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CFA-4FC5-B0F3-F87F4CD8ABF5}"/>
            </c:ext>
          </c:extLst>
        </c:ser>
        <c:ser>
          <c:idx val="8"/>
          <c:order val="8"/>
          <c:spPr>
            <a:solidFill>
              <a:srgbClr val="0071A4"/>
            </a:solidFill>
            <a:ln>
              <a:noFill/>
            </a:ln>
            <a:effectLst/>
          </c:spPr>
          <c:invertIfNegative val="0"/>
          <c:cat>
            <c:strRef>
              <c:f>'[Tornado plot TRAEs.xlsx]Tornado plot 15%'!$M$28:$M$38</c:f>
              <c:strCache>
                <c:ptCount val="11"/>
                <c:pt idx="0">
                  <c:v>Nausea</c:v>
                </c:pt>
                <c:pt idx="1">
                  <c:v>Diarrhea</c:v>
                </c:pt>
                <c:pt idx="2">
                  <c:v>Fatigue</c:v>
                </c:pt>
                <c:pt idx="3">
                  <c:v>Vomiting</c:v>
                </c:pt>
                <c:pt idx="4">
                  <c:v>Vision blurred</c:v>
                </c:pt>
                <c:pt idx="5">
                  <c:v>ALT increased</c:v>
                </c:pt>
                <c:pt idx="6">
                  <c:v>AST increased</c:v>
                </c:pt>
                <c:pt idx="7">
                  <c:v>Anemia</c:v>
                </c:pt>
                <c:pt idx="8">
                  <c:v>Constipation</c:v>
                </c:pt>
                <c:pt idx="9">
                  <c:v>Pruritus</c:v>
                </c:pt>
                <c:pt idx="10">
                  <c:v>Asthenia </c:v>
                </c:pt>
              </c:strCache>
            </c:strRef>
          </c:cat>
          <c:val>
            <c:numRef>
              <c:f>'[Tornado plot TRAEs.xlsx]Tornado plot 15%'!$V$28:$V$38</c:f>
              <c:numCache>
                <c:formatCode>General</c:formatCode>
                <c:ptCount val="11"/>
                <c:pt idx="0">
                  <c:v>38.461538461538467</c:v>
                </c:pt>
                <c:pt idx="1">
                  <c:v>46.153846153846153</c:v>
                </c:pt>
                <c:pt idx="2">
                  <c:v>28.205128205128204</c:v>
                </c:pt>
                <c:pt idx="3">
                  <c:v>28.205128205128204</c:v>
                </c:pt>
                <c:pt idx="4">
                  <c:v>15.384615384615385</c:v>
                </c:pt>
                <c:pt idx="5">
                  <c:v>2.5641025641025643</c:v>
                </c:pt>
                <c:pt idx="6">
                  <c:v>2.5641025641025643</c:v>
                </c:pt>
                <c:pt idx="7">
                  <c:v>15.384615384615385</c:v>
                </c:pt>
                <c:pt idx="8">
                  <c:v>12.820512820512821</c:v>
                </c:pt>
                <c:pt idx="9">
                  <c:v>15.384615384615385</c:v>
                </c:pt>
                <c:pt idx="10">
                  <c:v>12.820512820512821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CFA-4FC5-B0F3-F87F4CD8ABF5}"/>
            </c:ext>
          </c:extLst>
        </c:ser>
        <c:ser>
          <c:idx val="9"/>
          <c:order val="9"/>
          <c:spPr>
            <a:solidFill>
              <a:srgbClr val="009FE3"/>
            </a:solidFill>
            <a:ln>
              <a:noFill/>
            </a:ln>
            <a:effectLst/>
          </c:spPr>
          <c:invertIfNegative val="0"/>
          <c:cat>
            <c:strRef>
              <c:f>'[Tornado plot TRAEs.xlsx]Tornado plot 15%'!$M$28:$M$38</c:f>
              <c:strCache>
                <c:ptCount val="11"/>
                <c:pt idx="0">
                  <c:v>Nausea</c:v>
                </c:pt>
                <c:pt idx="1">
                  <c:v>Diarrhea</c:v>
                </c:pt>
                <c:pt idx="2">
                  <c:v>Fatigue</c:v>
                </c:pt>
                <c:pt idx="3">
                  <c:v>Vomiting</c:v>
                </c:pt>
                <c:pt idx="4">
                  <c:v>Vision blurred</c:v>
                </c:pt>
                <c:pt idx="5">
                  <c:v>ALT increased</c:v>
                </c:pt>
                <c:pt idx="6">
                  <c:v>AST increased</c:v>
                </c:pt>
                <c:pt idx="7">
                  <c:v>Anemia</c:v>
                </c:pt>
                <c:pt idx="8">
                  <c:v>Constipation</c:v>
                </c:pt>
                <c:pt idx="9">
                  <c:v>Pruritus</c:v>
                </c:pt>
                <c:pt idx="10">
                  <c:v>Asthenia </c:v>
                </c:pt>
              </c:strCache>
            </c:strRef>
          </c:cat>
          <c:val>
            <c:numRef>
              <c:f>'[Tornado plot TRAEs.xlsx]Tornado plot 15%'!$W$28:$W$38</c:f>
              <c:numCache>
                <c:formatCode>General</c:formatCode>
                <c:ptCount val="11"/>
                <c:pt idx="0">
                  <c:v>12.820512820512821</c:v>
                </c:pt>
                <c:pt idx="1">
                  <c:v>23.076923076923077</c:v>
                </c:pt>
                <c:pt idx="2">
                  <c:v>12.820512820512821</c:v>
                </c:pt>
                <c:pt idx="3">
                  <c:v>23.076923076923077</c:v>
                </c:pt>
                <c:pt idx="4">
                  <c:v>15.384615384615385</c:v>
                </c:pt>
                <c:pt idx="5">
                  <c:v>2.5641025641025643</c:v>
                </c:pt>
                <c:pt idx="6">
                  <c:v>2.5641025641025643</c:v>
                </c:pt>
                <c:pt idx="7">
                  <c:v>7.6923076923076925</c:v>
                </c:pt>
                <c:pt idx="8">
                  <c:v>10.256410256410257</c:v>
                </c:pt>
                <c:pt idx="9">
                  <c:v>12.820512820512821</c:v>
                </c:pt>
                <c:pt idx="10">
                  <c:v>10.256410256410257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3CFA-4FC5-B0F3-F87F4CD8AB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75585472"/>
        <c:axId val="1199949536"/>
      </c:barChart>
      <c:catAx>
        <c:axId val="275585472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199949536"/>
        <c:crosses val="autoZero"/>
        <c:auto val="1"/>
        <c:lblAlgn val="ctr"/>
        <c:lblOffset val="100"/>
        <c:noMultiLvlLbl val="0"/>
      </c:catAx>
      <c:valAx>
        <c:axId val="1199949536"/>
        <c:scaling>
          <c:orientation val="minMax"/>
          <c:min val="-60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75585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Franklin Gothic Book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C70490-A004-4E70-B243-A03CC10137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sz="800">
              <a:solidFill>
                <a:schemeClr val="bg2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1263F-4017-4AA5-B787-B3DCD024C3B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A858-8A8A-4357-95EF-8979BFBCB3AA}" type="datetimeFigureOut">
              <a:rPr lang="en-GB" sz="800" smtClean="0">
                <a:solidFill>
                  <a:schemeClr val="bg2"/>
                </a:solidFill>
              </a:rPr>
              <a:t>28/09/2026</a:t>
            </a:fld>
            <a:endParaRPr lang="en-GB" sz="800">
              <a:solidFill>
                <a:schemeClr val="bg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00CA21-639A-4928-B339-8919CC959D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sz="800">
              <a:solidFill>
                <a:schemeClr val="bg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65EDE-CDB2-47B0-B65E-8F8E02C4DF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0A66D-86A9-4BD7-BEF1-A8E20B3F0C7F}" type="slidenum">
              <a:rPr lang="en-GB" sz="800" smtClean="0">
                <a:solidFill>
                  <a:schemeClr val="bg2"/>
                </a:solidFill>
              </a:rPr>
              <a:t>‹#›</a:t>
            </a:fld>
            <a:endParaRPr lang="en-GB" sz="8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723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25B04D1A-91B0-4BDE-A6E8-D9A007134D33}" type="datetimeFigureOut">
              <a:rPr lang="en-GB" smtClean="0"/>
              <a:pPr/>
              <a:t>28/09/2026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9000" y="1143000"/>
            <a:ext cx="5400000" cy="3037500"/>
          </a:xfrm>
          <a:prstGeom prst="rect">
            <a:avLst/>
          </a:prstGeom>
          <a:noFill/>
          <a:ln w="12700">
            <a:solidFill>
              <a:schemeClr val="bg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 noChangeAspect="1"/>
          </p:cNvSpPr>
          <p:nvPr>
            <p:ph type="body" sz="quarter" idx="3"/>
          </p:nvPr>
        </p:nvSpPr>
        <p:spPr>
          <a:xfrm>
            <a:off x="728970" y="4391998"/>
            <a:ext cx="5400000" cy="35437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Main bullet</a:t>
            </a:r>
          </a:p>
          <a:p>
            <a:pPr lvl="2"/>
            <a:r>
              <a:rPr lang="en-US" dirty="0"/>
              <a:t>Sub bullet</a:t>
            </a:r>
          </a:p>
          <a:p>
            <a:pPr lvl="3"/>
            <a:r>
              <a:rPr lang="en-US" dirty="0"/>
              <a:t>SUBTITLE</a:t>
            </a:r>
          </a:p>
          <a:p>
            <a:pPr lvl="4"/>
            <a:r>
              <a:rPr lang="en-US" dirty="0"/>
              <a:t>Large text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2495409D-ABBF-4499-A42C-8099E62E99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4560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Bef>
        <a:spcPts val="500"/>
      </a:spcBef>
      <a:defRPr sz="1000" kern="1200">
        <a:solidFill>
          <a:schemeClr val="bg2"/>
        </a:solidFill>
        <a:latin typeface="+mn-lt"/>
        <a:ea typeface="+mn-ea"/>
        <a:cs typeface="+mn-cs"/>
      </a:defRPr>
    </a:lvl1pPr>
    <a:lvl2pPr marL="108000" indent="-108000" algn="l" defTabSz="914400" rtl="0" eaLnBrk="1" latinLnBrk="0" hangingPunct="1">
      <a:spcBef>
        <a:spcPts val="500"/>
      </a:spcBef>
      <a:buClr>
        <a:schemeClr val="tx2"/>
      </a:buClr>
      <a:buFont typeface="Franklin Gothic Medium" panose="020B0603020102020204" pitchFamily="34" charset="0"/>
      <a:buChar char="●"/>
      <a:defRPr sz="800" kern="1200">
        <a:solidFill>
          <a:schemeClr val="bg2"/>
        </a:solidFill>
        <a:latin typeface="+mn-lt"/>
        <a:ea typeface="+mn-ea"/>
        <a:cs typeface="+mn-cs"/>
      </a:defRPr>
    </a:lvl2pPr>
    <a:lvl3pPr marL="180000" indent="-72000" algn="l" defTabSz="914400" rtl="0" eaLnBrk="1" latinLnBrk="0" hangingPunct="1">
      <a:spcBef>
        <a:spcPts val="500"/>
      </a:spcBef>
      <a:buClrTx/>
      <a:buFont typeface="Franklin Gothic Book" panose="020B0503020102020204" pitchFamily="34" charset="0"/>
      <a:buChar char="–"/>
      <a:defRPr sz="800" kern="1200">
        <a:solidFill>
          <a:schemeClr val="bg2"/>
        </a:solidFill>
        <a:latin typeface="+mn-lt"/>
        <a:ea typeface="+mn-ea"/>
        <a:cs typeface="+mn-cs"/>
      </a:defRPr>
    </a:lvl3pPr>
    <a:lvl4pPr marL="0" indent="0" algn="l" defTabSz="914400" rtl="0" eaLnBrk="1" latinLnBrk="0" hangingPunct="1">
      <a:spcBef>
        <a:spcPts val="500"/>
      </a:spcBef>
      <a:defRPr sz="800" kern="1200" spc="100" baseline="0">
        <a:solidFill>
          <a:schemeClr val="tx2"/>
        </a:solidFill>
        <a:latin typeface="+mn-lt"/>
        <a:ea typeface="+mn-ea"/>
        <a:cs typeface="+mn-cs"/>
      </a:defRPr>
    </a:lvl4pPr>
    <a:lvl5pPr marL="0" indent="0" algn="l" defTabSz="914400" rtl="0" eaLnBrk="1" latinLnBrk="0" hangingPunct="1">
      <a:spcBef>
        <a:spcPts val="500"/>
      </a:spcBef>
      <a:defRPr sz="1000" b="0" kern="1200">
        <a:solidFill>
          <a:schemeClr val="bg2"/>
        </a:solidFill>
        <a:latin typeface="+mj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784" userDrawn="1">
          <p15:clr>
            <a:srgbClr val="5ACBF0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0250" y="1143000"/>
            <a:ext cx="5397500" cy="30368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NCCN Clin Info MH 3/28/23: this repeats slides 10, 18, 51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451F7-52E1-C340-B8D2-735D431758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15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0250" y="1143000"/>
            <a:ext cx="5397500" cy="30368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●"/>
              <a:tabLst>
                <a:tab pos="457200" algn="l"/>
              </a:tabLst>
            </a:pPr>
            <a:endParaRPr lang="en-US" sz="1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806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0250" y="1143000"/>
            <a:ext cx="5397500" cy="30368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096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0250" y="1143000"/>
            <a:ext cx="5397500" cy="30368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20</a:t>
            </a:fld>
            <a:endParaRPr lang="en-US" sz="1200" u="none" strike="noStrike" cap="none" dirty="0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0292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0250" y="1143000"/>
            <a:ext cx="5397500" cy="30368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9BF1FA-8E36-6346-9913-A15D9223FC9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29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0250" y="1143000"/>
            <a:ext cx="5397500" cy="30368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5409D-ABBF-4499-A42C-8099E62E99A5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132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30250" y="1143000"/>
            <a:ext cx="5397500" cy="3036888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30250" y="1143000"/>
            <a:ext cx="5397500" cy="3036888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 /su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929D2AC-990B-5FA4-62BA-6BA955B6E3B4}"/>
              </a:ext>
            </a:extLst>
          </p:cNvPr>
          <p:cNvSpPr/>
          <p:nvPr userDrawn="1"/>
        </p:nvSpPr>
        <p:spPr>
          <a:xfrm>
            <a:off x="0" y="4888540"/>
            <a:ext cx="12192000" cy="6788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52E680-7FE1-DE48-BCE1-88668E0330BF}"/>
              </a:ext>
            </a:extLst>
          </p:cNvPr>
          <p:cNvSpPr/>
          <p:nvPr userDrawn="1"/>
        </p:nvSpPr>
        <p:spPr>
          <a:xfrm>
            <a:off x="0" y="6179126"/>
            <a:ext cx="12192000" cy="678874"/>
          </a:xfrm>
          <a:prstGeom prst="rect">
            <a:avLst/>
          </a:prstGeom>
          <a:solidFill>
            <a:srgbClr val="FFFFFF">
              <a:alpha val="6431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56B43C79-E8BF-0D4A-B82F-EC0348166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54" y="5037741"/>
            <a:ext cx="12165693" cy="3877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Slide Deck Name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93BB4B6-95B8-F14B-B498-A2C01E67D4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92" y="6364398"/>
            <a:ext cx="5118049" cy="30469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Month XX, 2022</a:t>
            </a:r>
          </a:p>
        </p:txBody>
      </p:sp>
      <p:pic>
        <p:nvPicPr>
          <p:cNvPr id="6" name="Picture 5" descr="A poster for a cancer awareness event&#10;&#10;Description automatically generated">
            <a:extLst>
              <a:ext uri="{FF2B5EF4-FFF2-40B4-BE49-F238E27FC236}">
                <a16:creationId xmlns:a16="http://schemas.microsoft.com/office/drawing/2014/main" id="{1A963F2A-A669-DE4D-C111-8E77194848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07051" y="539331"/>
            <a:ext cx="5577898" cy="36146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FA20AE-F4DD-E87C-8514-4C1304FAC5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790328" y="6347432"/>
            <a:ext cx="1158342" cy="427913"/>
          </a:xfrm>
          <a:prstGeom prst="rect">
            <a:avLst/>
          </a:prstGeom>
        </p:spPr>
      </p:pic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8C67894-A96E-5E42-1B90-5EA8E2FA9CB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9890" y="6364398"/>
            <a:ext cx="1526189" cy="336584"/>
          </a:xfrm>
          <a:prstGeom prst="rect">
            <a:avLst/>
          </a:prstGeom>
        </p:spPr>
      </p:pic>
      <p:pic>
        <p:nvPicPr>
          <p:cNvPr id="7" name="Picture 6" descr="A white circle with gold text and blue text&#10;&#10;Description automatically generated">
            <a:extLst>
              <a:ext uri="{FF2B5EF4-FFF2-40B4-BE49-F238E27FC236}">
                <a16:creationId xmlns:a16="http://schemas.microsoft.com/office/drawing/2014/main" id="{CBF36326-566D-4F6C-E585-858CDCE543C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283941" y="437322"/>
            <a:ext cx="1532138" cy="15321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DC224D-9F2A-63B3-5E34-700D7984D34E}"/>
              </a:ext>
            </a:extLst>
          </p:cNvPr>
          <p:cNvSpPr txBox="1"/>
          <p:nvPr userDrawn="1"/>
        </p:nvSpPr>
        <p:spPr>
          <a:xfrm>
            <a:off x="10518454" y="207470"/>
            <a:ext cx="10631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spc="100" baseline="0" dirty="0">
                <a:solidFill>
                  <a:schemeClr val="bg2"/>
                </a:solidFill>
              </a:rPr>
              <a:t>Endorsed by</a:t>
            </a:r>
          </a:p>
        </p:txBody>
      </p:sp>
    </p:spTree>
    <p:extLst>
      <p:ext uri="{BB962C8B-B14F-4D97-AF65-F5344CB8AC3E}">
        <p14:creationId xmlns:p14="http://schemas.microsoft.com/office/powerpoint/2010/main" val="200965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3407">
          <p15:clr>
            <a:srgbClr val="FBAE40"/>
          </p15:clr>
        </p15:guide>
        <p15:guide id="3" orient="horz" pos="3861">
          <p15:clr>
            <a:srgbClr val="FBAE40"/>
          </p15:clr>
        </p15:guide>
        <p15:guide id="4" orient="horz" pos="1253" userDrawn="1">
          <p15:clr>
            <a:srgbClr val="9FCC3B"/>
          </p15:clr>
        </p15:guide>
        <p15:guide id="5" pos="3557" userDrawn="1">
          <p15:clr>
            <a:srgbClr val="9FCC3B"/>
          </p15:clr>
        </p15:guide>
        <p15:guide id="6" pos="4123" userDrawn="1">
          <p15:clr>
            <a:srgbClr val="9FCC3B"/>
          </p15:clr>
        </p15:guide>
        <p15:guide id="7" orient="horz" pos="1650" userDrawn="1">
          <p15:clr>
            <a:srgbClr val="9FCC3B"/>
          </p15:clr>
        </p15:guide>
        <p15:guide id="8" orient="horz" pos="1480" userDrawn="1">
          <p15:clr>
            <a:srgbClr val="9FCC3B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1 /su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52E680-7FE1-DE48-BCE1-88668E0330BF}"/>
              </a:ext>
            </a:extLst>
          </p:cNvPr>
          <p:cNvSpPr/>
          <p:nvPr userDrawn="1"/>
        </p:nvSpPr>
        <p:spPr>
          <a:xfrm>
            <a:off x="0" y="6179126"/>
            <a:ext cx="12192000" cy="678874"/>
          </a:xfrm>
          <a:prstGeom prst="rect">
            <a:avLst/>
          </a:prstGeom>
          <a:solidFill>
            <a:srgbClr val="FFFFFF">
              <a:alpha val="6431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93360C-FFE1-9243-A412-1B3116A81E0F}"/>
              </a:ext>
            </a:extLst>
          </p:cNvPr>
          <p:cNvSpPr/>
          <p:nvPr userDrawn="1"/>
        </p:nvSpPr>
        <p:spPr>
          <a:xfrm>
            <a:off x="0" y="2799198"/>
            <a:ext cx="12192000" cy="1895631"/>
          </a:xfrm>
          <a:prstGeom prst="rect">
            <a:avLst/>
          </a:prstGeom>
          <a:solidFill>
            <a:srgbClr val="1945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45C94D-AC51-0A44-B638-E4AE10D4C8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1786" y="3208269"/>
            <a:ext cx="11568429" cy="747897"/>
          </a:xfrm>
        </p:spPr>
        <p:txBody>
          <a:bodyPr anchor="b"/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Section divider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72D1C39-EA7D-6A45-86C6-56F7E8279C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1786" y="4030049"/>
            <a:ext cx="11568429" cy="332399"/>
          </a:xfrm>
        </p:spPr>
        <p:txBody>
          <a:bodyPr/>
          <a:lstStyle>
            <a:lvl1pPr marL="0" indent="0" algn="ctr">
              <a:buNone/>
              <a:defRPr sz="2400" spc="0" baseline="0">
                <a:solidFill>
                  <a:schemeClr val="accent4"/>
                </a:solidFill>
              </a:defRPr>
            </a:lvl1pPr>
            <a:lvl2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2pPr>
            <a:lvl3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Sub Text</a:t>
            </a:r>
          </a:p>
        </p:txBody>
      </p:sp>
      <p:pic>
        <p:nvPicPr>
          <p:cNvPr id="6" name="Picture 5" descr="A poster for a cancer awareness event&#10;&#10;Description automatically generated">
            <a:extLst>
              <a:ext uri="{FF2B5EF4-FFF2-40B4-BE49-F238E27FC236}">
                <a16:creationId xmlns:a16="http://schemas.microsoft.com/office/drawing/2014/main" id="{F5BFD7A2-574C-9D04-0E66-493721B979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4052" y="276624"/>
            <a:ext cx="3106677" cy="20132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2F7D2A-262E-C92C-E588-644C427435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790328" y="6347432"/>
            <a:ext cx="1158342" cy="427913"/>
          </a:xfrm>
          <a:prstGeom prst="rect">
            <a:avLst/>
          </a:prstGeom>
        </p:spPr>
      </p:pic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5E21791-E01F-9CC7-0F31-823CAC0E42F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9890" y="6364398"/>
            <a:ext cx="1526189" cy="33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849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3407">
          <p15:clr>
            <a:srgbClr val="FBAE40"/>
          </p15:clr>
        </p15:guide>
        <p15:guide id="3" orient="horz" pos="3861">
          <p15:clr>
            <a:srgbClr val="FBAE40"/>
          </p15:clr>
        </p15:guide>
        <p15:guide id="4" orient="horz" pos="1253" userDrawn="1">
          <p15:clr>
            <a:srgbClr val="9FCC3B"/>
          </p15:clr>
        </p15:guide>
        <p15:guide id="5" pos="3557" userDrawn="1">
          <p15:clr>
            <a:srgbClr val="9FCC3B"/>
          </p15:clr>
        </p15:guide>
        <p15:guide id="6" pos="4123" userDrawn="1">
          <p15:clr>
            <a:srgbClr val="9FCC3B"/>
          </p15:clr>
        </p15:guide>
        <p15:guide id="7" orient="horz" pos="1650" userDrawn="1">
          <p15:clr>
            <a:srgbClr val="9FCC3B"/>
          </p15:clr>
        </p15:guide>
        <p15:guide id="8" orient="horz" pos="1480" userDrawn="1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1 /su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52E680-7FE1-DE48-BCE1-88668E0330BF}"/>
              </a:ext>
            </a:extLst>
          </p:cNvPr>
          <p:cNvSpPr/>
          <p:nvPr userDrawn="1"/>
        </p:nvSpPr>
        <p:spPr>
          <a:xfrm>
            <a:off x="0" y="6179126"/>
            <a:ext cx="12192000" cy="678874"/>
          </a:xfrm>
          <a:prstGeom prst="rect">
            <a:avLst/>
          </a:prstGeom>
          <a:solidFill>
            <a:srgbClr val="FFFFFF">
              <a:alpha val="6431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93360C-FFE1-9243-A412-1B3116A81E0F}"/>
              </a:ext>
            </a:extLst>
          </p:cNvPr>
          <p:cNvSpPr/>
          <p:nvPr userDrawn="1"/>
        </p:nvSpPr>
        <p:spPr>
          <a:xfrm>
            <a:off x="0" y="2799198"/>
            <a:ext cx="12192000" cy="1895631"/>
          </a:xfrm>
          <a:prstGeom prst="rect">
            <a:avLst/>
          </a:prstGeom>
          <a:solidFill>
            <a:srgbClr val="1945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45C94D-AC51-0A44-B638-E4AE10D4C8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1786" y="3208269"/>
            <a:ext cx="11568429" cy="747897"/>
          </a:xfrm>
        </p:spPr>
        <p:txBody>
          <a:bodyPr anchor="b"/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Section divider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72D1C39-EA7D-6A45-86C6-56F7E8279C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1786" y="4030049"/>
            <a:ext cx="11568429" cy="332399"/>
          </a:xfrm>
        </p:spPr>
        <p:txBody>
          <a:bodyPr/>
          <a:lstStyle>
            <a:lvl1pPr marL="0" indent="0" algn="ctr">
              <a:buNone/>
              <a:defRPr sz="2400" spc="0" baseline="0">
                <a:solidFill>
                  <a:schemeClr val="accent4"/>
                </a:solidFill>
              </a:defRPr>
            </a:lvl1pPr>
            <a:lvl2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2pPr>
            <a:lvl3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Sub Text</a:t>
            </a:r>
          </a:p>
        </p:txBody>
      </p:sp>
      <p:pic>
        <p:nvPicPr>
          <p:cNvPr id="6" name="Picture 5" descr="A poster for a cancer awareness event&#10;&#10;Description automatically generated">
            <a:extLst>
              <a:ext uri="{FF2B5EF4-FFF2-40B4-BE49-F238E27FC236}">
                <a16:creationId xmlns:a16="http://schemas.microsoft.com/office/drawing/2014/main" id="{F5BFD7A2-574C-9D04-0E66-493721B979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4052" y="276624"/>
            <a:ext cx="3106677" cy="20132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2F7D2A-262E-C92C-E588-644C427435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790328" y="6347432"/>
            <a:ext cx="1158342" cy="427913"/>
          </a:xfrm>
          <a:prstGeom prst="rect">
            <a:avLst/>
          </a:prstGeom>
        </p:spPr>
      </p:pic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5E21791-E01F-9CC7-0F31-823CAC0E42F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9890" y="6364398"/>
            <a:ext cx="1526189" cy="336584"/>
          </a:xfrm>
          <a:prstGeom prst="rect">
            <a:avLst/>
          </a:prstGeom>
        </p:spPr>
      </p:pic>
      <p:pic>
        <p:nvPicPr>
          <p:cNvPr id="5" name="Picture 4" descr="A white circle with gold text and blue text&#10;&#10;Description automatically generated">
            <a:extLst>
              <a:ext uri="{FF2B5EF4-FFF2-40B4-BE49-F238E27FC236}">
                <a16:creationId xmlns:a16="http://schemas.microsoft.com/office/drawing/2014/main" id="{A9C6653E-D337-6C0C-DE42-103D1A8508F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283941" y="437322"/>
            <a:ext cx="1532138" cy="15321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5A60FB-4559-3FA8-6A0B-993FB119CE23}"/>
              </a:ext>
            </a:extLst>
          </p:cNvPr>
          <p:cNvSpPr txBox="1"/>
          <p:nvPr userDrawn="1"/>
        </p:nvSpPr>
        <p:spPr>
          <a:xfrm>
            <a:off x="10518454" y="207470"/>
            <a:ext cx="10631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i="1" spc="100" baseline="0" dirty="0">
                <a:solidFill>
                  <a:schemeClr val="bg2"/>
                </a:solidFill>
              </a:rPr>
              <a:t>Endorsed by</a:t>
            </a:r>
          </a:p>
        </p:txBody>
      </p:sp>
    </p:spTree>
    <p:extLst>
      <p:ext uri="{BB962C8B-B14F-4D97-AF65-F5344CB8AC3E}">
        <p14:creationId xmlns:p14="http://schemas.microsoft.com/office/powerpoint/2010/main" val="165208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3407">
          <p15:clr>
            <a:srgbClr val="FBAE40"/>
          </p15:clr>
        </p15:guide>
        <p15:guide id="3" orient="horz" pos="3861">
          <p15:clr>
            <a:srgbClr val="FBAE40"/>
          </p15:clr>
        </p15:guide>
        <p15:guide id="4" orient="horz" pos="1253">
          <p15:clr>
            <a:srgbClr val="9FCC3B"/>
          </p15:clr>
        </p15:guide>
        <p15:guide id="5" pos="3557">
          <p15:clr>
            <a:srgbClr val="9FCC3B"/>
          </p15:clr>
        </p15:guide>
        <p15:guide id="6" pos="4123">
          <p15:clr>
            <a:srgbClr val="9FCC3B"/>
          </p15:clr>
        </p15:guide>
        <p15:guide id="7" orient="horz" pos="1650">
          <p15:clr>
            <a:srgbClr val="9FCC3B"/>
          </p15:clr>
        </p15:guide>
        <p15:guide id="8" orient="horz" pos="1480">
          <p15:clr>
            <a:srgbClr val="9FCC3B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title /high 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DB98-8BD4-4539-A4A1-4EFD0A11EE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56676"/>
            <a:ext cx="11160125" cy="44319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 (one line)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B18743-309D-45FF-8565-9574CE563F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7" y="225540"/>
            <a:ext cx="1074012" cy="180049"/>
          </a:xfrm>
        </p:spPr>
        <p:txBody>
          <a:bodyPr wrap="none" anchor="b" anchorCtr="0">
            <a:spAutoFit/>
          </a:bodyPr>
          <a:lstStyle>
            <a:lvl1pPr>
              <a:defRPr sz="1300" spc="0" baseline="0">
                <a:solidFill>
                  <a:srgbClr val="A9AAAA"/>
                </a:solidFill>
                <a:latin typeface="+mj-lt"/>
              </a:defRPr>
            </a:lvl1pPr>
          </a:lstStyle>
          <a:p>
            <a:pPr lvl="0"/>
            <a:r>
              <a:rPr lang="en-GB"/>
              <a:t>Section header</a:t>
            </a:r>
            <a:endParaRPr lang="en-GB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BE5DDDAB-0C6C-3D4B-8C7C-7F80F1D245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5534603"/>
            <a:ext cx="9720000" cy="234423"/>
          </a:xfrm>
        </p:spPr>
        <p:txBody>
          <a:bodyPr anchor="b" anchorCtr="0"/>
          <a:lstStyle>
            <a:lvl1pPr>
              <a:spcBef>
                <a:spcPts val="100"/>
              </a:spcBef>
              <a:defRPr sz="800" spc="0">
                <a:solidFill>
                  <a:srgbClr val="8C8E8D"/>
                </a:solidFill>
                <a:latin typeface="+mn-lt"/>
              </a:defRPr>
            </a:lvl1pPr>
            <a:lvl2pPr>
              <a:spcBef>
                <a:spcPts val="100"/>
              </a:spcBef>
              <a:defRPr sz="800" spc="0">
                <a:solidFill>
                  <a:srgbClr val="8C8E8D"/>
                </a:solidFill>
                <a:latin typeface="+mj-lt"/>
              </a:defRPr>
            </a:lvl2pPr>
            <a:lvl3pPr>
              <a:defRPr sz="800">
                <a:solidFill>
                  <a:schemeClr val="bg2"/>
                </a:solidFill>
              </a:defRPr>
            </a:lvl3pPr>
            <a:lvl4pPr>
              <a:defRPr sz="800">
                <a:solidFill>
                  <a:schemeClr val="bg2"/>
                </a:solidFill>
              </a:defRPr>
            </a:lvl4pPr>
            <a:lvl5pPr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Source note style #1. Use semi-colons to separate content and commas for abbreviations. No full stop required at end</a:t>
            </a:r>
          </a:p>
          <a:p>
            <a:pPr lvl="1"/>
            <a:r>
              <a:rPr lang="en-GB" dirty="0"/>
              <a:t>Source note style #2. Use semi-colons to separate content and commas for abbreviations. No full stop required at 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4F6F99-F9BD-7047-9C11-178942DE800A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684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32" userDrawn="1">
          <p15:clr>
            <a:srgbClr val="9FCC3B"/>
          </p15:clr>
        </p15:guide>
        <p15:guide id="8" orient="horz" pos="3917" userDrawn="1">
          <p15:clr>
            <a:srgbClr val="9FCC3B"/>
          </p15:clr>
        </p15:guide>
        <p15:guide id="10" pos="949" userDrawn="1">
          <p15:clr>
            <a:srgbClr val="9FCC3B"/>
          </p15:clr>
        </p15:guide>
        <p15:guide id="11" orient="horz" pos="686" userDrawn="1">
          <p15:clr>
            <a:srgbClr val="9FCC3B"/>
          </p15:clr>
        </p15:guide>
        <p15:guide id="12" orient="horz" pos="573" userDrawn="1">
          <p15:clr>
            <a:srgbClr val="9FCC3B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1 /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DB98-8BD4-4539-A4A1-4EFD0A11EE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Title (two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B4F79-1B18-4439-BF81-7C9E8D9636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5937" y="1574066"/>
            <a:ext cx="11160125" cy="135370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buClr>
                <a:schemeClr val="accent1"/>
              </a:buClr>
              <a:defRPr/>
            </a:lvl3pPr>
            <a:lvl4pPr>
              <a:defRPr/>
            </a:lvl4pPr>
            <a:lvl5pPr>
              <a:defRPr/>
            </a:lvl5pPr>
          </a:lstStyle>
          <a:p>
            <a:pPr lvl="1"/>
            <a:r>
              <a:rPr lang="en-GB" dirty="0"/>
              <a:t>Body text</a:t>
            </a:r>
          </a:p>
          <a:p>
            <a:pPr lvl="2"/>
            <a:r>
              <a:rPr lang="en-GB" dirty="0"/>
              <a:t>Main bullet</a:t>
            </a:r>
          </a:p>
          <a:p>
            <a:pPr lvl="3"/>
            <a:r>
              <a:rPr lang="en-GB" dirty="0"/>
              <a:t>Sub bullet</a:t>
            </a:r>
          </a:p>
          <a:p>
            <a:pPr lvl="4"/>
            <a:r>
              <a:rPr lang="en-GB" dirty="0"/>
              <a:t>Mini bullet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B18743-309D-45FF-8565-9574CE563F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7" y="225540"/>
            <a:ext cx="1074012" cy="180049"/>
          </a:xfrm>
        </p:spPr>
        <p:txBody>
          <a:bodyPr wrap="none" anchor="b" anchorCtr="0">
            <a:spAutoFit/>
          </a:bodyPr>
          <a:lstStyle>
            <a:lvl1pPr>
              <a:defRPr sz="1300" spc="0" baseline="0">
                <a:solidFill>
                  <a:srgbClr val="A9AAAA"/>
                </a:solidFill>
                <a:latin typeface="+mj-lt"/>
              </a:defRPr>
            </a:lvl1pPr>
          </a:lstStyle>
          <a:p>
            <a:pPr lvl="0"/>
            <a:r>
              <a:rPr lang="en-GB"/>
              <a:t>Section header</a:t>
            </a:r>
            <a:endParaRPr lang="en-GB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F761F65-4594-D245-AE50-B4D43F2FC5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5534603"/>
            <a:ext cx="9720000" cy="234423"/>
          </a:xfrm>
        </p:spPr>
        <p:txBody>
          <a:bodyPr anchor="b" anchorCtr="0"/>
          <a:lstStyle>
            <a:lvl1pPr>
              <a:spcBef>
                <a:spcPts val="100"/>
              </a:spcBef>
              <a:defRPr sz="800" spc="0">
                <a:solidFill>
                  <a:srgbClr val="8C8E8D"/>
                </a:solidFill>
                <a:latin typeface="+mn-lt"/>
              </a:defRPr>
            </a:lvl1pPr>
            <a:lvl2pPr>
              <a:spcBef>
                <a:spcPts val="100"/>
              </a:spcBef>
              <a:defRPr sz="800" spc="0">
                <a:solidFill>
                  <a:srgbClr val="8C8E8D"/>
                </a:solidFill>
                <a:latin typeface="+mj-lt"/>
              </a:defRPr>
            </a:lvl2pPr>
            <a:lvl3pPr>
              <a:defRPr sz="800">
                <a:solidFill>
                  <a:schemeClr val="bg2"/>
                </a:solidFill>
              </a:defRPr>
            </a:lvl3pPr>
            <a:lvl4pPr>
              <a:defRPr sz="800">
                <a:solidFill>
                  <a:schemeClr val="bg2"/>
                </a:solidFill>
              </a:defRPr>
            </a:lvl4pPr>
            <a:lvl5pPr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Source note style #1. Use semi-colons to separate content and commas for abbreviations. No full stop required at end</a:t>
            </a:r>
          </a:p>
          <a:p>
            <a:pPr lvl="1"/>
            <a:r>
              <a:rPr lang="en-GB" dirty="0"/>
              <a:t>Source note style #2. Use semi-colons to separate content and commas for abbreviations. No full stop required at end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053CDE-15DF-794F-8850-E6F9EE0D57C1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428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32" userDrawn="1">
          <p15:clr>
            <a:srgbClr val="9FCC3B"/>
          </p15:clr>
        </p15:guide>
        <p15:guide id="8" orient="horz" pos="3917" userDrawn="1">
          <p15:clr>
            <a:srgbClr val="9FCC3B"/>
          </p15:clr>
        </p15:guide>
        <p15:guide id="9" orient="horz" pos="743" userDrawn="1">
          <p15:clr>
            <a:srgbClr val="9FCC3B"/>
          </p15:clr>
        </p15:guide>
        <p15:guide id="10" orient="horz" pos="1026" userDrawn="1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le /high 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DB98-8BD4-4539-A4A1-4EFD0A11EE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56676"/>
            <a:ext cx="11160125" cy="44319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 (one line)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B18743-309D-45FF-8565-9574CE563F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7" y="225540"/>
            <a:ext cx="1074012" cy="180049"/>
          </a:xfrm>
        </p:spPr>
        <p:txBody>
          <a:bodyPr wrap="none" anchor="b" anchorCtr="0">
            <a:spAutoFit/>
          </a:bodyPr>
          <a:lstStyle>
            <a:lvl1pPr>
              <a:defRPr sz="1300" spc="0" baseline="0">
                <a:solidFill>
                  <a:srgbClr val="A9AAAA"/>
                </a:solidFill>
                <a:latin typeface="+mj-lt"/>
              </a:defRPr>
            </a:lvl1pPr>
          </a:lstStyle>
          <a:p>
            <a:pPr lvl="0"/>
            <a:r>
              <a:rPr lang="en-GB"/>
              <a:t>Section header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EEEF3B-D0FF-4A87-BB1F-6FC2F87B8738}"/>
              </a:ext>
            </a:extLst>
          </p:cNvPr>
          <p:cNvCxnSpPr/>
          <p:nvPr userDrawn="1"/>
        </p:nvCxnSpPr>
        <p:spPr>
          <a:xfrm>
            <a:off x="515938" y="1088974"/>
            <a:ext cx="10800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B45E1DC-D0EC-644D-815A-6F39210C6E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5937" y="1277079"/>
            <a:ext cx="11160125" cy="135370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1"/>
            <a:r>
              <a:rPr lang="en-GB" dirty="0"/>
              <a:t>Body text</a:t>
            </a:r>
          </a:p>
          <a:p>
            <a:pPr lvl="2"/>
            <a:r>
              <a:rPr lang="en-GB" dirty="0"/>
              <a:t>Main bullet</a:t>
            </a:r>
          </a:p>
          <a:p>
            <a:pPr lvl="3"/>
            <a:r>
              <a:rPr lang="en-GB" dirty="0"/>
              <a:t>Sub bullet</a:t>
            </a:r>
          </a:p>
          <a:p>
            <a:pPr lvl="4"/>
            <a:r>
              <a:rPr lang="en-GB" dirty="0"/>
              <a:t>Mini bullet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FF23C8-70F9-EC43-A291-AC65AFBEE6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5534603"/>
            <a:ext cx="9720000" cy="234423"/>
          </a:xfrm>
        </p:spPr>
        <p:txBody>
          <a:bodyPr anchor="b" anchorCtr="0"/>
          <a:lstStyle>
            <a:lvl1pPr>
              <a:spcBef>
                <a:spcPts val="100"/>
              </a:spcBef>
              <a:defRPr sz="800" spc="0">
                <a:solidFill>
                  <a:srgbClr val="8C8E8D"/>
                </a:solidFill>
                <a:latin typeface="+mn-lt"/>
              </a:defRPr>
            </a:lvl1pPr>
            <a:lvl2pPr>
              <a:spcBef>
                <a:spcPts val="100"/>
              </a:spcBef>
              <a:defRPr sz="800" spc="0">
                <a:solidFill>
                  <a:srgbClr val="8C8E8D"/>
                </a:solidFill>
                <a:latin typeface="+mj-lt"/>
              </a:defRPr>
            </a:lvl2pPr>
            <a:lvl3pPr>
              <a:defRPr sz="800">
                <a:solidFill>
                  <a:schemeClr val="bg2"/>
                </a:solidFill>
              </a:defRPr>
            </a:lvl3pPr>
            <a:lvl4pPr>
              <a:defRPr sz="800">
                <a:solidFill>
                  <a:schemeClr val="bg2"/>
                </a:solidFill>
              </a:defRPr>
            </a:lvl4pPr>
            <a:lvl5pPr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Source note style #1. Use semi-colons to separate content and commas for abbreviations. No full stop required at end</a:t>
            </a:r>
          </a:p>
          <a:p>
            <a:pPr lvl="1"/>
            <a:r>
              <a:rPr lang="en-GB" dirty="0"/>
              <a:t>Source note style #2. Use semi-colons to separate content and commas for abbreviations. No full stop required at 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0DAC6C-BE8F-A541-BEA3-C4137AA67614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24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32" userDrawn="1">
          <p15:clr>
            <a:srgbClr val="9FCC3B"/>
          </p15:clr>
        </p15:guide>
        <p15:guide id="8" orient="horz" pos="3917" userDrawn="1">
          <p15:clr>
            <a:srgbClr val="9FCC3B"/>
          </p15:clr>
        </p15:guide>
        <p15:guide id="10" pos="949" userDrawn="1">
          <p15:clr>
            <a:srgbClr val="9FCC3B"/>
          </p15:clr>
        </p15:guide>
        <p15:guide id="11" orient="horz" pos="686" userDrawn="1">
          <p15:clr>
            <a:srgbClr val="9FCC3B"/>
          </p15:clr>
        </p15:guide>
        <p15:guide id="12" orient="horz" pos="573" userDrawn="1">
          <p15:clr>
            <a:srgbClr val="9FCC3B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/log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FF2D62-F486-EE49-9D06-4BCB89BBBE42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6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0AA243-C3DC-E548-A18F-56B4081F92AE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FF4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73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0755A1-263A-3047-860B-B811081C9C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523A240F-EAFE-E84F-B44C-6D7A08E0E40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note Placeholder">
            <a:extLst>
              <a:ext uri="{FF2B5EF4-FFF2-40B4-BE49-F238E27FC236}">
                <a16:creationId xmlns:a16="http://schemas.microsoft.com/office/drawing/2014/main" id="{5157959E-651B-B14F-BA5B-24DA1DB0858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12064" y="6126480"/>
            <a:ext cx="4434840" cy="245223"/>
          </a:xfrm>
        </p:spPr>
        <p:txBody>
          <a:bodyPr anchor="b"/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a footnote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Slide title; Arial 32pt bold, sentence case. This layout accommodates a title that extends downward to a 2nd line.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Click to type text. To activate sub-level formatting, place cursor at beginning of text/line and hit tab or shift tab. Click icon for chart or table.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6694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2736B9-5652-416D-AC7F-F0BB790DA8B8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0981996" y="6214600"/>
            <a:ext cx="731600" cy="524800"/>
          </a:xfrm>
          <a:prstGeom prst="rect">
            <a:avLst/>
          </a:prstGeom>
        </p:spPr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E22370-AD78-45E2-B6CC-8503ACF85D3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6402" y="1092200"/>
            <a:ext cx="5486399" cy="5029200"/>
          </a:xfrm>
        </p:spPr>
        <p:txBody>
          <a:bodyPr>
            <a:normAutofit/>
          </a:bodyPr>
          <a:lstStyle>
            <a:lvl1pPr marL="304784" indent="-304784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535491" indent="-232822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ct val="90000"/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759846" indent="-224356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ct val="90000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 marL="916472" indent="-156625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ct val="90000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 marL="1140826" indent="-224356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2716E615-B81F-44BC-BB03-07FFBB221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99688"/>
            <a:ext cx="11379200" cy="768096"/>
          </a:xfrm>
        </p:spPr>
        <p:txBody>
          <a:bodyPr lIns="91440" tIns="0" bIns="0" anchor="ctr"/>
          <a:lstStyle>
            <a:lvl1pPr>
              <a:defRPr sz="23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721C8-24FD-785E-CEFE-855426D29A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6400" y="6214600"/>
            <a:ext cx="10464800" cy="524800"/>
          </a:xfrm>
        </p:spPr>
        <p:txBody>
          <a:bodyPr tIns="0" bIns="0" anchor="b"/>
          <a:lstStyle>
            <a:lvl1pPr marL="0" indent="0">
              <a:buNone/>
              <a:defRPr sz="933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EC17F42-6A38-ED8E-8E62-1086172FCA7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9201" y="1092200"/>
            <a:ext cx="5486401" cy="5029200"/>
          </a:xfrm>
        </p:spPr>
        <p:txBody>
          <a:bodyPr/>
          <a:lstStyle>
            <a:lvl1pPr marL="304784" indent="-304784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535491" indent="-232822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ct val="90000"/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759846" indent="-224356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ct val="90000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 marL="916472" indent="-156625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ct val="90000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 marL="1140826" indent="-224356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70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Text" userDrawn="1">
  <p:cSld name="3_Title and Text">
    <p:bg>
      <p:bgPr>
        <a:solidFill>
          <a:srgbClr val="FFFFFF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 txBox="1">
            <a:spLocks noGrp="1"/>
          </p:cNvSpPr>
          <p:nvPr>
            <p:ph type="subTitle" idx="2"/>
          </p:nvPr>
        </p:nvSpPr>
        <p:spPr>
          <a:xfrm>
            <a:off x="479999" y="944311"/>
            <a:ext cx="112132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05416B"/>
              </a:buClr>
              <a:buSzPts val="700"/>
              <a:buFont typeface="Noto Sans Symbols"/>
              <a:buNone/>
              <a:defRPr sz="2667" b="0" i="0" u="none" strike="noStrike" cap="none">
                <a:solidFill>
                  <a:srgbClr val="5F5D8E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560"/>
              <a:buFont typeface="Noto Sans Symbols"/>
              <a:buNone/>
              <a:defRPr sz="2133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560"/>
              <a:buFont typeface="Noto Sans Symbols"/>
              <a:buNone/>
              <a:defRPr sz="2133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667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667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667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667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667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667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3" name="Google Shape;18;p14">
            <a:extLst>
              <a:ext uri="{FF2B5EF4-FFF2-40B4-BE49-F238E27FC236}">
                <a16:creationId xmlns:a16="http://schemas.microsoft.com/office/drawing/2014/main" id="{329DFE97-3C37-2843-919B-76136B9C955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79999" y="368311"/>
            <a:ext cx="1121302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5416B"/>
              </a:buClr>
              <a:buSzPts val="1400"/>
              <a:buFont typeface="Arial"/>
              <a:buNone/>
              <a:defRPr sz="3733" b="1" i="0" u="none" strike="noStrike" cap="none">
                <a:solidFill>
                  <a:srgbClr val="5F5D8E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333" b="1" i="0" u="none" strike="noStrike" cap="none">
                <a:solidFill>
                  <a:srgbClr val="81104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333" b="1" i="0" u="none" strike="noStrike" cap="none">
                <a:solidFill>
                  <a:srgbClr val="81104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333" b="1" i="0" u="none" strike="noStrike" cap="none">
                <a:solidFill>
                  <a:srgbClr val="81104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333" b="1" i="0" u="none" strike="noStrike" cap="none">
                <a:solidFill>
                  <a:srgbClr val="81104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333" b="1" i="0" u="none" strike="noStrike" cap="none">
                <a:solidFill>
                  <a:srgbClr val="81104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333" b="1" i="0" u="none" strike="noStrike" cap="none">
                <a:solidFill>
                  <a:srgbClr val="81104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333" b="1" i="0" u="none" strike="noStrike" cap="none">
                <a:solidFill>
                  <a:srgbClr val="81104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333" b="1" i="0" u="none" strike="noStrike" cap="none">
                <a:solidFill>
                  <a:srgbClr val="81104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4" name="Google Shape;17;p14">
            <a:extLst>
              <a:ext uri="{FF2B5EF4-FFF2-40B4-BE49-F238E27FC236}">
                <a16:creationId xmlns:a16="http://schemas.microsoft.com/office/drawing/2014/main" id="{57D9B4DA-E208-4D4F-A1E1-2BB4BA0AFE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0433" y="1730103"/>
            <a:ext cx="11213200" cy="4273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05416B"/>
              </a:buClr>
              <a:buSzPts val="1600"/>
              <a:buFont typeface="Arial" panose="020B0604020202020204" pitchFamily="34" charset="0"/>
              <a:buNone/>
              <a:defRPr sz="2133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1219170" marR="0" lvl="1" indent="-440256" algn="l" rtl="0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05416B"/>
              </a:buClr>
              <a:buSzPts val="1600"/>
              <a:buFont typeface="Noto Sans Symbols"/>
              <a:buChar char="◆"/>
              <a:defRPr sz="2133" b="0" i="0" u="none" strike="noStrike" cap="none">
                <a:solidFill>
                  <a:srgbClr val="05416B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828754" marR="0" lvl="2" indent="-440256" algn="l" rtl="0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05416B"/>
              </a:buClr>
              <a:buSzPts val="1600"/>
              <a:buFont typeface="Noto Sans Symbols"/>
              <a:buChar char="◆"/>
              <a:defRPr sz="2133" b="0" i="0" u="none" strike="noStrike" cap="none">
                <a:solidFill>
                  <a:srgbClr val="05416B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2438339" marR="0" lvl="3" indent="-440256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05416B"/>
              </a:buClr>
              <a:buSzPts val="1600"/>
              <a:buFont typeface="Arial"/>
              <a:buChar char="–"/>
              <a:defRPr sz="2133" b="0" i="0" u="none" strike="noStrike" cap="none">
                <a:solidFill>
                  <a:srgbClr val="05416B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3047924" marR="0" lvl="4" indent="-440256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05416B"/>
              </a:buClr>
              <a:buSzPts val="1600"/>
              <a:buFont typeface="Arial"/>
              <a:buChar char="»"/>
              <a:defRPr sz="2133" b="0" i="0" u="none" strike="noStrike" cap="none">
                <a:solidFill>
                  <a:srgbClr val="05416B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657509" marR="0" lvl="5" indent="-440256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05416B"/>
              </a:buClr>
              <a:buSzPts val="1600"/>
              <a:buFont typeface="Arial"/>
              <a:buChar char="•"/>
              <a:defRPr sz="2133" b="0" i="0" u="none" strike="noStrike" cap="none">
                <a:solidFill>
                  <a:srgbClr val="05416B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4267093" marR="0" lvl="6" indent="-440256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05416B"/>
              </a:buClr>
              <a:buSzPts val="1600"/>
              <a:buFont typeface="Arial"/>
              <a:buChar char="•"/>
              <a:defRPr sz="2133" b="0" i="0" u="none" strike="noStrike" cap="none">
                <a:solidFill>
                  <a:srgbClr val="05416B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876678" marR="0" lvl="7" indent="-440256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05416B"/>
              </a:buClr>
              <a:buSzPts val="1600"/>
              <a:buFont typeface="Arial"/>
              <a:buChar char="•"/>
              <a:defRPr sz="2133" b="0" i="0" u="none" strike="noStrike" cap="none">
                <a:solidFill>
                  <a:srgbClr val="05416B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5486263" marR="0" lvl="8" indent="-440256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05416B"/>
              </a:buClr>
              <a:buSzPts val="1600"/>
              <a:buFont typeface="Arial"/>
              <a:buChar char="●"/>
              <a:defRPr sz="2133" b="0" i="0" u="none" strike="noStrike" cap="none">
                <a:solidFill>
                  <a:srgbClr val="05416B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CA22DB6-01FE-B574-F4D9-9A33C489CE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265" y="6248188"/>
            <a:ext cx="1843200" cy="31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28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935">
          <p15:clr>
            <a:srgbClr val="FBAE40"/>
          </p15:clr>
        </p15:guide>
        <p15:guide id="3" orient="horz" pos="3094">
          <p15:clr>
            <a:srgbClr val="FBAE40"/>
          </p15:clr>
        </p15:guide>
        <p15:guide id="4" pos="226">
          <p15:clr>
            <a:srgbClr val="FBAE40"/>
          </p15:clr>
        </p15:guide>
        <p15:guide id="5" pos="5534">
          <p15:clr>
            <a:srgbClr val="FBAE40"/>
          </p15:clr>
        </p15:guide>
        <p15:guide id="6" orient="horz" pos="16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410C5-1542-F935-82DF-ECC4FA0D1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583161"/>
            <a:ext cx="11360150" cy="718589"/>
          </a:xfrm>
        </p:spPr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FED71-35A9-B4FE-92E4-9A879A3E0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50" y="1301751"/>
            <a:ext cx="11360150" cy="43942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3DB0BBA-3575-59A7-63B5-E7386CDE80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8150" y="5949814"/>
            <a:ext cx="11360150" cy="558800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800"/>
            </a:lvl1pPr>
            <a:lvl2pPr marL="457200" indent="0">
              <a:buNone/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91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 /su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929D2AC-990B-5FA4-62BA-6BA955B6E3B4}"/>
              </a:ext>
            </a:extLst>
          </p:cNvPr>
          <p:cNvSpPr/>
          <p:nvPr userDrawn="1"/>
        </p:nvSpPr>
        <p:spPr>
          <a:xfrm>
            <a:off x="0" y="4888540"/>
            <a:ext cx="12192000" cy="6788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52E680-7FE1-DE48-BCE1-88668E0330BF}"/>
              </a:ext>
            </a:extLst>
          </p:cNvPr>
          <p:cNvSpPr/>
          <p:nvPr userDrawn="1"/>
        </p:nvSpPr>
        <p:spPr>
          <a:xfrm>
            <a:off x="0" y="6179126"/>
            <a:ext cx="12192000" cy="678874"/>
          </a:xfrm>
          <a:prstGeom prst="rect">
            <a:avLst/>
          </a:prstGeom>
          <a:solidFill>
            <a:srgbClr val="FFFFFF">
              <a:alpha val="6431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56B43C79-E8BF-0D4A-B82F-EC0348166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54" y="5037741"/>
            <a:ext cx="12165693" cy="3877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Slide Deck Name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93BB4B6-95B8-F14B-B498-A2C01E67D4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92" y="6364398"/>
            <a:ext cx="5118049" cy="30469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Month XX, 2022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63F2A-A669-DE4D-C111-8E77194848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775190" y="622422"/>
            <a:ext cx="6641619" cy="40772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FA20AE-F4DD-E87C-8514-4C1304FAC5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790328" y="6347432"/>
            <a:ext cx="1158342" cy="427913"/>
          </a:xfrm>
          <a:prstGeom prst="rect">
            <a:avLst/>
          </a:prstGeom>
        </p:spPr>
      </p:pic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8C67894-A96E-5E42-1B90-5EA8E2FA9CB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9890" y="6364398"/>
            <a:ext cx="1526189" cy="33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791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3407">
          <p15:clr>
            <a:srgbClr val="FBAE40"/>
          </p15:clr>
        </p15:guide>
        <p15:guide id="3" orient="horz" pos="3861">
          <p15:clr>
            <a:srgbClr val="FBAE40"/>
          </p15:clr>
        </p15:guide>
        <p15:guide id="4" orient="horz" pos="1253">
          <p15:clr>
            <a:srgbClr val="9FCC3B"/>
          </p15:clr>
        </p15:guide>
        <p15:guide id="5" pos="3557">
          <p15:clr>
            <a:srgbClr val="9FCC3B"/>
          </p15:clr>
        </p15:guide>
        <p15:guide id="6" pos="4123">
          <p15:clr>
            <a:srgbClr val="9FCC3B"/>
          </p15:clr>
        </p15:guide>
        <p15:guide id="7" orient="horz" pos="1650">
          <p15:clr>
            <a:srgbClr val="9FCC3B"/>
          </p15:clr>
        </p15:guide>
        <p15:guide id="8" orient="horz" pos="1480">
          <p15:clr>
            <a:srgbClr val="9FCC3B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1 /su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52E680-7FE1-DE48-BCE1-88668E0330BF}"/>
              </a:ext>
            </a:extLst>
          </p:cNvPr>
          <p:cNvSpPr/>
          <p:nvPr userDrawn="1"/>
        </p:nvSpPr>
        <p:spPr>
          <a:xfrm>
            <a:off x="0" y="6179126"/>
            <a:ext cx="12192000" cy="678874"/>
          </a:xfrm>
          <a:prstGeom prst="rect">
            <a:avLst/>
          </a:prstGeom>
          <a:solidFill>
            <a:srgbClr val="FFFFFF">
              <a:alpha val="6431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93360C-FFE1-9243-A412-1B3116A81E0F}"/>
              </a:ext>
            </a:extLst>
          </p:cNvPr>
          <p:cNvSpPr/>
          <p:nvPr userDrawn="1"/>
        </p:nvSpPr>
        <p:spPr>
          <a:xfrm>
            <a:off x="0" y="2799198"/>
            <a:ext cx="12192000" cy="1895631"/>
          </a:xfrm>
          <a:prstGeom prst="rect">
            <a:avLst/>
          </a:prstGeom>
          <a:solidFill>
            <a:srgbClr val="1945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45C94D-AC51-0A44-B638-E4AE10D4C8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1786" y="3208269"/>
            <a:ext cx="11568429" cy="747897"/>
          </a:xfrm>
        </p:spPr>
        <p:txBody>
          <a:bodyPr anchor="b"/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Section divider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72D1C39-EA7D-6A45-86C6-56F7E8279C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1786" y="4030049"/>
            <a:ext cx="11568429" cy="332399"/>
          </a:xfrm>
        </p:spPr>
        <p:txBody>
          <a:bodyPr/>
          <a:lstStyle>
            <a:lvl1pPr marL="0" indent="0" algn="ctr">
              <a:buNone/>
              <a:defRPr sz="2400" spc="0" baseline="0">
                <a:solidFill>
                  <a:schemeClr val="accent4"/>
                </a:solidFill>
              </a:defRPr>
            </a:lvl1pPr>
            <a:lvl2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2pPr>
            <a:lvl3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Sub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2F7D2A-262E-C92C-E588-644C427435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790328" y="6347432"/>
            <a:ext cx="1158342" cy="427913"/>
          </a:xfrm>
          <a:prstGeom prst="rect">
            <a:avLst/>
          </a:prstGeom>
        </p:spPr>
      </p:pic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5E21791-E01F-9CC7-0F31-823CAC0E42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9890" y="6364398"/>
            <a:ext cx="1526189" cy="3365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E330B2-81C1-3A32-04AD-9BAC5B52A3E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84465" y="218749"/>
            <a:ext cx="3936792" cy="241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34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3407">
          <p15:clr>
            <a:srgbClr val="FBAE40"/>
          </p15:clr>
        </p15:guide>
        <p15:guide id="3" orient="horz" pos="3861">
          <p15:clr>
            <a:srgbClr val="FBAE40"/>
          </p15:clr>
        </p15:guide>
        <p15:guide id="4" orient="horz" pos="1253">
          <p15:clr>
            <a:srgbClr val="9FCC3B"/>
          </p15:clr>
        </p15:guide>
        <p15:guide id="5" pos="3557">
          <p15:clr>
            <a:srgbClr val="9FCC3B"/>
          </p15:clr>
        </p15:guide>
        <p15:guide id="6" pos="4123">
          <p15:clr>
            <a:srgbClr val="9FCC3B"/>
          </p15:clr>
        </p15:guide>
        <p15:guide id="7" orient="horz" pos="1650">
          <p15:clr>
            <a:srgbClr val="9FCC3B"/>
          </p15:clr>
        </p15:guide>
        <p15:guide id="8" orient="horz" pos="1480">
          <p15:clr>
            <a:srgbClr val="9FCC3B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olo title /high 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DB98-8BD4-4539-A4A1-4EFD0A11EE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56676"/>
            <a:ext cx="11160125" cy="44319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 (one line)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B18743-309D-45FF-8565-9574CE563F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7" y="225540"/>
            <a:ext cx="1074012" cy="180049"/>
          </a:xfrm>
        </p:spPr>
        <p:txBody>
          <a:bodyPr wrap="none" anchor="b" anchorCtr="0">
            <a:spAutoFit/>
          </a:bodyPr>
          <a:lstStyle>
            <a:lvl1pPr>
              <a:defRPr sz="1300" spc="0" baseline="0">
                <a:solidFill>
                  <a:srgbClr val="A9AAAA"/>
                </a:solidFill>
                <a:latin typeface="+mj-lt"/>
              </a:defRPr>
            </a:lvl1pPr>
          </a:lstStyle>
          <a:p>
            <a:pPr lvl="0"/>
            <a:r>
              <a:rPr lang="en-GB"/>
              <a:t>Section header</a:t>
            </a:r>
            <a:endParaRPr lang="en-GB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BE5DDDAB-0C6C-3D4B-8C7C-7F80F1D245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5534603"/>
            <a:ext cx="9720000" cy="234423"/>
          </a:xfrm>
        </p:spPr>
        <p:txBody>
          <a:bodyPr anchor="b" anchorCtr="0"/>
          <a:lstStyle>
            <a:lvl1pPr>
              <a:spcBef>
                <a:spcPts val="100"/>
              </a:spcBef>
              <a:defRPr sz="800" spc="0">
                <a:solidFill>
                  <a:srgbClr val="8C8E8D"/>
                </a:solidFill>
                <a:latin typeface="+mn-lt"/>
              </a:defRPr>
            </a:lvl1pPr>
            <a:lvl2pPr>
              <a:spcBef>
                <a:spcPts val="100"/>
              </a:spcBef>
              <a:defRPr sz="800" spc="0">
                <a:solidFill>
                  <a:srgbClr val="8C8E8D"/>
                </a:solidFill>
                <a:latin typeface="+mj-lt"/>
              </a:defRPr>
            </a:lvl2pPr>
            <a:lvl3pPr>
              <a:defRPr sz="800">
                <a:solidFill>
                  <a:schemeClr val="bg2"/>
                </a:solidFill>
              </a:defRPr>
            </a:lvl3pPr>
            <a:lvl4pPr>
              <a:defRPr sz="800">
                <a:solidFill>
                  <a:schemeClr val="bg2"/>
                </a:solidFill>
              </a:defRPr>
            </a:lvl4pPr>
            <a:lvl5pPr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Source note style #1. Use semi-colons to separate content and commas for abbreviations. No full stop required at end</a:t>
            </a:r>
          </a:p>
          <a:p>
            <a:pPr lvl="1"/>
            <a:r>
              <a:rPr lang="en-GB" dirty="0"/>
              <a:t>Source note style #2. Use semi-colons to separate content and commas for abbreviations. No full stop required at 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4F6F99-F9BD-7047-9C11-178942DE800A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76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32">
          <p15:clr>
            <a:srgbClr val="9FCC3B"/>
          </p15:clr>
        </p15:guide>
        <p15:guide id="8" orient="horz" pos="3917">
          <p15:clr>
            <a:srgbClr val="9FCC3B"/>
          </p15:clr>
        </p15:guide>
        <p15:guide id="10" pos="949">
          <p15:clr>
            <a:srgbClr val="9FCC3B"/>
          </p15:clr>
        </p15:guide>
        <p15:guide id="11" orient="horz" pos="686">
          <p15:clr>
            <a:srgbClr val="9FCC3B"/>
          </p15:clr>
        </p15:guide>
        <p15:guide id="12" orient="horz" pos="573">
          <p15:clr>
            <a:srgbClr val="9FCC3B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1 /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DB98-8BD4-4539-A4A1-4EFD0A11EE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Title (two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B4F79-1B18-4439-BF81-7C9E8D9636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5937" y="1574066"/>
            <a:ext cx="11160125" cy="135370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buClr>
                <a:schemeClr val="accent1"/>
              </a:buClr>
              <a:defRPr/>
            </a:lvl3pPr>
            <a:lvl4pPr>
              <a:defRPr/>
            </a:lvl4pPr>
            <a:lvl5pPr>
              <a:defRPr/>
            </a:lvl5pPr>
          </a:lstStyle>
          <a:p>
            <a:pPr lvl="1"/>
            <a:r>
              <a:rPr lang="en-GB" dirty="0"/>
              <a:t>Body text</a:t>
            </a:r>
          </a:p>
          <a:p>
            <a:pPr lvl="2"/>
            <a:r>
              <a:rPr lang="en-GB" dirty="0"/>
              <a:t>Main bullet</a:t>
            </a:r>
          </a:p>
          <a:p>
            <a:pPr lvl="3"/>
            <a:r>
              <a:rPr lang="en-GB" dirty="0"/>
              <a:t>Sub bullet</a:t>
            </a:r>
          </a:p>
          <a:p>
            <a:pPr lvl="4"/>
            <a:r>
              <a:rPr lang="en-GB" dirty="0"/>
              <a:t>Mini bullet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B18743-309D-45FF-8565-9574CE563F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7" y="225540"/>
            <a:ext cx="1074012" cy="180049"/>
          </a:xfrm>
        </p:spPr>
        <p:txBody>
          <a:bodyPr wrap="none" anchor="b" anchorCtr="0">
            <a:spAutoFit/>
          </a:bodyPr>
          <a:lstStyle>
            <a:lvl1pPr>
              <a:defRPr sz="1300" spc="0" baseline="0">
                <a:solidFill>
                  <a:srgbClr val="A9AAAA"/>
                </a:solidFill>
                <a:latin typeface="+mj-lt"/>
              </a:defRPr>
            </a:lvl1pPr>
          </a:lstStyle>
          <a:p>
            <a:pPr lvl="0"/>
            <a:r>
              <a:rPr lang="en-GB"/>
              <a:t>Section header</a:t>
            </a:r>
            <a:endParaRPr lang="en-GB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F761F65-4594-D245-AE50-B4D43F2FC5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5534603"/>
            <a:ext cx="9720000" cy="234423"/>
          </a:xfrm>
        </p:spPr>
        <p:txBody>
          <a:bodyPr anchor="b" anchorCtr="0"/>
          <a:lstStyle>
            <a:lvl1pPr>
              <a:spcBef>
                <a:spcPts val="100"/>
              </a:spcBef>
              <a:defRPr sz="800" spc="0">
                <a:solidFill>
                  <a:srgbClr val="8C8E8D"/>
                </a:solidFill>
                <a:latin typeface="+mn-lt"/>
              </a:defRPr>
            </a:lvl1pPr>
            <a:lvl2pPr>
              <a:spcBef>
                <a:spcPts val="100"/>
              </a:spcBef>
              <a:defRPr sz="800" spc="0">
                <a:solidFill>
                  <a:srgbClr val="8C8E8D"/>
                </a:solidFill>
                <a:latin typeface="+mj-lt"/>
              </a:defRPr>
            </a:lvl2pPr>
            <a:lvl3pPr>
              <a:defRPr sz="800">
                <a:solidFill>
                  <a:schemeClr val="bg2"/>
                </a:solidFill>
              </a:defRPr>
            </a:lvl3pPr>
            <a:lvl4pPr>
              <a:defRPr sz="800">
                <a:solidFill>
                  <a:schemeClr val="bg2"/>
                </a:solidFill>
              </a:defRPr>
            </a:lvl4pPr>
            <a:lvl5pPr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Source note style #1. Use semi-colons to separate content and commas for abbreviations. No full stop required at end</a:t>
            </a:r>
          </a:p>
          <a:p>
            <a:pPr lvl="1"/>
            <a:r>
              <a:rPr lang="en-GB" dirty="0"/>
              <a:t>Source note style #2. Use semi-colons to separate content and commas for abbreviations. No full stop required at end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053CDE-15DF-794F-8850-E6F9EE0D57C1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2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32">
          <p15:clr>
            <a:srgbClr val="9FCC3B"/>
          </p15:clr>
        </p15:guide>
        <p15:guide id="8" orient="horz" pos="3917">
          <p15:clr>
            <a:srgbClr val="9FCC3B"/>
          </p15:clr>
        </p15:guide>
        <p15:guide id="9" orient="horz" pos="743">
          <p15:clr>
            <a:srgbClr val="9FCC3B"/>
          </p15:clr>
        </p15:guide>
        <p15:guide id="10" orient="horz" pos="1026">
          <p15:clr>
            <a:srgbClr val="9FCC3B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le /high 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DB98-8BD4-4539-A4A1-4EFD0A11EE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56676"/>
            <a:ext cx="11160125" cy="44319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 (one line)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B18743-309D-45FF-8565-9574CE563F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7" y="225540"/>
            <a:ext cx="1074012" cy="180049"/>
          </a:xfrm>
        </p:spPr>
        <p:txBody>
          <a:bodyPr wrap="none" anchor="b" anchorCtr="0">
            <a:spAutoFit/>
          </a:bodyPr>
          <a:lstStyle>
            <a:lvl1pPr>
              <a:defRPr sz="1300" spc="0" baseline="0">
                <a:solidFill>
                  <a:srgbClr val="A9AAAA"/>
                </a:solidFill>
                <a:latin typeface="+mj-lt"/>
              </a:defRPr>
            </a:lvl1pPr>
          </a:lstStyle>
          <a:p>
            <a:pPr lvl="0"/>
            <a:r>
              <a:rPr lang="en-GB"/>
              <a:t>Section header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EEEF3B-D0FF-4A87-BB1F-6FC2F87B8738}"/>
              </a:ext>
            </a:extLst>
          </p:cNvPr>
          <p:cNvCxnSpPr/>
          <p:nvPr userDrawn="1"/>
        </p:nvCxnSpPr>
        <p:spPr>
          <a:xfrm>
            <a:off x="515938" y="1088974"/>
            <a:ext cx="10800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B45E1DC-D0EC-644D-815A-6F39210C6E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5937" y="1277079"/>
            <a:ext cx="11160125" cy="135370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1"/>
            <a:r>
              <a:rPr lang="en-GB" dirty="0"/>
              <a:t>Body text</a:t>
            </a:r>
          </a:p>
          <a:p>
            <a:pPr lvl="2"/>
            <a:r>
              <a:rPr lang="en-GB" dirty="0"/>
              <a:t>Main bullet</a:t>
            </a:r>
          </a:p>
          <a:p>
            <a:pPr lvl="3"/>
            <a:r>
              <a:rPr lang="en-GB" dirty="0"/>
              <a:t>Sub bullet</a:t>
            </a:r>
          </a:p>
          <a:p>
            <a:pPr lvl="4"/>
            <a:r>
              <a:rPr lang="en-GB" dirty="0"/>
              <a:t>Mini bullet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FF23C8-70F9-EC43-A291-AC65AFBEE6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5534603"/>
            <a:ext cx="9720000" cy="234423"/>
          </a:xfrm>
        </p:spPr>
        <p:txBody>
          <a:bodyPr anchor="b" anchorCtr="0"/>
          <a:lstStyle>
            <a:lvl1pPr>
              <a:spcBef>
                <a:spcPts val="100"/>
              </a:spcBef>
              <a:defRPr sz="800" spc="0">
                <a:solidFill>
                  <a:srgbClr val="8C8E8D"/>
                </a:solidFill>
                <a:latin typeface="+mn-lt"/>
              </a:defRPr>
            </a:lvl1pPr>
            <a:lvl2pPr>
              <a:spcBef>
                <a:spcPts val="100"/>
              </a:spcBef>
              <a:defRPr sz="800" spc="0">
                <a:solidFill>
                  <a:srgbClr val="8C8E8D"/>
                </a:solidFill>
                <a:latin typeface="+mj-lt"/>
              </a:defRPr>
            </a:lvl2pPr>
            <a:lvl3pPr>
              <a:defRPr sz="800">
                <a:solidFill>
                  <a:schemeClr val="bg2"/>
                </a:solidFill>
              </a:defRPr>
            </a:lvl3pPr>
            <a:lvl4pPr>
              <a:defRPr sz="800">
                <a:solidFill>
                  <a:schemeClr val="bg2"/>
                </a:solidFill>
              </a:defRPr>
            </a:lvl4pPr>
            <a:lvl5pPr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Source note style #1. Use semi-colons to separate content and commas for abbreviations. No full stop required at end</a:t>
            </a:r>
          </a:p>
          <a:p>
            <a:pPr lvl="1"/>
            <a:r>
              <a:rPr lang="en-GB" dirty="0"/>
              <a:t>Source note style #2. Use semi-colons to separate content and commas for abbreviations. No full stop required at 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0DAC6C-BE8F-A541-BEA3-C4137AA67614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8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32">
          <p15:clr>
            <a:srgbClr val="9FCC3B"/>
          </p15:clr>
        </p15:guide>
        <p15:guide id="8" orient="horz" pos="3917">
          <p15:clr>
            <a:srgbClr val="9FCC3B"/>
          </p15:clr>
        </p15:guide>
        <p15:guide id="10" pos="949">
          <p15:clr>
            <a:srgbClr val="9FCC3B"/>
          </p15:clr>
        </p15:guide>
        <p15:guide id="11" orient="horz" pos="686">
          <p15:clr>
            <a:srgbClr val="9FCC3B"/>
          </p15:clr>
        </p15:guide>
        <p15:guide id="12" orient="horz" pos="573">
          <p15:clr>
            <a:srgbClr val="9FCC3B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/log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FF2D62-F486-EE49-9D06-4BCB89BBBE42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32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0AA243-C3DC-E548-A18F-56B4081F92AE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FF4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75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47" y="89101"/>
            <a:ext cx="11394276" cy="108001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947" y="983051"/>
            <a:ext cx="11394276" cy="5176316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1932" y="6356352"/>
            <a:ext cx="3860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00084" y="6356352"/>
            <a:ext cx="2844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148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0755A1-263A-3047-860B-B811081C9C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523A240F-EAFE-E84F-B44C-6D7A08E0E40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note Placeholder">
            <a:extLst>
              <a:ext uri="{FF2B5EF4-FFF2-40B4-BE49-F238E27FC236}">
                <a16:creationId xmlns:a16="http://schemas.microsoft.com/office/drawing/2014/main" id="{5157959E-651B-B14F-BA5B-24DA1DB0858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12064" y="6126480"/>
            <a:ext cx="4434840" cy="245223"/>
          </a:xfrm>
        </p:spPr>
        <p:txBody>
          <a:bodyPr anchor="b"/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a footnote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Slide title; Arial 32pt bold, sentence case. This layout accommodates a title that extends downward to a 2nd line.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Click to type text. To activate sub-level formatting, place cursor at beginning of text/line and hit tab or shift tab. Click icon for chart or table.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08280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tandard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2736B9-5652-416D-AC7F-F0BB790DA8B8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0981996" y="6214600"/>
            <a:ext cx="731600" cy="524800"/>
          </a:xfrm>
          <a:prstGeom prst="rect">
            <a:avLst/>
          </a:prstGeom>
        </p:spPr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E22370-AD78-45E2-B6CC-8503ACF85D3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6402" y="1092200"/>
            <a:ext cx="11379199" cy="5029200"/>
          </a:xfrm>
        </p:spPr>
        <p:txBody>
          <a:bodyPr/>
          <a:lstStyle>
            <a:lvl1pPr marL="304784" indent="-304784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535491" indent="-232822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ct val="90000"/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759846" indent="-224356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ct val="90000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 marL="916472" indent="-156625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ct val="90000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 marL="1140826" indent="-224356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2716E615-B81F-44BC-BB03-07FFBB221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99688"/>
            <a:ext cx="11379200" cy="768096"/>
          </a:xfrm>
        </p:spPr>
        <p:txBody>
          <a:bodyPr lIns="91440" tIns="0" bIns="0" anchor="ctr"/>
          <a:lstStyle>
            <a:lvl1pPr>
              <a:defRPr sz="23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721C8-24FD-785E-CEFE-855426D29A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6400" y="6214600"/>
            <a:ext cx="10464800" cy="524800"/>
          </a:xfrm>
        </p:spPr>
        <p:txBody>
          <a:bodyPr tIns="0" bIns="0" anchor="b"/>
          <a:lstStyle>
            <a:lvl1pPr marL="0" indent="0">
              <a:buNone/>
              <a:defRPr sz="933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65118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71932" y="6356352"/>
            <a:ext cx="3860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00084" y="6356352"/>
            <a:ext cx="2844800" cy="365125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71947" y="331134"/>
            <a:ext cx="11394276" cy="4431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29006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71932" y="6356352"/>
            <a:ext cx="3860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00084" y="6356352"/>
            <a:ext cx="2844800" cy="365125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71947" y="331134"/>
            <a:ext cx="11394276" cy="4431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57646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71932" y="6356352"/>
            <a:ext cx="3860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00084" y="6356352"/>
            <a:ext cx="2844800" cy="365125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71947" y="331134"/>
            <a:ext cx="11394276" cy="4431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03909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Date or Reference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366117" y="5998825"/>
            <a:ext cx="11825883" cy="85918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 dirty="0">
              <a:latin typeface="Franklin Gothic Medium" panose="020B0603020102020204" pitchFamily="34" charset="0"/>
            </a:endParaRPr>
          </a:p>
        </p:txBody>
      </p:sp>
      <p:pic>
        <p:nvPicPr>
          <p:cNvPr id="15" name="Picture 14" descr="MSKCC_super_pos_rgb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982" y="940548"/>
            <a:ext cx="10707372" cy="886127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0233" y="2262468"/>
            <a:ext cx="10363200" cy="14700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333">
                <a:solidFill>
                  <a:srgbClr val="005A8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0233" y="4691833"/>
            <a:ext cx="8534400" cy="1306987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 descr="MSKCC_logo_hor_pos_rgb_150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46" y="569649"/>
            <a:ext cx="2336607" cy="7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7553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47" y="89101"/>
            <a:ext cx="11394276" cy="108001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947" y="983051"/>
            <a:ext cx="11394276" cy="5176316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1932" y="6356352"/>
            <a:ext cx="3860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00084" y="6356352"/>
            <a:ext cx="2844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743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47" y="89101"/>
            <a:ext cx="11394276" cy="108001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66021"/>
            <a:ext cx="5384800" cy="4525963"/>
          </a:xfrm>
        </p:spPr>
        <p:txBody>
          <a:bodyPr/>
          <a:lstStyle>
            <a:lvl1pPr>
              <a:defRPr sz="3733" b="0"/>
            </a:lvl1pPr>
            <a:lvl2pPr>
              <a:defRPr sz="3200" b="0"/>
            </a:lvl2pPr>
            <a:lvl3pPr>
              <a:defRPr sz="2667" b="0"/>
            </a:lvl3pPr>
            <a:lvl4pPr>
              <a:defRPr sz="2400" b="0"/>
            </a:lvl4pPr>
            <a:lvl5pPr>
              <a:defRPr sz="2400" b="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66021"/>
            <a:ext cx="5384800" cy="4525963"/>
          </a:xfrm>
        </p:spPr>
        <p:txBody>
          <a:bodyPr/>
          <a:lstStyle>
            <a:lvl1pPr>
              <a:defRPr sz="3733" b="0"/>
            </a:lvl1pPr>
            <a:lvl2pPr>
              <a:defRPr sz="3200" b="0"/>
            </a:lvl2pPr>
            <a:lvl3pPr>
              <a:defRPr sz="2667" b="0"/>
            </a:lvl3pPr>
            <a:lvl4pPr>
              <a:defRPr sz="2400" b="0"/>
            </a:lvl4pPr>
            <a:lvl5pPr>
              <a:defRPr sz="2400" b="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71932" y="6353220"/>
            <a:ext cx="3860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00084" y="6356352"/>
            <a:ext cx="2844800" cy="365125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801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47" y="89101"/>
            <a:ext cx="11394276" cy="108001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53305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793068"/>
            <a:ext cx="5386917" cy="3951288"/>
          </a:xfrm>
        </p:spPr>
        <p:txBody>
          <a:bodyPr/>
          <a:lstStyle>
            <a:lvl1pPr>
              <a:defRPr sz="3200" b="0"/>
            </a:lvl1pPr>
            <a:lvl2pPr>
              <a:defRPr sz="2667" b="0"/>
            </a:lvl2pPr>
            <a:lvl3pPr>
              <a:defRPr sz="2400" b="0"/>
            </a:lvl3pPr>
            <a:lvl4pPr>
              <a:defRPr sz="2133" b="0"/>
            </a:lvl4pPr>
            <a:lvl5pPr>
              <a:defRPr sz="2133" b="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8" y="1173317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8" y="1813079"/>
            <a:ext cx="5389033" cy="3951288"/>
          </a:xfrm>
        </p:spPr>
        <p:txBody>
          <a:bodyPr/>
          <a:lstStyle>
            <a:lvl1pPr>
              <a:defRPr sz="3200" b="0"/>
            </a:lvl1pPr>
            <a:lvl2pPr>
              <a:defRPr sz="2667" b="0"/>
            </a:lvl2pPr>
            <a:lvl3pPr>
              <a:defRPr sz="2400" b="0"/>
            </a:lvl3pPr>
            <a:lvl4pPr>
              <a:defRPr sz="2133" b="0"/>
            </a:lvl4pPr>
            <a:lvl5pPr>
              <a:defRPr sz="2133" b="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71932" y="6356352"/>
            <a:ext cx="3860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00084" y="6356352"/>
            <a:ext cx="2844800" cy="365125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658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MSKCC_logo_hor_s_rev_rgb_15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2" y="402167"/>
            <a:ext cx="2877749" cy="664760"/>
          </a:xfrm>
          <a:prstGeom prst="rect">
            <a:avLst/>
          </a:prstGeom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355493" y="5929157"/>
            <a:ext cx="11836507" cy="9288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dirty="0">
                <a:latin typeface="Franklin Gothic Medium" panose="020B0603020102020204" pitchFamily="34" charset="0"/>
              </a:rPr>
              <a:t> </a:t>
            </a:r>
          </a:p>
        </p:txBody>
      </p:sp>
      <p:pic>
        <p:nvPicPr>
          <p:cNvPr id="4" name="Picture 3" descr="MSKCC_super_pos_rgb.pdf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182" y="940541"/>
            <a:ext cx="8083263" cy="8884907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26152" y="2617788"/>
            <a:ext cx="10309115" cy="20828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5867">
                <a:solidFill>
                  <a:srgbClr val="005A8E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92410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71932" y="6356352"/>
            <a:ext cx="3860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00084" y="6356352"/>
            <a:ext cx="2844800" cy="365125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71947" y="89097"/>
            <a:ext cx="11394276" cy="68523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649960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50851"/>
            <a:ext cx="7315200" cy="4135096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5"/>
            <a:ext cx="7315200" cy="804863"/>
          </a:xfrm>
        </p:spPr>
        <p:txBody>
          <a:bodyPr/>
          <a:lstStyle>
            <a:lvl1pPr marL="0" indent="0">
              <a:buNone/>
              <a:defRPr sz="1867" b="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52291" y="6356352"/>
            <a:ext cx="3280447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00084" y="6356352"/>
            <a:ext cx="2844800" cy="365125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471947" y="89097"/>
            <a:ext cx="11394276" cy="685235"/>
          </a:xfrm>
          <a:prstGeom prst="rect">
            <a:avLst/>
          </a:prstGeom>
        </p:spPr>
        <p:txBody>
          <a:bodyPr vert="horz" lIns="121920" tIns="60960" rIns="121920" bIns="60960" rtlCol="0" anchor="t" anchorCtr="0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FFFFFF"/>
                </a:solidFill>
                <a:latin typeface="Corbel"/>
                <a:ea typeface="+mj-ea"/>
                <a:cs typeface="Corbel"/>
              </a:defRPr>
            </a:lvl1pPr>
          </a:lstStyle>
          <a:p>
            <a:r>
              <a:rPr lang="en-US" sz="4267" b="0" i="0" dirty="0">
                <a:latin typeface="Franklin Gothic Medium" panose="020B0603020102020204" pitchFamily="34" charset="0"/>
                <a:cs typeface="Arial Narrow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058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71947" y="89097"/>
            <a:ext cx="11394276" cy="6852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 b="0" i="0">
                <a:solidFill>
                  <a:srgbClr val="FFFFFF"/>
                </a:solidFill>
                <a:latin typeface="Franklin Gothic Medium" panose="020B0603020102020204" pitchFamily="34" charset="0"/>
                <a:cs typeface="Franklin Gothic Medium" panose="020B06030201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4900084" y="6356352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MS PGothic" charset="0"/>
                <a:cs typeface="MS PGothic" charset="0"/>
              </a:defRPr>
            </a:lvl1pPr>
          </a:lstStyle>
          <a:p>
            <a:fld id="{6613EAC3-A0C8-2441-AF32-3E9C0E60E8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553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、テキスト、2 つのコンテンツ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8019" y="265173"/>
            <a:ext cx="10005647" cy="936625"/>
          </a:xfrm>
        </p:spPr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10" name="テキスト プレースホルダ 9"/>
          <p:cNvSpPr>
            <a:spLocks noGrp="1"/>
          </p:cNvSpPr>
          <p:nvPr>
            <p:ph type="body" sz="quarter" idx="13"/>
          </p:nvPr>
        </p:nvSpPr>
        <p:spPr>
          <a:xfrm>
            <a:off x="460800" y="1486800"/>
            <a:ext cx="11316184" cy="4802400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altLang="ja-JP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4"/>
          </p:nvPr>
        </p:nvSpPr>
        <p:spPr>
          <a:xfrm>
            <a:off x="241300" y="6465895"/>
            <a:ext cx="3888317" cy="271463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50000"/>
              </a:spcBef>
              <a:defRPr kumimoji="0" sz="1867" b="0" i="0">
                <a:latin typeface="Imago" pitchFamily="2" charset="0"/>
                <a:ea typeface="ＭＳ Ｐゴシック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ja-JP" dirty="0">
                <a:solidFill>
                  <a:prstClr val="black">
                    <a:tint val="75000"/>
                  </a:prstClr>
                </a:solidFill>
              </a:rPr>
              <a:t>AF802 Preclinical update (120605)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5"/>
          </p:nvPr>
        </p:nvSpPr>
        <p:spPr>
          <a:xfrm>
            <a:off x="11286083" y="6408737"/>
            <a:ext cx="717551" cy="349251"/>
          </a:xfrm>
        </p:spPr>
        <p:txBody>
          <a:bodyPr/>
          <a:lstStyle>
            <a:lvl1pPr>
              <a:defRPr kumimoji="0" b="1"/>
            </a:lvl1pPr>
          </a:lstStyle>
          <a:p>
            <a:pPr>
              <a:defRPr/>
            </a:pPr>
            <a:fld id="{71B9D8C1-8ED5-4FF2-84A2-5C6F76A447A1}" type="slidenum">
              <a:rPr lang="en-US" altLang="ja-JP">
                <a:solidFill>
                  <a:prstClr val="black">
                    <a:tint val="75000"/>
                  </a:prstClr>
                </a:solidFill>
                <a:ea typeface="HGｺﾞｼｯｸM"/>
              </a:rPr>
              <a:pPr>
                <a:defRPr/>
              </a:pPr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  <a:ea typeface="HGｺﾞｼｯｸM"/>
            </a:endParaRPr>
          </a:p>
        </p:txBody>
      </p:sp>
    </p:spTree>
    <p:extLst>
      <p:ext uri="{BB962C8B-B14F-4D97-AF65-F5344CB8AC3E}">
        <p14:creationId xmlns:p14="http://schemas.microsoft.com/office/powerpoint/2010/main" val="29704928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, Content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720000" y="4132154"/>
            <a:ext cx="10742400" cy="199401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marR="0" indent="0" algn="ctr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35000"/>
              <a:buFont typeface="Wingdings" charset="2"/>
              <a:buNone/>
              <a:tabLst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720000" y="2112972"/>
            <a:ext cx="10742400" cy="1895281"/>
          </a:xfrm>
        </p:spPr>
        <p:txBody>
          <a:bodyPr>
            <a:noAutofit/>
          </a:bodyPr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720000" y="550809"/>
            <a:ext cx="7006269" cy="553999"/>
          </a:xfrm>
        </p:spPr>
        <p:txBody>
          <a:bodyPr anchor="b">
            <a:noAutofit/>
          </a:bodyPr>
          <a:lstStyle>
            <a:lvl1pPr>
              <a:defRPr sz="32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720000" y="1080001"/>
            <a:ext cx="7006269" cy="488795"/>
          </a:xfrm>
        </p:spPr>
        <p:txBody>
          <a:bodyPr>
            <a:noAutofit/>
          </a:bodyPr>
          <a:lstStyle>
            <a:lvl1pPr marL="0" indent="0">
              <a:buNone/>
              <a:defRPr sz="2667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3CF81-11EA-405E-A3EC-9D48E6C9B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41595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Franklin Gothic Medium" panose="020B0603020102020204" pitchFamily="34" charset="0"/>
              </a:defRPr>
            </a:lvl1pPr>
          </a:lstStyle>
          <a:p>
            <a:fld id="{31557021-9425-4ECB-8455-37A42D497BD0}" type="datetimeFigureOut">
              <a:rPr lang="en-US" smtClean="0"/>
              <a:pPr/>
              <a:t>9/28/2026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866D93FB-C225-4CC1-81D5-3E7930115D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567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800" y="1495720"/>
            <a:ext cx="11328400" cy="4198069"/>
          </a:xfrm>
        </p:spPr>
        <p:txBody>
          <a:bodyPr/>
          <a:lstStyle>
            <a:lvl1pPr marL="237061" indent="-237061">
              <a:buClr>
                <a:schemeClr val="accent3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1pPr>
            <a:lvl2pPr>
              <a:buClr>
                <a:schemeClr val="accent3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3"/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431798" y="5805085"/>
            <a:ext cx="5111164" cy="536555"/>
          </a:xfrm>
        </p:spPr>
        <p:txBody>
          <a:bodyPr rIns="0" bIns="0" anchor="b"/>
          <a:lstStyle>
            <a:lvl1pPr marL="0" indent="0">
              <a:spcAft>
                <a:spcPts val="0"/>
              </a:spcAft>
              <a:buNone/>
              <a:defRPr sz="1067">
                <a:solidFill>
                  <a:schemeClr val="tx1"/>
                </a:solidFill>
              </a:defRPr>
            </a:lvl1pPr>
            <a:lvl2pPr marL="237061" indent="0">
              <a:buNone/>
              <a:defRPr sz="1600"/>
            </a:lvl2pPr>
            <a:lvl3pPr marL="480471" indent="0">
              <a:buNone/>
              <a:defRPr sz="1600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5656084" y="5805085"/>
            <a:ext cx="4759229" cy="536555"/>
          </a:xfrm>
        </p:spPr>
        <p:txBody>
          <a:bodyPr rIns="0" bIns="0" anchor="b"/>
          <a:lstStyle>
            <a:lvl1pPr marL="0" indent="0" algn="r">
              <a:spcAft>
                <a:spcPts val="0"/>
              </a:spcAft>
              <a:buNone/>
              <a:defRPr sz="1067">
                <a:solidFill>
                  <a:schemeClr val="tx1"/>
                </a:solidFill>
              </a:defRPr>
            </a:lvl1pPr>
            <a:lvl2pPr marL="237061" indent="0">
              <a:buNone/>
              <a:defRPr sz="1600"/>
            </a:lvl2pPr>
            <a:lvl3pPr marL="480471" indent="0">
              <a:buNone/>
              <a:defRPr sz="1600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363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-1"/>
            <a:ext cx="12192000" cy="369326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7" tIns="60957" rIns="60957" bIns="60957" numCol="1" spcCol="38100" rtlCol="0" anchor="t">
            <a:spAutoFit/>
          </a:bodyPr>
          <a:lstStyle/>
          <a:p>
            <a:pPr marL="0" marR="0" indent="0" algn="l" defTabSz="121917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Medium" panose="020B0603020102020204" pitchFamily="34" charset="0"/>
              <a:ea typeface="+mj-ea"/>
              <a:cs typeface="+mj-cs"/>
              <a:sym typeface="Helvetic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132503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63374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10254-E226-CC36-E83C-3F10ACD7B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B1B95A-4FD1-E6FE-F8AC-5B6A8C6A0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3490F-A676-1BE2-2EA6-8C22D4341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864" y="631470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FCA24-DEF1-E58F-6A21-D337184B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5094" y="6314709"/>
            <a:ext cx="2213419" cy="365125"/>
          </a:xfrm>
          <a:prstGeom prst="rect">
            <a:avLst/>
          </a:prstGeom>
        </p:spPr>
        <p:txBody>
          <a:bodyPr/>
          <a:lstStyle/>
          <a:p>
            <a:fld id="{2A4BE48F-A58F-4FE0-A312-D4555325F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68244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46C6B-A411-86FF-48D9-0FB378771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7C3D5-6C29-9ED1-29FD-1E6E2BBEF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D5272-E6ED-950E-4ABD-F2C6B2157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6760" y="6258556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8C364-CC61-6DD7-45B2-D34DB2EDC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1517" y="6258555"/>
            <a:ext cx="2580741" cy="365125"/>
          </a:xfrm>
          <a:prstGeom prst="rect">
            <a:avLst/>
          </a:prstGeom>
        </p:spPr>
        <p:txBody>
          <a:bodyPr/>
          <a:lstStyle/>
          <a:p>
            <a:fld id="{2A4BE48F-A58F-4FE0-A312-D4555325F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82048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8A4A-8143-2639-3888-325D93151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056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29C49-0219-9194-86A5-8B31A8F0E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7037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2A9E5-0D2B-6E76-7203-319663171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25296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AC213-B551-94EF-81FA-F9960386F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1517" y="6252965"/>
            <a:ext cx="2822283" cy="365125"/>
          </a:xfrm>
          <a:prstGeom prst="rect">
            <a:avLst/>
          </a:prstGeom>
        </p:spPr>
        <p:txBody>
          <a:bodyPr/>
          <a:lstStyle/>
          <a:p>
            <a:fld id="{2A4BE48F-A58F-4FE0-A312-D4555325F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02963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32AB0-2B01-9F7E-DC33-55EC61AC3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1D90B-F232-AEE7-2C47-9009355EA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0F3388-9952-620C-1805-0057CF069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A2377-2CF8-4624-2EB8-48AA592B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2633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942B7-ABF7-52D9-0DEE-48C20FAF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85926" y="6324746"/>
            <a:ext cx="2467874" cy="365125"/>
          </a:xfrm>
          <a:prstGeom prst="rect">
            <a:avLst/>
          </a:prstGeom>
        </p:spPr>
        <p:txBody>
          <a:bodyPr/>
          <a:lstStyle/>
          <a:p>
            <a:fld id="{2A4BE48F-A58F-4FE0-A312-D4555325F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004884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B25EB-554D-305B-E55F-9F060351C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71DEF-61D8-F899-9895-D4131F5DC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AF431F-8E10-C0FE-D6EA-51951CC01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1DF053-AE7E-1639-ECFE-61175EE37C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78A335-D166-BCBC-2B95-F0FBCBEF2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17D92A-4278-FF46-1E0C-6DA5D12C3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30608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CD811E-E7AD-311E-A641-69DC700EE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012" y="6310312"/>
            <a:ext cx="2743200" cy="365125"/>
          </a:xfrm>
          <a:prstGeom prst="rect">
            <a:avLst/>
          </a:prstGeom>
        </p:spPr>
        <p:txBody>
          <a:bodyPr/>
          <a:lstStyle/>
          <a:p>
            <a:fld id="{2A4BE48F-A58F-4FE0-A312-D4555325F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37028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7B58F9-C52B-19D4-52BD-BE79161C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958" y="624420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A2BBA-C65B-0BAE-1A60-5181A15BC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13336" y="6244205"/>
            <a:ext cx="1735347" cy="365125"/>
          </a:xfrm>
          <a:prstGeom prst="rect">
            <a:avLst/>
          </a:prstGeom>
        </p:spPr>
        <p:txBody>
          <a:bodyPr/>
          <a:lstStyle/>
          <a:p>
            <a:fld id="{2A4BE48F-A58F-4FE0-A312-D4555325F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73480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FA7E6-F9B7-4F06-725D-3FEF02BBD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B3974-871D-87BC-4B3F-284A6A585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258556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EC612-F31D-6629-6DCA-BBE2F6A7E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1517" y="6258555"/>
            <a:ext cx="2580741" cy="365125"/>
          </a:xfrm>
          <a:prstGeom prst="rect">
            <a:avLst/>
          </a:prstGeom>
        </p:spPr>
        <p:txBody>
          <a:bodyPr/>
          <a:lstStyle/>
          <a:p>
            <a:fld id="{2A4BE48F-A58F-4FE0-A312-D4555325F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483457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619C-1D29-F43A-3607-C11D07789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238A-DD1F-7B7B-4A3E-AA727A4AD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B502BE-2180-90E3-AC41-967ADC896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AD701-C0A0-9484-FCED-945872CF3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21823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77FBB-A2EC-5564-652D-5DD7D0594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143" y="6218236"/>
            <a:ext cx="2743200" cy="365125"/>
          </a:xfrm>
          <a:prstGeom prst="rect">
            <a:avLst/>
          </a:prstGeom>
        </p:spPr>
        <p:txBody>
          <a:bodyPr/>
          <a:lstStyle/>
          <a:p>
            <a:fld id="{2A4BE48F-A58F-4FE0-A312-D4555325F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763036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15C8-6948-286A-2AA3-218511AF4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333F7A-1F96-503F-116F-DFCA76DD9F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AD7DB-AD63-1A90-3581-FC7B75B86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62221-99A4-AE66-A319-294CC7CD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21823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725A5-B406-02B6-D019-231EF6F5D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1517" y="6218236"/>
            <a:ext cx="2822283" cy="365125"/>
          </a:xfrm>
          <a:prstGeom prst="rect">
            <a:avLst/>
          </a:prstGeom>
        </p:spPr>
        <p:txBody>
          <a:bodyPr/>
          <a:lstStyle/>
          <a:p>
            <a:fld id="{2A4BE48F-A58F-4FE0-A312-D4555325F0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1990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6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image" Target="../media/image12.jpeg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image" Target="../media/image11.jpeg"/><Relationship Id="rId5" Type="http://schemas.openxmlformats.org/officeDocument/2006/relationships/slideLayout" Target="../slideLayouts/slideLayout43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58A46D-AF04-47DE-8600-51C1E8516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832452"/>
            <a:ext cx="11160125" cy="4431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GB" dirty="0"/>
              <a:t>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788BF-F29C-4BD6-8195-7C6A455DB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574066"/>
            <a:ext cx="11160125" cy="178664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GB" dirty="0"/>
              <a:t>SUBTITLE IN CAPS</a:t>
            </a:r>
          </a:p>
          <a:p>
            <a:pPr lvl="1"/>
            <a:r>
              <a:rPr lang="en-GB" dirty="0"/>
              <a:t>Body text</a:t>
            </a:r>
          </a:p>
          <a:p>
            <a:pPr lvl="2"/>
            <a:r>
              <a:rPr lang="en-GB" dirty="0"/>
              <a:t>Main bullet</a:t>
            </a:r>
          </a:p>
          <a:p>
            <a:pPr lvl="3"/>
            <a:r>
              <a:rPr lang="en-GB" dirty="0"/>
              <a:t>Sub bullet</a:t>
            </a:r>
          </a:p>
          <a:p>
            <a:pPr lvl="4"/>
            <a:r>
              <a:rPr lang="en-GB" dirty="0"/>
              <a:t>Mini bullet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DCB58486-7855-4C32-936E-815EC53CCD09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480560" y="6217920"/>
            <a:ext cx="7711440" cy="640080"/>
          </a:xfrm>
          <a:custGeom>
            <a:avLst/>
            <a:gdLst>
              <a:gd name="connsiteX0" fmla="*/ 1488939 w 2315958"/>
              <a:gd name="connsiteY0" fmla="*/ 0 h 814629"/>
              <a:gd name="connsiteX1" fmla="*/ 1440155 w 2315958"/>
              <a:gd name="connsiteY1" fmla="*/ 0 h 814629"/>
              <a:gd name="connsiteX2" fmla="*/ 1328575 w 2315958"/>
              <a:gd name="connsiteY2" fmla="*/ 0 h 814629"/>
              <a:gd name="connsiteX3" fmla="*/ 1319558 w 2315958"/>
              <a:gd name="connsiteY3" fmla="*/ 0 h 814629"/>
              <a:gd name="connsiteX4" fmla="*/ 0 w 2315958"/>
              <a:gd name="connsiteY4" fmla="*/ 0 h 814629"/>
              <a:gd name="connsiteX5" fmla="*/ 0 w 2315958"/>
              <a:gd name="connsiteY5" fmla="*/ 814629 h 814629"/>
              <a:gd name="connsiteX6" fmla="*/ 1319558 w 2315958"/>
              <a:gd name="connsiteY6" fmla="*/ 814629 h 814629"/>
              <a:gd name="connsiteX7" fmla="*/ 1350829 w 2315958"/>
              <a:gd name="connsiteY7" fmla="*/ 814629 h 814629"/>
              <a:gd name="connsiteX8" fmla="*/ 1440155 w 2315958"/>
              <a:gd name="connsiteY8" fmla="*/ 814629 h 814629"/>
              <a:gd name="connsiteX9" fmla="*/ 1520716 w 2315958"/>
              <a:gd name="connsiteY9" fmla="*/ 814629 h 814629"/>
              <a:gd name="connsiteX10" fmla="*/ 2315958 w 2315958"/>
              <a:gd name="connsiteY10" fmla="*/ 814629 h 814629"/>
              <a:gd name="connsiteX11" fmla="*/ 1849210 w 2315958"/>
              <a:gd name="connsiteY11" fmla="*/ 373040 h 814629"/>
              <a:gd name="connsiteX12" fmla="*/ 1488939 w 2315958"/>
              <a:gd name="connsiteY12" fmla="*/ 0 h 81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958" h="814629">
                <a:moveTo>
                  <a:pt x="1488939" y="0"/>
                </a:moveTo>
                <a:lnTo>
                  <a:pt x="1440155" y="0"/>
                </a:lnTo>
                <a:lnTo>
                  <a:pt x="1328575" y="0"/>
                </a:lnTo>
                <a:lnTo>
                  <a:pt x="1319558" y="0"/>
                </a:lnTo>
                <a:lnTo>
                  <a:pt x="0" y="0"/>
                </a:lnTo>
                <a:lnTo>
                  <a:pt x="0" y="814629"/>
                </a:lnTo>
                <a:lnTo>
                  <a:pt x="1319558" y="814629"/>
                </a:lnTo>
                <a:lnTo>
                  <a:pt x="1350829" y="814629"/>
                </a:lnTo>
                <a:lnTo>
                  <a:pt x="1440155" y="814629"/>
                </a:lnTo>
                <a:lnTo>
                  <a:pt x="1520716" y="814629"/>
                </a:lnTo>
                <a:cubicBezTo>
                  <a:pt x="2315958" y="814629"/>
                  <a:pt x="2315958" y="814629"/>
                  <a:pt x="2315958" y="814629"/>
                </a:cubicBezTo>
                <a:cubicBezTo>
                  <a:pt x="2073833" y="814629"/>
                  <a:pt x="1955687" y="580284"/>
                  <a:pt x="1849210" y="373040"/>
                </a:cubicBezTo>
                <a:cubicBezTo>
                  <a:pt x="1751485" y="181737"/>
                  <a:pt x="1659594" y="0"/>
                  <a:pt x="148893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9E1590-3970-0E4B-B2C4-5CCE1B0816B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8790328" y="6347432"/>
            <a:ext cx="1158342" cy="427913"/>
          </a:xfrm>
          <a:prstGeom prst="rect">
            <a:avLst/>
          </a:prstGeom>
        </p:spPr>
      </p:pic>
      <p:pic>
        <p:nvPicPr>
          <p:cNvPr id="12" name="Picture 11" descr="A poster for a cancer awareness event&#10;&#10;Description automatically generated">
            <a:extLst>
              <a:ext uri="{FF2B5EF4-FFF2-40B4-BE49-F238E27FC236}">
                <a16:creationId xmlns:a16="http://schemas.microsoft.com/office/drawing/2014/main" id="{0E2A4EBF-3A9B-B880-FA6B-955D378557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b="23026"/>
          <a:stretch/>
        </p:blipFill>
        <p:spPr>
          <a:xfrm>
            <a:off x="192107" y="6068481"/>
            <a:ext cx="1334774" cy="665806"/>
          </a:xfrm>
          <a:prstGeom prst="rect">
            <a:avLst/>
          </a:prstGeom>
        </p:spPr>
      </p:pic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8EDE62A-AC08-8222-35B8-910E76F387A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9890" y="6364398"/>
            <a:ext cx="1526189" cy="336584"/>
          </a:xfrm>
          <a:prstGeom prst="rect">
            <a:avLst/>
          </a:prstGeom>
        </p:spPr>
      </p:pic>
      <p:pic>
        <p:nvPicPr>
          <p:cNvPr id="8" name="Picture 7" descr="A poster for a cancer awareness event&#10;&#10;Description automatically generated">
            <a:extLst>
              <a:ext uri="{FF2B5EF4-FFF2-40B4-BE49-F238E27FC236}">
                <a16:creationId xmlns:a16="http://schemas.microsoft.com/office/drawing/2014/main" id="{CE8936DF-BCA6-3E41-B39A-3B041C8A15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t="75523"/>
          <a:stretch/>
        </p:blipFill>
        <p:spPr>
          <a:xfrm>
            <a:off x="1301937" y="6196404"/>
            <a:ext cx="2441594" cy="38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194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78" r:id="rId2"/>
    <p:sldLayoutId id="2147483979" r:id="rId3"/>
    <p:sldLayoutId id="2147483976" r:id="rId4"/>
    <p:sldLayoutId id="2147483943" r:id="rId5"/>
    <p:sldLayoutId id="2147483951" r:id="rId6"/>
    <p:sldLayoutId id="2147483959" r:id="rId7"/>
    <p:sldLayoutId id="2147483960" r:id="rId8"/>
    <p:sldLayoutId id="2147483981" r:id="rId9"/>
    <p:sldLayoutId id="2147483982" r:id="rId10"/>
    <p:sldLayoutId id="2147483984" r:id="rId11"/>
    <p:sldLayoutId id="2147483985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spc="0" baseline="0">
          <a:solidFill>
            <a:schemeClr val="tx1"/>
          </a:solidFill>
          <a:latin typeface="Franklin Gothic Medium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C1D52F"/>
        </a:buClr>
        <a:buFont typeface="Franklin Gothic Book" panose="020B0503020102020204" pitchFamily="34" charset="0"/>
        <a:buNone/>
        <a:defRPr sz="2200" b="0" kern="1200" spc="200" baseline="0">
          <a:solidFill>
            <a:schemeClr val="accent6"/>
          </a:solidFill>
          <a:latin typeface="Franklin Gothic Book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C1D52F"/>
        </a:buClr>
        <a:buFont typeface="Franklin Gothic Book" panose="020B0503020102020204" pitchFamily="34" charset="0"/>
        <a:buNone/>
        <a:defRPr sz="2200" kern="1200">
          <a:solidFill>
            <a:schemeClr val="tx1"/>
          </a:solidFill>
          <a:latin typeface="Franklin Gothic Book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Wingdings" panose="05000000000000000000" pitchFamily="2" charset="2"/>
        <a:buChar char=""/>
        <a:defRPr sz="2200" kern="1200">
          <a:solidFill>
            <a:schemeClr val="tx1"/>
          </a:solidFill>
          <a:latin typeface="Franklin Gothic Book"/>
          <a:ea typeface="+mn-ea"/>
          <a:cs typeface="+mn-cs"/>
        </a:defRPr>
      </a:lvl3pPr>
      <a:lvl4pPr marL="342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Franklin Gothic Book" panose="020B0503020102020204" pitchFamily="34" charset="0"/>
        <a:buChar char="–"/>
        <a:defRPr sz="2000" kern="1200">
          <a:solidFill>
            <a:schemeClr val="tx1"/>
          </a:solidFill>
          <a:latin typeface="Franklin Gothic Book"/>
          <a:ea typeface="+mn-ea"/>
          <a:cs typeface="+mn-cs"/>
        </a:defRPr>
      </a:lvl4pPr>
      <a:lvl5pPr marL="504000" indent="-180000" algn="l" defTabSz="914400" rtl="0" eaLnBrk="1" latinLnBrk="0" hangingPunct="1">
        <a:lnSpc>
          <a:spcPct val="90000"/>
        </a:lnSpc>
        <a:spcBef>
          <a:spcPts val="200"/>
        </a:spcBef>
        <a:buClr>
          <a:schemeClr val="accent1"/>
        </a:buClr>
        <a:buFont typeface="Franklin Gothic Book" panose="020B0503020102020204" pitchFamily="34" charset="0"/>
        <a:buChar char="–"/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Franklin Gothic Book" panose="020B0503020102020204" pitchFamily="34" charset="0"/>
        <a:buChar char="•"/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Franklin Gothic Book" panose="020B0503020102020204" pitchFamily="34" charset="0"/>
        <a:buChar char="•"/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Franklin Gothic Book" panose="020B0503020102020204" pitchFamily="34" charset="0"/>
        <a:buChar char="•"/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Franklin Gothic Book" panose="020B0503020102020204" pitchFamily="34" charset="0"/>
        <a:buChar char="•"/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9pPr>
    </p:bodyStyle>
    <p:otherStyle>
      <a:defPPr>
        <a:defRPr lang="en-US">
          <a:latin typeface="Franklin Gothic Book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0" orient="horz" pos="2160">
          <p15:clr>
            <a:srgbClr val="5ACBF0"/>
          </p15:clr>
        </p15:guide>
        <p15:guide id="41" pos="3840">
          <p15:clr>
            <a:srgbClr val="5ACBF0"/>
          </p15:clr>
        </p15:guide>
        <p15:guide id="42" pos="182" userDrawn="1">
          <p15:clr>
            <a:srgbClr val="5ACBF0"/>
          </p15:clr>
        </p15:guide>
        <p15:guide id="43" pos="325">
          <p15:clr>
            <a:srgbClr val="9FCC3B"/>
          </p15:clr>
        </p15:guide>
        <p15:guide id="44" pos="438">
          <p15:clr>
            <a:srgbClr val="5ACBF0"/>
          </p15:clr>
        </p15:guide>
        <p15:guide id="45" pos="7469">
          <p15:clr>
            <a:srgbClr val="5ACBF0"/>
          </p15:clr>
        </p15:guide>
        <p15:guide id="46" pos="7355">
          <p15:clr>
            <a:srgbClr val="9FCC3B"/>
          </p15:clr>
        </p15:guide>
        <p15:guide id="47" pos="7242">
          <p15:clr>
            <a:srgbClr val="5ACBF0"/>
          </p15:clr>
        </p15:guide>
        <p15:guide id="48" orient="horz" pos="743">
          <p15:clr>
            <a:srgbClr val="5ACBF0"/>
          </p15:clr>
        </p15:guide>
        <p15:guide id="49" orient="horz" pos="1026">
          <p15:clr>
            <a:srgbClr val="5ACBF0"/>
          </p15:clr>
        </p15:guide>
        <p15:guide id="50" pos="542">
          <p15:clr>
            <a:srgbClr val="5ACBF0"/>
          </p15:clr>
        </p15:guide>
        <p15:guide id="51" orient="horz" pos="4031">
          <p15:clr>
            <a:srgbClr val="5ACBF0"/>
          </p15:clr>
        </p15:guide>
        <p15:guide id="52" orient="horz" pos="4232" userDrawn="1">
          <p15:clr>
            <a:srgbClr val="5ACBF0"/>
          </p15:clr>
        </p15:guide>
        <p15:guide id="53" orient="horz" pos="3747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58A46D-AF04-47DE-8600-51C1E8516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832452"/>
            <a:ext cx="11160125" cy="4431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GB" dirty="0"/>
              <a:t>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788BF-F29C-4BD6-8195-7C6A455DB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574066"/>
            <a:ext cx="11160125" cy="178664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GB" dirty="0"/>
              <a:t>SUBTITLE IN CAPS</a:t>
            </a:r>
          </a:p>
          <a:p>
            <a:pPr lvl="1"/>
            <a:r>
              <a:rPr lang="en-GB" dirty="0"/>
              <a:t>Body text</a:t>
            </a:r>
          </a:p>
          <a:p>
            <a:pPr lvl="2"/>
            <a:r>
              <a:rPr lang="en-GB" dirty="0"/>
              <a:t>Main bullet</a:t>
            </a:r>
          </a:p>
          <a:p>
            <a:pPr lvl="3"/>
            <a:r>
              <a:rPr lang="en-GB" dirty="0"/>
              <a:t>Sub bullet</a:t>
            </a:r>
          </a:p>
          <a:p>
            <a:pPr lvl="4"/>
            <a:r>
              <a:rPr lang="en-GB" dirty="0"/>
              <a:t>Mini bullet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DCB58486-7855-4C32-936E-815EC53CCD09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480560" y="6217920"/>
            <a:ext cx="7711440" cy="640080"/>
          </a:xfrm>
          <a:custGeom>
            <a:avLst/>
            <a:gdLst>
              <a:gd name="connsiteX0" fmla="*/ 1488939 w 2315958"/>
              <a:gd name="connsiteY0" fmla="*/ 0 h 814629"/>
              <a:gd name="connsiteX1" fmla="*/ 1440155 w 2315958"/>
              <a:gd name="connsiteY1" fmla="*/ 0 h 814629"/>
              <a:gd name="connsiteX2" fmla="*/ 1328575 w 2315958"/>
              <a:gd name="connsiteY2" fmla="*/ 0 h 814629"/>
              <a:gd name="connsiteX3" fmla="*/ 1319558 w 2315958"/>
              <a:gd name="connsiteY3" fmla="*/ 0 h 814629"/>
              <a:gd name="connsiteX4" fmla="*/ 0 w 2315958"/>
              <a:gd name="connsiteY4" fmla="*/ 0 h 814629"/>
              <a:gd name="connsiteX5" fmla="*/ 0 w 2315958"/>
              <a:gd name="connsiteY5" fmla="*/ 814629 h 814629"/>
              <a:gd name="connsiteX6" fmla="*/ 1319558 w 2315958"/>
              <a:gd name="connsiteY6" fmla="*/ 814629 h 814629"/>
              <a:gd name="connsiteX7" fmla="*/ 1350829 w 2315958"/>
              <a:gd name="connsiteY7" fmla="*/ 814629 h 814629"/>
              <a:gd name="connsiteX8" fmla="*/ 1440155 w 2315958"/>
              <a:gd name="connsiteY8" fmla="*/ 814629 h 814629"/>
              <a:gd name="connsiteX9" fmla="*/ 1520716 w 2315958"/>
              <a:gd name="connsiteY9" fmla="*/ 814629 h 814629"/>
              <a:gd name="connsiteX10" fmla="*/ 2315958 w 2315958"/>
              <a:gd name="connsiteY10" fmla="*/ 814629 h 814629"/>
              <a:gd name="connsiteX11" fmla="*/ 1849210 w 2315958"/>
              <a:gd name="connsiteY11" fmla="*/ 373040 h 814629"/>
              <a:gd name="connsiteX12" fmla="*/ 1488939 w 2315958"/>
              <a:gd name="connsiteY12" fmla="*/ 0 h 81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958" h="814629">
                <a:moveTo>
                  <a:pt x="1488939" y="0"/>
                </a:moveTo>
                <a:lnTo>
                  <a:pt x="1440155" y="0"/>
                </a:lnTo>
                <a:lnTo>
                  <a:pt x="1328575" y="0"/>
                </a:lnTo>
                <a:lnTo>
                  <a:pt x="1319558" y="0"/>
                </a:lnTo>
                <a:lnTo>
                  <a:pt x="0" y="0"/>
                </a:lnTo>
                <a:lnTo>
                  <a:pt x="0" y="814629"/>
                </a:lnTo>
                <a:lnTo>
                  <a:pt x="1319558" y="814629"/>
                </a:lnTo>
                <a:lnTo>
                  <a:pt x="1350829" y="814629"/>
                </a:lnTo>
                <a:lnTo>
                  <a:pt x="1440155" y="814629"/>
                </a:lnTo>
                <a:lnTo>
                  <a:pt x="1520716" y="814629"/>
                </a:lnTo>
                <a:cubicBezTo>
                  <a:pt x="2315958" y="814629"/>
                  <a:pt x="2315958" y="814629"/>
                  <a:pt x="2315958" y="814629"/>
                </a:cubicBezTo>
                <a:cubicBezTo>
                  <a:pt x="2073833" y="814629"/>
                  <a:pt x="1955687" y="580284"/>
                  <a:pt x="1849210" y="373040"/>
                </a:cubicBezTo>
                <a:cubicBezTo>
                  <a:pt x="1751485" y="181737"/>
                  <a:pt x="1659594" y="0"/>
                  <a:pt x="148893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9E1590-3970-0E4B-B2C4-5CCE1B0816B9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8790328" y="6347432"/>
            <a:ext cx="1158342" cy="427913"/>
          </a:xfrm>
          <a:prstGeom prst="rect">
            <a:avLst/>
          </a:prstGeom>
        </p:spPr>
      </p:pic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8EDE62A-AC08-8222-35B8-910E76F387A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9890" y="6364398"/>
            <a:ext cx="1526189" cy="336584"/>
          </a:xfrm>
          <a:prstGeom prst="rect">
            <a:avLst/>
          </a:prstGeom>
        </p:spPr>
      </p:pic>
      <p:pic>
        <p:nvPicPr>
          <p:cNvPr id="7" name="Picture 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7FF4960C-5AF3-89A2-97B7-9342C5BCEEFB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219918" y="6127173"/>
            <a:ext cx="3287210" cy="63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861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  <p:sldLayoutId id="2147484012" r:id="rId12"/>
    <p:sldLayoutId id="2147484013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p15="http://schemas.microsoft.com/office/powerpoint/2012/main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spc="0" baseline="0">
          <a:solidFill>
            <a:schemeClr val="tx1"/>
          </a:solidFill>
          <a:latin typeface="Franklin Gothic Medium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C1D52F"/>
        </a:buClr>
        <a:buFont typeface="Franklin Gothic Book" panose="020B0503020102020204" pitchFamily="34" charset="0"/>
        <a:buNone/>
        <a:defRPr sz="2200" b="0" kern="1200" spc="200" baseline="0">
          <a:solidFill>
            <a:schemeClr val="accent6"/>
          </a:solidFill>
          <a:latin typeface="Franklin Gothic Book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C1D52F"/>
        </a:buClr>
        <a:buFont typeface="Franklin Gothic Book" panose="020B0503020102020204" pitchFamily="34" charset="0"/>
        <a:buNone/>
        <a:defRPr sz="2200" kern="1200">
          <a:solidFill>
            <a:schemeClr val="tx1"/>
          </a:solidFill>
          <a:latin typeface="Franklin Gothic Book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Wingdings" panose="05000000000000000000" pitchFamily="2" charset="2"/>
        <a:buChar char=""/>
        <a:defRPr sz="2200" kern="1200">
          <a:solidFill>
            <a:schemeClr val="tx1"/>
          </a:solidFill>
          <a:latin typeface="Franklin Gothic Book"/>
          <a:ea typeface="+mn-ea"/>
          <a:cs typeface="+mn-cs"/>
        </a:defRPr>
      </a:lvl3pPr>
      <a:lvl4pPr marL="342000" indent="-1800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Franklin Gothic Book" panose="020B0503020102020204" pitchFamily="34" charset="0"/>
        <a:buChar char="–"/>
        <a:defRPr sz="2000" kern="1200">
          <a:solidFill>
            <a:schemeClr val="tx1"/>
          </a:solidFill>
          <a:latin typeface="Franklin Gothic Book"/>
          <a:ea typeface="+mn-ea"/>
          <a:cs typeface="+mn-cs"/>
        </a:defRPr>
      </a:lvl4pPr>
      <a:lvl5pPr marL="504000" indent="-180000" algn="l" defTabSz="914400" rtl="0" eaLnBrk="1" latinLnBrk="0" hangingPunct="1">
        <a:lnSpc>
          <a:spcPct val="90000"/>
        </a:lnSpc>
        <a:spcBef>
          <a:spcPts val="200"/>
        </a:spcBef>
        <a:buClr>
          <a:schemeClr val="accent1"/>
        </a:buClr>
        <a:buFont typeface="Franklin Gothic Book" panose="020B0503020102020204" pitchFamily="34" charset="0"/>
        <a:buChar char="–"/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Franklin Gothic Book" panose="020B0503020102020204" pitchFamily="34" charset="0"/>
        <a:buChar char="•"/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Franklin Gothic Book" panose="020B0503020102020204" pitchFamily="34" charset="0"/>
        <a:buChar char="•"/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Franklin Gothic Book" panose="020B0503020102020204" pitchFamily="34" charset="0"/>
        <a:buChar char="•"/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Franklin Gothic Book" panose="020B0503020102020204" pitchFamily="34" charset="0"/>
        <a:buChar char="•"/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9pPr>
    </p:bodyStyle>
    <p:otherStyle>
      <a:defPPr>
        <a:defRPr lang="en-US">
          <a:latin typeface="Franklin Gothic Book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Franklin Gothic Book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0" orient="horz" pos="2160">
          <p15:clr>
            <a:srgbClr val="5ACBF0"/>
          </p15:clr>
        </p15:guide>
        <p15:guide id="41" pos="3840">
          <p15:clr>
            <a:srgbClr val="5ACBF0"/>
          </p15:clr>
        </p15:guide>
        <p15:guide id="42" pos="182">
          <p15:clr>
            <a:srgbClr val="5ACBF0"/>
          </p15:clr>
        </p15:guide>
        <p15:guide id="43" pos="325">
          <p15:clr>
            <a:srgbClr val="9FCC3B"/>
          </p15:clr>
        </p15:guide>
        <p15:guide id="44" pos="438">
          <p15:clr>
            <a:srgbClr val="5ACBF0"/>
          </p15:clr>
        </p15:guide>
        <p15:guide id="45" pos="7469">
          <p15:clr>
            <a:srgbClr val="5ACBF0"/>
          </p15:clr>
        </p15:guide>
        <p15:guide id="46" pos="7355">
          <p15:clr>
            <a:srgbClr val="9FCC3B"/>
          </p15:clr>
        </p15:guide>
        <p15:guide id="47" pos="7242">
          <p15:clr>
            <a:srgbClr val="5ACBF0"/>
          </p15:clr>
        </p15:guide>
        <p15:guide id="48" orient="horz" pos="743">
          <p15:clr>
            <a:srgbClr val="5ACBF0"/>
          </p15:clr>
        </p15:guide>
        <p15:guide id="49" orient="horz" pos="1026">
          <p15:clr>
            <a:srgbClr val="5ACBF0"/>
          </p15:clr>
        </p15:guide>
        <p15:guide id="50" pos="542">
          <p15:clr>
            <a:srgbClr val="5ACBF0"/>
          </p15:clr>
        </p15:guide>
        <p15:guide id="51" orient="horz" pos="4031">
          <p15:clr>
            <a:srgbClr val="5ACBF0"/>
          </p15:clr>
        </p15:guide>
        <p15:guide id="52" orient="horz" pos="4232">
          <p15:clr>
            <a:srgbClr val="5ACBF0"/>
          </p15:clr>
        </p15:guide>
        <p15:guide id="53" orient="horz" pos="3747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947" y="1413026"/>
            <a:ext cx="11394276" cy="4713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05408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0" i="0">
                <a:solidFill>
                  <a:srgbClr val="000000"/>
                </a:solidFill>
                <a:latin typeface="Franklin Gothic Medium" panose="020B0603020102020204" pitchFamily="34" charset="0"/>
                <a:cs typeface="Franklin Gothic Medium" panose="020B0603020102020204" pitchFamily="34" charset="0"/>
              </a:defRPr>
            </a:lvl1pPr>
          </a:lstStyle>
          <a:p>
            <a:r>
              <a:rPr lang="en-US" dirty="0"/>
              <a:t>Reference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00084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0" i="0">
                <a:solidFill>
                  <a:srgbClr val="000000"/>
                </a:solidFill>
                <a:latin typeface="Franklin Gothic Medium" panose="020B0603020102020204" pitchFamily="34" charset="0"/>
                <a:cs typeface="Franklin Gothic Medium" panose="020B0603020102020204" pitchFamily="34" charset="0"/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MSKCC_logo_hor_pos_rgb_150.p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48" y="6206039"/>
            <a:ext cx="1625465" cy="500644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471947" y="6126164"/>
            <a:ext cx="11394276" cy="0"/>
          </a:xfrm>
          <a:prstGeom prst="line">
            <a:avLst/>
          </a:prstGeom>
          <a:ln w="28575" cmpd="sng">
            <a:solidFill>
              <a:srgbClr val="F265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Placeholder 11"/>
          <p:cNvSpPr>
            <a:spLocks noGrp="1"/>
          </p:cNvSpPr>
          <p:nvPr>
            <p:ph type="title"/>
          </p:nvPr>
        </p:nvSpPr>
        <p:spPr>
          <a:xfrm>
            <a:off x="464798" y="274637"/>
            <a:ext cx="11401425" cy="11383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59106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  <p:sldLayoutId id="2147484010" r:id="rId12"/>
    <p:sldLayoutId id="2147484011" r:id="rId13"/>
  </p:sldLayoutIdLst>
  <p:txStyles>
    <p:titleStyle>
      <a:lvl1pPr algn="l" defTabSz="609585" rtl="0" eaLnBrk="1" latinLnBrk="0" hangingPunct="1">
        <a:spcBef>
          <a:spcPct val="0"/>
        </a:spcBef>
        <a:buNone/>
        <a:defRPr sz="4267" b="0" i="0" kern="1200">
          <a:solidFill>
            <a:srgbClr val="005A8E"/>
          </a:solidFill>
          <a:latin typeface="Franklin Gothic Medium"/>
          <a:ea typeface="+mj-ea"/>
          <a:cs typeface="Franklin Gothic Medium" panose="020B0603020102020204" pitchFamily="34" charset="0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2667" b="0" i="0" kern="1200">
          <a:solidFill>
            <a:schemeClr val="tx1"/>
          </a:solidFill>
          <a:latin typeface="Franklin Gothic Book"/>
          <a:ea typeface="+mn-ea"/>
          <a:cs typeface="Franklin Gothic Medium" panose="020B0603020102020204" pitchFamily="34" charset="0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2667" b="0" i="0" kern="1200">
          <a:solidFill>
            <a:schemeClr val="tx1"/>
          </a:solidFill>
          <a:latin typeface="Franklin Gothic Book"/>
          <a:ea typeface="+mn-ea"/>
          <a:cs typeface="Franklin Gothic Medium" panose="020B0603020102020204" pitchFamily="34" charset="0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2667" b="0" i="0" kern="1200">
          <a:solidFill>
            <a:schemeClr val="tx1"/>
          </a:solidFill>
          <a:latin typeface="Franklin Gothic Book"/>
          <a:ea typeface="+mn-ea"/>
          <a:cs typeface="Franklin Gothic Medium" panose="020B0603020102020204" pitchFamily="34" charset="0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b="0" i="0" kern="1200">
          <a:solidFill>
            <a:schemeClr val="tx1"/>
          </a:solidFill>
          <a:latin typeface="Franklin Gothic Book"/>
          <a:ea typeface="+mn-ea"/>
          <a:cs typeface="Franklin Gothic Medium" panose="020B0603020102020204" pitchFamily="34" charset="0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b="0" i="0" kern="1200">
          <a:solidFill>
            <a:schemeClr val="tx1"/>
          </a:solidFill>
          <a:latin typeface="Franklin Gothic Book"/>
          <a:ea typeface="+mn-ea"/>
          <a:cs typeface="Franklin Gothic Medium" panose="020B0603020102020204" pitchFamily="34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Franklin Gothic Book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Franklin Gothic Book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Franklin Gothic Book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Franklin Gothic Book"/>
          <a:ea typeface="+mn-ea"/>
          <a:cs typeface="+mn-cs"/>
        </a:defRPr>
      </a:lvl9pPr>
    </p:bodyStyle>
    <p:otherStyle>
      <a:defPPr>
        <a:defRPr lang="en-US">
          <a:latin typeface="Franklin Gothic Book"/>
        </a:defRPr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Franklin Gothic Book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Franklin Gothic Book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Franklin Gothic Book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Franklin Gothic Book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Franklin Gothic Book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Franklin Gothic Book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Franklin Gothic Book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Franklin Gothic Book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Franklin Gothic Book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red object&#10;&#10;AI-generated content may be incorrect.">
            <a:extLst>
              <a:ext uri="{FF2B5EF4-FFF2-40B4-BE49-F238E27FC236}">
                <a16:creationId xmlns:a16="http://schemas.microsoft.com/office/drawing/2014/main" id="{DD76F982-347C-F217-9332-46DFCDB463C8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93" y="4152588"/>
            <a:ext cx="11594626" cy="270541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EAA556B-5245-C7E3-3228-806F5FFF65E9}"/>
              </a:ext>
            </a:extLst>
          </p:cNvPr>
          <p:cNvSpPr/>
          <p:nvPr userDrawn="1"/>
        </p:nvSpPr>
        <p:spPr>
          <a:xfrm rot="5400000">
            <a:off x="-3148649" y="3140010"/>
            <a:ext cx="6858002" cy="577979"/>
          </a:xfrm>
          <a:prstGeom prst="rect">
            <a:avLst/>
          </a:prstGeom>
          <a:solidFill>
            <a:srgbClr val="202F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72139-6485-7129-7F60-BA7A2666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6881"/>
            <a:ext cx="1027405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D3717-25DD-C430-BEC5-F0DB38E74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760" y="1825625"/>
            <a:ext cx="10275498" cy="42387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9D95-686C-0311-6343-9E8DD3FF55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6760" y="634100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3B5BA-D353-B861-C3E8-9C557DFBB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1517" y="6347858"/>
            <a:ext cx="25807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4BE48F-A58F-4FE0-A312-D4555325F024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27D56D-967C-B38C-6735-47DB831DDA7A}"/>
              </a:ext>
            </a:extLst>
          </p:cNvPr>
          <p:cNvSpPr txBox="1"/>
          <p:nvPr userDrawn="1"/>
        </p:nvSpPr>
        <p:spPr>
          <a:xfrm>
            <a:off x="3047281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/>
          </a:p>
        </p:txBody>
      </p:sp>
      <p:pic>
        <p:nvPicPr>
          <p:cNvPr id="13" name="Picture 12" descr="A logo for a cancer symposium&#10;&#10;AI-generated content may be incorrect.">
            <a:extLst>
              <a:ext uri="{FF2B5EF4-FFF2-40B4-BE49-F238E27FC236}">
                <a16:creationId xmlns:a16="http://schemas.microsoft.com/office/drawing/2014/main" id="{C78DFB8F-12C5-6BB5-9DD6-1D9FA14EC09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211" y="133393"/>
            <a:ext cx="1164757" cy="92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63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5" r:id="rId1"/>
    <p:sldLayoutId id="2147484016" r:id="rId2"/>
    <p:sldLayoutId id="2147484017" r:id="rId3"/>
    <p:sldLayoutId id="2147484018" r:id="rId4"/>
    <p:sldLayoutId id="2147484019" r:id="rId5"/>
    <p:sldLayoutId id="2147484020" r:id="rId6"/>
    <p:sldLayoutId id="2147484021" r:id="rId7"/>
    <p:sldLayoutId id="2147484022" r:id="rId8"/>
    <p:sldLayoutId id="2147484023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B523-DB4F-9CDA-BE0D-F446785707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AbracadaBRAF</a:t>
            </a:r>
            <a:r>
              <a:rPr lang="en-CA" dirty="0"/>
              <a:t>: </a:t>
            </a:r>
            <a:br>
              <a:rPr lang="en-CA" dirty="0"/>
            </a:br>
            <a:r>
              <a:rPr lang="en-CA" dirty="0"/>
              <a:t>Treatment of BRAF Mutated Lung Cancer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165E0-0B4D-83B7-F73B-2207B5D064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Gregory J. Riely</a:t>
            </a:r>
          </a:p>
          <a:p>
            <a:r>
              <a:rPr lang="en-CA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Ning Zhao and Ge Li Chair in Lung Cancer Research</a:t>
            </a:r>
          </a:p>
          <a:p>
            <a:r>
              <a:rPr lang="en-CA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Memorial Sloan Kettering Cancer Center</a:t>
            </a:r>
          </a:p>
          <a:p>
            <a:r>
              <a:rPr lang="en-CA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New York, New York</a:t>
            </a:r>
          </a:p>
        </p:txBody>
      </p:sp>
    </p:spTree>
    <p:extLst>
      <p:ext uri="{BB962C8B-B14F-4D97-AF65-F5344CB8AC3E}">
        <p14:creationId xmlns:p14="http://schemas.microsoft.com/office/powerpoint/2010/main" val="2730052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79B099-066D-FBA5-6892-5E95C6836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Disclosures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864AC1-A088-B33C-BCB2-AD3EDA25B50C}"/>
              </a:ext>
            </a:extLst>
          </p:cNvPr>
          <p:cNvSpPr txBox="1"/>
          <p:nvPr/>
        </p:nvSpPr>
        <p:spPr>
          <a:xfrm>
            <a:off x="829849" y="1317662"/>
            <a:ext cx="88903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Franklin Gothic Book"/>
              </a:rPr>
              <a:t>MSKCC receives or has received research funding for my work from: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Book"/>
              </a:rPr>
              <a:t>Mirati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Book"/>
              </a:rPr>
              <a:t>Lilly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Book"/>
              </a:rPr>
              <a:t>Takeda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Book"/>
              </a:rPr>
              <a:t>Merck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Book"/>
              </a:rPr>
              <a:t>Roche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Book"/>
              </a:rPr>
              <a:t>Pfizer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Book"/>
              </a:rPr>
              <a:t>Novartis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Book"/>
              </a:rPr>
              <a:t>Amgen</a:t>
            </a:r>
          </a:p>
        </p:txBody>
      </p:sp>
    </p:spTree>
    <p:extLst>
      <p:ext uri="{BB962C8B-B14F-4D97-AF65-F5344CB8AC3E}">
        <p14:creationId xmlns:p14="http://schemas.microsoft.com/office/powerpoint/2010/main" val="1691802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Lung cancer molecular subtypes with indicated agents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96B0CD6-1DDA-48F2-9DE3-4E2EDECC63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98" b="4968"/>
          <a:stretch/>
        </p:blipFill>
        <p:spPr bwMode="auto">
          <a:xfrm>
            <a:off x="1345362" y="1515650"/>
            <a:ext cx="8133598" cy="444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8206D9-F1EA-4270-AFC9-0EBEF48C98E0}"/>
              </a:ext>
            </a:extLst>
          </p:cNvPr>
          <p:cNvSpPr txBox="1"/>
          <p:nvPr/>
        </p:nvSpPr>
        <p:spPr>
          <a:xfrm>
            <a:off x="2743200" y="6217920"/>
            <a:ext cx="9174480" cy="548640"/>
          </a:xfrm>
          <a:prstGeom prst="rect">
            <a:avLst/>
          </a:prstGeom>
          <a:noFill/>
        </p:spPr>
        <p:txBody>
          <a:bodyPr wrap="square" lIns="45720" rIns="45720" rtlCol="0" anchor="b">
            <a:noAutofit/>
          </a:bodyPr>
          <a:lstStyle/>
          <a:p>
            <a:pPr algn="r"/>
            <a:r>
              <a:rPr sz="1400" spc="0">
                <a:solidFill>
                  <a:srgbClr val="404040"/>
                </a:solidFill>
                <a:latin typeface="Franklin Gothic Book"/>
              </a:rPr>
              <a:t>AACR GENIE BPC lung, genie.cbioportal.org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D9F45D6-D795-6189-CF67-AEED65DDD8D1}"/>
              </a:ext>
            </a:extLst>
          </p:cNvPr>
          <p:cNvCxnSpPr/>
          <p:nvPr/>
        </p:nvCxnSpPr>
        <p:spPr>
          <a:xfrm flipH="1">
            <a:off x="9153260" y="3477832"/>
            <a:ext cx="1102290" cy="8768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345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5A35B-3D0D-B9C3-FAD5-441941976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725914"/>
            <a:ext cx="11394276" cy="443198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When were BRAF mutations first described in NSCLC?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7C9A1B-F457-8336-2316-F3059DDC0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F2BC941-85F8-896C-E773-10503FD6CC42}"/>
              </a:ext>
            </a:extLst>
          </p:cNvPr>
          <p:cNvCxnSpPr>
            <a:cxnSpLocks/>
          </p:cNvCxnSpPr>
          <p:nvPr/>
        </p:nvCxnSpPr>
        <p:spPr>
          <a:xfrm>
            <a:off x="654518" y="3429000"/>
            <a:ext cx="9827394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F8AB8D-5B20-4764-CA33-63BAD2CD23AA}"/>
              </a:ext>
            </a:extLst>
          </p:cNvPr>
          <p:cNvCxnSpPr/>
          <p:nvPr/>
        </p:nvCxnSpPr>
        <p:spPr>
          <a:xfrm>
            <a:off x="1289785" y="3429000"/>
            <a:ext cx="0" cy="6136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0EBE79-11B4-033E-E4E5-545F5A39AE8C}"/>
              </a:ext>
            </a:extLst>
          </p:cNvPr>
          <p:cNvCxnSpPr/>
          <p:nvPr/>
        </p:nvCxnSpPr>
        <p:spPr>
          <a:xfrm>
            <a:off x="8035490" y="3429000"/>
            <a:ext cx="0" cy="6136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E943775-071B-E3FE-DB59-4F444728B893}"/>
              </a:ext>
            </a:extLst>
          </p:cNvPr>
          <p:cNvCxnSpPr/>
          <p:nvPr/>
        </p:nvCxnSpPr>
        <p:spPr>
          <a:xfrm>
            <a:off x="12990897" y="3429000"/>
            <a:ext cx="0" cy="6136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10B169-E34E-92CA-CF97-A674CBA4BC2C}"/>
              </a:ext>
            </a:extLst>
          </p:cNvPr>
          <p:cNvCxnSpPr/>
          <p:nvPr/>
        </p:nvCxnSpPr>
        <p:spPr>
          <a:xfrm>
            <a:off x="8775031" y="3429000"/>
            <a:ext cx="0" cy="6136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8503CAE-4CCD-8377-5AB3-EF4CBBEDF0A0}"/>
              </a:ext>
            </a:extLst>
          </p:cNvPr>
          <p:cNvSpPr txBox="1"/>
          <p:nvPr/>
        </p:nvSpPr>
        <p:spPr>
          <a:xfrm>
            <a:off x="928756" y="4096463"/>
            <a:ext cx="722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1984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575F03-3563-9C6C-F077-8623DA8BBE77}"/>
              </a:ext>
            </a:extLst>
          </p:cNvPr>
          <p:cNvSpPr txBox="1"/>
          <p:nvPr/>
        </p:nvSpPr>
        <p:spPr>
          <a:xfrm>
            <a:off x="7674461" y="4096463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2002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67369A-1E7A-20DE-2392-A67B2DDF7838}"/>
              </a:ext>
            </a:extLst>
          </p:cNvPr>
          <p:cNvSpPr txBox="1"/>
          <p:nvPr/>
        </p:nvSpPr>
        <p:spPr>
          <a:xfrm>
            <a:off x="8413393" y="4096463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2004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35B0CB1-6E97-C605-6EE7-95474DB9D32A}"/>
              </a:ext>
            </a:extLst>
          </p:cNvPr>
          <p:cNvCxnSpPr/>
          <p:nvPr/>
        </p:nvCxnSpPr>
        <p:spPr>
          <a:xfrm>
            <a:off x="10005463" y="3446647"/>
            <a:ext cx="0" cy="6136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9D1FA89-36B9-2537-01E6-8F200C3A6EBA}"/>
              </a:ext>
            </a:extLst>
          </p:cNvPr>
          <p:cNvSpPr txBox="1"/>
          <p:nvPr/>
        </p:nvSpPr>
        <p:spPr>
          <a:xfrm>
            <a:off x="9643825" y="4114110"/>
            <a:ext cx="710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2007</a:t>
            </a:r>
          </a:p>
        </p:txBody>
      </p:sp>
    </p:spTree>
    <p:extLst>
      <p:ext uri="{BB962C8B-B14F-4D97-AF65-F5344CB8AC3E}">
        <p14:creationId xmlns:p14="http://schemas.microsoft.com/office/powerpoint/2010/main" val="3270516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8D5AA-32AB-BB06-0A13-F378DD5E2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57B7F-6461-89A5-0F9E-C8ABA6E29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725914"/>
            <a:ext cx="11394276" cy="443198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Oncogenic drivers first described in NSCLC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CCB9C-84B3-A23E-1551-A9D086FC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1188B4C-4383-89F5-4558-D774C0060100}"/>
              </a:ext>
            </a:extLst>
          </p:cNvPr>
          <p:cNvCxnSpPr>
            <a:cxnSpLocks/>
          </p:cNvCxnSpPr>
          <p:nvPr/>
        </p:nvCxnSpPr>
        <p:spPr>
          <a:xfrm>
            <a:off x="654518" y="3429000"/>
            <a:ext cx="9827394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F78A34-E890-6EF1-60BF-94CB7AF395BC}"/>
              </a:ext>
            </a:extLst>
          </p:cNvPr>
          <p:cNvCxnSpPr/>
          <p:nvPr/>
        </p:nvCxnSpPr>
        <p:spPr>
          <a:xfrm>
            <a:off x="1289785" y="3429000"/>
            <a:ext cx="0" cy="6136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16D7F9C-CA43-C2C7-9A8D-54AE65A551D6}"/>
              </a:ext>
            </a:extLst>
          </p:cNvPr>
          <p:cNvCxnSpPr/>
          <p:nvPr/>
        </p:nvCxnSpPr>
        <p:spPr>
          <a:xfrm>
            <a:off x="8035490" y="3429000"/>
            <a:ext cx="0" cy="6136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3F0638F-C782-C7F5-BEA8-85B1EA4BDDCD}"/>
              </a:ext>
            </a:extLst>
          </p:cNvPr>
          <p:cNvCxnSpPr/>
          <p:nvPr/>
        </p:nvCxnSpPr>
        <p:spPr>
          <a:xfrm>
            <a:off x="12990897" y="3429000"/>
            <a:ext cx="0" cy="6136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F45D044-F50C-B424-B241-F035D11376A2}"/>
              </a:ext>
            </a:extLst>
          </p:cNvPr>
          <p:cNvCxnSpPr/>
          <p:nvPr/>
        </p:nvCxnSpPr>
        <p:spPr>
          <a:xfrm>
            <a:off x="8775031" y="3429000"/>
            <a:ext cx="0" cy="6136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56C82C5-C23D-E3FC-150E-8B8EA6734297}"/>
              </a:ext>
            </a:extLst>
          </p:cNvPr>
          <p:cNvSpPr txBox="1"/>
          <p:nvPr/>
        </p:nvSpPr>
        <p:spPr>
          <a:xfrm>
            <a:off x="928756" y="4096463"/>
            <a:ext cx="722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1984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425655-90BB-20C3-86E0-18A307E1BD28}"/>
              </a:ext>
            </a:extLst>
          </p:cNvPr>
          <p:cNvSpPr txBox="1"/>
          <p:nvPr/>
        </p:nvSpPr>
        <p:spPr>
          <a:xfrm>
            <a:off x="7674461" y="4096463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2002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4247C0-BFCC-1AFA-E8E2-DA997229FF89}"/>
              </a:ext>
            </a:extLst>
          </p:cNvPr>
          <p:cNvSpPr txBox="1"/>
          <p:nvPr/>
        </p:nvSpPr>
        <p:spPr>
          <a:xfrm>
            <a:off x="8413393" y="4096463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2004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72C957-AF12-3BBF-49DA-A36FA7C2BA2F}"/>
              </a:ext>
            </a:extLst>
          </p:cNvPr>
          <p:cNvCxnSpPr/>
          <p:nvPr/>
        </p:nvCxnSpPr>
        <p:spPr>
          <a:xfrm>
            <a:off x="10005463" y="3446647"/>
            <a:ext cx="0" cy="6136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51B7D0D-607A-708D-DF09-F60F6ECB4DC1}"/>
              </a:ext>
            </a:extLst>
          </p:cNvPr>
          <p:cNvSpPr txBox="1"/>
          <p:nvPr/>
        </p:nvSpPr>
        <p:spPr>
          <a:xfrm>
            <a:off x="9643825" y="4114110"/>
            <a:ext cx="710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2007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CA7179-747D-811F-F184-F180DD5F5F3E}"/>
              </a:ext>
            </a:extLst>
          </p:cNvPr>
          <p:cNvSpPr txBox="1"/>
          <p:nvPr/>
        </p:nvSpPr>
        <p:spPr>
          <a:xfrm>
            <a:off x="828760" y="4479240"/>
            <a:ext cx="922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i="1" dirty="0"/>
              <a:t>KRAS</a:t>
            </a:r>
          </a:p>
        </p:txBody>
      </p:sp>
    </p:spTree>
    <p:extLst>
      <p:ext uri="{BB962C8B-B14F-4D97-AF65-F5344CB8AC3E}">
        <p14:creationId xmlns:p14="http://schemas.microsoft.com/office/powerpoint/2010/main" val="717422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FF84A-20B5-E2FE-1A59-AFCFFFB81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9CBAD-89B6-3297-17D2-6B50F2D1F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725914"/>
            <a:ext cx="11394276" cy="443198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Oncogenic drivers first described in NSCLC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9DC4FA-40A0-BF5F-F731-3F18E0C9C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DF89DBB-D11C-79B4-41CA-D56105F02FEC}"/>
              </a:ext>
            </a:extLst>
          </p:cNvPr>
          <p:cNvCxnSpPr>
            <a:cxnSpLocks/>
          </p:cNvCxnSpPr>
          <p:nvPr/>
        </p:nvCxnSpPr>
        <p:spPr>
          <a:xfrm>
            <a:off x="654518" y="3429000"/>
            <a:ext cx="9827394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99BC06-6EA0-B716-9D94-71AA8BD0355C}"/>
              </a:ext>
            </a:extLst>
          </p:cNvPr>
          <p:cNvCxnSpPr/>
          <p:nvPr/>
        </p:nvCxnSpPr>
        <p:spPr>
          <a:xfrm>
            <a:off x="1289785" y="3429000"/>
            <a:ext cx="0" cy="6136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A5FA81-780E-0E10-13CE-2BB93F437169}"/>
              </a:ext>
            </a:extLst>
          </p:cNvPr>
          <p:cNvCxnSpPr/>
          <p:nvPr/>
        </p:nvCxnSpPr>
        <p:spPr>
          <a:xfrm>
            <a:off x="8035490" y="3429000"/>
            <a:ext cx="0" cy="6136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DF369C-8D8D-F427-7C9F-DE9C53055B66}"/>
              </a:ext>
            </a:extLst>
          </p:cNvPr>
          <p:cNvCxnSpPr/>
          <p:nvPr/>
        </p:nvCxnSpPr>
        <p:spPr>
          <a:xfrm>
            <a:off x="12990897" y="3429000"/>
            <a:ext cx="0" cy="6136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03E1CA-95DE-1C32-09BB-91DDBDCDDC02}"/>
              </a:ext>
            </a:extLst>
          </p:cNvPr>
          <p:cNvCxnSpPr/>
          <p:nvPr/>
        </p:nvCxnSpPr>
        <p:spPr>
          <a:xfrm>
            <a:off x="8775031" y="3429000"/>
            <a:ext cx="0" cy="6136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2ED1093-3C52-3D7A-12DE-BD1F7ACA27BF}"/>
              </a:ext>
            </a:extLst>
          </p:cNvPr>
          <p:cNvSpPr txBox="1"/>
          <p:nvPr/>
        </p:nvSpPr>
        <p:spPr>
          <a:xfrm>
            <a:off x="928756" y="4096463"/>
            <a:ext cx="722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1984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15B3FA-33C9-6B3D-89E0-A6F43C2D0D15}"/>
              </a:ext>
            </a:extLst>
          </p:cNvPr>
          <p:cNvSpPr txBox="1"/>
          <p:nvPr/>
        </p:nvSpPr>
        <p:spPr>
          <a:xfrm>
            <a:off x="7674461" y="4096463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2002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D72FF1-F3B5-505D-1726-8D6E599108C1}"/>
              </a:ext>
            </a:extLst>
          </p:cNvPr>
          <p:cNvSpPr txBox="1"/>
          <p:nvPr/>
        </p:nvSpPr>
        <p:spPr>
          <a:xfrm>
            <a:off x="8413393" y="4096463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2004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A38A180-2F3F-0700-E3B8-683D7750CDF7}"/>
              </a:ext>
            </a:extLst>
          </p:cNvPr>
          <p:cNvCxnSpPr/>
          <p:nvPr/>
        </p:nvCxnSpPr>
        <p:spPr>
          <a:xfrm>
            <a:off x="10005463" y="3446647"/>
            <a:ext cx="0" cy="6136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F4F9E10-CA7C-0DAA-65B6-41BDF2F3E050}"/>
              </a:ext>
            </a:extLst>
          </p:cNvPr>
          <p:cNvSpPr txBox="1"/>
          <p:nvPr/>
        </p:nvSpPr>
        <p:spPr>
          <a:xfrm>
            <a:off x="9643825" y="4114110"/>
            <a:ext cx="710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2007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EB4EC9-4ACF-ADC7-A9E2-B0907CB9F42F}"/>
              </a:ext>
            </a:extLst>
          </p:cNvPr>
          <p:cNvSpPr txBox="1"/>
          <p:nvPr/>
        </p:nvSpPr>
        <p:spPr>
          <a:xfrm>
            <a:off x="828760" y="4479240"/>
            <a:ext cx="922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i="1" dirty="0"/>
              <a:t>KRAS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B737E6-C216-BA21-3F39-F811F12B63B4}"/>
              </a:ext>
            </a:extLst>
          </p:cNvPr>
          <p:cNvSpPr txBox="1"/>
          <p:nvPr/>
        </p:nvSpPr>
        <p:spPr>
          <a:xfrm>
            <a:off x="9537962" y="4479240"/>
            <a:ext cx="707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i="1" dirty="0"/>
              <a:t>ALK</a:t>
            </a:r>
          </a:p>
        </p:txBody>
      </p:sp>
    </p:spTree>
    <p:extLst>
      <p:ext uri="{BB962C8B-B14F-4D97-AF65-F5344CB8AC3E}">
        <p14:creationId xmlns:p14="http://schemas.microsoft.com/office/powerpoint/2010/main" val="653849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7FC5D-E505-5C2D-1A65-707D75903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C4A9E-D609-9824-B7C7-B71BCB4C4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725914"/>
            <a:ext cx="11394276" cy="443198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Oncogenic drivers first described in NSCLC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4D4377-2063-2E40-8D9E-A99224EA4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39073C6-6B4F-67B5-AC53-9E4B1D8B461D}"/>
              </a:ext>
            </a:extLst>
          </p:cNvPr>
          <p:cNvCxnSpPr>
            <a:cxnSpLocks/>
          </p:cNvCxnSpPr>
          <p:nvPr/>
        </p:nvCxnSpPr>
        <p:spPr>
          <a:xfrm>
            <a:off x="654518" y="3429000"/>
            <a:ext cx="9827394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245292-E016-30DB-A59D-9E2CC6698E94}"/>
              </a:ext>
            </a:extLst>
          </p:cNvPr>
          <p:cNvCxnSpPr/>
          <p:nvPr/>
        </p:nvCxnSpPr>
        <p:spPr>
          <a:xfrm>
            <a:off x="1289785" y="3429000"/>
            <a:ext cx="0" cy="6136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2F1769-B030-00C6-C8A2-FF9EE1B3CB55}"/>
              </a:ext>
            </a:extLst>
          </p:cNvPr>
          <p:cNvCxnSpPr/>
          <p:nvPr/>
        </p:nvCxnSpPr>
        <p:spPr>
          <a:xfrm>
            <a:off x="8035490" y="3429000"/>
            <a:ext cx="0" cy="6136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7583AD-A963-7A15-9B39-02D5C5C6C284}"/>
              </a:ext>
            </a:extLst>
          </p:cNvPr>
          <p:cNvCxnSpPr/>
          <p:nvPr/>
        </p:nvCxnSpPr>
        <p:spPr>
          <a:xfrm>
            <a:off x="12990897" y="3429000"/>
            <a:ext cx="0" cy="6136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7063D9-B55F-3EAD-BCA2-58F668ABABFE}"/>
              </a:ext>
            </a:extLst>
          </p:cNvPr>
          <p:cNvCxnSpPr/>
          <p:nvPr/>
        </p:nvCxnSpPr>
        <p:spPr>
          <a:xfrm>
            <a:off x="8775031" y="3429000"/>
            <a:ext cx="0" cy="6136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C39A26C-E4A0-5866-34D3-C2590798D9F0}"/>
              </a:ext>
            </a:extLst>
          </p:cNvPr>
          <p:cNvSpPr txBox="1"/>
          <p:nvPr/>
        </p:nvSpPr>
        <p:spPr>
          <a:xfrm>
            <a:off x="928756" y="4096463"/>
            <a:ext cx="722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1984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A6B1BD-3743-E03A-0848-81867E2BF27F}"/>
              </a:ext>
            </a:extLst>
          </p:cNvPr>
          <p:cNvSpPr txBox="1"/>
          <p:nvPr/>
        </p:nvSpPr>
        <p:spPr>
          <a:xfrm>
            <a:off x="7674461" y="4096463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2002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86E5BC-B5DC-895E-09EE-6F94EAD8CEDA}"/>
              </a:ext>
            </a:extLst>
          </p:cNvPr>
          <p:cNvSpPr txBox="1"/>
          <p:nvPr/>
        </p:nvSpPr>
        <p:spPr>
          <a:xfrm>
            <a:off x="8413393" y="4096463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2004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C05C648-90AA-767D-33A3-A81A19CC2448}"/>
              </a:ext>
            </a:extLst>
          </p:cNvPr>
          <p:cNvCxnSpPr/>
          <p:nvPr/>
        </p:nvCxnSpPr>
        <p:spPr>
          <a:xfrm>
            <a:off x="10005463" y="3446647"/>
            <a:ext cx="0" cy="61361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A8B757B-2A48-8889-DFDF-92F15C671402}"/>
              </a:ext>
            </a:extLst>
          </p:cNvPr>
          <p:cNvSpPr txBox="1"/>
          <p:nvPr/>
        </p:nvSpPr>
        <p:spPr>
          <a:xfrm>
            <a:off x="9643825" y="4114110"/>
            <a:ext cx="710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2007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FD7FDB-4A4C-C6F5-2E4A-69653A4D1D8B}"/>
              </a:ext>
            </a:extLst>
          </p:cNvPr>
          <p:cNvSpPr txBox="1"/>
          <p:nvPr/>
        </p:nvSpPr>
        <p:spPr>
          <a:xfrm>
            <a:off x="828760" y="4530067"/>
            <a:ext cx="922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i="1" dirty="0"/>
              <a:t>KRAS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9E4DFD-BEEC-B127-D36A-514858187504}"/>
              </a:ext>
            </a:extLst>
          </p:cNvPr>
          <p:cNvSpPr txBox="1"/>
          <p:nvPr/>
        </p:nvSpPr>
        <p:spPr>
          <a:xfrm>
            <a:off x="9537962" y="4530067"/>
            <a:ext cx="707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i="1" dirty="0"/>
              <a:t>ALK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411E32-6215-A444-092D-A04D75DF76B6}"/>
              </a:ext>
            </a:extLst>
          </p:cNvPr>
          <p:cNvSpPr txBox="1"/>
          <p:nvPr/>
        </p:nvSpPr>
        <p:spPr>
          <a:xfrm>
            <a:off x="8418202" y="4530067"/>
            <a:ext cx="907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i="1" dirty="0"/>
              <a:t>EGFR</a:t>
            </a:r>
            <a:endParaRPr lang="en-US" b="1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84D7A1-79B9-ED7A-507D-F3A802CB50AA}"/>
              </a:ext>
            </a:extLst>
          </p:cNvPr>
          <p:cNvSpPr txBox="1"/>
          <p:nvPr/>
        </p:nvSpPr>
        <p:spPr>
          <a:xfrm>
            <a:off x="7515390" y="4530067"/>
            <a:ext cx="8980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i="1" dirty="0"/>
              <a:t>BRAF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140965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D96F-72DF-A6ED-291D-2435597FA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2002 – First description of BRAF mutations as oncogenic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703D0-6F26-D444-E152-EDA58AEBD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217920"/>
            <a:ext cx="9174480" cy="548640"/>
          </a:xfrm>
        </p:spPr>
        <p:txBody>
          <a:bodyPr wrap="square" lIns="45720" rIns="45720" anchor="b">
            <a:noAutofit/>
          </a:bodyPr>
          <a:lstStyle/>
          <a:p>
            <a:pPr algn="r"/>
            <a:r>
              <a:rPr sz="1400" spc="0">
                <a:solidFill>
                  <a:srgbClr val="404040"/>
                </a:solidFill>
                <a:latin typeface="Franklin Gothic Book"/>
              </a:rPr>
              <a:t>Davies et al, Nature 2002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944E68-1250-7D53-B1F6-F3C54A853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32" y="1587500"/>
            <a:ext cx="4902200" cy="3937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EB61C5-D4BB-4661-490F-34CBC6678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900" y="1498600"/>
            <a:ext cx="5054600" cy="4114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282288C-B464-11AD-D60E-46DA63E404BD}"/>
              </a:ext>
            </a:extLst>
          </p:cNvPr>
          <p:cNvSpPr/>
          <p:nvPr/>
        </p:nvSpPr>
        <p:spPr>
          <a:xfrm>
            <a:off x="5930900" y="3349592"/>
            <a:ext cx="5054600" cy="856648"/>
          </a:xfrm>
          <a:prstGeom prst="rect">
            <a:avLst/>
          </a:prstGeom>
          <a:noFill/>
          <a:ln w="57150">
            <a:solidFill>
              <a:srgbClr val="FF4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71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05414-501D-FAD6-1E8E-25E6DCA0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In 2002 – BRAF mutations in NSCLC…but trials came much later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CD8769-DE64-93BB-EE99-C1663DBB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Franklin Gothic Book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444A64-0956-24FD-0F59-33A741F69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8" y="1351992"/>
            <a:ext cx="11698333" cy="17814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3C70F4-0FE7-57C5-6733-30623C8CC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87" y="3290753"/>
            <a:ext cx="11745964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260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1D5635-206C-CAE6-89CF-2E3F0EF39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There are many types of BRAF mutations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49EED2E-FDB5-9594-9122-07ABA14F368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04801" y="1551759"/>
          <a:ext cx="6291261" cy="3600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087">
                  <a:extLst>
                    <a:ext uri="{9D8B030D-6E8A-4147-A177-3AD203B41FA5}">
                      <a16:colId xmlns:a16="http://schemas.microsoft.com/office/drawing/2014/main" val="1984404817"/>
                    </a:ext>
                  </a:extLst>
                </a:gridCol>
                <a:gridCol w="2097087">
                  <a:extLst>
                    <a:ext uri="{9D8B030D-6E8A-4147-A177-3AD203B41FA5}">
                      <a16:colId xmlns:a16="http://schemas.microsoft.com/office/drawing/2014/main" val="3893794475"/>
                    </a:ext>
                  </a:extLst>
                </a:gridCol>
                <a:gridCol w="2097087">
                  <a:extLst>
                    <a:ext uri="{9D8B030D-6E8A-4147-A177-3AD203B41FA5}">
                      <a16:colId xmlns:a16="http://schemas.microsoft.com/office/drawing/2014/main" val="3652807849"/>
                    </a:ext>
                  </a:extLst>
                </a:gridCol>
              </a:tblGrid>
              <a:tr h="286320">
                <a:tc>
                  <a:txBody>
                    <a:bodyPr/>
                    <a:lstStyle/>
                    <a:p>
                      <a:endParaRPr lang="en-US" sz="1800" dirty="0">
                        <a:latin typeface="Franklin Gothic Book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Franklin Gothic Book"/>
                        </a:rPr>
                        <a:t>Category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Franklin Gothic Book"/>
                        </a:rPr>
                        <a:t>examples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080263595"/>
                  </a:ext>
                </a:extLst>
              </a:tr>
              <a:tr h="1129593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/>
                        </a:rPr>
                        <a:t>Class 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Franklin Gothic Book"/>
                        </a:rPr>
                        <a:t>Ras independent, signal as active monomers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Franklin Gothic Book"/>
                        </a:rPr>
                        <a:t>V600 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583010953"/>
                  </a:ext>
                </a:extLst>
              </a:tr>
              <a:tr h="917794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/>
                        </a:rPr>
                        <a:t>Class 2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Franklin Gothic Book"/>
                        </a:rPr>
                        <a:t>Ras independent, constitutively active dimers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Franklin Gothic Book"/>
                        </a:rPr>
                        <a:t>K601, L597, G469, G464, fusions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751483422"/>
                  </a:ext>
                </a:extLst>
              </a:tr>
              <a:tr h="1129593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/>
                        </a:rPr>
                        <a:t>Class 3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Franklin Gothic Book"/>
                        </a:rPr>
                        <a:t>Ras dependent, impaired/dead kinase activity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Franklin Gothic Book"/>
                        </a:rPr>
                        <a:t>D287, V459, G466, S467, D594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53071472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C91CC91-102D-E65F-35CB-07E8E6900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23" y="1483173"/>
            <a:ext cx="5125277" cy="39778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EC469D-38F1-5E19-4630-C7A5B68727ED}"/>
              </a:ext>
            </a:extLst>
          </p:cNvPr>
          <p:cNvSpPr txBox="1"/>
          <p:nvPr/>
        </p:nvSpPr>
        <p:spPr>
          <a:xfrm>
            <a:off x="2743200" y="6217920"/>
            <a:ext cx="9174480" cy="548640"/>
          </a:xfrm>
          <a:prstGeom prst="rect">
            <a:avLst/>
          </a:prstGeom>
          <a:noFill/>
        </p:spPr>
        <p:txBody>
          <a:bodyPr wrap="square" lIns="45720" rIns="45720" anchor="b">
            <a:noAutofit/>
          </a:bodyPr>
          <a:lstStyle/>
          <a:p>
            <a:pPr algn="r"/>
            <a:r>
              <a:rPr sz="1400" spc="0">
                <a:solidFill>
                  <a:srgbClr val="404040"/>
                </a:solidFill>
                <a:latin typeface="Franklin Gothic Book"/>
              </a:rPr>
              <a:t>Yao et al, Nature 2017, Dagogo-Jack et al, Clin Cancer Res 2019</a:t>
            </a:r>
          </a:p>
        </p:txBody>
      </p:sp>
    </p:spTree>
    <p:extLst>
      <p:ext uri="{BB962C8B-B14F-4D97-AF65-F5344CB8AC3E}">
        <p14:creationId xmlns:p14="http://schemas.microsoft.com/office/powerpoint/2010/main" val="3750350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DAC42B-76AC-A1BF-B628-285633765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>
              <a:latin typeface="Franklin Gothic Book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7F851A-9BCB-6D9E-C244-F163E5DF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Targeting BRAF V600E first demonstrated in patients with melanoma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A973A9-FBBA-1B9E-917D-4109CF355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783" y="1552313"/>
            <a:ext cx="8478433" cy="37533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29CAE5-E194-FBE2-39D6-1FA4EE3A18B3}"/>
              </a:ext>
            </a:extLst>
          </p:cNvPr>
          <p:cNvSpPr txBox="1"/>
          <p:nvPr/>
        </p:nvSpPr>
        <p:spPr>
          <a:xfrm>
            <a:off x="2743200" y="6217920"/>
            <a:ext cx="9174480" cy="548640"/>
          </a:xfrm>
          <a:prstGeom prst="rect">
            <a:avLst/>
          </a:prstGeom>
          <a:noFill/>
        </p:spPr>
        <p:txBody>
          <a:bodyPr wrap="square" lIns="45720" rIns="45720" rtlCol="0" anchor="b">
            <a:noAutofit/>
          </a:bodyPr>
          <a:lstStyle/>
          <a:p>
            <a:pPr algn="r"/>
            <a:r>
              <a:rPr sz="1400" spc="0">
                <a:solidFill>
                  <a:srgbClr val="404040"/>
                </a:solidFill>
                <a:latin typeface="Franklin Gothic Book"/>
              </a:rPr>
              <a:t>Flaherty et al, NEJM 2010</a:t>
            </a:r>
          </a:p>
        </p:txBody>
      </p:sp>
    </p:spTree>
    <p:extLst>
      <p:ext uri="{BB962C8B-B14F-4D97-AF65-F5344CB8AC3E}">
        <p14:creationId xmlns:p14="http://schemas.microsoft.com/office/powerpoint/2010/main" val="573555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0">
                <a:solidFill>
                  <a:srgbClr val="005A8E"/>
                </a:solidFill>
                <a:latin typeface="Franklin Gothic Medium"/>
                <a:cs typeface="Franklin Gothic Medium"/>
              </a:rPr>
              <a:t>Vemurafenib in BRAF V600 NSCLC</a:t>
            </a:r>
          </a:p>
          <a:p>
            <a:pPr algn="l">
              <a:lnSpc>
                <a:spcPct val="90000"/>
              </a:lnSpc>
            </a:pPr>
            <a:r>
              <a:rPr sz="1800" b="0">
                <a:solidFill>
                  <a:srgbClr val="005A8E"/>
                </a:solidFill>
                <a:latin typeface="Franklin Gothic Book"/>
                <a:cs typeface="Franklin Gothic Book"/>
              </a:rPr>
              <a:t>VE-BASKET NSCLC cohort, n = 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167883"/>
            <a:ext cx="11399520" cy="746760"/>
          </a:xfrm>
          <a:prstGeom prst="rect">
            <a:avLst/>
          </a:prstGeom>
          <a:solidFill>
            <a:srgbClr val="F2F2F2"/>
          </a:solidFill>
        </p:spPr>
        <p:txBody>
          <a:bodyPr wrap="square" lIns="170688" tIns="170688" rIns="170688" bIns="170688" anchor="ctr"/>
          <a:lstStyle/>
          <a:p>
            <a:pPr defTabSz="609585"/>
            <a:r>
              <a:rPr sz="2400">
                <a:solidFill>
                  <a:srgbClr val="00457C"/>
                </a:solidFill>
                <a:latin typeface="Franklin Gothic Book"/>
                <a:cs typeface="Franklin Gothic Medium"/>
              </a:rPr>
              <a:t>ORR 37% (95% CI 25-50%). Untreated 38% (3/8), pretreated 37% (20/54)</a:t>
            </a:r>
          </a:p>
        </p:txBody>
      </p:sp>
      <p:pic>
        <p:nvPicPr>
          <p:cNvPr id="4" name="Picture 3" descr="vebas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882" y="1450849"/>
            <a:ext cx="8208732" cy="35722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6217920"/>
            <a:ext cx="9174480" cy="548640"/>
          </a:xfrm>
          <a:prstGeom prst="rect">
            <a:avLst/>
          </a:prstGeom>
          <a:noFill/>
        </p:spPr>
        <p:txBody>
          <a:bodyPr wrap="square" lIns="45720" tIns="24384" rIns="45720" bIns="24384" anchor="b">
            <a:noAutofit/>
          </a:bodyPr>
          <a:lstStyle/>
          <a:p>
            <a:pPr algn="r" defTabSz="609585"/>
            <a:r>
              <a:rPr sz="1400" spc="0" dirty="0">
                <a:solidFill>
                  <a:srgbClr val="404040"/>
                </a:solidFill>
                <a:latin typeface="Franklin Gothic Book"/>
              </a:rPr>
              <a:t>Subbiah et al, JCO Precis Oncol 2019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0">
                <a:solidFill>
                  <a:srgbClr val="005A8E"/>
                </a:solidFill>
                <a:latin typeface="Franklin Gothic Medium"/>
                <a:cs typeface="Franklin Gothic Medium"/>
              </a:rPr>
              <a:t>Dabrafenib in BRAF V600E NSCLC</a:t>
            </a:r>
          </a:p>
          <a:p>
            <a:pPr algn="l">
              <a:lnSpc>
                <a:spcPct val="90000"/>
              </a:lnSpc>
            </a:pPr>
            <a:r>
              <a:rPr sz="1800" b="0">
                <a:solidFill>
                  <a:srgbClr val="005A8E"/>
                </a:solidFill>
                <a:latin typeface="Franklin Gothic Book"/>
                <a:cs typeface="Franklin Gothic Book"/>
              </a:rPr>
              <a:t>Previously treated cohort, n = 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15714" y="2266188"/>
            <a:ext cx="4059294" cy="2270760"/>
          </a:xfrm>
          <a:prstGeom prst="rect">
            <a:avLst/>
          </a:prstGeom>
          <a:solidFill>
            <a:srgbClr val="F2F2F2"/>
          </a:solidFill>
        </p:spPr>
        <p:txBody>
          <a:bodyPr wrap="square" lIns="170688" tIns="170688" rIns="170688" bIns="170688" anchor="ctr"/>
          <a:lstStyle/>
          <a:p>
            <a:pPr defTabSz="609585"/>
            <a:r>
              <a:rPr sz="2400" dirty="0">
                <a:solidFill>
                  <a:srgbClr val="00457C"/>
                </a:solidFill>
                <a:latin typeface="Franklin Gothic Book"/>
                <a:cs typeface="Franklin Gothic Medium"/>
              </a:rPr>
              <a:t>ORR 33%
(95% CI 23-45%)
Untreated: 4 </a:t>
            </a:r>
            <a:r>
              <a:rPr lang="en-US" sz="2400" dirty="0">
                <a:solidFill>
                  <a:srgbClr val="00457C"/>
                </a:solidFill>
                <a:latin typeface="Franklin Gothic Book"/>
                <a:cs typeface="Franklin Gothic Medium"/>
              </a:rPr>
              <a:t>/</a:t>
            </a:r>
            <a:r>
              <a:rPr sz="2400" dirty="0">
                <a:solidFill>
                  <a:srgbClr val="00457C"/>
                </a:solidFill>
                <a:latin typeface="Franklin Gothic Book"/>
                <a:cs typeface="Franklin Gothic Medium"/>
              </a:rPr>
              <a:t>6</a:t>
            </a:r>
            <a:r>
              <a:rPr lang="en-US" sz="2400" dirty="0">
                <a:solidFill>
                  <a:srgbClr val="00457C"/>
                </a:solidFill>
                <a:latin typeface="Franklin Gothic Book"/>
                <a:cs typeface="Franklin Gothic Medium"/>
              </a:rPr>
              <a:t> </a:t>
            </a:r>
            <a:r>
              <a:rPr sz="2400" dirty="0">
                <a:solidFill>
                  <a:srgbClr val="00457C"/>
                </a:solidFill>
                <a:latin typeface="Franklin Gothic Book"/>
                <a:cs typeface="Franklin Gothic Medium"/>
              </a:rPr>
              <a:t>responded</a:t>
            </a:r>
          </a:p>
        </p:txBody>
      </p:sp>
      <p:pic>
        <p:nvPicPr>
          <p:cNvPr id="4" name="Picture 3" descr="d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624" y="1450849"/>
            <a:ext cx="6141725" cy="4547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6217920"/>
            <a:ext cx="9174480" cy="548640"/>
          </a:xfrm>
          <a:prstGeom prst="rect">
            <a:avLst/>
          </a:prstGeom>
          <a:noFill/>
        </p:spPr>
        <p:txBody>
          <a:bodyPr wrap="square" lIns="45720" tIns="24384" rIns="45720" bIns="24384" anchor="b">
            <a:noAutofit/>
          </a:bodyPr>
          <a:lstStyle/>
          <a:p>
            <a:pPr algn="r" defTabSz="609585"/>
            <a:r>
              <a:rPr sz="1400" spc="0">
                <a:solidFill>
                  <a:srgbClr val="404040"/>
                </a:solidFill>
                <a:latin typeface="Franklin Gothic Book"/>
              </a:rPr>
              <a:t>Planchard et al, Lancet Oncol 2016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49274E-E589-18EB-7D9C-30A7212B0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Would it be better to target BRAF by inhibiting both BRAF and MEK?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EDD396-0065-B8DE-64CB-29F23A8ADA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986"/>
          <a:stretch/>
        </p:blipFill>
        <p:spPr>
          <a:xfrm>
            <a:off x="3028180" y="1234440"/>
            <a:ext cx="2606403" cy="51837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C3E3A3-8C98-20F4-F659-5F112AC6ED51}"/>
              </a:ext>
            </a:extLst>
          </p:cNvPr>
          <p:cNvSpPr txBox="1"/>
          <p:nvPr/>
        </p:nvSpPr>
        <p:spPr>
          <a:xfrm>
            <a:off x="2743200" y="6217920"/>
            <a:ext cx="9174480" cy="548640"/>
          </a:xfrm>
          <a:prstGeom prst="rect">
            <a:avLst/>
          </a:prstGeom>
          <a:noFill/>
        </p:spPr>
        <p:txBody>
          <a:bodyPr wrap="square" lIns="45720" rIns="45720" rtlCol="0" anchor="b">
            <a:noAutofit/>
          </a:bodyPr>
          <a:lstStyle/>
          <a:p>
            <a:pPr algn="r"/>
            <a:r>
              <a:rPr sz="1400" spc="0">
                <a:solidFill>
                  <a:srgbClr val="404040"/>
                </a:solidFill>
                <a:latin typeface="Franklin Gothic Book"/>
              </a:rPr>
              <a:t>Hanrahan et al, Nat Rev Clin Oncol 2024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22E3DE-8727-3C26-41C1-54F532CF82C1}"/>
              </a:ext>
            </a:extLst>
          </p:cNvPr>
          <p:cNvSpPr/>
          <p:nvPr/>
        </p:nvSpPr>
        <p:spPr>
          <a:xfrm>
            <a:off x="5190115" y="3635656"/>
            <a:ext cx="2597426" cy="477079"/>
          </a:xfrm>
          <a:prstGeom prst="rect">
            <a:avLst/>
          </a:prstGeom>
          <a:solidFill>
            <a:schemeClr val="accent6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Franklin Gothic Book"/>
              </a:rPr>
              <a:t>Inhibiting BRAF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FDDF27-81B0-1DA9-F24A-707098C7CDC9}"/>
              </a:ext>
            </a:extLst>
          </p:cNvPr>
          <p:cNvSpPr/>
          <p:nvPr/>
        </p:nvSpPr>
        <p:spPr>
          <a:xfrm>
            <a:off x="5190115" y="4345417"/>
            <a:ext cx="2597426" cy="477079"/>
          </a:xfrm>
          <a:prstGeom prst="rect">
            <a:avLst/>
          </a:prstGeom>
          <a:solidFill>
            <a:schemeClr val="accent6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Franklin Gothic Book"/>
              </a:rPr>
              <a:t>Inhibiting MEK</a:t>
            </a:r>
          </a:p>
        </p:txBody>
      </p:sp>
    </p:spTree>
    <p:extLst>
      <p:ext uri="{BB962C8B-B14F-4D97-AF65-F5344CB8AC3E}">
        <p14:creationId xmlns:p14="http://schemas.microsoft.com/office/powerpoint/2010/main" val="287829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2C0DA1-A51B-A49F-22AE-DB87C5CE6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43200" y="6217920"/>
            <a:ext cx="9174480" cy="548640"/>
          </a:xfrm>
        </p:spPr>
        <p:txBody>
          <a:bodyPr wrap="square" lIns="45720" rIns="45720" anchor="b">
            <a:noAutofit/>
          </a:bodyPr>
          <a:lstStyle/>
          <a:p>
            <a:pPr algn="r"/>
            <a:r>
              <a:rPr sz="1400" spc="0">
                <a:solidFill>
                  <a:srgbClr val="404040"/>
                </a:solidFill>
                <a:latin typeface="Franklin Gothic Book"/>
              </a:rPr>
              <a:t>Flaherty et al, NEJM 2012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5B1823-3FCF-ECA5-E89B-C439CD53C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In melanoma, combined BRAF and MEK inhibition is better than BRAF inhibition alone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4DFC2AA-E412-8708-191E-7DD6E2170F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433" b="15316"/>
          <a:stretch>
            <a:fillRect/>
          </a:stretch>
        </p:blipFill>
        <p:spPr>
          <a:xfrm>
            <a:off x="808522" y="1438873"/>
            <a:ext cx="9472299" cy="469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774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D40C0C-565E-4767-D4BB-66E5598EC3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dirty="0">
              <a:latin typeface="Franklin Gothic Book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B100B-D13E-BFFD-ABDF-93D8FF5E5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43200" y="6217920"/>
            <a:ext cx="9174480" cy="548640"/>
          </a:xfrm>
        </p:spPr>
        <p:txBody>
          <a:bodyPr wrap="square" lIns="45720" rIns="45720" anchor="b">
            <a:noAutofit/>
          </a:bodyPr>
          <a:lstStyle/>
          <a:p>
            <a:pPr algn="r"/>
            <a:r>
              <a:rPr sz="1400" spc="0">
                <a:solidFill>
                  <a:srgbClr val="404040"/>
                </a:solidFill>
                <a:latin typeface="Franklin Gothic Book"/>
              </a:rPr>
              <a:t>Planchard et al, JTO 2021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48DC6E-85E4-8D2B-4B61-DAF163DAC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Dabrafenib (BRAF inhibitor) + Trametinib (MEK inhibitor) have efficacy in patients with metastatic BRAF V600E NSCLC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B649EE-E055-CE9A-CE26-521B45EAE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70" y="2209800"/>
            <a:ext cx="5358065" cy="24384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70ED3A-5D39-8A24-7F92-BB1F6564593B}"/>
              </a:ext>
            </a:extLst>
          </p:cNvPr>
          <p:cNvSpPr txBox="1"/>
          <p:nvPr/>
        </p:nvSpPr>
        <p:spPr>
          <a:xfrm>
            <a:off x="1799889" y="1609639"/>
            <a:ext cx="2276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ln/>
                <a:solidFill>
                  <a:srgbClr val="000000"/>
                </a:solidFill>
                <a:latin typeface="Franklin Gothic Book"/>
                <a:ea typeface="Noto Sans"/>
                <a:cs typeface="Noto Sans"/>
                <a:sym typeface="Noto Sans"/>
                <a:rtl val="0"/>
              </a:rPr>
              <a:t>Treatment naïve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3B44B2-64CC-1F0D-313D-D37C45F1A3B1}"/>
              </a:ext>
            </a:extLst>
          </p:cNvPr>
          <p:cNvSpPr txBox="1"/>
          <p:nvPr/>
        </p:nvSpPr>
        <p:spPr>
          <a:xfrm>
            <a:off x="6968648" y="1635185"/>
            <a:ext cx="25029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ln/>
                <a:solidFill>
                  <a:srgbClr val="000000"/>
                </a:solidFill>
                <a:latin typeface="Franklin Gothic Book"/>
                <a:ea typeface="Noto Sans"/>
                <a:cs typeface="Noto Sans"/>
                <a:sym typeface="Noto Sans"/>
                <a:rtl val="0"/>
              </a:rPr>
              <a:t>Previously treated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532EC4-A4DE-AB3D-8EF5-2025DEB14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2209802"/>
            <a:ext cx="5499746" cy="24112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E7FE5C-36FC-177C-8351-CF8DBBC82291}"/>
              </a:ext>
            </a:extLst>
          </p:cNvPr>
          <p:cNvSpPr txBox="1"/>
          <p:nvPr/>
        </p:nvSpPr>
        <p:spPr>
          <a:xfrm>
            <a:off x="2336801" y="4648201"/>
            <a:ext cx="3010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>
                <a:solidFill>
                  <a:srgbClr val="272524"/>
                </a:solidFill>
                <a:latin typeface="Franklin Gothic Book"/>
              </a:rPr>
              <a:t>Response Rate 68%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5F0A78-9FFB-B01D-68BB-71D5A2C1867C}"/>
              </a:ext>
            </a:extLst>
          </p:cNvPr>
          <p:cNvSpPr txBox="1"/>
          <p:nvPr/>
        </p:nvSpPr>
        <p:spPr>
          <a:xfrm>
            <a:off x="7418961" y="4621101"/>
            <a:ext cx="3010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>
                <a:solidFill>
                  <a:srgbClr val="272524"/>
                </a:solidFill>
                <a:latin typeface="Franklin Gothic Book"/>
              </a:rPr>
              <a:t>Response Rate 64%</a:t>
            </a:r>
          </a:p>
        </p:txBody>
      </p:sp>
    </p:spTree>
    <p:extLst>
      <p:ext uri="{BB962C8B-B14F-4D97-AF65-F5344CB8AC3E}">
        <p14:creationId xmlns:p14="http://schemas.microsoft.com/office/powerpoint/2010/main" val="4092267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D40C0C-565E-4767-D4BB-66E5598EC3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dirty="0">
              <a:latin typeface="Franklin Gothic Book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B100B-D13E-BFFD-ABDF-93D8FF5E5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43200" y="6217920"/>
            <a:ext cx="9174480" cy="548640"/>
          </a:xfrm>
        </p:spPr>
        <p:txBody>
          <a:bodyPr wrap="square" lIns="45720" rIns="45720" anchor="b">
            <a:noAutofit/>
          </a:bodyPr>
          <a:lstStyle/>
          <a:p>
            <a:pPr algn="r"/>
            <a:r>
              <a:rPr sz="1400" spc="0">
                <a:solidFill>
                  <a:srgbClr val="404040"/>
                </a:solidFill>
                <a:latin typeface="Franklin Gothic Book"/>
              </a:rPr>
              <a:t>Modified from Planchard et al, Lancet Oncol 2017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48DC6E-85E4-8D2B-4B61-DAF163DAC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Dabrafenib (BRAF inhibitor) + Trametinib (MEK inhibitor) toxicities include pyrexia, nausea, diarrhea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92374F-4986-28B2-B2F3-D8020FA9F1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000"/>
          <a:stretch/>
        </p:blipFill>
        <p:spPr>
          <a:xfrm>
            <a:off x="1245990" y="1441103"/>
            <a:ext cx="7401828" cy="486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932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8077CD-88CE-D830-4C81-A72214E08ED1}"/>
              </a:ext>
            </a:extLst>
          </p:cNvPr>
          <p:cNvCxnSpPr>
            <a:cxnSpLocks/>
          </p:cNvCxnSpPr>
          <p:nvPr/>
        </p:nvCxnSpPr>
        <p:spPr bwMode="gray">
          <a:xfrm>
            <a:off x="7341035" y="3418184"/>
            <a:ext cx="385933" cy="0"/>
          </a:xfrm>
          <a:prstGeom prst="straightConnector1">
            <a:avLst/>
          </a:prstGeom>
          <a:noFill/>
          <a:ln w="28575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A6108E-75AF-527C-B6CD-277FEEB2675A}"/>
              </a:ext>
            </a:extLst>
          </p:cNvPr>
          <p:cNvCxnSpPr>
            <a:cxnSpLocks/>
          </p:cNvCxnSpPr>
          <p:nvPr/>
        </p:nvCxnSpPr>
        <p:spPr bwMode="gray">
          <a:xfrm>
            <a:off x="7341035" y="2309399"/>
            <a:ext cx="385933" cy="0"/>
          </a:xfrm>
          <a:prstGeom prst="straightConnector1">
            <a:avLst/>
          </a:prstGeom>
          <a:noFill/>
          <a:ln w="28575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BEFBD22-88E2-FC50-6B0F-05D2126C82EF}"/>
              </a:ext>
            </a:extLst>
          </p:cNvPr>
          <p:cNvCxnSpPr>
            <a:cxnSpLocks/>
          </p:cNvCxnSpPr>
          <p:nvPr/>
        </p:nvCxnSpPr>
        <p:spPr bwMode="gray">
          <a:xfrm>
            <a:off x="5019332" y="2849869"/>
            <a:ext cx="385933" cy="0"/>
          </a:xfrm>
          <a:prstGeom prst="straightConnector1">
            <a:avLst/>
          </a:prstGeom>
          <a:noFill/>
          <a:ln w="28575" cap="rnd">
            <a:solidFill>
              <a:schemeClr val="tx1"/>
            </a:solidFill>
            <a:prstDash val="solid"/>
            <a:round/>
            <a:headEnd/>
            <a:tailEnd type="triangle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3300945-FA71-426D-9C91-4C5F7233F7CC}"/>
              </a:ext>
            </a:extLst>
          </p:cNvPr>
          <p:cNvCxnSpPr>
            <a:cxnSpLocks/>
          </p:cNvCxnSpPr>
          <p:nvPr/>
        </p:nvCxnSpPr>
        <p:spPr bwMode="gray">
          <a:xfrm>
            <a:off x="5732976" y="2309399"/>
            <a:ext cx="385933" cy="0"/>
          </a:xfrm>
          <a:prstGeom prst="straightConnector1">
            <a:avLst/>
          </a:prstGeom>
          <a:noFill/>
          <a:ln w="28575" cap="rnd">
            <a:solidFill>
              <a:schemeClr val="tx1"/>
            </a:solidFill>
            <a:prstDash val="solid"/>
            <a:round/>
            <a:headEnd/>
            <a:tailEnd type="triangle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7919BF5-6117-722A-0EE8-78E88108D772}"/>
              </a:ext>
            </a:extLst>
          </p:cNvPr>
          <p:cNvCxnSpPr>
            <a:cxnSpLocks/>
          </p:cNvCxnSpPr>
          <p:nvPr/>
        </p:nvCxnSpPr>
        <p:spPr bwMode="gray">
          <a:xfrm>
            <a:off x="5732976" y="3418184"/>
            <a:ext cx="385933" cy="0"/>
          </a:xfrm>
          <a:prstGeom prst="straightConnector1">
            <a:avLst/>
          </a:prstGeom>
          <a:noFill/>
          <a:ln w="28575" cap="rnd">
            <a:solidFill>
              <a:schemeClr val="tx1"/>
            </a:solidFill>
            <a:prstDash val="solid"/>
            <a:round/>
            <a:headEnd/>
            <a:tailEnd type="triangle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E245501-C23E-1DC6-955B-90B519B2B5B5}"/>
              </a:ext>
            </a:extLst>
          </p:cNvPr>
          <p:cNvSpPr txBox="1"/>
          <p:nvPr/>
        </p:nvSpPr>
        <p:spPr bwMode="gray">
          <a:xfrm>
            <a:off x="901198" y="1508207"/>
            <a:ext cx="4072771" cy="31492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60960" tIns="60960" rIns="60960" bIns="60960" rtlCol="0">
            <a:noAutofit/>
          </a:bodyPr>
          <a:lstStyle/>
          <a:p>
            <a:pPr>
              <a:lnSpc>
                <a:spcPct val="90000"/>
              </a:lnSpc>
              <a:spcBef>
                <a:spcPts val="1333"/>
              </a:spcBef>
            </a:pPr>
            <a:r>
              <a:rPr lang="en-US" sz="1467" b="1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Key eligibility criteria</a:t>
            </a:r>
          </a:p>
          <a:p>
            <a:pPr marL="228594" indent="-228594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Char char="•"/>
            </a:pPr>
            <a:r>
              <a:rPr lang="en-US" sz="1467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BRAF</a:t>
            </a:r>
            <a:r>
              <a:rPr lang="en-US" sz="1467" i="1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 </a:t>
            </a:r>
            <a:r>
              <a:rPr lang="en-US" sz="1467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V600E–mutant metastatic NSCLC</a:t>
            </a:r>
            <a:endParaRPr lang="en-US" sz="1467" baseline="30000" dirty="0">
              <a:latin typeface="Franklin Gothic Book"/>
              <a:ea typeface="Lato" panose="020F0502020204030203" pitchFamily="34" charset="0"/>
              <a:cs typeface="Arial" panose="020B0604020202020204" pitchFamily="34" charset="0"/>
            </a:endParaRPr>
          </a:p>
          <a:p>
            <a:pPr marL="228594" indent="-228594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Char char="•"/>
            </a:pPr>
            <a:r>
              <a:rPr lang="en-US" sz="1467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ECOG performance status 0 or 1</a:t>
            </a:r>
          </a:p>
          <a:p>
            <a:pPr marL="228594" indent="-228594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Char char="•"/>
            </a:pPr>
            <a:r>
              <a:rPr lang="en-US" sz="1467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No </a:t>
            </a:r>
            <a:r>
              <a:rPr lang="en-US" sz="1467" i="1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EGFR </a:t>
            </a:r>
            <a:r>
              <a:rPr lang="en-US" sz="1467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mutation, </a:t>
            </a:r>
            <a:r>
              <a:rPr lang="en-US" sz="1467" i="1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ALK</a:t>
            </a:r>
            <a:r>
              <a:rPr lang="en-US" sz="1467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 fusion, or </a:t>
            </a:r>
            <a:r>
              <a:rPr lang="en-US" sz="1467" i="1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ROS1 </a:t>
            </a:r>
            <a:r>
              <a:rPr lang="en-US" sz="1467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rearrangement</a:t>
            </a:r>
          </a:p>
          <a:p>
            <a:pPr marL="228594" indent="-228594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Char char="•"/>
            </a:pPr>
            <a:r>
              <a:rPr lang="en-US" sz="1467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No more than 1 prior line of treatment in the advanced setting</a:t>
            </a:r>
          </a:p>
          <a:p>
            <a:pPr marL="228594" indent="-228594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Char char="•"/>
            </a:pPr>
            <a:r>
              <a:rPr lang="en-US" sz="1467" dirty="0">
                <a:highlight>
                  <a:srgbClr val="FFFF00"/>
                </a:highlight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No prior treatment with BRAF or MEK inhibitor</a:t>
            </a:r>
          </a:p>
          <a:p>
            <a:pPr marL="228594" indent="-228594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Char char="•"/>
            </a:pPr>
            <a:r>
              <a:rPr lang="en-US" sz="1467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No symptomatic brain metastases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267D98-3BD6-8645-7EB6-B0CD96C91133}"/>
              </a:ext>
            </a:extLst>
          </p:cNvPr>
          <p:cNvSpPr txBox="1"/>
          <p:nvPr/>
        </p:nvSpPr>
        <p:spPr bwMode="gray">
          <a:xfrm>
            <a:off x="6124789" y="1957294"/>
            <a:ext cx="1350768" cy="6477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lIns="60960" tIns="60960" rIns="60960" bIns="6096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1333"/>
              </a:spcBef>
            </a:pPr>
            <a:r>
              <a:rPr lang="en-US" sz="1467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Treatment naïve</a:t>
            </a:r>
            <a:br>
              <a:rPr lang="en-US" sz="1333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</a:br>
            <a:r>
              <a:rPr lang="en-US" sz="1333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n=59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D73476-C63A-FA91-837D-A29406BB25AB}"/>
              </a:ext>
            </a:extLst>
          </p:cNvPr>
          <p:cNvSpPr txBox="1"/>
          <p:nvPr/>
        </p:nvSpPr>
        <p:spPr bwMode="gray">
          <a:xfrm>
            <a:off x="6127588" y="3010393"/>
            <a:ext cx="1350768" cy="6477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lIns="60960" tIns="60960" rIns="60960" bIns="6096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1333"/>
              </a:spcBef>
            </a:pPr>
            <a:r>
              <a:rPr lang="en-US" sz="1467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Previously treated</a:t>
            </a:r>
            <a:br>
              <a:rPr lang="en-US" sz="1333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</a:br>
            <a:r>
              <a:rPr lang="en-US" sz="1333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n=39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F52314-AF72-3B6E-F23C-5508A0BF9731}"/>
              </a:ext>
            </a:extLst>
          </p:cNvPr>
          <p:cNvSpPr txBox="1"/>
          <p:nvPr/>
        </p:nvSpPr>
        <p:spPr bwMode="gray">
          <a:xfrm rot="16200000">
            <a:off x="4587266" y="2638068"/>
            <a:ext cx="2034133" cy="3859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60960" tIns="60960" rIns="60960" bIns="6096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1333"/>
              </a:spcBef>
            </a:pPr>
            <a:r>
              <a:rPr lang="en-US" sz="1333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Patients enrolled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2A1984-D46F-57CF-66ED-4E25A6724660}"/>
              </a:ext>
            </a:extLst>
          </p:cNvPr>
          <p:cNvSpPr txBox="1"/>
          <p:nvPr/>
        </p:nvSpPr>
        <p:spPr bwMode="gray">
          <a:xfrm>
            <a:off x="8164365" y="1813969"/>
            <a:ext cx="2706836" cy="1969449"/>
          </a:xfrm>
          <a:prstGeom prst="rect">
            <a:avLst/>
          </a:prstGeom>
          <a:solidFill>
            <a:srgbClr val="009FE3"/>
          </a:solidFill>
          <a:ln>
            <a:noFill/>
          </a:ln>
        </p:spPr>
        <p:txBody>
          <a:bodyPr wrap="square" lIns="60960" tIns="60960" rIns="60960" bIns="60960" rtlCol="0">
            <a:noAutofit/>
          </a:bodyPr>
          <a:lstStyle/>
          <a:p>
            <a:pPr algn="ctr">
              <a:spcBef>
                <a:spcPts val="800"/>
              </a:spcBef>
            </a:pPr>
            <a:r>
              <a:rPr lang="en-US" sz="1467" dirty="0">
                <a:solidFill>
                  <a:schemeClr val="bg1"/>
                </a:solidFill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Encorafenib: </a:t>
            </a:r>
            <a:br>
              <a:rPr lang="en-US" sz="1467" dirty="0">
                <a:solidFill>
                  <a:schemeClr val="bg1"/>
                </a:solidFill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</a:br>
            <a:r>
              <a:rPr lang="en-US" sz="1467" dirty="0">
                <a:solidFill>
                  <a:schemeClr val="bg1"/>
                </a:solidFill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450 mg QD</a:t>
            </a:r>
          </a:p>
          <a:p>
            <a:pPr algn="ctr">
              <a:spcBef>
                <a:spcPts val="800"/>
              </a:spcBef>
            </a:pPr>
            <a:r>
              <a:rPr lang="en-US" sz="1467" dirty="0">
                <a:solidFill>
                  <a:schemeClr val="bg1"/>
                </a:solidFill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Binimetinib: </a:t>
            </a:r>
            <a:br>
              <a:rPr lang="en-US" sz="1467" dirty="0">
                <a:solidFill>
                  <a:schemeClr val="bg1"/>
                </a:solidFill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</a:br>
            <a:r>
              <a:rPr lang="en-US" sz="1467" dirty="0">
                <a:solidFill>
                  <a:schemeClr val="bg1"/>
                </a:solidFill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45 mg BID</a:t>
            </a:r>
          </a:p>
          <a:p>
            <a:pPr algn="ctr">
              <a:spcBef>
                <a:spcPts val="800"/>
              </a:spcBef>
            </a:pPr>
            <a:r>
              <a:rPr lang="en-US" sz="1467" dirty="0">
                <a:solidFill>
                  <a:schemeClr val="bg1"/>
                </a:solidFill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28-day cycles</a:t>
            </a:r>
          </a:p>
          <a:p>
            <a:pPr algn="ctr">
              <a:spcBef>
                <a:spcPts val="800"/>
              </a:spcBef>
            </a:pPr>
            <a:r>
              <a:rPr lang="en-US" sz="1467" dirty="0">
                <a:solidFill>
                  <a:schemeClr val="bg1"/>
                </a:solidFill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Treat until progression or unacceptable toxicity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417367-95A2-849D-2D99-866F0C30AF8F}"/>
              </a:ext>
            </a:extLst>
          </p:cNvPr>
          <p:cNvSpPr txBox="1"/>
          <p:nvPr/>
        </p:nvSpPr>
        <p:spPr bwMode="gray">
          <a:xfrm>
            <a:off x="5941544" y="3950000"/>
            <a:ext cx="5191835" cy="2443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60960" tIns="60960" rIns="60960" bIns="60960" rtlCol="0">
            <a:no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en-US" sz="1467" b="1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Primary endpoint</a:t>
            </a:r>
          </a:p>
          <a:p>
            <a:pPr marL="228594" indent="-228594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67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ORR by </a:t>
            </a:r>
            <a:r>
              <a:rPr lang="en-US" sz="1467" dirty="0" err="1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lRR</a:t>
            </a:r>
            <a:endParaRPr lang="en-US" sz="1467" dirty="0">
              <a:latin typeface="Franklin Gothic Book"/>
              <a:ea typeface="Lato" panose="020F0502020204030203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en-US" sz="1467" b="1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Secondary endpoints</a:t>
            </a:r>
            <a:r>
              <a:rPr lang="en-US" sz="1467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 </a:t>
            </a:r>
          </a:p>
          <a:p>
            <a:pPr marL="228594" indent="-228594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67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ORR by investigator</a:t>
            </a:r>
          </a:p>
          <a:p>
            <a:pPr marL="228594" indent="-228594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67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DOR, DCR, PFS, and TTR (all by </a:t>
            </a:r>
            <a:r>
              <a:rPr lang="en-US" sz="1467" dirty="0" err="1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lRR</a:t>
            </a:r>
            <a:r>
              <a:rPr lang="en-US" sz="1467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 and investigator)</a:t>
            </a:r>
          </a:p>
          <a:p>
            <a:pPr marL="228594" indent="-228594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67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OS</a:t>
            </a:r>
          </a:p>
          <a:p>
            <a:pPr marL="228594" indent="-228594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67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Safety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en-US" sz="1467" b="1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Exploratory endpoints</a:t>
            </a:r>
          </a:p>
          <a:p>
            <a:pPr marL="228594" indent="-228594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67" dirty="0">
                <a:latin typeface="Franklin Gothic Book"/>
                <a:ea typeface="Lato" panose="020F0502020204030203" pitchFamily="34" charset="0"/>
                <a:cs typeface="Arial" panose="020B0604020202020204" pitchFamily="34" charset="0"/>
              </a:rPr>
              <a:t>Biomarker and pharmacokinetic analyses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F88D59-4965-A4B9-2C13-2374AC0BE93A}"/>
              </a:ext>
            </a:extLst>
          </p:cNvPr>
          <p:cNvCxnSpPr>
            <a:cxnSpLocks/>
          </p:cNvCxnSpPr>
          <p:nvPr/>
        </p:nvCxnSpPr>
        <p:spPr bwMode="gray">
          <a:xfrm rot="5400000">
            <a:off x="7207237" y="2856667"/>
            <a:ext cx="1096172" cy="0"/>
          </a:xfrm>
          <a:prstGeom prst="straightConnector1">
            <a:avLst/>
          </a:prstGeom>
          <a:noFill/>
          <a:ln w="28575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FFBCA03-48DA-5E83-354D-91AA0EC039BE}"/>
              </a:ext>
            </a:extLst>
          </p:cNvPr>
          <p:cNvCxnSpPr>
            <a:cxnSpLocks/>
          </p:cNvCxnSpPr>
          <p:nvPr/>
        </p:nvCxnSpPr>
        <p:spPr bwMode="gray">
          <a:xfrm>
            <a:off x="7780167" y="2944041"/>
            <a:ext cx="385933" cy="0"/>
          </a:xfrm>
          <a:prstGeom prst="straightConnector1">
            <a:avLst/>
          </a:prstGeom>
          <a:noFill/>
          <a:ln w="28575" cap="rnd">
            <a:solidFill>
              <a:schemeClr val="tx1"/>
            </a:solidFill>
            <a:prstDash val="solid"/>
            <a:round/>
            <a:headEnd/>
            <a:tailEnd type="triangle"/>
          </a:ln>
          <a:effectLst/>
        </p:spPr>
      </p:cxnSp>
      <p:sp>
        <p:nvSpPr>
          <p:cNvPr id="19" name="Title 3">
            <a:extLst>
              <a:ext uri="{FF2B5EF4-FFF2-40B4-BE49-F238E27FC236}">
                <a16:creationId xmlns:a16="http://schemas.microsoft.com/office/drawing/2014/main" id="{EF6C48C4-6104-B837-2052-40B7B792FEE7}"/>
              </a:ext>
            </a:extLst>
          </p:cNvPr>
          <p:cNvSpPr txBox="1">
            <a:spLocks/>
          </p:cNvSpPr>
          <p:nvPr/>
        </p:nvSpPr>
        <p:spPr>
          <a:xfrm>
            <a:off x="203200" y="0"/>
            <a:ext cx="11785600" cy="452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300" b="0" i="0" u="none" strike="noStrike" cap="none">
                <a:solidFill>
                  <a:srgbClr val="000000"/>
                </a:solidFill>
                <a:latin typeface="Franklin Gothic Book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300" b="1" i="0" u="none" strike="noStrike" cap="none">
                <a:solidFill>
                  <a:srgbClr val="000000"/>
                </a:solidFill>
                <a:latin typeface="Franklin Gothic Book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300" b="1" i="0" u="none" strike="noStrike" cap="none">
                <a:solidFill>
                  <a:srgbClr val="000000"/>
                </a:solidFill>
                <a:latin typeface="Franklin Gothic Book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300" b="1" i="0" u="none" strike="noStrike" cap="none">
                <a:solidFill>
                  <a:srgbClr val="000000"/>
                </a:solidFill>
                <a:latin typeface="Franklin Gothic Book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300" b="1" i="0" u="none" strike="noStrike" cap="none">
                <a:solidFill>
                  <a:srgbClr val="000000"/>
                </a:solidFill>
                <a:latin typeface="Franklin Gothic Book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300" b="1" i="0" u="none" strike="noStrike" cap="none">
                <a:solidFill>
                  <a:srgbClr val="000000"/>
                </a:solidFill>
                <a:latin typeface="Franklin Gothic Book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300" b="1" i="0" u="none" strike="noStrike" cap="none">
                <a:solidFill>
                  <a:srgbClr val="000000"/>
                </a:solidFill>
                <a:latin typeface="Franklin Gothic Book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300" b="1" i="0" u="none" strike="noStrike" cap="none">
                <a:solidFill>
                  <a:srgbClr val="000000"/>
                </a:solidFill>
                <a:latin typeface="Franklin Gothic Book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300" b="1" i="0" u="none" strike="noStrike" cap="none">
                <a:solidFill>
                  <a:srgbClr val="000000"/>
                </a:solidFill>
                <a:latin typeface="Franklin Gothic Book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3200" b="1" dirty="0">
              <a:solidFill>
                <a:schemeClr val="accent1">
                  <a:lumMod val="75000"/>
                </a:schemeClr>
              </a:solidFill>
              <a:latin typeface="Franklin Gothic Book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59CBB5-067B-462F-A004-A269661E04A2}"/>
              </a:ext>
            </a:extLst>
          </p:cNvPr>
          <p:cNvSpPr txBox="1"/>
          <p:nvPr/>
        </p:nvSpPr>
        <p:spPr>
          <a:xfrm>
            <a:off x="2743200" y="6217920"/>
            <a:ext cx="9174480" cy="548640"/>
          </a:xfrm>
          <a:prstGeom prst="rect">
            <a:avLst/>
          </a:prstGeom>
          <a:noFill/>
        </p:spPr>
        <p:txBody>
          <a:bodyPr wrap="square" lIns="45720" rIns="45720" rtlCol="0" anchor="b">
            <a:noAutofit/>
          </a:bodyPr>
          <a:lstStyle/>
          <a:p>
            <a:pPr algn="r"/>
            <a:r>
              <a:rPr sz="1400" spc="0">
                <a:solidFill>
                  <a:srgbClr val="404040"/>
                </a:solidFill>
                <a:latin typeface="Franklin Gothic Book"/>
              </a:rPr>
              <a:t>Riely et al, ASCO 2023 (Abstract 9018)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1BEC5E-0ABD-2183-4575-53D4A7D16A91}"/>
              </a:ext>
            </a:extLst>
          </p:cNvPr>
          <p:cNvSpPr txBox="1"/>
          <p:nvPr/>
        </p:nvSpPr>
        <p:spPr>
          <a:xfrm>
            <a:off x="15436" y="6499964"/>
            <a:ext cx="1741182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67" dirty="0">
                <a:solidFill>
                  <a:schemeClr val="accent1">
                    <a:lumMod val="75000"/>
                  </a:schemeClr>
                </a:solidFill>
                <a:latin typeface="Franklin Gothic Book"/>
              </a:rPr>
              <a:t>NCT03915951</a:t>
            </a:r>
            <a:endParaRPr lang="en-US" sz="2400" dirty="0">
              <a:latin typeface="Franklin Gothic Book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3A469-E192-1EF1-C94D-F0EA37E80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>
              <a:latin typeface="Franklin Gothic Book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035B01-98E5-8153-3176-48A5C19E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0" dirty="0" err="1">
                <a:solidFill>
                  <a:srgbClr val="005A8E"/>
                </a:solidFill>
                <a:latin typeface="Franklin Gothic Medium"/>
                <a:cs typeface="Franklin Gothic Medium"/>
              </a:rPr>
              <a:t>Encorafenib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 + </a:t>
            </a:r>
            <a:r>
              <a:rPr lang="en-US" sz="2800" b="0" dirty="0" err="1">
                <a:solidFill>
                  <a:srgbClr val="005A8E"/>
                </a:solidFill>
                <a:latin typeface="Franklin Gothic Medium"/>
                <a:cs typeface="Franklin Gothic Medium"/>
              </a:rPr>
              <a:t>Binimetinib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 in BRAF V600E-mutant metastatic NSCLC: A single-arm, open-label, multicenter, phase 2 study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794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A6693E-884F-4293-8907-20F350B3B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Encorafenib plus </a:t>
            </a:r>
            <a:r>
              <a:rPr lang="en-US" sz="2800" b="0" dirty="0" err="1">
                <a:solidFill>
                  <a:srgbClr val="005A8E"/>
                </a:solidFill>
                <a:latin typeface="Franklin Gothic Medium"/>
                <a:cs typeface="Franklin Gothic Medium"/>
              </a:rPr>
              <a:t>binimetinib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 has efficacy in patients with BRAF V600E-mutant metastatic NSCLC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</a:br>
            <a:endParaRPr lang="en-US" sz="2800" b="0" baseline="30000" dirty="0">
              <a:solidFill>
                <a:srgbClr val="005A8E"/>
              </a:solidFill>
              <a:latin typeface="Franklin Gothic Medium"/>
              <a:cs typeface="Franklin Gothic Medium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0DCF86-3CAC-914C-136C-14A1C227FBFD}"/>
              </a:ext>
            </a:extLst>
          </p:cNvPr>
          <p:cNvSpPr txBox="1"/>
          <p:nvPr/>
        </p:nvSpPr>
        <p:spPr>
          <a:xfrm>
            <a:off x="2294394" y="1397001"/>
            <a:ext cx="246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n/>
                <a:solidFill>
                  <a:srgbClr val="000000"/>
                </a:solidFill>
                <a:latin typeface="Franklin Gothic Book"/>
                <a:ea typeface="Noto Sans"/>
                <a:cs typeface="Noto Sans"/>
                <a:sym typeface="Noto Sans"/>
                <a:rtl val="0"/>
              </a:rPr>
              <a:t>Treatment naïve (n=57)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70101F-D85B-30E7-84AC-6DF467D8E613}"/>
              </a:ext>
            </a:extLst>
          </p:cNvPr>
          <p:cNvSpPr txBox="1"/>
          <p:nvPr/>
        </p:nvSpPr>
        <p:spPr>
          <a:xfrm>
            <a:off x="8131849" y="1397001"/>
            <a:ext cx="2651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ln/>
                <a:solidFill>
                  <a:srgbClr val="000000"/>
                </a:solidFill>
                <a:latin typeface="Franklin Gothic Book"/>
                <a:ea typeface="Noto Sans"/>
                <a:cs typeface="Noto Sans"/>
                <a:sym typeface="Noto Sans"/>
                <a:rtl val="0"/>
              </a:rPr>
              <a:t>Previously treated (n=35)</a:t>
            </a:r>
          </a:p>
        </p:txBody>
      </p:sp>
      <p:sp>
        <p:nvSpPr>
          <p:cNvPr id="1224" name="TextBox 1223">
            <a:extLst>
              <a:ext uri="{FF2B5EF4-FFF2-40B4-BE49-F238E27FC236}">
                <a16:creationId xmlns:a16="http://schemas.microsoft.com/office/drawing/2014/main" id="{35CC2711-5136-446B-B01C-6B90B9BB8D97}"/>
              </a:ext>
            </a:extLst>
          </p:cNvPr>
          <p:cNvSpPr txBox="1"/>
          <p:nvPr/>
        </p:nvSpPr>
        <p:spPr>
          <a:xfrm>
            <a:off x="2743200" y="6217920"/>
            <a:ext cx="9174480" cy="548640"/>
          </a:xfrm>
          <a:prstGeom prst="rect">
            <a:avLst/>
          </a:prstGeom>
          <a:noFill/>
        </p:spPr>
        <p:txBody>
          <a:bodyPr wrap="square" lIns="45720" rIns="45720" rtlCol="0" anchor="b">
            <a:noAutofit/>
          </a:bodyPr>
          <a:lstStyle/>
          <a:p>
            <a:pPr algn="r"/>
            <a:r>
              <a:rPr sz="1400" spc="0">
                <a:solidFill>
                  <a:srgbClr val="404040"/>
                </a:solidFill>
                <a:latin typeface="Franklin Gothic Book"/>
              </a:rPr>
              <a:t>Riely et al, JCO 2023, ESMO 2024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D56444-3DAF-4861-9E68-6A54A0085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1" y="2500765"/>
            <a:ext cx="5625953" cy="29213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4AE24C-5EA0-40A8-9D45-CCB91E953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1" y="1701800"/>
            <a:ext cx="5422753" cy="3651424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7B5093-E866-5099-E760-1BC39D67BEAD}"/>
              </a:ext>
            </a:extLst>
          </p:cNvPr>
          <p:cNvGraphicFramePr>
            <a:graphicFrameLocks noGrp="1"/>
          </p:cNvGraphicFramePr>
          <p:nvPr/>
        </p:nvGraphicFramePr>
        <p:xfrm>
          <a:off x="1367129" y="2401582"/>
          <a:ext cx="4641093" cy="38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1093">
                  <a:extLst>
                    <a:ext uri="{9D8B030D-6E8A-4147-A177-3AD203B41FA5}">
                      <a16:colId xmlns:a16="http://schemas.microsoft.com/office/drawing/2014/main" val="2705560446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Franklin Gothic Book"/>
                        </a:rPr>
                        <a:t>Response rate 75% (95% CI: 62-85)</a:t>
                      </a:r>
                    </a:p>
                  </a:txBody>
                  <a:tcPr marL="121920" marR="121920" marT="0" marB="0" anchor="ctr"/>
                </a:tc>
                <a:extLst>
                  <a:ext uri="{0D108BD9-81ED-4DB2-BD59-A6C34878D82A}">
                    <a16:rowId xmlns:a16="http://schemas.microsoft.com/office/drawing/2014/main" val="55909374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815768-D3DD-6798-822E-F871E3C0C2A1}"/>
              </a:ext>
            </a:extLst>
          </p:cNvPr>
          <p:cNvGraphicFramePr>
            <a:graphicFrameLocks noGrp="1"/>
          </p:cNvGraphicFramePr>
          <p:nvPr/>
        </p:nvGraphicFramePr>
        <p:xfrm>
          <a:off x="7708494" y="2628629"/>
          <a:ext cx="4419862" cy="38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19862">
                  <a:extLst>
                    <a:ext uri="{9D8B030D-6E8A-4147-A177-3AD203B41FA5}">
                      <a16:colId xmlns:a16="http://schemas.microsoft.com/office/drawing/2014/main" val="2705560446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Franklin Gothic Book"/>
                        </a:rPr>
                        <a:t>Response rate 46% (95% CI: 30-63)</a:t>
                      </a:r>
                    </a:p>
                  </a:txBody>
                  <a:tcPr marL="121920" marR="121920" marT="0" marB="0" anchor="ctr"/>
                </a:tc>
                <a:extLst>
                  <a:ext uri="{0D108BD9-81ED-4DB2-BD59-A6C34878D82A}">
                    <a16:rowId xmlns:a16="http://schemas.microsoft.com/office/drawing/2014/main" val="559093748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EE1C54-70E4-7D88-4CCE-DAD8F092A487}"/>
              </a:ext>
            </a:extLst>
          </p:cNvPr>
          <p:cNvGraphicFramePr>
            <a:graphicFrameLocks noGrp="1"/>
          </p:cNvGraphicFramePr>
          <p:nvPr/>
        </p:nvGraphicFramePr>
        <p:xfrm>
          <a:off x="1206378" y="5610046"/>
          <a:ext cx="4641093" cy="38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1093">
                  <a:extLst>
                    <a:ext uri="{9D8B030D-6E8A-4147-A177-3AD203B41FA5}">
                      <a16:colId xmlns:a16="http://schemas.microsoft.com/office/drawing/2014/main" val="2705560446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Franklin Gothic Book"/>
                        </a:rPr>
                        <a:t>Median Duration of Response 40 months</a:t>
                      </a:r>
                    </a:p>
                  </a:txBody>
                  <a:tcPr marL="121920" marR="121920" marT="0" marB="0" anchor="ctr"/>
                </a:tc>
                <a:extLst>
                  <a:ext uri="{0D108BD9-81ED-4DB2-BD59-A6C34878D82A}">
                    <a16:rowId xmlns:a16="http://schemas.microsoft.com/office/drawing/2014/main" val="55909374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15D616-5369-7BAD-638C-A4EB5BF19558}"/>
              </a:ext>
            </a:extLst>
          </p:cNvPr>
          <p:cNvGraphicFramePr>
            <a:graphicFrameLocks noGrp="1"/>
          </p:cNvGraphicFramePr>
          <p:nvPr/>
        </p:nvGraphicFramePr>
        <p:xfrm>
          <a:off x="7597878" y="5610046"/>
          <a:ext cx="4641093" cy="38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1093">
                  <a:extLst>
                    <a:ext uri="{9D8B030D-6E8A-4147-A177-3AD203B41FA5}">
                      <a16:colId xmlns:a16="http://schemas.microsoft.com/office/drawing/2014/main" val="2705560446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Franklin Gothic Book"/>
                        </a:rPr>
                        <a:t>Median Duration of Response17 months</a:t>
                      </a:r>
                    </a:p>
                  </a:txBody>
                  <a:tcPr marL="121920" marR="121920" marT="0" marB="0" anchor="ctr"/>
                </a:tc>
                <a:extLst>
                  <a:ext uri="{0D108BD9-81ED-4DB2-BD59-A6C34878D82A}">
                    <a16:rowId xmlns:a16="http://schemas.microsoft.com/office/drawing/2014/main" val="55909374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830692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E0954A-A418-9425-059B-B8DB1C8CE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0" dirty="0" err="1">
                <a:solidFill>
                  <a:srgbClr val="005A8E"/>
                </a:solidFill>
                <a:latin typeface="Franklin Gothic Medium"/>
                <a:cs typeface="Franklin Gothic Medium"/>
              </a:rPr>
              <a:t>Encorafenib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 + </a:t>
            </a:r>
            <a:r>
              <a:rPr lang="en-US" sz="2800" b="0" dirty="0" err="1">
                <a:solidFill>
                  <a:srgbClr val="005A8E"/>
                </a:solidFill>
                <a:latin typeface="Franklin Gothic Medium"/>
                <a:cs typeface="Franklin Gothic Medium"/>
              </a:rPr>
              <a:t>Binimetinib</a:t>
            </a:r>
          </a:p>
          <a:p>
            <a:pPr algn="l">
              <a:lnSpc>
                <a:spcPct val="90000"/>
              </a:lnSpc>
            </a:pPr>
            <a:r>
              <a:rPr lang="en-US" sz="1800" b="0" dirty="0">
                <a:solidFill>
                  <a:srgbClr val="005A8E"/>
                </a:solidFill>
                <a:latin typeface="Franklin Gothic Book"/>
                <a:cs typeface="Franklin Gothic Book"/>
              </a:rPr>
              <a:t>Updated Progression-free survival</a:t>
            </a:r>
            <a:endParaRPr lang="en-CH" sz="1800" b="0" dirty="0">
              <a:solidFill>
                <a:srgbClr val="005A8E"/>
              </a:solidFill>
              <a:latin typeface="Franklin Gothic Book"/>
              <a:cs typeface="Franklin Gothic Book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A85DC1-D37D-83DB-C05F-227771F1ECDB}"/>
              </a:ext>
            </a:extLst>
          </p:cNvPr>
          <p:cNvGraphicFramePr>
            <a:graphicFrameLocks noGrp="1"/>
          </p:cNvGraphicFramePr>
          <p:nvPr/>
        </p:nvGraphicFramePr>
        <p:xfrm>
          <a:off x="2666341" y="1795520"/>
          <a:ext cx="3301938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9506">
                  <a:extLst>
                    <a:ext uri="{9D8B030D-6E8A-4147-A177-3AD203B41FA5}">
                      <a16:colId xmlns:a16="http://schemas.microsoft.com/office/drawing/2014/main" val="2046917006"/>
                    </a:ext>
                  </a:extLst>
                </a:gridCol>
                <a:gridCol w="1172432">
                  <a:extLst>
                    <a:ext uri="{9D8B030D-6E8A-4147-A177-3AD203B41FA5}">
                      <a16:colId xmlns:a16="http://schemas.microsoft.com/office/drawing/2014/main" val="1845540174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Franklin Gothic Book"/>
                        </a:rPr>
                        <a:t>No. of PFS events, n (%)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Franklin Gothic Book"/>
                        </a:rPr>
                        <a:t>28 (47)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07761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Franklin Gothic Book"/>
                        </a:rPr>
                        <a:t>Median duration of follow-up for PFS (95% CI), months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Franklin Gothic Book"/>
                        </a:rPr>
                        <a:t>33.3 </a:t>
                      </a:r>
                      <a:br>
                        <a:rPr lang="en-US" sz="1200" dirty="0">
                          <a:latin typeface="Franklin Gothic Book"/>
                        </a:rPr>
                      </a:br>
                      <a:r>
                        <a:rPr lang="en-US" sz="1200" dirty="0">
                          <a:latin typeface="Franklin Gothic Book"/>
                        </a:rPr>
                        <a:t>(30.4, 41.3)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37656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Franklin Gothic Book"/>
                        </a:rPr>
                        <a:t>Median PFS (95% CI), months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Franklin Gothic Book"/>
                        </a:rPr>
                        <a:t>30.2 </a:t>
                      </a:r>
                      <a:br>
                        <a:rPr lang="en-US" sz="1200" b="1" dirty="0">
                          <a:latin typeface="Franklin Gothic Book"/>
                        </a:rPr>
                      </a:br>
                      <a:r>
                        <a:rPr lang="en-US" sz="1200" b="1" dirty="0">
                          <a:latin typeface="Franklin Gothic Book"/>
                        </a:rPr>
                        <a:t>(15.7, NE)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02361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61C022-BF54-5CF3-C802-73B4DD6BE7F7}"/>
              </a:ext>
            </a:extLst>
          </p:cNvPr>
          <p:cNvGraphicFramePr>
            <a:graphicFrameLocks noGrp="1"/>
          </p:cNvGraphicFramePr>
          <p:nvPr/>
        </p:nvGraphicFramePr>
        <p:xfrm>
          <a:off x="7992870" y="1780873"/>
          <a:ext cx="3647552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949">
                  <a:extLst>
                    <a:ext uri="{9D8B030D-6E8A-4147-A177-3AD203B41FA5}">
                      <a16:colId xmlns:a16="http://schemas.microsoft.com/office/drawing/2014/main" val="2046917006"/>
                    </a:ext>
                  </a:extLst>
                </a:gridCol>
                <a:gridCol w="1284603">
                  <a:extLst>
                    <a:ext uri="{9D8B030D-6E8A-4147-A177-3AD203B41FA5}">
                      <a16:colId xmlns:a16="http://schemas.microsoft.com/office/drawing/2014/main" val="1845540174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Franklin Gothic Book"/>
                        </a:rPr>
                        <a:t>No. of PFS events, n (%)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Franklin Gothic Book"/>
                        </a:rPr>
                        <a:t>20 (51)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07761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Franklin Gothic Book"/>
                        </a:rPr>
                        <a:t>Median duration of follow-up for PFS (95% CI), months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Franklin Gothic Book"/>
                        </a:rPr>
                        <a:t>14.0 </a:t>
                      </a:r>
                      <a:br>
                        <a:rPr lang="en-US" sz="1200" dirty="0">
                          <a:latin typeface="Franklin Gothic Book"/>
                        </a:rPr>
                      </a:br>
                      <a:r>
                        <a:rPr lang="en-US" sz="1200" dirty="0">
                          <a:latin typeface="Franklin Gothic Book"/>
                        </a:rPr>
                        <a:t>(11.3, 44.2)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37656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Franklin Gothic Book"/>
                        </a:rPr>
                        <a:t>Median PFS (95% CI), months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Franklin Gothic Book"/>
                        </a:rPr>
                        <a:t>9.3 </a:t>
                      </a:r>
                      <a:br>
                        <a:rPr lang="en-US" sz="1200" b="1" dirty="0">
                          <a:latin typeface="Franklin Gothic Book"/>
                        </a:rPr>
                      </a:br>
                      <a:r>
                        <a:rPr lang="en-US" sz="1200" b="1" dirty="0">
                          <a:latin typeface="Franklin Gothic Book"/>
                        </a:rPr>
                        <a:t>(6.2, 24.8)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02361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1D9E865-BB47-FB1C-C645-76E8FBABF9AC}"/>
              </a:ext>
            </a:extLst>
          </p:cNvPr>
          <p:cNvSpPr txBox="1"/>
          <p:nvPr/>
        </p:nvSpPr>
        <p:spPr>
          <a:xfrm>
            <a:off x="2760559" y="1379191"/>
            <a:ext cx="1970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>
                <a:ln/>
                <a:solidFill>
                  <a:srgbClr val="000000"/>
                </a:solidFill>
                <a:latin typeface="Franklin Gothic Book"/>
                <a:ea typeface="Noto Sans"/>
                <a:cs typeface="Noto Sans"/>
                <a:sym typeface="Noto Sans"/>
                <a:rtl val="0"/>
              </a:rPr>
              <a:t>Treatment naive (n=59)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083AAB6-4EF4-52F0-B81F-8BB2784CA1DF}"/>
              </a:ext>
            </a:extLst>
          </p:cNvPr>
          <p:cNvGrpSpPr/>
          <p:nvPr/>
        </p:nvGrpSpPr>
        <p:grpSpPr>
          <a:xfrm>
            <a:off x="494270" y="1839233"/>
            <a:ext cx="5296015" cy="3764103"/>
            <a:chOff x="370702" y="1209615"/>
            <a:chExt cx="3972011" cy="2823078"/>
          </a:xfrm>
        </p:grpSpPr>
        <p:sp>
          <p:nvSpPr>
            <p:cNvPr id="108" name="Freeform 293">
              <a:extLst>
                <a:ext uri="{FF2B5EF4-FFF2-40B4-BE49-F238E27FC236}">
                  <a16:creationId xmlns:a16="http://schemas.microsoft.com/office/drawing/2014/main" id="{899829FF-10DE-9914-69C4-80C6109E41DC}"/>
                </a:ext>
              </a:extLst>
            </p:cNvPr>
            <p:cNvSpPr/>
            <p:nvPr/>
          </p:nvSpPr>
          <p:spPr>
            <a:xfrm>
              <a:off x="1127155" y="1213700"/>
              <a:ext cx="9513" cy="2248287"/>
            </a:xfrm>
            <a:custGeom>
              <a:avLst/>
              <a:gdLst>
                <a:gd name="connsiteX0" fmla="*/ 0 w 9513"/>
                <a:gd name="connsiteY0" fmla="*/ 2248287 h 2248287"/>
                <a:gd name="connsiteX1" fmla="*/ 0 w 9513"/>
                <a:gd name="connsiteY1" fmla="*/ 0 h 2248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2248287">
                  <a:moveTo>
                    <a:pt x="0" y="2248287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9" name="Freeform 202">
              <a:extLst>
                <a:ext uri="{FF2B5EF4-FFF2-40B4-BE49-F238E27FC236}">
                  <a16:creationId xmlns:a16="http://schemas.microsoft.com/office/drawing/2014/main" id="{8B25C0BB-5D6C-7F3C-0B9A-411E3EE0C7E5}"/>
                </a:ext>
              </a:extLst>
            </p:cNvPr>
            <p:cNvSpPr/>
            <p:nvPr/>
          </p:nvSpPr>
          <p:spPr>
            <a:xfrm>
              <a:off x="1120063" y="2372768"/>
              <a:ext cx="3108960" cy="9502"/>
            </a:xfrm>
            <a:custGeom>
              <a:avLst/>
              <a:gdLst>
                <a:gd name="connsiteX0" fmla="*/ 0 w 3182305"/>
                <a:gd name="connsiteY0" fmla="*/ 0 h 9502"/>
                <a:gd name="connsiteX1" fmla="*/ 3182306 w 3182305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82305" h="9502">
                  <a:moveTo>
                    <a:pt x="0" y="0"/>
                  </a:moveTo>
                  <a:lnTo>
                    <a:pt x="3182306" y="0"/>
                  </a:lnTo>
                </a:path>
              </a:pathLst>
            </a:custGeom>
            <a:ln w="12700" cap="flat">
              <a:solidFill>
                <a:srgbClr val="808080"/>
              </a:solidFill>
              <a:custDash>
                <a:ds d="0" sp="0"/>
                <a:ds d="82500" sp="82500"/>
              </a:custDash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1" name="Freeform 204">
              <a:extLst>
                <a:ext uri="{FF2B5EF4-FFF2-40B4-BE49-F238E27FC236}">
                  <a16:creationId xmlns:a16="http://schemas.microsoft.com/office/drawing/2014/main" id="{64C7E4A2-4029-C807-558A-73A509076403}"/>
                </a:ext>
              </a:extLst>
            </p:cNvPr>
            <p:cNvSpPr/>
            <p:nvPr/>
          </p:nvSpPr>
          <p:spPr>
            <a:xfrm>
              <a:off x="1103371" y="3233693"/>
              <a:ext cx="19978" cy="9502"/>
            </a:xfrm>
            <a:custGeom>
              <a:avLst/>
              <a:gdLst>
                <a:gd name="connsiteX0" fmla="*/ 19979 w 19978"/>
                <a:gd name="connsiteY0" fmla="*/ 0 h 9502"/>
                <a:gd name="connsiteX1" fmla="*/ 0 w 19978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78" h="9502">
                  <a:moveTo>
                    <a:pt x="19979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2" name="Freeform 205">
              <a:extLst>
                <a:ext uri="{FF2B5EF4-FFF2-40B4-BE49-F238E27FC236}">
                  <a16:creationId xmlns:a16="http://schemas.microsoft.com/office/drawing/2014/main" id="{804ADD33-A496-C3D1-9D8E-59927CE7D2A7}"/>
                </a:ext>
              </a:extLst>
            </p:cNvPr>
            <p:cNvSpPr/>
            <p:nvPr/>
          </p:nvSpPr>
          <p:spPr>
            <a:xfrm>
              <a:off x="1103371" y="3018937"/>
              <a:ext cx="19978" cy="9502"/>
            </a:xfrm>
            <a:custGeom>
              <a:avLst/>
              <a:gdLst>
                <a:gd name="connsiteX0" fmla="*/ 19979 w 19978"/>
                <a:gd name="connsiteY0" fmla="*/ 0 h 9502"/>
                <a:gd name="connsiteX1" fmla="*/ 0 w 19978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78" h="9502">
                  <a:moveTo>
                    <a:pt x="19979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3" name="Freeform 206">
              <a:extLst>
                <a:ext uri="{FF2B5EF4-FFF2-40B4-BE49-F238E27FC236}">
                  <a16:creationId xmlns:a16="http://schemas.microsoft.com/office/drawing/2014/main" id="{C1DE16D4-6407-EFC6-1E7D-E8941F17C83C}"/>
                </a:ext>
              </a:extLst>
            </p:cNvPr>
            <p:cNvSpPr/>
            <p:nvPr/>
          </p:nvSpPr>
          <p:spPr>
            <a:xfrm>
              <a:off x="1103371" y="2803231"/>
              <a:ext cx="19978" cy="9502"/>
            </a:xfrm>
            <a:custGeom>
              <a:avLst/>
              <a:gdLst>
                <a:gd name="connsiteX0" fmla="*/ 19979 w 19978"/>
                <a:gd name="connsiteY0" fmla="*/ 0 h 9502"/>
                <a:gd name="connsiteX1" fmla="*/ 0 w 19978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78" h="9502">
                  <a:moveTo>
                    <a:pt x="19979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4" name="Freeform 207">
              <a:extLst>
                <a:ext uri="{FF2B5EF4-FFF2-40B4-BE49-F238E27FC236}">
                  <a16:creationId xmlns:a16="http://schemas.microsoft.com/office/drawing/2014/main" id="{4A0AE6AD-F9ED-7ABF-6C96-63DF8E20F91F}"/>
                </a:ext>
              </a:extLst>
            </p:cNvPr>
            <p:cNvSpPr/>
            <p:nvPr/>
          </p:nvSpPr>
          <p:spPr>
            <a:xfrm>
              <a:off x="1103371" y="2588475"/>
              <a:ext cx="19978" cy="9502"/>
            </a:xfrm>
            <a:custGeom>
              <a:avLst/>
              <a:gdLst>
                <a:gd name="connsiteX0" fmla="*/ 19979 w 19978"/>
                <a:gd name="connsiteY0" fmla="*/ 0 h 9502"/>
                <a:gd name="connsiteX1" fmla="*/ 0 w 19978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78" h="9502">
                  <a:moveTo>
                    <a:pt x="19979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5" name="Freeform 208">
              <a:extLst>
                <a:ext uri="{FF2B5EF4-FFF2-40B4-BE49-F238E27FC236}">
                  <a16:creationId xmlns:a16="http://schemas.microsoft.com/office/drawing/2014/main" id="{16BDE617-F9FD-273A-2AB9-5174E9F5B0D0}"/>
                </a:ext>
              </a:extLst>
            </p:cNvPr>
            <p:cNvSpPr/>
            <p:nvPr/>
          </p:nvSpPr>
          <p:spPr>
            <a:xfrm>
              <a:off x="1103371" y="2372768"/>
              <a:ext cx="19978" cy="9502"/>
            </a:xfrm>
            <a:custGeom>
              <a:avLst/>
              <a:gdLst>
                <a:gd name="connsiteX0" fmla="*/ 19979 w 19978"/>
                <a:gd name="connsiteY0" fmla="*/ 0 h 9502"/>
                <a:gd name="connsiteX1" fmla="*/ 0 w 19978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78" h="9502">
                  <a:moveTo>
                    <a:pt x="19979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6" name="Freeform 209">
              <a:extLst>
                <a:ext uri="{FF2B5EF4-FFF2-40B4-BE49-F238E27FC236}">
                  <a16:creationId xmlns:a16="http://schemas.microsoft.com/office/drawing/2014/main" id="{43D88C3C-9CF2-7115-9E2B-2BE9C2CA2A6F}"/>
                </a:ext>
              </a:extLst>
            </p:cNvPr>
            <p:cNvSpPr/>
            <p:nvPr/>
          </p:nvSpPr>
          <p:spPr>
            <a:xfrm>
              <a:off x="1103371" y="2157062"/>
              <a:ext cx="19978" cy="9502"/>
            </a:xfrm>
            <a:custGeom>
              <a:avLst/>
              <a:gdLst>
                <a:gd name="connsiteX0" fmla="*/ 19979 w 19978"/>
                <a:gd name="connsiteY0" fmla="*/ 0 h 9502"/>
                <a:gd name="connsiteX1" fmla="*/ 0 w 19978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78" h="9502">
                  <a:moveTo>
                    <a:pt x="19979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7" name="Freeform 210">
              <a:extLst>
                <a:ext uri="{FF2B5EF4-FFF2-40B4-BE49-F238E27FC236}">
                  <a16:creationId xmlns:a16="http://schemas.microsoft.com/office/drawing/2014/main" id="{126AF946-3598-2A41-F6EB-1257B2EAE84A}"/>
                </a:ext>
              </a:extLst>
            </p:cNvPr>
            <p:cNvSpPr/>
            <p:nvPr/>
          </p:nvSpPr>
          <p:spPr>
            <a:xfrm>
              <a:off x="1103371" y="1945157"/>
              <a:ext cx="19978" cy="9502"/>
            </a:xfrm>
            <a:custGeom>
              <a:avLst/>
              <a:gdLst>
                <a:gd name="connsiteX0" fmla="*/ 19979 w 19978"/>
                <a:gd name="connsiteY0" fmla="*/ 0 h 9502"/>
                <a:gd name="connsiteX1" fmla="*/ 0 w 19978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78" h="9502">
                  <a:moveTo>
                    <a:pt x="19979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8" name="Freeform 211">
              <a:extLst>
                <a:ext uri="{FF2B5EF4-FFF2-40B4-BE49-F238E27FC236}">
                  <a16:creationId xmlns:a16="http://schemas.microsoft.com/office/drawing/2014/main" id="{33A4A2FF-B08E-A4CE-2BE6-28478D109414}"/>
                </a:ext>
              </a:extLst>
            </p:cNvPr>
            <p:cNvSpPr/>
            <p:nvPr/>
          </p:nvSpPr>
          <p:spPr>
            <a:xfrm>
              <a:off x="1103371" y="1730400"/>
              <a:ext cx="19978" cy="9502"/>
            </a:xfrm>
            <a:custGeom>
              <a:avLst/>
              <a:gdLst>
                <a:gd name="connsiteX0" fmla="*/ 19979 w 19978"/>
                <a:gd name="connsiteY0" fmla="*/ 0 h 9502"/>
                <a:gd name="connsiteX1" fmla="*/ 0 w 19978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78" h="9502">
                  <a:moveTo>
                    <a:pt x="19979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9" name="Freeform 212">
              <a:extLst>
                <a:ext uri="{FF2B5EF4-FFF2-40B4-BE49-F238E27FC236}">
                  <a16:creationId xmlns:a16="http://schemas.microsoft.com/office/drawing/2014/main" id="{0291F6C8-9D23-EDE3-D270-67ACE8955956}"/>
                </a:ext>
              </a:extLst>
            </p:cNvPr>
            <p:cNvSpPr/>
            <p:nvPr/>
          </p:nvSpPr>
          <p:spPr>
            <a:xfrm>
              <a:off x="1103371" y="1514694"/>
              <a:ext cx="19978" cy="9502"/>
            </a:xfrm>
            <a:custGeom>
              <a:avLst/>
              <a:gdLst>
                <a:gd name="connsiteX0" fmla="*/ 19979 w 19978"/>
                <a:gd name="connsiteY0" fmla="*/ 0 h 9502"/>
                <a:gd name="connsiteX1" fmla="*/ 0 w 19978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78" h="9502">
                  <a:moveTo>
                    <a:pt x="19979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0" name="Freeform 213">
              <a:extLst>
                <a:ext uri="{FF2B5EF4-FFF2-40B4-BE49-F238E27FC236}">
                  <a16:creationId xmlns:a16="http://schemas.microsoft.com/office/drawing/2014/main" id="{2E7B4A64-37DD-2842-21E0-A28071F520B0}"/>
                </a:ext>
              </a:extLst>
            </p:cNvPr>
            <p:cNvSpPr/>
            <p:nvPr/>
          </p:nvSpPr>
          <p:spPr>
            <a:xfrm>
              <a:off x="1103371" y="1299938"/>
              <a:ext cx="19978" cy="9502"/>
            </a:xfrm>
            <a:custGeom>
              <a:avLst/>
              <a:gdLst>
                <a:gd name="connsiteX0" fmla="*/ 19979 w 19978"/>
                <a:gd name="connsiteY0" fmla="*/ 0 h 9502"/>
                <a:gd name="connsiteX1" fmla="*/ 0 w 19978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78" h="9502">
                  <a:moveTo>
                    <a:pt x="19979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3" name="Freeform 215">
              <a:extLst>
                <a:ext uri="{FF2B5EF4-FFF2-40B4-BE49-F238E27FC236}">
                  <a16:creationId xmlns:a16="http://schemas.microsoft.com/office/drawing/2014/main" id="{8B905D29-B4C4-2B49-4851-85F79A99264B}"/>
                </a:ext>
              </a:extLst>
            </p:cNvPr>
            <p:cNvSpPr/>
            <p:nvPr/>
          </p:nvSpPr>
          <p:spPr>
            <a:xfrm>
              <a:off x="1349277" y="3441397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4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4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6" name="Freeform 216">
              <a:extLst>
                <a:ext uri="{FF2B5EF4-FFF2-40B4-BE49-F238E27FC236}">
                  <a16:creationId xmlns:a16="http://schemas.microsoft.com/office/drawing/2014/main" id="{F1F73210-FA59-D9E5-0157-954479E65AFE}"/>
                </a:ext>
              </a:extLst>
            </p:cNvPr>
            <p:cNvSpPr/>
            <p:nvPr/>
          </p:nvSpPr>
          <p:spPr>
            <a:xfrm>
              <a:off x="1565236" y="3441397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4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4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8" name="Freeform 217">
              <a:extLst>
                <a:ext uri="{FF2B5EF4-FFF2-40B4-BE49-F238E27FC236}">
                  <a16:creationId xmlns:a16="http://schemas.microsoft.com/office/drawing/2014/main" id="{921C2C3D-7C29-086E-2C66-75CE6EE22ABA}"/>
                </a:ext>
              </a:extLst>
            </p:cNvPr>
            <p:cNvSpPr/>
            <p:nvPr/>
          </p:nvSpPr>
          <p:spPr>
            <a:xfrm>
              <a:off x="1784049" y="3441397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4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4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30" name="Freeform 218">
              <a:extLst>
                <a:ext uri="{FF2B5EF4-FFF2-40B4-BE49-F238E27FC236}">
                  <a16:creationId xmlns:a16="http://schemas.microsoft.com/office/drawing/2014/main" id="{F4830284-C1DB-B295-8CE3-E6369CB563E8}"/>
                </a:ext>
              </a:extLst>
            </p:cNvPr>
            <p:cNvSpPr/>
            <p:nvPr/>
          </p:nvSpPr>
          <p:spPr>
            <a:xfrm>
              <a:off x="2000008" y="3441397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4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4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34" name="Freeform 219">
              <a:extLst>
                <a:ext uri="{FF2B5EF4-FFF2-40B4-BE49-F238E27FC236}">
                  <a16:creationId xmlns:a16="http://schemas.microsoft.com/office/drawing/2014/main" id="{F4824A94-E205-3709-DAEB-9DA1C41CFD45}"/>
                </a:ext>
              </a:extLst>
            </p:cNvPr>
            <p:cNvSpPr/>
            <p:nvPr/>
          </p:nvSpPr>
          <p:spPr>
            <a:xfrm>
              <a:off x="2218822" y="3441397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4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4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35" name="Freeform 220">
              <a:extLst>
                <a:ext uri="{FF2B5EF4-FFF2-40B4-BE49-F238E27FC236}">
                  <a16:creationId xmlns:a16="http://schemas.microsoft.com/office/drawing/2014/main" id="{D884DB12-2781-C7A3-6A59-A05F7EAFFE53}"/>
                </a:ext>
              </a:extLst>
            </p:cNvPr>
            <p:cNvSpPr/>
            <p:nvPr/>
          </p:nvSpPr>
          <p:spPr>
            <a:xfrm>
              <a:off x="2433829" y="3441397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4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4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36" name="Freeform 221">
              <a:extLst>
                <a:ext uri="{FF2B5EF4-FFF2-40B4-BE49-F238E27FC236}">
                  <a16:creationId xmlns:a16="http://schemas.microsoft.com/office/drawing/2014/main" id="{186E83F0-E227-C7AF-9660-5C3602759040}"/>
                </a:ext>
              </a:extLst>
            </p:cNvPr>
            <p:cNvSpPr/>
            <p:nvPr/>
          </p:nvSpPr>
          <p:spPr>
            <a:xfrm>
              <a:off x="2653594" y="3441397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4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4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37" name="Freeform 222">
              <a:extLst>
                <a:ext uri="{FF2B5EF4-FFF2-40B4-BE49-F238E27FC236}">
                  <a16:creationId xmlns:a16="http://schemas.microsoft.com/office/drawing/2014/main" id="{D3A81444-4B6E-8354-CB75-05FEC58D4C42}"/>
                </a:ext>
              </a:extLst>
            </p:cNvPr>
            <p:cNvSpPr/>
            <p:nvPr/>
          </p:nvSpPr>
          <p:spPr>
            <a:xfrm>
              <a:off x="2868602" y="3441397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4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4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38" name="Freeform 223">
              <a:extLst>
                <a:ext uri="{FF2B5EF4-FFF2-40B4-BE49-F238E27FC236}">
                  <a16:creationId xmlns:a16="http://schemas.microsoft.com/office/drawing/2014/main" id="{8117D420-8B16-2647-152E-5844DB8C0439}"/>
                </a:ext>
              </a:extLst>
            </p:cNvPr>
            <p:cNvSpPr/>
            <p:nvPr/>
          </p:nvSpPr>
          <p:spPr>
            <a:xfrm>
              <a:off x="3088366" y="3441397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4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4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39" name="Freeform 224">
              <a:extLst>
                <a:ext uri="{FF2B5EF4-FFF2-40B4-BE49-F238E27FC236}">
                  <a16:creationId xmlns:a16="http://schemas.microsoft.com/office/drawing/2014/main" id="{985C18C2-8FDF-AC28-F859-B7298CE9F083}"/>
                </a:ext>
              </a:extLst>
            </p:cNvPr>
            <p:cNvSpPr/>
            <p:nvPr/>
          </p:nvSpPr>
          <p:spPr>
            <a:xfrm>
              <a:off x="3303374" y="3441397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4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4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40" name="Freeform 225">
              <a:extLst>
                <a:ext uri="{FF2B5EF4-FFF2-40B4-BE49-F238E27FC236}">
                  <a16:creationId xmlns:a16="http://schemas.microsoft.com/office/drawing/2014/main" id="{2D3233DB-0EA8-D4ED-8E3D-6B20A2597BE7}"/>
                </a:ext>
              </a:extLst>
            </p:cNvPr>
            <p:cNvSpPr/>
            <p:nvPr/>
          </p:nvSpPr>
          <p:spPr>
            <a:xfrm>
              <a:off x="3522188" y="3441397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4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4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41" name="Freeform 226">
              <a:extLst>
                <a:ext uri="{FF2B5EF4-FFF2-40B4-BE49-F238E27FC236}">
                  <a16:creationId xmlns:a16="http://schemas.microsoft.com/office/drawing/2014/main" id="{E4DEF033-AC1D-2E56-9B0A-295FEBA1CE86}"/>
                </a:ext>
              </a:extLst>
            </p:cNvPr>
            <p:cNvSpPr/>
            <p:nvPr/>
          </p:nvSpPr>
          <p:spPr>
            <a:xfrm>
              <a:off x="3738147" y="3441397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4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4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42" name="Freeform 227">
              <a:extLst>
                <a:ext uri="{FF2B5EF4-FFF2-40B4-BE49-F238E27FC236}">
                  <a16:creationId xmlns:a16="http://schemas.microsoft.com/office/drawing/2014/main" id="{EC026EBD-4DDA-DC46-AE95-0E3B56DFE947}"/>
                </a:ext>
              </a:extLst>
            </p:cNvPr>
            <p:cNvSpPr/>
            <p:nvPr/>
          </p:nvSpPr>
          <p:spPr>
            <a:xfrm>
              <a:off x="3956960" y="3441397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4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4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43" name="Freeform 228">
              <a:extLst>
                <a:ext uri="{FF2B5EF4-FFF2-40B4-BE49-F238E27FC236}">
                  <a16:creationId xmlns:a16="http://schemas.microsoft.com/office/drawing/2014/main" id="{0722486A-A113-87E8-5CB6-ACFFEEC71244}"/>
                </a:ext>
              </a:extLst>
            </p:cNvPr>
            <p:cNvSpPr/>
            <p:nvPr/>
          </p:nvSpPr>
          <p:spPr>
            <a:xfrm>
              <a:off x="4172919" y="3441397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4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4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44" name="Freeform 229">
              <a:extLst>
                <a:ext uri="{FF2B5EF4-FFF2-40B4-BE49-F238E27FC236}">
                  <a16:creationId xmlns:a16="http://schemas.microsoft.com/office/drawing/2014/main" id="{7DEE5C9F-1D77-5DB5-DD89-562F35E6C29A}"/>
                </a:ext>
              </a:extLst>
            </p:cNvPr>
            <p:cNvSpPr/>
            <p:nvPr/>
          </p:nvSpPr>
          <p:spPr>
            <a:xfrm>
              <a:off x="1130464" y="1299938"/>
              <a:ext cx="2909265" cy="1342700"/>
            </a:xfrm>
            <a:custGeom>
              <a:avLst/>
              <a:gdLst>
                <a:gd name="connsiteX0" fmla="*/ 0 w 2909265"/>
                <a:gd name="connsiteY0" fmla="*/ 0 h 1342700"/>
                <a:gd name="connsiteX1" fmla="*/ 2854 w 2909265"/>
                <a:gd name="connsiteY1" fmla="*/ 0 h 1342700"/>
                <a:gd name="connsiteX2" fmla="*/ 58033 w 2909265"/>
                <a:gd name="connsiteY2" fmla="*/ 0 h 1342700"/>
                <a:gd name="connsiteX3" fmla="*/ 85623 w 2909265"/>
                <a:gd name="connsiteY3" fmla="*/ 0 h 1342700"/>
                <a:gd name="connsiteX4" fmla="*/ 88477 w 2909265"/>
                <a:gd name="connsiteY4" fmla="*/ 0 h 1342700"/>
                <a:gd name="connsiteX5" fmla="*/ 88477 w 2909265"/>
                <a:gd name="connsiteY5" fmla="*/ 37060 h 1342700"/>
                <a:gd name="connsiteX6" fmla="*/ 102747 w 2909265"/>
                <a:gd name="connsiteY6" fmla="*/ 37060 h 1342700"/>
                <a:gd name="connsiteX7" fmla="*/ 102747 w 2909265"/>
                <a:gd name="connsiteY7" fmla="*/ 75070 h 1342700"/>
                <a:gd name="connsiteX8" fmla="*/ 113212 w 2909265"/>
                <a:gd name="connsiteY8" fmla="*/ 75070 h 1342700"/>
                <a:gd name="connsiteX9" fmla="*/ 119872 w 2909265"/>
                <a:gd name="connsiteY9" fmla="*/ 75070 h 1342700"/>
                <a:gd name="connsiteX10" fmla="*/ 119872 w 2909265"/>
                <a:gd name="connsiteY10" fmla="*/ 115930 h 1342700"/>
                <a:gd name="connsiteX11" fmla="*/ 167440 w 2909265"/>
                <a:gd name="connsiteY11" fmla="*/ 115930 h 1342700"/>
                <a:gd name="connsiteX12" fmla="*/ 167440 w 2909265"/>
                <a:gd name="connsiteY12" fmla="*/ 152990 h 1342700"/>
                <a:gd name="connsiteX13" fmla="*/ 174099 w 2909265"/>
                <a:gd name="connsiteY13" fmla="*/ 152990 h 1342700"/>
                <a:gd name="connsiteX14" fmla="*/ 184564 w 2909265"/>
                <a:gd name="connsiteY14" fmla="*/ 152990 h 1342700"/>
                <a:gd name="connsiteX15" fmla="*/ 184564 w 2909265"/>
                <a:gd name="connsiteY15" fmla="*/ 194801 h 1342700"/>
                <a:gd name="connsiteX16" fmla="*/ 191224 w 2909265"/>
                <a:gd name="connsiteY16" fmla="*/ 194801 h 1342700"/>
                <a:gd name="connsiteX17" fmla="*/ 191224 w 2909265"/>
                <a:gd name="connsiteY17" fmla="*/ 235662 h 1342700"/>
                <a:gd name="connsiteX18" fmla="*/ 195029 w 2909265"/>
                <a:gd name="connsiteY18" fmla="*/ 235662 h 1342700"/>
                <a:gd name="connsiteX19" fmla="*/ 195029 w 2909265"/>
                <a:gd name="connsiteY19" fmla="*/ 272721 h 1342700"/>
                <a:gd name="connsiteX20" fmla="*/ 201689 w 2909265"/>
                <a:gd name="connsiteY20" fmla="*/ 272721 h 1342700"/>
                <a:gd name="connsiteX21" fmla="*/ 201689 w 2909265"/>
                <a:gd name="connsiteY21" fmla="*/ 314532 h 1342700"/>
                <a:gd name="connsiteX22" fmla="*/ 249257 w 2909265"/>
                <a:gd name="connsiteY22" fmla="*/ 314532 h 1342700"/>
                <a:gd name="connsiteX23" fmla="*/ 249257 w 2909265"/>
                <a:gd name="connsiteY23" fmla="*/ 355393 h 1342700"/>
                <a:gd name="connsiteX24" fmla="*/ 291117 w 2909265"/>
                <a:gd name="connsiteY24" fmla="*/ 355393 h 1342700"/>
                <a:gd name="connsiteX25" fmla="*/ 291117 w 2909265"/>
                <a:gd name="connsiteY25" fmla="*/ 396254 h 1342700"/>
                <a:gd name="connsiteX26" fmla="*/ 297776 w 2909265"/>
                <a:gd name="connsiteY26" fmla="*/ 396254 h 1342700"/>
                <a:gd name="connsiteX27" fmla="*/ 297776 w 2909265"/>
                <a:gd name="connsiteY27" fmla="*/ 437114 h 1342700"/>
                <a:gd name="connsiteX28" fmla="*/ 300630 w 2909265"/>
                <a:gd name="connsiteY28" fmla="*/ 437114 h 1342700"/>
                <a:gd name="connsiteX29" fmla="*/ 304436 w 2909265"/>
                <a:gd name="connsiteY29" fmla="*/ 437114 h 1342700"/>
                <a:gd name="connsiteX30" fmla="*/ 304436 w 2909265"/>
                <a:gd name="connsiteY30" fmla="*/ 477975 h 1342700"/>
                <a:gd name="connsiteX31" fmla="*/ 304436 w 2909265"/>
                <a:gd name="connsiteY31" fmla="*/ 522637 h 1342700"/>
                <a:gd name="connsiteX32" fmla="*/ 325366 w 2909265"/>
                <a:gd name="connsiteY32" fmla="*/ 522637 h 1342700"/>
                <a:gd name="connsiteX33" fmla="*/ 325366 w 2909265"/>
                <a:gd name="connsiteY33" fmla="*/ 563497 h 1342700"/>
                <a:gd name="connsiteX34" fmla="*/ 403377 w 2909265"/>
                <a:gd name="connsiteY34" fmla="*/ 563497 h 1342700"/>
                <a:gd name="connsiteX35" fmla="*/ 458556 w 2909265"/>
                <a:gd name="connsiteY35" fmla="*/ 563497 h 1342700"/>
                <a:gd name="connsiteX36" fmla="*/ 458556 w 2909265"/>
                <a:gd name="connsiteY36" fmla="*/ 608159 h 1342700"/>
                <a:gd name="connsiteX37" fmla="*/ 499465 w 2909265"/>
                <a:gd name="connsiteY37" fmla="*/ 608159 h 1342700"/>
                <a:gd name="connsiteX38" fmla="*/ 499465 w 2909265"/>
                <a:gd name="connsiteY38" fmla="*/ 652821 h 1342700"/>
                <a:gd name="connsiteX39" fmla="*/ 499465 w 2909265"/>
                <a:gd name="connsiteY39" fmla="*/ 696532 h 1342700"/>
                <a:gd name="connsiteX40" fmla="*/ 588893 w 2909265"/>
                <a:gd name="connsiteY40" fmla="*/ 696532 h 1342700"/>
                <a:gd name="connsiteX41" fmla="*/ 595553 w 2909265"/>
                <a:gd name="connsiteY41" fmla="*/ 696532 h 1342700"/>
                <a:gd name="connsiteX42" fmla="*/ 606018 w 2909265"/>
                <a:gd name="connsiteY42" fmla="*/ 696532 h 1342700"/>
                <a:gd name="connsiteX43" fmla="*/ 745868 w 2909265"/>
                <a:gd name="connsiteY43" fmla="*/ 696532 h 1342700"/>
                <a:gd name="connsiteX44" fmla="*/ 745868 w 2909265"/>
                <a:gd name="connsiteY44" fmla="*/ 744995 h 1342700"/>
                <a:gd name="connsiteX45" fmla="*/ 852420 w 2909265"/>
                <a:gd name="connsiteY45" fmla="*/ 744995 h 1342700"/>
                <a:gd name="connsiteX46" fmla="*/ 852420 w 2909265"/>
                <a:gd name="connsiteY46" fmla="*/ 792507 h 1342700"/>
                <a:gd name="connsiteX47" fmla="*/ 882864 w 2909265"/>
                <a:gd name="connsiteY47" fmla="*/ 792507 h 1342700"/>
                <a:gd name="connsiteX48" fmla="*/ 889524 w 2909265"/>
                <a:gd name="connsiteY48" fmla="*/ 792507 h 1342700"/>
                <a:gd name="connsiteX49" fmla="*/ 899988 w 2909265"/>
                <a:gd name="connsiteY49" fmla="*/ 792507 h 1342700"/>
                <a:gd name="connsiteX50" fmla="*/ 899988 w 2909265"/>
                <a:gd name="connsiteY50" fmla="*/ 843820 h 1342700"/>
                <a:gd name="connsiteX51" fmla="*/ 1050304 w 2909265"/>
                <a:gd name="connsiteY51" fmla="*/ 843820 h 1342700"/>
                <a:gd name="connsiteX52" fmla="*/ 1056963 w 2909265"/>
                <a:gd name="connsiteY52" fmla="*/ 843820 h 1342700"/>
                <a:gd name="connsiteX53" fmla="*/ 1056963 w 2909265"/>
                <a:gd name="connsiteY53" fmla="*/ 898935 h 1342700"/>
                <a:gd name="connsiteX54" fmla="*/ 1211084 w 2909265"/>
                <a:gd name="connsiteY54" fmla="*/ 898935 h 1342700"/>
                <a:gd name="connsiteX55" fmla="*/ 1211084 w 2909265"/>
                <a:gd name="connsiteY55" fmla="*/ 953099 h 1342700"/>
                <a:gd name="connsiteX56" fmla="*/ 1348080 w 2909265"/>
                <a:gd name="connsiteY56" fmla="*/ 953099 h 1342700"/>
                <a:gd name="connsiteX57" fmla="*/ 1348080 w 2909265"/>
                <a:gd name="connsiteY57" fmla="*/ 1008213 h 1342700"/>
                <a:gd name="connsiteX58" fmla="*/ 1351885 w 2909265"/>
                <a:gd name="connsiteY58" fmla="*/ 1008213 h 1342700"/>
                <a:gd name="connsiteX59" fmla="*/ 1351885 w 2909265"/>
                <a:gd name="connsiteY59" fmla="*/ 1062378 h 1342700"/>
                <a:gd name="connsiteX60" fmla="*/ 1639197 w 2909265"/>
                <a:gd name="connsiteY60" fmla="*/ 1062378 h 1342700"/>
                <a:gd name="connsiteX61" fmla="*/ 1639197 w 2909265"/>
                <a:gd name="connsiteY61" fmla="*/ 1117492 h 1342700"/>
                <a:gd name="connsiteX62" fmla="*/ 1652516 w 2909265"/>
                <a:gd name="connsiteY62" fmla="*/ 1117492 h 1342700"/>
                <a:gd name="connsiteX63" fmla="*/ 1652516 w 2909265"/>
                <a:gd name="connsiteY63" fmla="*/ 1171656 h 1342700"/>
                <a:gd name="connsiteX64" fmla="*/ 1666786 w 2909265"/>
                <a:gd name="connsiteY64" fmla="*/ 1171656 h 1342700"/>
                <a:gd name="connsiteX65" fmla="*/ 1666786 w 2909265"/>
                <a:gd name="connsiteY65" fmla="*/ 1226771 h 1342700"/>
                <a:gd name="connsiteX66" fmla="*/ 1789512 w 2909265"/>
                <a:gd name="connsiteY66" fmla="*/ 1226771 h 1342700"/>
                <a:gd name="connsiteX67" fmla="*/ 1793317 w 2909265"/>
                <a:gd name="connsiteY67" fmla="*/ 1226771 h 1342700"/>
                <a:gd name="connsiteX68" fmla="*/ 1806637 w 2909265"/>
                <a:gd name="connsiteY68" fmla="*/ 1226771 h 1342700"/>
                <a:gd name="connsiteX69" fmla="*/ 1813296 w 2909265"/>
                <a:gd name="connsiteY69" fmla="*/ 1226771 h 1342700"/>
                <a:gd name="connsiteX70" fmla="*/ 1943633 w 2909265"/>
                <a:gd name="connsiteY70" fmla="*/ 1226771 h 1342700"/>
                <a:gd name="connsiteX71" fmla="*/ 1954098 w 2909265"/>
                <a:gd name="connsiteY71" fmla="*/ 1226771 h 1342700"/>
                <a:gd name="connsiteX72" fmla="*/ 2213819 w 2909265"/>
                <a:gd name="connsiteY72" fmla="*/ 1226771 h 1342700"/>
                <a:gd name="connsiteX73" fmla="*/ 2245214 w 2909265"/>
                <a:gd name="connsiteY73" fmla="*/ 1226771 h 1342700"/>
                <a:gd name="connsiteX74" fmla="*/ 2268998 w 2909265"/>
                <a:gd name="connsiteY74" fmla="*/ 1226771 h 1342700"/>
                <a:gd name="connsiteX75" fmla="*/ 2268998 w 2909265"/>
                <a:gd name="connsiteY75" fmla="*/ 1342701 h 1342700"/>
                <a:gd name="connsiteX76" fmla="*/ 2539185 w 2909265"/>
                <a:gd name="connsiteY76" fmla="*/ 1342701 h 1342700"/>
                <a:gd name="connsiteX77" fmla="*/ 2552504 w 2909265"/>
                <a:gd name="connsiteY77" fmla="*/ 1342701 h 1342700"/>
                <a:gd name="connsiteX78" fmla="*/ 2560115 w 2909265"/>
                <a:gd name="connsiteY78" fmla="*/ 1342701 h 1342700"/>
                <a:gd name="connsiteX79" fmla="*/ 2699966 w 2909265"/>
                <a:gd name="connsiteY79" fmla="*/ 1342701 h 1342700"/>
                <a:gd name="connsiteX80" fmla="*/ 2850281 w 2909265"/>
                <a:gd name="connsiteY80" fmla="*/ 1342701 h 1342700"/>
                <a:gd name="connsiteX81" fmla="*/ 2909265 w 2909265"/>
                <a:gd name="connsiteY81" fmla="*/ 1342701 h 134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2909265" h="1342700">
                  <a:moveTo>
                    <a:pt x="0" y="0"/>
                  </a:moveTo>
                  <a:lnTo>
                    <a:pt x="2854" y="0"/>
                  </a:lnTo>
                  <a:lnTo>
                    <a:pt x="58033" y="0"/>
                  </a:lnTo>
                  <a:lnTo>
                    <a:pt x="85623" y="0"/>
                  </a:lnTo>
                  <a:lnTo>
                    <a:pt x="88477" y="0"/>
                  </a:lnTo>
                  <a:lnTo>
                    <a:pt x="88477" y="37060"/>
                  </a:lnTo>
                  <a:lnTo>
                    <a:pt x="102747" y="37060"/>
                  </a:lnTo>
                  <a:lnTo>
                    <a:pt x="102747" y="75070"/>
                  </a:lnTo>
                  <a:lnTo>
                    <a:pt x="113212" y="75070"/>
                  </a:lnTo>
                  <a:lnTo>
                    <a:pt x="119872" y="75070"/>
                  </a:lnTo>
                  <a:lnTo>
                    <a:pt x="119872" y="115930"/>
                  </a:lnTo>
                  <a:lnTo>
                    <a:pt x="167440" y="115930"/>
                  </a:lnTo>
                  <a:lnTo>
                    <a:pt x="167440" y="152990"/>
                  </a:lnTo>
                  <a:lnTo>
                    <a:pt x="174099" y="152990"/>
                  </a:lnTo>
                  <a:lnTo>
                    <a:pt x="184564" y="152990"/>
                  </a:lnTo>
                  <a:lnTo>
                    <a:pt x="184564" y="194801"/>
                  </a:lnTo>
                  <a:lnTo>
                    <a:pt x="191224" y="194801"/>
                  </a:lnTo>
                  <a:lnTo>
                    <a:pt x="191224" y="235662"/>
                  </a:lnTo>
                  <a:lnTo>
                    <a:pt x="195029" y="235662"/>
                  </a:lnTo>
                  <a:lnTo>
                    <a:pt x="195029" y="272721"/>
                  </a:lnTo>
                  <a:lnTo>
                    <a:pt x="201689" y="272721"/>
                  </a:lnTo>
                  <a:lnTo>
                    <a:pt x="201689" y="314532"/>
                  </a:lnTo>
                  <a:lnTo>
                    <a:pt x="249257" y="314532"/>
                  </a:lnTo>
                  <a:lnTo>
                    <a:pt x="249257" y="355393"/>
                  </a:lnTo>
                  <a:lnTo>
                    <a:pt x="291117" y="355393"/>
                  </a:lnTo>
                  <a:lnTo>
                    <a:pt x="291117" y="396254"/>
                  </a:lnTo>
                  <a:lnTo>
                    <a:pt x="297776" y="396254"/>
                  </a:lnTo>
                  <a:lnTo>
                    <a:pt x="297776" y="437114"/>
                  </a:lnTo>
                  <a:lnTo>
                    <a:pt x="300630" y="437114"/>
                  </a:lnTo>
                  <a:lnTo>
                    <a:pt x="304436" y="437114"/>
                  </a:lnTo>
                  <a:lnTo>
                    <a:pt x="304436" y="477975"/>
                  </a:lnTo>
                  <a:lnTo>
                    <a:pt x="304436" y="522637"/>
                  </a:lnTo>
                  <a:lnTo>
                    <a:pt x="325366" y="522637"/>
                  </a:lnTo>
                  <a:lnTo>
                    <a:pt x="325366" y="563497"/>
                  </a:lnTo>
                  <a:lnTo>
                    <a:pt x="403377" y="563497"/>
                  </a:lnTo>
                  <a:lnTo>
                    <a:pt x="458556" y="563497"/>
                  </a:lnTo>
                  <a:lnTo>
                    <a:pt x="458556" y="608159"/>
                  </a:lnTo>
                  <a:lnTo>
                    <a:pt x="499465" y="608159"/>
                  </a:lnTo>
                  <a:lnTo>
                    <a:pt x="499465" y="652821"/>
                  </a:lnTo>
                  <a:lnTo>
                    <a:pt x="499465" y="696532"/>
                  </a:lnTo>
                  <a:lnTo>
                    <a:pt x="588893" y="696532"/>
                  </a:lnTo>
                  <a:lnTo>
                    <a:pt x="595553" y="696532"/>
                  </a:lnTo>
                  <a:lnTo>
                    <a:pt x="606018" y="696532"/>
                  </a:lnTo>
                  <a:lnTo>
                    <a:pt x="745868" y="696532"/>
                  </a:lnTo>
                  <a:lnTo>
                    <a:pt x="745868" y="744995"/>
                  </a:lnTo>
                  <a:lnTo>
                    <a:pt x="852420" y="744995"/>
                  </a:lnTo>
                  <a:lnTo>
                    <a:pt x="852420" y="792507"/>
                  </a:lnTo>
                  <a:lnTo>
                    <a:pt x="882864" y="792507"/>
                  </a:lnTo>
                  <a:lnTo>
                    <a:pt x="889524" y="792507"/>
                  </a:lnTo>
                  <a:lnTo>
                    <a:pt x="899988" y="792507"/>
                  </a:lnTo>
                  <a:lnTo>
                    <a:pt x="899988" y="843820"/>
                  </a:lnTo>
                  <a:lnTo>
                    <a:pt x="1050304" y="843820"/>
                  </a:lnTo>
                  <a:lnTo>
                    <a:pt x="1056963" y="843820"/>
                  </a:lnTo>
                  <a:lnTo>
                    <a:pt x="1056963" y="898935"/>
                  </a:lnTo>
                  <a:lnTo>
                    <a:pt x="1211084" y="898935"/>
                  </a:lnTo>
                  <a:lnTo>
                    <a:pt x="1211084" y="953099"/>
                  </a:lnTo>
                  <a:lnTo>
                    <a:pt x="1348080" y="953099"/>
                  </a:lnTo>
                  <a:lnTo>
                    <a:pt x="1348080" y="1008213"/>
                  </a:lnTo>
                  <a:lnTo>
                    <a:pt x="1351885" y="1008213"/>
                  </a:lnTo>
                  <a:lnTo>
                    <a:pt x="1351885" y="1062378"/>
                  </a:lnTo>
                  <a:lnTo>
                    <a:pt x="1639197" y="1062378"/>
                  </a:lnTo>
                  <a:lnTo>
                    <a:pt x="1639197" y="1117492"/>
                  </a:lnTo>
                  <a:lnTo>
                    <a:pt x="1652516" y="1117492"/>
                  </a:lnTo>
                  <a:lnTo>
                    <a:pt x="1652516" y="1171656"/>
                  </a:lnTo>
                  <a:lnTo>
                    <a:pt x="1666786" y="1171656"/>
                  </a:lnTo>
                  <a:lnTo>
                    <a:pt x="1666786" y="1226771"/>
                  </a:lnTo>
                  <a:lnTo>
                    <a:pt x="1789512" y="1226771"/>
                  </a:lnTo>
                  <a:lnTo>
                    <a:pt x="1793317" y="1226771"/>
                  </a:lnTo>
                  <a:lnTo>
                    <a:pt x="1806637" y="1226771"/>
                  </a:lnTo>
                  <a:lnTo>
                    <a:pt x="1813296" y="1226771"/>
                  </a:lnTo>
                  <a:lnTo>
                    <a:pt x="1943633" y="1226771"/>
                  </a:lnTo>
                  <a:lnTo>
                    <a:pt x="1954098" y="1226771"/>
                  </a:lnTo>
                  <a:lnTo>
                    <a:pt x="2213819" y="1226771"/>
                  </a:lnTo>
                  <a:lnTo>
                    <a:pt x="2245214" y="1226771"/>
                  </a:lnTo>
                  <a:lnTo>
                    <a:pt x="2268998" y="1226771"/>
                  </a:lnTo>
                  <a:lnTo>
                    <a:pt x="2268998" y="1342701"/>
                  </a:lnTo>
                  <a:lnTo>
                    <a:pt x="2539185" y="1342701"/>
                  </a:lnTo>
                  <a:lnTo>
                    <a:pt x="2552504" y="1342701"/>
                  </a:lnTo>
                  <a:lnTo>
                    <a:pt x="2560115" y="1342701"/>
                  </a:lnTo>
                  <a:lnTo>
                    <a:pt x="2699966" y="1342701"/>
                  </a:lnTo>
                  <a:lnTo>
                    <a:pt x="2850281" y="1342701"/>
                  </a:lnTo>
                  <a:lnTo>
                    <a:pt x="2909265" y="1342701"/>
                  </a:lnTo>
                </a:path>
              </a:pathLst>
            </a:custGeom>
            <a:noFill/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45" name="Freeform 230">
              <a:extLst>
                <a:ext uri="{FF2B5EF4-FFF2-40B4-BE49-F238E27FC236}">
                  <a16:creationId xmlns:a16="http://schemas.microsoft.com/office/drawing/2014/main" id="{55FFDC30-7C52-1CCC-0B66-C16A56FCCB79}"/>
                </a:ext>
              </a:extLst>
            </p:cNvPr>
            <p:cNvSpPr/>
            <p:nvPr/>
          </p:nvSpPr>
          <p:spPr>
            <a:xfrm>
              <a:off x="1106679" y="1299938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46" name="Freeform 231">
              <a:extLst>
                <a:ext uri="{FF2B5EF4-FFF2-40B4-BE49-F238E27FC236}">
                  <a16:creationId xmlns:a16="http://schemas.microsoft.com/office/drawing/2014/main" id="{666C8BE3-5935-21B0-70A5-BB92AFA7C262}"/>
                </a:ext>
              </a:extLst>
            </p:cNvPr>
            <p:cNvSpPr/>
            <p:nvPr/>
          </p:nvSpPr>
          <p:spPr>
            <a:xfrm>
              <a:off x="1133318" y="1275232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47" name="Freeform 232">
              <a:extLst>
                <a:ext uri="{FF2B5EF4-FFF2-40B4-BE49-F238E27FC236}">
                  <a16:creationId xmlns:a16="http://schemas.microsoft.com/office/drawing/2014/main" id="{12CF4E9F-BE5D-51BC-DEA2-AE34D13CD37C}"/>
                </a:ext>
              </a:extLst>
            </p:cNvPr>
            <p:cNvSpPr/>
            <p:nvPr/>
          </p:nvSpPr>
          <p:spPr>
            <a:xfrm>
              <a:off x="1160907" y="1299938"/>
              <a:ext cx="51373" cy="9502"/>
            </a:xfrm>
            <a:custGeom>
              <a:avLst/>
              <a:gdLst>
                <a:gd name="connsiteX0" fmla="*/ 51373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3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48" name="Freeform 233">
              <a:extLst>
                <a:ext uri="{FF2B5EF4-FFF2-40B4-BE49-F238E27FC236}">
                  <a16:creationId xmlns:a16="http://schemas.microsoft.com/office/drawing/2014/main" id="{A9194E01-1611-E77F-D090-5D68037AAA09}"/>
                </a:ext>
              </a:extLst>
            </p:cNvPr>
            <p:cNvSpPr/>
            <p:nvPr/>
          </p:nvSpPr>
          <p:spPr>
            <a:xfrm>
              <a:off x="1188497" y="1275232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49" name="Freeform 234">
              <a:extLst>
                <a:ext uri="{FF2B5EF4-FFF2-40B4-BE49-F238E27FC236}">
                  <a16:creationId xmlns:a16="http://schemas.microsoft.com/office/drawing/2014/main" id="{3B9A776C-74D5-66E0-897F-1E063951F961}"/>
                </a:ext>
              </a:extLst>
            </p:cNvPr>
            <p:cNvSpPr/>
            <p:nvPr/>
          </p:nvSpPr>
          <p:spPr>
            <a:xfrm>
              <a:off x="1188497" y="1299938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50" name="Freeform 235">
              <a:extLst>
                <a:ext uri="{FF2B5EF4-FFF2-40B4-BE49-F238E27FC236}">
                  <a16:creationId xmlns:a16="http://schemas.microsoft.com/office/drawing/2014/main" id="{5B5B1004-A6A7-FD8D-0CF7-AB40917B81F6}"/>
                </a:ext>
              </a:extLst>
            </p:cNvPr>
            <p:cNvSpPr/>
            <p:nvPr/>
          </p:nvSpPr>
          <p:spPr>
            <a:xfrm>
              <a:off x="1216086" y="1275232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51" name="Freeform 236">
              <a:extLst>
                <a:ext uri="{FF2B5EF4-FFF2-40B4-BE49-F238E27FC236}">
                  <a16:creationId xmlns:a16="http://schemas.microsoft.com/office/drawing/2014/main" id="{F348901F-D254-D0A7-22C8-39FCC452D4FC}"/>
                </a:ext>
              </a:extLst>
            </p:cNvPr>
            <p:cNvSpPr/>
            <p:nvPr/>
          </p:nvSpPr>
          <p:spPr>
            <a:xfrm>
              <a:off x="1216086" y="1375008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52" name="Freeform 237">
              <a:extLst>
                <a:ext uri="{FF2B5EF4-FFF2-40B4-BE49-F238E27FC236}">
                  <a16:creationId xmlns:a16="http://schemas.microsoft.com/office/drawing/2014/main" id="{86F85635-E8DF-C04A-C188-4FF048FE3339}"/>
                </a:ext>
              </a:extLst>
            </p:cNvPr>
            <p:cNvSpPr/>
            <p:nvPr/>
          </p:nvSpPr>
          <p:spPr>
            <a:xfrm>
              <a:off x="1243676" y="1351251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53" name="Freeform 238">
              <a:extLst>
                <a:ext uri="{FF2B5EF4-FFF2-40B4-BE49-F238E27FC236}">
                  <a16:creationId xmlns:a16="http://schemas.microsoft.com/office/drawing/2014/main" id="{93D1D663-29E6-1832-9B39-52CDE755CC7E}"/>
                </a:ext>
              </a:extLst>
            </p:cNvPr>
            <p:cNvSpPr/>
            <p:nvPr/>
          </p:nvSpPr>
          <p:spPr>
            <a:xfrm>
              <a:off x="1277925" y="1452928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54" name="Freeform 239">
              <a:extLst>
                <a:ext uri="{FF2B5EF4-FFF2-40B4-BE49-F238E27FC236}">
                  <a16:creationId xmlns:a16="http://schemas.microsoft.com/office/drawing/2014/main" id="{7A9122AE-BC3C-316D-D9FA-CA09DF26B447}"/>
                </a:ext>
              </a:extLst>
            </p:cNvPr>
            <p:cNvSpPr/>
            <p:nvPr/>
          </p:nvSpPr>
          <p:spPr>
            <a:xfrm>
              <a:off x="1304563" y="1429172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55" name="Freeform 240">
              <a:extLst>
                <a:ext uri="{FF2B5EF4-FFF2-40B4-BE49-F238E27FC236}">
                  <a16:creationId xmlns:a16="http://schemas.microsoft.com/office/drawing/2014/main" id="{0A05F509-6633-61C0-9A95-697C02E74C97}"/>
                </a:ext>
              </a:extLst>
            </p:cNvPr>
            <p:cNvSpPr/>
            <p:nvPr/>
          </p:nvSpPr>
          <p:spPr>
            <a:xfrm>
              <a:off x="1304563" y="1614470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56" name="Freeform 241">
              <a:extLst>
                <a:ext uri="{FF2B5EF4-FFF2-40B4-BE49-F238E27FC236}">
                  <a16:creationId xmlns:a16="http://schemas.microsoft.com/office/drawing/2014/main" id="{9047788F-F6AA-86BD-08FA-DA2D06509122}"/>
                </a:ext>
              </a:extLst>
            </p:cNvPr>
            <p:cNvSpPr/>
            <p:nvPr/>
          </p:nvSpPr>
          <p:spPr>
            <a:xfrm>
              <a:off x="1332152" y="1589764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57" name="Freeform 242">
              <a:extLst>
                <a:ext uri="{FF2B5EF4-FFF2-40B4-BE49-F238E27FC236}">
                  <a16:creationId xmlns:a16="http://schemas.microsoft.com/office/drawing/2014/main" id="{16872F04-28D4-B1B8-347B-EC24A4E6EEE0}"/>
                </a:ext>
              </a:extLst>
            </p:cNvPr>
            <p:cNvSpPr/>
            <p:nvPr/>
          </p:nvSpPr>
          <p:spPr>
            <a:xfrm>
              <a:off x="1400650" y="1737052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58" name="Freeform 243">
              <a:extLst>
                <a:ext uri="{FF2B5EF4-FFF2-40B4-BE49-F238E27FC236}">
                  <a16:creationId xmlns:a16="http://schemas.microsoft.com/office/drawing/2014/main" id="{25EB2872-560B-5BC9-999F-7AF3007ADB25}"/>
                </a:ext>
              </a:extLst>
            </p:cNvPr>
            <p:cNvSpPr/>
            <p:nvPr/>
          </p:nvSpPr>
          <p:spPr>
            <a:xfrm>
              <a:off x="1428240" y="1713296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59" name="Freeform 244">
              <a:extLst>
                <a:ext uri="{FF2B5EF4-FFF2-40B4-BE49-F238E27FC236}">
                  <a16:creationId xmlns:a16="http://schemas.microsoft.com/office/drawing/2014/main" id="{5CEE4BF4-6B45-A52C-D0BB-ADCE09C7753B}"/>
                </a:ext>
              </a:extLst>
            </p:cNvPr>
            <p:cNvSpPr/>
            <p:nvPr/>
          </p:nvSpPr>
          <p:spPr>
            <a:xfrm>
              <a:off x="1404456" y="1737052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60" name="Freeform 245">
              <a:extLst>
                <a:ext uri="{FF2B5EF4-FFF2-40B4-BE49-F238E27FC236}">
                  <a16:creationId xmlns:a16="http://schemas.microsoft.com/office/drawing/2014/main" id="{959A078F-F23F-93BA-E5BB-55E2A3663103}"/>
                </a:ext>
              </a:extLst>
            </p:cNvPr>
            <p:cNvSpPr/>
            <p:nvPr/>
          </p:nvSpPr>
          <p:spPr>
            <a:xfrm>
              <a:off x="1431094" y="1713296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61" name="Freeform 246">
              <a:extLst>
                <a:ext uri="{FF2B5EF4-FFF2-40B4-BE49-F238E27FC236}">
                  <a16:creationId xmlns:a16="http://schemas.microsoft.com/office/drawing/2014/main" id="{85C30E5B-D668-C10D-D6FE-9A37BDDE8BD1}"/>
                </a:ext>
              </a:extLst>
            </p:cNvPr>
            <p:cNvSpPr/>
            <p:nvPr/>
          </p:nvSpPr>
          <p:spPr>
            <a:xfrm>
              <a:off x="1507203" y="1863435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62" name="Freeform 247">
              <a:extLst>
                <a:ext uri="{FF2B5EF4-FFF2-40B4-BE49-F238E27FC236}">
                  <a16:creationId xmlns:a16="http://schemas.microsoft.com/office/drawing/2014/main" id="{FA21A325-6003-7015-B09A-9A2801C6ED95}"/>
                </a:ext>
              </a:extLst>
            </p:cNvPr>
            <p:cNvSpPr/>
            <p:nvPr/>
          </p:nvSpPr>
          <p:spPr>
            <a:xfrm>
              <a:off x="1533841" y="1839679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63" name="Freeform 248">
              <a:extLst>
                <a:ext uri="{FF2B5EF4-FFF2-40B4-BE49-F238E27FC236}">
                  <a16:creationId xmlns:a16="http://schemas.microsoft.com/office/drawing/2014/main" id="{9736A25D-6B76-9860-2C74-EC83178938E1}"/>
                </a:ext>
              </a:extLst>
            </p:cNvPr>
            <p:cNvSpPr/>
            <p:nvPr/>
          </p:nvSpPr>
          <p:spPr>
            <a:xfrm>
              <a:off x="1691767" y="1996470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64" name="Freeform 249">
              <a:extLst>
                <a:ext uri="{FF2B5EF4-FFF2-40B4-BE49-F238E27FC236}">
                  <a16:creationId xmlns:a16="http://schemas.microsoft.com/office/drawing/2014/main" id="{439F9B0C-C0F9-224A-7BB2-D349ADD08C2B}"/>
                </a:ext>
              </a:extLst>
            </p:cNvPr>
            <p:cNvSpPr/>
            <p:nvPr/>
          </p:nvSpPr>
          <p:spPr>
            <a:xfrm>
              <a:off x="1719357" y="1972714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65" name="Freeform 250">
              <a:extLst>
                <a:ext uri="{FF2B5EF4-FFF2-40B4-BE49-F238E27FC236}">
                  <a16:creationId xmlns:a16="http://schemas.microsoft.com/office/drawing/2014/main" id="{4359BA50-6948-02F4-97F4-4E3415B14528}"/>
                </a:ext>
              </a:extLst>
            </p:cNvPr>
            <p:cNvSpPr/>
            <p:nvPr/>
          </p:nvSpPr>
          <p:spPr>
            <a:xfrm>
              <a:off x="1698427" y="1996470"/>
              <a:ext cx="51373" cy="9502"/>
            </a:xfrm>
            <a:custGeom>
              <a:avLst/>
              <a:gdLst>
                <a:gd name="connsiteX0" fmla="*/ 51373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3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66" name="Freeform 251">
              <a:extLst>
                <a:ext uri="{FF2B5EF4-FFF2-40B4-BE49-F238E27FC236}">
                  <a16:creationId xmlns:a16="http://schemas.microsoft.com/office/drawing/2014/main" id="{8F885CC3-53E8-CA2C-6F90-F192A91C6621}"/>
                </a:ext>
              </a:extLst>
            </p:cNvPr>
            <p:cNvSpPr/>
            <p:nvPr/>
          </p:nvSpPr>
          <p:spPr>
            <a:xfrm>
              <a:off x="1726016" y="1972714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67" name="Freeform 252">
              <a:extLst>
                <a:ext uri="{FF2B5EF4-FFF2-40B4-BE49-F238E27FC236}">
                  <a16:creationId xmlns:a16="http://schemas.microsoft.com/office/drawing/2014/main" id="{FAC46F5F-D407-31CD-B4CA-C8D761591698}"/>
                </a:ext>
              </a:extLst>
            </p:cNvPr>
            <p:cNvSpPr/>
            <p:nvPr/>
          </p:nvSpPr>
          <p:spPr>
            <a:xfrm>
              <a:off x="1708892" y="1996470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68" name="Freeform 253">
              <a:extLst>
                <a:ext uri="{FF2B5EF4-FFF2-40B4-BE49-F238E27FC236}">
                  <a16:creationId xmlns:a16="http://schemas.microsoft.com/office/drawing/2014/main" id="{F6000CDF-7513-500B-6774-0C72556ADE14}"/>
                </a:ext>
              </a:extLst>
            </p:cNvPr>
            <p:cNvSpPr/>
            <p:nvPr/>
          </p:nvSpPr>
          <p:spPr>
            <a:xfrm>
              <a:off x="1736481" y="1972714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69" name="Freeform 254">
              <a:extLst>
                <a:ext uri="{FF2B5EF4-FFF2-40B4-BE49-F238E27FC236}">
                  <a16:creationId xmlns:a16="http://schemas.microsoft.com/office/drawing/2014/main" id="{F675A4E2-B178-53E6-CA6C-070751FEAFC1}"/>
                </a:ext>
              </a:extLst>
            </p:cNvPr>
            <p:cNvSpPr/>
            <p:nvPr/>
          </p:nvSpPr>
          <p:spPr>
            <a:xfrm>
              <a:off x="1985738" y="2092445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70" name="Freeform 255">
              <a:extLst>
                <a:ext uri="{FF2B5EF4-FFF2-40B4-BE49-F238E27FC236}">
                  <a16:creationId xmlns:a16="http://schemas.microsoft.com/office/drawing/2014/main" id="{9FB1B253-F8A8-1CFE-DE59-D21D91A54585}"/>
                </a:ext>
              </a:extLst>
            </p:cNvPr>
            <p:cNvSpPr/>
            <p:nvPr/>
          </p:nvSpPr>
          <p:spPr>
            <a:xfrm>
              <a:off x="2013327" y="2068689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71" name="Freeform 256">
              <a:extLst>
                <a:ext uri="{FF2B5EF4-FFF2-40B4-BE49-F238E27FC236}">
                  <a16:creationId xmlns:a16="http://schemas.microsoft.com/office/drawing/2014/main" id="{A5387318-5660-3508-1FA0-4152ECF3FB7D}"/>
                </a:ext>
              </a:extLst>
            </p:cNvPr>
            <p:cNvSpPr/>
            <p:nvPr/>
          </p:nvSpPr>
          <p:spPr>
            <a:xfrm>
              <a:off x="1992397" y="2092445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72" name="Freeform 257">
              <a:extLst>
                <a:ext uri="{FF2B5EF4-FFF2-40B4-BE49-F238E27FC236}">
                  <a16:creationId xmlns:a16="http://schemas.microsoft.com/office/drawing/2014/main" id="{706E52D5-4AAF-D080-500F-DF526E33A46C}"/>
                </a:ext>
              </a:extLst>
            </p:cNvPr>
            <p:cNvSpPr/>
            <p:nvPr/>
          </p:nvSpPr>
          <p:spPr>
            <a:xfrm>
              <a:off x="2019987" y="2068689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73" name="Freeform 258">
              <a:extLst>
                <a:ext uri="{FF2B5EF4-FFF2-40B4-BE49-F238E27FC236}">
                  <a16:creationId xmlns:a16="http://schemas.microsoft.com/office/drawing/2014/main" id="{D57F7184-C043-72F7-3BDE-A738AF9EE43E}"/>
                </a:ext>
              </a:extLst>
            </p:cNvPr>
            <p:cNvSpPr/>
            <p:nvPr/>
          </p:nvSpPr>
          <p:spPr>
            <a:xfrm>
              <a:off x="2153178" y="2143758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74" name="Freeform 259">
              <a:extLst>
                <a:ext uri="{FF2B5EF4-FFF2-40B4-BE49-F238E27FC236}">
                  <a16:creationId xmlns:a16="http://schemas.microsoft.com/office/drawing/2014/main" id="{52B8B2AA-A404-0F3F-C20A-9D9EB550E513}"/>
                </a:ext>
              </a:extLst>
            </p:cNvPr>
            <p:cNvSpPr/>
            <p:nvPr/>
          </p:nvSpPr>
          <p:spPr>
            <a:xfrm>
              <a:off x="2180767" y="2120002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75" name="Freeform 260">
              <a:extLst>
                <a:ext uri="{FF2B5EF4-FFF2-40B4-BE49-F238E27FC236}">
                  <a16:creationId xmlns:a16="http://schemas.microsoft.com/office/drawing/2014/main" id="{264351A4-0968-DDC8-13F1-089C632395BD}"/>
                </a:ext>
              </a:extLst>
            </p:cNvPr>
            <p:cNvSpPr/>
            <p:nvPr/>
          </p:nvSpPr>
          <p:spPr>
            <a:xfrm>
              <a:off x="2756341" y="2471594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76" name="Freeform 261">
              <a:extLst>
                <a:ext uri="{FF2B5EF4-FFF2-40B4-BE49-F238E27FC236}">
                  <a16:creationId xmlns:a16="http://schemas.microsoft.com/office/drawing/2014/main" id="{7B6518FD-0ED2-621B-0B26-B517B292BCF1}"/>
                </a:ext>
              </a:extLst>
            </p:cNvPr>
            <p:cNvSpPr/>
            <p:nvPr/>
          </p:nvSpPr>
          <p:spPr>
            <a:xfrm>
              <a:off x="2782979" y="2447838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77" name="Freeform 262">
              <a:extLst>
                <a:ext uri="{FF2B5EF4-FFF2-40B4-BE49-F238E27FC236}">
                  <a16:creationId xmlns:a16="http://schemas.microsoft.com/office/drawing/2014/main" id="{EB5D3D07-1701-C177-3099-BD0E5D4C138F}"/>
                </a:ext>
              </a:extLst>
            </p:cNvPr>
            <p:cNvSpPr/>
            <p:nvPr/>
          </p:nvSpPr>
          <p:spPr>
            <a:xfrm>
              <a:off x="2893337" y="2526708"/>
              <a:ext cx="50422" cy="9502"/>
            </a:xfrm>
            <a:custGeom>
              <a:avLst/>
              <a:gdLst>
                <a:gd name="connsiteX0" fmla="*/ 50422 w 50422"/>
                <a:gd name="connsiteY0" fmla="*/ 0 h 9502"/>
                <a:gd name="connsiteX1" fmla="*/ 0 w 50422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22" h="9502">
                  <a:moveTo>
                    <a:pt x="50422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78" name="Freeform 263">
              <a:extLst>
                <a:ext uri="{FF2B5EF4-FFF2-40B4-BE49-F238E27FC236}">
                  <a16:creationId xmlns:a16="http://schemas.microsoft.com/office/drawing/2014/main" id="{0C783849-DB9C-7F1D-C51F-18B8EBF328B8}"/>
                </a:ext>
              </a:extLst>
            </p:cNvPr>
            <p:cNvSpPr/>
            <p:nvPr/>
          </p:nvSpPr>
          <p:spPr>
            <a:xfrm>
              <a:off x="2919975" y="2502952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79" name="Freeform 264">
              <a:extLst>
                <a:ext uri="{FF2B5EF4-FFF2-40B4-BE49-F238E27FC236}">
                  <a16:creationId xmlns:a16="http://schemas.microsoft.com/office/drawing/2014/main" id="{B7579200-3E65-566D-15FD-678FE5F77962}"/>
                </a:ext>
              </a:extLst>
            </p:cNvPr>
            <p:cNvSpPr/>
            <p:nvPr/>
          </p:nvSpPr>
          <p:spPr>
            <a:xfrm>
              <a:off x="2896191" y="2526708"/>
              <a:ext cx="51373" cy="9502"/>
            </a:xfrm>
            <a:custGeom>
              <a:avLst/>
              <a:gdLst>
                <a:gd name="connsiteX0" fmla="*/ 51373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3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80" name="Freeform 265">
              <a:extLst>
                <a:ext uri="{FF2B5EF4-FFF2-40B4-BE49-F238E27FC236}">
                  <a16:creationId xmlns:a16="http://schemas.microsoft.com/office/drawing/2014/main" id="{62981662-4BC6-D91A-5F45-D37A00C166B2}"/>
                </a:ext>
              </a:extLst>
            </p:cNvPr>
            <p:cNvSpPr/>
            <p:nvPr/>
          </p:nvSpPr>
          <p:spPr>
            <a:xfrm>
              <a:off x="2923781" y="2502952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81" name="Freeform 266">
              <a:extLst>
                <a:ext uri="{FF2B5EF4-FFF2-40B4-BE49-F238E27FC236}">
                  <a16:creationId xmlns:a16="http://schemas.microsoft.com/office/drawing/2014/main" id="{2E4A041E-3395-9932-D611-0E483EF3DE82}"/>
                </a:ext>
              </a:extLst>
            </p:cNvPr>
            <p:cNvSpPr/>
            <p:nvPr/>
          </p:nvSpPr>
          <p:spPr>
            <a:xfrm>
              <a:off x="2910462" y="2526708"/>
              <a:ext cx="50422" cy="9502"/>
            </a:xfrm>
            <a:custGeom>
              <a:avLst/>
              <a:gdLst>
                <a:gd name="connsiteX0" fmla="*/ 50422 w 50422"/>
                <a:gd name="connsiteY0" fmla="*/ 0 h 9502"/>
                <a:gd name="connsiteX1" fmla="*/ 0 w 50422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22" h="9502">
                  <a:moveTo>
                    <a:pt x="50422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82" name="Freeform 267">
              <a:extLst>
                <a:ext uri="{FF2B5EF4-FFF2-40B4-BE49-F238E27FC236}">
                  <a16:creationId xmlns:a16="http://schemas.microsoft.com/office/drawing/2014/main" id="{67A63D99-506D-AD6B-5F03-344784CF3108}"/>
                </a:ext>
              </a:extLst>
            </p:cNvPr>
            <p:cNvSpPr/>
            <p:nvPr/>
          </p:nvSpPr>
          <p:spPr>
            <a:xfrm>
              <a:off x="2937100" y="2502952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83" name="Freeform 268">
              <a:extLst>
                <a:ext uri="{FF2B5EF4-FFF2-40B4-BE49-F238E27FC236}">
                  <a16:creationId xmlns:a16="http://schemas.microsoft.com/office/drawing/2014/main" id="{43C56410-00F4-F391-877B-6159740375BB}"/>
                </a:ext>
              </a:extLst>
            </p:cNvPr>
            <p:cNvSpPr/>
            <p:nvPr/>
          </p:nvSpPr>
          <p:spPr>
            <a:xfrm>
              <a:off x="2917121" y="2526708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84" name="Freeform 269">
              <a:extLst>
                <a:ext uri="{FF2B5EF4-FFF2-40B4-BE49-F238E27FC236}">
                  <a16:creationId xmlns:a16="http://schemas.microsoft.com/office/drawing/2014/main" id="{3AEFFEAD-4F2E-9863-5888-8683809B8ABC}"/>
                </a:ext>
              </a:extLst>
            </p:cNvPr>
            <p:cNvSpPr/>
            <p:nvPr/>
          </p:nvSpPr>
          <p:spPr>
            <a:xfrm>
              <a:off x="2943759" y="2502952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85" name="Freeform 270">
              <a:extLst>
                <a:ext uri="{FF2B5EF4-FFF2-40B4-BE49-F238E27FC236}">
                  <a16:creationId xmlns:a16="http://schemas.microsoft.com/office/drawing/2014/main" id="{D77792A8-8839-A1BC-B429-668C2CC5B891}"/>
                </a:ext>
              </a:extLst>
            </p:cNvPr>
            <p:cNvSpPr/>
            <p:nvPr/>
          </p:nvSpPr>
          <p:spPr>
            <a:xfrm>
              <a:off x="3046507" y="2526708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86" name="Freeform 271">
              <a:extLst>
                <a:ext uri="{FF2B5EF4-FFF2-40B4-BE49-F238E27FC236}">
                  <a16:creationId xmlns:a16="http://schemas.microsoft.com/office/drawing/2014/main" id="{218ED494-3963-BC34-2A14-C53EA99E9327}"/>
                </a:ext>
              </a:extLst>
            </p:cNvPr>
            <p:cNvSpPr/>
            <p:nvPr/>
          </p:nvSpPr>
          <p:spPr>
            <a:xfrm>
              <a:off x="3074096" y="2502952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87" name="Freeform 272">
              <a:extLst>
                <a:ext uri="{FF2B5EF4-FFF2-40B4-BE49-F238E27FC236}">
                  <a16:creationId xmlns:a16="http://schemas.microsoft.com/office/drawing/2014/main" id="{F5EB3784-17E9-2079-BDBF-995CDD3FA79E}"/>
                </a:ext>
              </a:extLst>
            </p:cNvPr>
            <p:cNvSpPr/>
            <p:nvPr/>
          </p:nvSpPr>
          <p:spPr>
            <a:xfrm>
              <a:off x="3056972" y="2526708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88" name="Freeform 273">
              <a:extLst>
                <a:ext uri="{FF2B5EF4-FFF2-40B4-BE49-F238E27FC236}">
                  <a16:creationId xmlns:a16="http://schemas.microsoft.com/office/drawing/2014/main" id="{07E2BCE5-45FD-9AC5-B63E-CC8E11B597F3}"/>
                </a:ext>
              </a:extLst>
            </p:cNvPr>
            <p:cNvSpPr/>
            <p:nvPr/>
          </p:nvSpPr>
          <p:spPr>
            <a:xfrm>
              <a:off x="3084561" y="2502952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89" name="Freeform 274">
              <a:extLst>
                <a:ext uri="{FF2B5EF4-FFF2-40B4-BE49-F238E27FC236}">
                  <a16:creationId xmlns:a16="http://schemas.microsoft.com/office/drawing/2014/main" id="{4F30CE0F-7989-10B3-41AA-78063E6422BD}"/>
                </a:ext>
              </a:extLst>
            </p:cNvPr>
            <p:cNvSpPr/>
            <p:nvPr/>
          </p:nvSpPr>
          <p:spPr>
            <a:xfrm>
              <a:off x="3317645" y="2526708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90" name="Freeform 275">
              <a:extLst>
                <a:ext uri="{FF2B5EF4-FFF2-40B4-BE49-F238E27FC236}">
                  <a16:creationId xmlns:a16="http://schemas.microsoft.com/office/drawing/2014/main" id="{06937591-42A7-A28D-A441-AB0CDC091429}"/>
                </a:ext>
              </a:extLst>
            </p:cNvPr>
            <p:cNvSpPr/>
            <p:nvPr/>
          </p:nvSpPr>
          <p:spPr>
            <a:xfrm>
              <a:off x="3344283" y="2502952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91" name="Freeform 276">
              <a:extLst>
                <a:ext uri="{FF2B5EF4-FFF2-40B4-BE49-F238E27FC236}">
                  <a16:creationId xmlns:a16="http://schemas.microsoft.com/office/drawing/2014/main" id="{29019F53-8021-D3A7-80B2-47B274C9C67A}"/>
                </a:ext>
              </a:extLst>
            </p:cNvPr>
            <p:cNvSpPr/>
            <p:nvPr/>
          </p:nvSpPr>
          <p:spPr>
            <a:xfrm>
              <a:off x="3348088" y="2526708"/>
              <a:ext cx="51373" cy="9502"/>
            </a:xfrm>
            <a:custGeom>
              <a:avLst/>
              <a:gdLst>
                <a:gd name="connsiteX0" fmla="*/ 51373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3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92" name="Freeform 277">
              <a:extLst>
                <a:ext uri="{FF2B5EF4-FFF2-40B4-BE49-F238E27FC236}">
                  <a16:creationId xmlns:a16="http://schemas.microsoft.com/office/drawing/2014/main" id="{DE41BA91-10D9-E6D0-D76A-E170CAED67BC}"/>
                </a:ext>
              </a:extLst>
            </p:cNvPr>
            <p:cNvSpPr/>
            <p:nvPr/>
          </p:nvSpPr>
          <p:spPr>
            <a:xfrm>
              <a:off x="3375678" y="2502952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93" name="Freeform 278">
              <a:extLst>
                <a:ext uri="{FF2B5EF4-FFF2-40B4-BE49-F238E27FC236}">
                  <a16:creationId xmlns:a16="http://schemas.microsoft.com/office/drawing/2014/main" id="{42B97863-5781-A089-2A34-B2C8BC04EE8A}"/>
                </a:ext>
              </a:extLst>
            </p:cNvPr>
            <p:cNvSpPr/>
            <p:nvPr/>
          </p:nvSpPr>
          <p:spPr>
            <a:xfrm>
              <a:off x="3642059" y="2642639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94" name="Freeform 279">
              <a:extLst>
                <a:ext uri="{FF2B5EF4-FFF2-40B4-BE49-F238E27FC236}">
                  <a16:creationId xmlns:a16="http://schemas.microsoft.com/office/drawing/2014/main" id="{B40516A5-486D-2F8A-C3F1-C9B1FDA5ECB3}"/>
                </a:ext>
              </a:extLst>
            </p:cNvPr>
            <p:cNvSpPr/>
            <p:nvPr/>
          </p:nvSpPr>
          <p:spPr>
            <a:xfrm>
              <a:off x="3669649" y="2618883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95" name="Freeform 280">
              <a:extLst>
                <a:ext uri="{FF2B5EF4-FFF2-40B4-BE49-F238E27FC236}">
                  <a16:creationId xmlns:a16="http://schemas.microsoft.com/office/drawing/2014/main" id="{8C83057E-F389-FF3F-7742-F212CDFB9BEF}"/>
                </a:ext>
              </a:extLst>
            </p:cNvPr>
            <p:cNvSpPr/>
            <p:nvPr/>
          </p:nvSpPr>
          <p:spPr>
            <a:xfrm>
              <a:off x="3656330" y="2642639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96" name="Freeform 281">
              <a:extLst>
                <a:ext uri="{FF2B5EF4-FFF2-40B4-BE49-F238E27FC236}">
                  <a16:creationId xmlns:a16="http://schemas.microsoft.com/office/drawing/2014/main" id="{610D2AA9-8F9B-C13B-9A37-2B922E117CDE}"/>
                </a:ext>
              </a:extLst>
            </p:cNvPr>
            <p:cNvSpPr/>
            <p:nvPr/>
          </p:nvSpPr>
          <p:spPr>
            <a:xfrm>
              <a:off x="3682968" y="2618883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97" name="Freeform 282">
              <a:extLst>
                <a:ext uri="{FF2B5EF4-FFF2-40B4-BE49-F238E27FC236}">
                  <a16:creationId xmlns:a16="http://schemas.microsoft.com/office/drawing/2014/main" id="{C00B8C9E-6990-B231-5547-786BB2EB2A0C}"/>
                </a:ext>
              </a:extLst>
            </p:cNvPr>
            <p:cNvSpPr/>
            <p:nvPr/>
          </p:nvSpPr>
          <p:spPr>
            <a:xfrm>
              <a:off x="3662989" y="2642639"/>
              <a:ext cx="51373" cy="9502"/>
            </a:xfrm>
            <a:custGeom>
              <a:avLst/>
              <a:gdLst>
                <a:gd name="connsiteX0" fmla="*/ 51373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3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98" name="Freeform 283">
              <a:extLst>
                <a:ext uri="{FF2B5EF4-FFF2-40B4-BE49-F238E27FC236}">
                  <a16:creationId xmlns:a16="http://schemas.microsoft.com/office/drawing/2014/main" id="{CDAE71E4-D6DA-67CC-6EBD-DA4F2F5ACA54}"/>
                </a:ext>
              </a:extLst>
            </p:cNvPr>
            <p:cNvSpPr/>
            <p:nvPr/>
          </p:nvSpPr>
          <p:spPr>
            <a:xfrm>
              <a:off x="3690579" y="2618883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99" name="Freeform 284">
              <a:extLst>
                <a:ext uri="{FF2B5EF4-FFF2-40B4-BE49-F238E27FC236}">
                  <a16:creationId xmlns:a16="http://schemas.microsoft.com/office/drawing/2014/main" id="{2B0E3E98-BA9D-5CD6-A8B0-FB8577015AA7}"/>
                </a:ext>
              </a:extLst>
            </p:cNvPr>
            <p:cNvSpPr/>
            <p:nvPr/>
          </p:nvSpPr>
          <p:spPr>
            <a:xfrm>
              <a:off x="3802839" y="2642639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00" name="Freeform 285">
              <a:extLst>
                <a:ext uri="{FF2B5EF4-FFF2-40B4-BE49-F238E27FC236}">
                  <a16:creationId xmlns:a16="http://schemas.microsoft.com/office/drawing/2014/main" id="{61CDEBDE-3B55-AC74-875F-1A94D886094E}"/>
                </a:ext>
              </a:extLst>
            </p:cNvPr>
            <p:cNvSpPr/>
            <p:nvPr/>
          </p:nvSpPr>
          <p:spPr>
            <a:xfrm>
              <a:off x="3830429" y="2618883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01" name="Freeform 286">
              <a:extLst>
                <a:ext uri="{FF2B5EF4-FFF2-40B4-BE49-F238E27FC236}">
                  <a16:creationId xmlns:a16="http://schemas.microsoft.com/office/drawing/2014/main" id="{0E562A69-B89A-618F-D1DD-6285AEEBEBFF}"/>
                </a:ext>
              </a:extLst>
            </p:cNvPr>
            <p:cNvSpPr/>
            <p:nvPr/>
          </p:nvSpPr>
          <p:spPr>
            <a:xfrm>
              <a:off x="3954106" y="2642639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02" name="Freeform 287">
              <a:extLst>
                <a:ext uri="{FF2B5EF4-FFF2-40B4-BE49-F238E27FC236}">
                  <a16:creationId xmlns:a16="http://schemas.microsoft.com/office/drawing/2014/main" id="{F7CA867B-1012-17FF-E919-4C66BC833152}"/>
                </a:ext>
              </a:extLst>
            </p:cNvPr>
            <p:cNvSpPr/>
            <p:nvPr/>
          </p:nvSpPr>
          <p:spPr>
            <a:xfrm>
              <a:off x="3980744" y="2618883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03" name="Freeform 288">
              <a:extLst>
                <a:ext uri="{FF2B5EF4-FFF2-40B4-BE49-F238E27FC236}">
                  <a16:creationId xmlns:a16="http://schemas.microsoft.com/office/drawing/2014/main" id="{EE421C28-040C-D244-F09E-927E2FCDAD29}"/>
                </a:ext>
              </a:extLst>
            </p:cNvPr>
            <p:cNvSpPr/>
            <p:nvPr/>
          </p:nvSpPr>
          <p:spPr>
            <a:xfrm>
              <a:off x="3954106" y="2642639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04" name="Freeform 289">
              <a:extLst>
                <a:ext uri="{FF2B5EF4-FFF2-40B4-BE49-F238E27FC236}">
                  <a16:creationId xmlns:a16="http://schemas.microsoft.com/office/drawing/2014/main" id="{1A102F53-52BC-5BB3-DD83-EE2110556398}"/>
                </a:ext>
              </a:extLst>
            </p:cNvPr>
            <p:cNvSpPr/>
            <p:nvPr/>
          </p:nvSpPr>
          <p:spPr>
            <a:xfrm>
              <a:off x="3980744" y="2618883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05" name="Freeform 290">
              <a:extLst>
                <a:ext uri="{FF2B5EF4-FFF2-40B4-BE49-F238E27FC236}">
                  <a16:creationId xmlns:a16="http://schemas.microsoft.com/office/drawing/2014/main" id="{F7EEA5C4-272B-B7DD-0DBA-C848A44C91E8}"/>
                </a:ext>
              </a:extLst>
            </p:cNvPr>
            <p:cNvSpPr/>
            <p:nvPr/>
          </p:nvSpPr>
          <p:spPr>
            <a:xfrm>
              <a:off x="4012139" y="2642639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06" name="Freeform 291">
              <a:extLst>
                <a:ext uri="{FF2B5EF4-FFF2-40B4-BE49-F238E27FC236}">
                  <a16:creationId xmlns:a16="http://schemas.microsoft.com/office/drawing/2014/main" id="{51DDE012-38F3-D9B4-E20E-1D6F1BC7FDF5}"/>
                </a:ext>
              </a:extLst>
            </p:cNvPr>
            <p:cNvSpPr/>
            <p:nvPr/>
          </p:nvSpPr>
          <p:spPr>
            <a:xfrm>
              <a:off x="4039729" y="2618883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07" name="Freeform 292">
              <a:extLst>
                <a:ext uri="{FF2B5EF4-FFF2-40B4-BE49-F238E27FC236}">
                  <a16:creationId xmlns:a16="http://schemas.microsoft.com/office/drawing/2014/main" id="{24C24B0E-C9D0-5C57-DFDC-43AE3492F06B}"/>
                </a:ext>
              </a:extLst>
            </p:cNvPr>
            <p:cNvSpPr/>
            <p:nvPr/>
          </p:nvSpPr>
          <p:spPr>
            <a:xfrm>
              <a:off x="1108031" y="3437596"/>
              <a:ext cx="3182305" cy="9502"/>
            </a:xfrm>
            <a:custGeom>
              <a:avLst/>
              <a:gdLst>
                <a:gd name="connsiteX0" fmla="*/ 3182306 w 3182305"/>
                <a:gd name="connsiteY0" fmla="*/ 0 h 9502"/>
                <a:gd name="connsiteX1" fmla="*/ 0 w 3182305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82305" h="9502">
                  <a:moveTo>
                    <a:pt x="3182306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09E6E3CA-C4FB-E2E4-0B3F-5302744C5335}"/>
                </a:ext>
              </a:extLst>
            </p:cNvPr>
            <p:cNvSpPr txBox="1"/>
            <p:nvPr/>
          </p:nvSpPr>
          <p:spPr>
            <a:xfrm>
              <a:off x="842837" y="1209615"/>
              <a:ext cx="326051" cy="196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100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66E3A3A8-3271-614F-C315-E62F6B97CFDB}"/>
                </a:ext>
              </a:extLst>
            </p:cNvPr>
            <p:cNvSpPr txBox="1"/>
            <p:nvPr/>
          </p:nvSpPr>
          <p:spPr>
            <a:xfrm>
              <a:off x="905354" y="1426349"/>
              <a:ext cx="263533" cy="196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90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5D9493B-D025-6188-9252-44DB3625A1A0}"/>
                </a:ext>
              </a:extLst>
            </p:cNvPr>
            <p:cNvSpPr txBox="1"/>
            <p:nvPr/>
          </p:nvSpPr>
          <p:spPr>
            <a:xfrm>
              <a:off x="905354" y="1636974"/>
              <a:ext cx="263533" cy="196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80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17219AC-93D1-63E5-2926-E16462554A6E}"/>
                </a:ext>
              </a:extLst>
            </p:cNvPr>
            <p:cNvSpPr txBox="1"/>
            <p:nvPr/>
          </p:nvSpPr>
          <p:spPr>
            <a:xfrm>
              <a:off x="905354" y="1853967"/>
              <a:ext cx="263533" cy="196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70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16B4D4C-0729-63CB-D369-2519DAF72BED}"/>
                </a:ext>
              </a:extLst>
            </p:cNvPr>
            <p:cNvSpPr txBox="1"/>
            <p:nvPr/>
          </p:nvSpPr>
          <p:spPr>
            <a:xfrm>
              <a:off x="905354" y="2076656"/>
              <a:ext cx="263533" cy="196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60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B37AA5D-673A-33F7-0D49-7DD769093740}"/>
                </a:ext>
              </a:extLst>
            </p:cNvPr>
            <p:cNvSpPr txBox="1"/>
            <p:nvPr/>
          </p:nvSpPr>
          <p:spPr>
            <a:xfrm>
              <a:off x="833541" y="2274560"/>
              <a:ext cx="335348" cy="19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50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9BD7848A-FAD6-C019-4781-530C283E626D}"/>
                </a:ext>
              </a:extLst>
            </p:cNvPr>
            <p:cNvSpPr txBox="1"/>
            <p:nvPr/>
          </p:nvSpPr>
          <p:spPr>
            <a:xfrm>
              <a:off x="833541" y="2498373"/>
              <a:ext cx="335348" cy="19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40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7DD6ACD-D4F0-AC12-3F4A-CF4EB9DA039E}"/>
                </a:ext>
              </a:extLst>
            </p:cNvPr>
            <p:cNvSpPr txBox="1"/>
            <p:nvPr/>
          </p:nvSpPr>
          <p:spPr>
            <a:xfrm>
              <a:off x="833541" y="2714223"/>
              <a:ext cx="335348" cy="19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30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25CF516B-DF47-E754-BB8E-2D2C0C735CD8}"/>
                </a:ext>
              </a:extLst>
            </p:cNvPr>
            <p:cNvSpPr txBox="1"/>
            <p:nvPr/>
          </p:nvSpPr>
          <p:spPr>
            <a:xfrm>
              <a:off x="833541" y="2933146"/>
              <a:ext cx="335348" cy="19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20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D6F39D3-1A0B-AA38-F7C2-B1E53D772AA2}"/>
                </a:ext>
              </a:extLst>
            </p:cNvPr>
            <p:cNvSpPr txBox="1"/>
            <p:nvPr/>
          </p:nvSpPr>
          <p:spPr>
            <a:xfrm>
              <a:off x="833541" y="3152371"/>
              <a:ext cx="335348" cy="19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10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78EC63F2-B9EA-740B-1B8C-F034E000F125}"/>
                </a:ext>
              </a:extLst>
            </p:cNvPr>
            <p:cNvSpPr txBox="1"/>
            <p:nvPr/>
          </p:nvSpPr>
          <p:spPr>
            <a:xfrm>
              <a:off x="833541" y="3351626"/>
              <a:ext cx="335348" cy="19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0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77CFC4F-C8C0-1ECA-AE38-2E80EB01AE67}"/>
                </a:ext>
              </a:extLst>
            </p:cNvPr>
            <p:cNvSpPr txBox="1"/>
            <p:nvPr/>
          </p:nvSpPr>
          <p:spPr>
            <a:xfrm rot="16200000">
              <a:off x="81611" y="2182681"/>
              <a:ext cx="146304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Franklin Gothic Book"/>
                </a:rPr>
                <a:t>Progression-free survival, %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D37789C-88E5-7C27-5A24-19F993375008}"/>
                </a:ext>
              </a:extLst>
            </p:cNvPr>
            <p:cNvSpPr txBox="1"/>
            <p:nvPr/>
          </p:nvSpPr>
          <p:spPr>
            <a:xfrm>
              <a:off x="962710" y="3455612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0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59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083434BC-6CD9-65BA-DBCC-A603356EFDDE}"/>
                </a:ext>
              </a:extLst>
            </p:cNvPr>
            <p:cNvSpPr txBox="1"/>
            <p:nvPr/>
          </p:nvSpPr>
          <p:spPr>
            <a:xfrm>
              <a:off x="1185288" y="3455612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4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45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966C0EF6-9A28-7ECE-D72A-1FCFB16D8D64}"/>
                </a:ext>
              </a:extLst>
            </p:cNvPr>
            <p:cNvSpPr txBox="1"/>
            <p:nvPr/>
          </p:nvSpPr>
          <p:spPr>
            <a:xfrm>
              <a:off x="1402550" y="3455612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8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36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9211A71D-8114-14D3-28D2-62DF7759B1FA}"/>
                </a:ext>
              </a:extLst>
            </p:cNvPr>
            <p:cNvSpPr txBox="1"/>
            <p:nvPr/>
          </p:nvSpPr>
          <p:spPr>
            <a:xfrm>
              <a:off x="1619809" y="3455612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12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30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B6FFDA50-0C2F-E1E7-E442-C256F517F52E}"/>
                </a:ext>
              </a:extLst>
            </p:cNvPr>
            <p:cNvSpPr txBox="1"/>
            <p:nvPr/>
          </p:nvSpPr>
          <p:spPr>
            <a:xfrm>
              <a:off x="1837070" y="3455612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16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28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E2C1E90F-F68A-452C-C504-7F7C2D1C7169}"/>
                </a:ext>
              </a:extLst>
            </p:cNvPr>
            <p:cNvSpPr txBox="1"/>
            <p:nvPr/>
          </p:nvSpPr>
          <p:spPr>
            <a:xfrm>
              <a:off x="2059648" y="3455612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20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23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59C51CDF-8668-6645-9E77-0AD23D44495D}"/>
                </a:ext>
              </a:extLst>
            </p:cNvPr>
            <p:cNvSpPr txBox="1"/>
            <p:nvPr/>
          </p:nvSpPr>
          <p:spPr>
            <a:xfrm>
              <a:off x="2266276" y="3455612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24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22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62E86768-4E81-24DA-54F8-BEC9664BF1BB}"/>
                </a:ext>
              </a:extLst>
            </p:cNvPr>
            <p:cNvSpPr txBox="1"/>
            <p:nvPr/>
          </p:nvSpPr>
          <p:spPr>
            <a:xfrm>
              <a:off x="2488852" y="3455612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28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20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BDD0E5D-161C-996C-7626-BDCD03E2F7EA}"/>
                </a:ext>
              </a:extLst>
            </p:cNvPr>
            <p:cNvSpPr txBox="1"/>
            <p:nvPr/>
          </p:nvSpPr>
          <p:spPr>
            <a:xfrm>
              <a:off x="2706113" y="3455612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32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16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076153B8-6928-56D6-AB4A-B03D6368CC3B}"/>
                </a:ext>
              </a:extLst>
            </p:cNvPr>
            <p:cNvSpPr txBox="1"/>
            <p:nvPr/>
          </p:nvSpPr>
          <p:spPr>
            <a:xfrm>
              <a:off x="2923374" y="3455612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36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10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0FC9862-5767-69B3-435D-634F113ECBED}"/>
                </a:ext>
              </a:extLst>
            </p:cNvPr>
            <p:cNvSpPr txBox="1"/>
            <p:nvPr/>
          </p:nvSpPr>
          <p:spPr>
            <a:xfrm>
              <a:off x="3140636" y="3455612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40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10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63AD19EA-019C-D324-FACF-00778C7CD1AF}"/>
                </a:ext>
              </a:extLst>
            </p:cNvPr>
            <p:cNvSpPr txBox="1"/>
            <p:nvPr/>
          </p:nvSpPr>
          <p:spPr>
            <a:xfrm>
              <a:off x="3352582" y="3455612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44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7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47067621-0621-AEEE-823A-700CFFFE7CDC}"/>
                </a:ext>
              </a:extLst>
            </p:cNvPr>
            <p:cNvSpPr txBox="1"/>
            <p:nvPr/>
          </p:nvSpPr>
          <p:spPr>
            <a:xfrm>
              <a:off x="3575157" y="3455612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48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4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7943FCC-E88F-116F-028F-31F89F4A41F5}"/>
                </a:ext>
              </a:extLst>
            </p:cNvPr>
            <p:cNvSpPr txBox="1"/>
            <p:nvPr/>
          </p:nvSpPr>
          <p:spPr>
            <a:xfrm>
              <a:off x="3792418" y="3455612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52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3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AD6B531D-B48F-7B8B-2C52-D58D1C522229}"/>
                </a:ext>
              </a:extLst>
            </p:cNvPr>
            <p:cNvSpPr txBox="1"/>
            <p:nvPr/>
          </p:nvSpPr>
          <p:spPr>
            <a:xfrm>
              <a:off x="4007365" y="3455612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56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0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9088A450-B385-685C-B2B6-5E0B68693F12}"/>
                </a:ext>
              </a:extLst>
            </p:cNvPr>
            <p:cNvSpPr txBox="1"/>
            <p:nvPr/>
          </p:nvSpPr>
          <p:spPr>
            <a:xfrm>
              <a:off x="2084032" y="3593532"/>
              <a:ext cx="1324616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Franklin Gothic Book"/>
                </a:rPr>
                <a:t>Months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D1DE3B7C-CDF9-9BAD-22EC-2E1895B5E63F}"/>
                </a:ext>
              </a:extLst>
            </p:cNvPr>
            <p:cNvSpPr txBox="1"/>
            <p:nvPr/>
          </p:nvSpPr>
          <p:spPr>
            <a:xfrm>
              <a:off x="370702" y="3635771"/>
              <a:ext cx="132461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Franklin Gothic Book"/>
                </a:rPr>
                <a:t>No. at risk</a:t>
              </a:r>
            </a:p>
            <a:p>
              <a:r>
                <a:rPr lang="en-US" sz="1100" dirty="0">
                  <a:latin typeface="Franklin Gothic Book"/>
                </a:rPr>
                <a:t>Treatment naive</a:t>
              </a:r>
            </a:p>
          </p:txBody>
        </p: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C7D70A46-070D-2617-222B-3A5FC7C6F518}"/>
              </a:ext>
            </a:extLst>
          </p:cNvPr>
          <p:cNvSpPr txBox="1"/>
          <p:nvPr/>
        </p:nvSpPr>
        <p:spPr>
          <a:xfrm>
            <a:off x="8352357" y="1379191"/>
            <a:ext cx="21035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>
                <a:ln/>
                <a:solidFill>
                  <a:srgbClr val="000000"/>
                </a:solidFill>
                <a:latin typeface="Franklin Gothic Book"/>
                <a:ea typeface="Noto Sans"/>
                <a:cs typeface="Noto Sans"/>
                <a:sym typeface="Noto Sans"/>
                <a:rtl val="0"/>
              </a:rPr>
              <a:t>Previously treated (n=39)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FC8A36E-29D3-16A1-CA9C-9C18B0AC4F62}"/>
              </a:ext>
            </a:extLst>
          </p:cNvPr>
          <p:cNvGrpSpPr/>
          <p:nvPr/>
        </p:nvGrpSpPr>
        <p:grpSpPr>
          <a:xfrm>
            <a:off x="6304784" y="1836333"/>
            <a:ext cx="5347997" cy="3758080"/>
            <a:chOff x="4728588" y="1220501"/>
            <a:chExt cx="4010998" cy="2818561"/>
          </a:xfrm>
        </p:grpSpPr>
        <p:sp>
          <p:nvSpPr>
            <p:cNvPr id="228" name="Freeform 197">
              <a:extLst>
                <a:ext uri="{FF2B5EF4-FFF2-40B4-BE49-F238E27FC236}">
                  <a16:creationId xmlns:a16="http://schemas.microsoft.com/office/drawing/2014/main" id="{0978B3BC-A0BD-3448-EB4B-973A0916F0A1}"/>
                </a:ext>
              </a:extLst>
            </p:cNvPr>
            <p:cNvSpPr/>
            <p:nvPr/>
          </p:nvSpPr>
          <p:spPr>
            <a:xfrm>
              <a:off x="5522053" y="1228638"/>
              <a:ext cx="9513" cy="2249237"/>
            </a:xfrm>
            <a:custGeom>
              <a:avLst/>
              <a:gdLst>
                <a:gd name="connsiteX0" fmla="*/ 0 w 9513"/>
                <a:gd name="connsiteY0" fmla="*/ 2249238 h 2249237"/>
                <a:gd name="connsiteX1" fmla="*/ 0 w 9513"/>
                <a:gd name="connsiteY1" fmla="*/ 0 h 224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2249237">
                  <a:moveTo>
                    <a:pt x="0" y="2249238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40" name="Freeform 109">
              <a:extLst>
                <a:ext uri="{FF2B5EF4-FFF2-40B4-BE49-F238E27FC236}">
                  <a16:creationId xmlns:a16="http://schemas.microsoft.com/office/drawing/2014/main" id="{92DD5AC7-A6F6-BB91-7A8D-14ECC8AAC5FF}"/>
                </a:ext>
              </a:extLst>
            </p:cNvPr>
            <p:cNvSpPr/>
            <p:nvPr/>
          </p:nvSpPr>
          <p:spPr>
            <a:xfrm>
              <a:off x="5430963" y="2378253"/>
              <a:ext cx="3183257" cy="9502"/>
            </a:xfrm>
            <a:custGeom>
              <a:avLst/>
              <a:gdLst>
                <a:gd name="connsiteX0" fmla="*/ 0 w 3183257"/>
                <a:gd name="connsiteY0" fmla="*/ 0 h 9502"/>
                <a:gd name="connsiteX1" fmla="*/ 3183257 w 3183257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83257" h="9502">
                  <a:moveTo>
                    <a:pt x="0" y="0"/>
                  </a:moveTo>
                  <a:lnTo>
                    <a:pt x="3183257" y="0"/>
                  </a:lnTo>
                </a:path>
              </a:pathLst>
            </a:custGeom>
            <a:ln w="12700" cap="flat">
              <a:solidFill>
                <a:srgbClr val="808080"/>
              </a:solidFill>
              <a:custDash>
                <a:ds d="0" sp="0"/>
                <a:ds d="82500" sp="82500"/>
              </a:custDash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42" name="Freeform 111">
              <a:extLst>
                <a:ext uri="{FF2B5EF4-FFF2-40B4-BE49-F238E27FC236}">
                  <a16:creationId xmlns:a16="http://schemas.microsoft.com/office/drawing/2014/main" id="{ED0B9BED-D1E4-EC06-CBCB-9A68AD33EAD6}"/>
                </a:ext>
              </a:extLst>
            </p:cNvPr>
            <p:cNvSpPr/>
            <p:nvPr/>
          </p:nvSpPr>
          <p:spPr>
            <a:xfrm>
              <a:off x="5498269" y="3239178"/>
              <a:ext cx="20929" cy="9502"/>
            </a:xfrm>
            <a:custGeom>
              <a:avLst/>
              <a:gdLst>
                <a:gd name="connsiteX0" fmla="*/ 20930 w 20929"/>
                <a:gd name="connsiteY0" fmla="*/ 0 h 9502"/>
                <a:gd name="connsiteX1" fmla="*/ 0 w 20929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29" h="9502">
                  <a:moveTo>
                    <a:pt x="20930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43" name="Freeform 112">
              <a:extLst>
                <a:ext uri="{FF2B5EF4-FFF2-40B4-BE49-F238E27FC236}">
                  <a16:creationId xmlns:a16="http://schemas.microsoft.com/office/drawing/2014/main" id="{BCF4DBAB-518C-71DE-A912-A7851E1979EA}"/>
                </a:ext>
              </a:extLst>
            </p:cNvPr>
            <p:cNvSpPr/>
            <p:nvPr/>
          </p:nvSpPr>
          <p:spPr>
            <a:xfrm>
              <a:off x="5498269" y="3023471"/>
              <a:ext cx="20929" cy="9502"/>
            </a:xfrm>
            <a:custGeom>
              <a:avLst/>
              <a:gdLst>
                <a:gd name="connsiteX0" fmla="*/ 20930 w 20929"/>
                <a:gd name="connsiteY0" fmla="*/ 0 h 9502"/>
                <a:gd name="connsiteX1" fmla="*/ 0 w 20929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29" h="9502">
                  <a:moveTo>
                    <a:pt x="20930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44" name="Freeform 113">
              <a:extLst>
                <a:ext uri="{FF2B5EF4-FFF2-40B4-BE49-F238E27FC236}">
                  <a16:creationId xmlns:a16="http://schemas.microsoft.com/office/drawing/2014/main" id="{524867A4-892F-47B3-3646-1C0E43F25380}"/>
                </a:ext>
              </a:extLst>
            </p:cNvPr>
            <p:cNvSpPr/>
            <p:nvPr/>
          </p:nvSpPr>
          <p:spPr>
            <a:xfrm>
              <a:off x="5498269" y="2808715"/>
              <a:ext cx="20929" cy="9502"/>
            </a:xfrm>
            <a:custGeom>
              <a:avLst/>
              <a:gdLst>
                <a:gd name="connsiteX0" fmla="*/ 20930 w 20929"/>
                <a:gd name="connsiteY0" fmla="*/ 0 h 9502"/>
                <a:gd name="connsiteX1" fmla="*/ 0 w 20929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29" h="9502">
                  <a:moveTo>
                    <a:pt x="20930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45" name="Freeform 114">
              <a:extLst>
                <a:ext uri="{FF2B5EF4-FFF2-40B4-BE49-F238E27FC236}">
                  <a16:creationId xmlns:a16="http://schemas.microsoft.com/office/drawing/2014/main" id="{BC9D59B8-5B54-A045-7C84-D2842FB99A73}"/>
                </a:ext>
              </a:extLst>
            </p:cNvPr>
            <p:cNvSpPr/>
            <p:nvPr/>
          </p:nvSpPr>
          <p:spPr>
            <a:xfrm>
              <a:off x="5498269" y="2593009"/>
              <a:ext cx="20929" cy="9502"/>
            </a:xfrm>
            <a:custGeom>
              <a:avLst/>
              <a:gdLst>
                <a:gd name="connsiteX0" fmla="*/ 20930 w 20929"/>
                <a:gd name="connsiteY0" fmla="*/ 0 h 9502"/>
                <a:gd name="connsiteX1" fmla="*/ 0 w 20929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29" h="9502">
                  <a:moveTo>
                    <a:pt x="20930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46" name="Freeform 115">
              <a:extLst>
                <a:ext uri="{FF2B5EF4-FFF2-40B4-BE49-F238E27FC236}">
                  <a16:creationId xmlns:a16="http://schemas.microsoft.com/office/drawing/2014/main" id="{8B07ECE5-5282-473B-5AF5-5DF49529979E}"/>
                </a:ext>
              </a:extLst>
            </p:cNvPr>
            <p:cNvSpPr/>
            <p:nvPr/>
          </p:nvSpPr>
          <p:spPr>
            <a:xfrm>
              <a:off x="5498269" y="2378253"/>
              <a:ext cx="20929" cy="9502"/>
            </a:xfrm>
            <a:custGeom>
              <a:avLst/>
              <a:gdLst>
                <a:gd name="connsiteX0" fmla="*/ 20930 w 20929"/>
                <a:gd name="connsiteY0" fmla="*/ 0 h 9502"/>
                <a:gd name="connsiteX1" fmla="*/ 0 w 20929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29" h="9502">
                  <a:moveTo>
                    <a:pt x="20930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47" name="Freeform 116">
              <a:extLst>
                <a:ext uri="{FF2B5EF4-FFF2-40B4-BE49-F238E27FC236}">
                  <a16:creationId xmlns:a16="http://schemas.microsoft.com/office/drawing/2014/main" id="{47BA9E80-4653-8EE6-559C-9A47445E37B5}"/>
                </a:ext>
              </a:extLst>
            </p:cNvPr>
            <p:cNvSpPr/>
            <p:nvPr/>
          </p:nvSpPr>
          <p:spPr>
            <a:xfrm>
              <a:off x="5498269" y="2162546"/>
              <a:ext cx="20929" cy="9502"/>
            </a:xfrm>
            <a:custGeom>
              <a:avLst/>
              <a:gdLst>
                <a:gd name="connsiteX0" fmla="*/ 20930 w 20929"/>
                <a:gd name="connsiteY0" fmla="*/ 0 h 9502"/>
                <a:gd name="connsiteX1" fmla="*/ 0 w 20929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29" h="9502">
                  <a:moveTo>
                    <a:pt x="20930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48" name="Freeform 117">
              <a:extLst>
                <a:ext uri="{FF2B5EF4-FFF2-40B4-BE49-F238E27FC236}">
                  <a16:creationId xmlns:a16="http://schemas.microsoft.com/office/drawing/2014/main" id="{BBDA480C-5236-7273-2C3F-C73E041DF443}"/>
                </a:ext>
              </a:extLst>
            </p:cNvPr>
            <p:cNvSpPr/>
            <p:nvPr/>
          </p:nvSpPr>
          <p:spPr>
            <a:xfrm>
              <a:off x="5498269" y="1950641"/>
              <a:ext cx="20929" cy="9502"/>
            </a:xfrm>
            <a:custGeom>
              <a:avLst/>
              <a:gdLst>
                <a:gd name="connsiteX0" fmla="*/ 20930 w 20929"/>
                <a:gd name="connsiteY0" fmla="*/ 0 h 9502"/>
                <a:gd name="connsiteX1" fmla="*/ 0 w 20929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29" h="9502">
                  <a:moveTo>
                    <a:pt x="20930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49" name="Freeform 118">
              <a:extLst>
                <a:ext uri="{FF2B5EF4-FFF2-40B4-BE49-F238E27FC236}">
                  <a16:creationId xmlns:a16="http://schemas.microsoft.com/office/drawing/2014/main" id="{C631DA64-C5AC-5F33-3C88-6CC5F3D70D6D}"/>
                </a:ext>
              </a:extLst>
            </p:cNvPr>
            <p:cNvSpPr/>
            <p:nvPr/>
          </p:nvSpPr>
          <p:spPr>
            <a:xfrm>
              <a:off x="5498269" y="1734935"/>
              <a:ext cx="20929" cy="9502"/>
            </a:xfrm>
            <a:custGeom>
              <a:avLst/>
              <a:gdLst>
                <a:gd name="connsiteX0" fmla="*/ 20930 w 20929"/>
                <a:gd name="connsiteY0" fmla="*/ 0 h 9502"/>
                <a:gd name="connsiteX1" fmla="*/ 0 w 20929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29" h="9502">
                  <a:moveTo>
                    <a:pt x="20930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50" name="Freeform 119">
              <a:extLst>
                <a:ext uri="{FF2B5EF4-FFF2-40B4-BE49-F238E27FC236}">
                  <a16:creationId xmlns:a16="http://schemas.microsoft.com/office/drawing/2014/main" id="{C2F6A2B8-78D7-2B18-D5AF-905DC0AAF4A4}"/>
                </a:ext>
              </a:extLst>
            </p:cNvPr>
            <p:cNvSpPr/>
            <p:nvPr/>
          </p:nvSpPr>
          <p:spPr>
            <a:xfrm>
              <a:off x="5498269" y="1520179"/>
              <a:ext cx="20929" cy="9502"/>
            </a:xfrm>
            <a:custGeom>
              <a:avLst/>
              <a:gdLst>
                <a:gd name="connsiteX0" fmla="*/ 20930 w 20929"/>
                <a:gd name="connsiteY0" fmla="*/ 0 h 9502"/>
                <a:gd name="connsiteX1" fmla="*/ 0 w 20929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29" h="9502">
                  <a:moveTo>
                    <a:pt x="20930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51" name="Freeform 120">
              <a:extLst>
                <a:ext uri="{FF2B5EF4-FFF2-40B4-BE49-F238E27FC236}">
                  <a16:creationId xmlns:a16="http://schemas.microsoft.com/office/drawing/2014/main" id="{1AFD2EEC-D354-CFF2-4BE4-0D08F2404067}"/>
                </a:ext>
              </a:extLst>
            </p:cNvPr>
            <p:cNvSpPr/>
            <p:nvPr/>
          </p:nvSpPr>
          <p:spPr>
            <a:xfrm>
              <a:off x="5498269" y="1304472"/>
              <a:ext cx="20929" cy="9502"/>
            </a:xfrm>
            <a:custGeom>
              <a:avLst/>
              <a:gdLst>
                <a:gd name="connsiteX0" fmla="*/ 20930 w 20929"/>
                <a:gd name="connsiteY0" fmla="*/ 0 h 9502"/>
                <a:gd name="connsiteX1" fmla="*/ 0 w 20929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29" h="9502">
                  <a:moveTo>
                    <a:pt x="20930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53" name="Freeform 122">
              <a:extLst>
                <a:ext uri="{FF2B5EF4-FFF2-40B4-BE49-F238E27FC236}">
                  <a16:creationId xmlns:a16="http://schemas.microsoft.com/office/drawing/2014/main" id="{0BF23A98-B1CC-A6EE-300A-DE7511C32866}"/>
                </a:ext>
              </a:extLst>
            </p:cNvPr>
            <p:cNvSpPr/>
            <p:nvPr/>
          </p:nvSpPr>
          <p:spPr>
            <a:xfrm>
              <a:off x="5743009" y="3452700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54" name="Freeform 123">
              <a:extLst>
                <a:ext uri="{FF2B5EF4-FFF2-40B4-BE49-F238E27FC236}">
                  <a16:creationId xmlns:a16="http://schemas.microsoft.com/office/drawing/2014/main" id="{2027811D-A488-E28E-68C2-58BFB9F63EF0}"/>
                </a:ext>
              </a:extLst>
            </p:cNvPr>
            <p:cNvSpPr/>
            <p:nvPr/>
          </p:nvSpPr>
          <p:spPr>
            <a:xfrm>
              <a:off x="5958017" y="3452700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55" name="Freeform 124">
              <a:extLst>
                <a:ext uri="{FF2B5EF4-FFF2-40B4-BE49-F238E27FC236}">
                  <a16:creationId xmlns:a16="http://schemas.microsoft.com/office/drawing/2014/main" id="{4C279A14-205F-B98E-972E-F9301C2784B1}"/>
                </a:ext>
              </a:extLst>
            </p:cNvPr>
            <p:cNvSpPr/>
            <p:nvPr/>
          </p:nvSpPr>
          <p:spPr>
            <a:xfrm>
              <a:off x="6177782" y="3452700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56" name="Freeform 125">
              <a:extLst>
                <a:ext uri="{FF2B5EF4-FFF2-40B4-BE49-F238E27FC236}">
                  <a16:creationId xmlns:a16="http://schemas.microsoft.com/office/drawing/2014/main" id="{C5FB5108-8E13-0796-BDF4-2528D6E989B8}"/>
                </a:ext>
              </a:extLst>
            </p:cNvPr>
            <p:cNvSpPr/>
            <p:nvPr/>
          </p:nvSpPr>
          <p:spPr>
            <a:xfrm>
              <a:off x="6392790" y="3452700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57" name="Freeform 126">
              <a:extLst>
                <a:ext uri="{FF2B5EF4-FFF2-40B4-BE49-F238E27FC236}">
                  <a16:creationId xmlns:a16="http://schemas.microsoft.com/office/drawing/2014/main" id="{3FCBB186-10B6-433E-40BA-C462287540D5}"/>
                </a:ext>
              </a:extLst>
            </p:cNvPr>
            <p:cNvSpPr/>
            <p:nvPr/>
          </p:nvSpPr>
          <p:spPr>
            <a:xfrm>
              <a:off x="6611603" y="3452700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58" name="Freeform 127">
              <a:extLst>
                <a:ext uri="{FF2B5EF4-FFF2-40B4-BE49-F238E27FC236}">
                  <a16:creationId xmlns:a16="http://schemas.microsoft.com/office/drawing/2014/main" id="{C5032783-7BBA-42F8-66D3-6F7017933B95}"/>
                </a:ext>
              </a:extLst>
            </p:cNvPr>
            <p:cNvSpPr/>
            <p:nvPr/>
          </p:nvSpPr>
          <p:spPr>
            <a:xfrm>
              <a:off x="6827562" y="3452700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59" name="Freeform 128">
              <a:extLst>
                <a:ext uri="{FF2B5EF4-FFF2-40B4-BE49-F238E27FC236}">
                  <a16:creationId xmlns:a16="http://schemas.microsoft.com/office/drawing/2014/main" id="{A8993686-ECD3-71F5-F510-B7C21341A707}"/>
                </a:ext>
              </a:extLst>
            </p:cNvPr>
            <p:cNvSpPr/>
            <p:nvPr/>
          </p:nvSpPr>
          <p:spPr>
            <a:xfrm>
              <a:off x="7046375" y="3452700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60" name="Freeform 129">
              <a:extLst>
                <a:ext uri="{FF2B5EF4-FFF2-40B4-BE49-F238E27FC236}">
                  <a16:creationId xmlns:a16="http://schemas.microsoft.com/office/drawing/2014/main" id="{30DA5DE7-27B6-E4CA-7CD1-8C872601D296}"/>
                </a:ext>
              </a:extLst>
            </p:cNvPr>
            <p:cNvSpPr/>
            <p:nvPr/>
          </p:nvSpPr>
          <p:spPr>
            <a:xfrm>
              <a:off x="7262335" y="3452700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61" name="Freeform 130">
              <a:extLst>
                <a:ext uri="{FF2B5EF4-FFF2-40B4-BE49-F238E27FC236}">
                  <a16:creationId xmlns:a16="http://schemas.microsoft.com/office/drawing/2014/main" id="{7209BFF9-C212-137C-0C12-8E5B3CCD530D}"/>
                </a:ext>
              </a:extLst>
            </p:cNvPr>
            <p:cNvSpPr/>
            <p:nvPr/>
          </p:nvSpPr>
          <p:spPr>
            <a:xfrm>
              <a:off x="7481148" y="3452700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62" name="Freeform 131">
              <a:extLst>
                <a:ext uri="{FF2B5EF4-FFF2-40B4-BE49-F238E27FC236}">
                  <a16:creationId xmlns:a16="http://schemas.microsoft.com/office/drawing/2014/main" id="{4766830D-3C98-2113-FE5E-21F2ECA81393}"/>
                </a:ext>
              </a:extLst>
            </p:cNvPr>
            <p:cNvSpPr/>
            <p:nvPr/>
          </p:nvSpPr>
          <p:spPr>
            <a:xfrm>
              <a:off x="7697107" y="3452700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63" name="Freeform 132">
              <a:extLst>
                <a:ext uri="{FF2B5EF4-FFF2-40B4-BE49-F238E27FC236}">
                  <a16:creationId xmlns:a16="http://schemas.microsoft.com/office/drawing/2014/main" id="{60FC1D6E-E5B4-7CA0-7F10-88A95C6BF4B1}"/>
                </a:ext>
              </a:extLst>
            </p:cNvPr>
            <p:cNvSpPr/>
            <p:nvPr/>
          </p:nvSpPr>
          <p:spPr>
            <a:xfrm>
              <a:off x="7915920" y="3452700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64" name="Freeform 133">
              <a:extLst>
                <a:ext uri="{FF2B5EF4-FFF2-40B4-BE49-F238E27FC236}">
                  <a16:creationId xmlns:a16="http://schemas.microsoft.com/office/drawing/2014/main" id="{E0858593-A834-72B3-18DF-310719847483}"/>
                </a:ext>
              </a:extLst>
            </p:cNvPr>
            <p:cNvSpPr/>
            <p:nvPr/>
          </p:nvSpPr>
          <p:spPr>
            <a:xfrm>
              <a:off x="8131879" y="3452700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65" name="Freeform 134">
              <a:extLst>
                <a:ext uri="{FF2B5EF4-FFF2-40B4-BE49-F238E27FC236}">
                  <a16:creationId xmlns:a16="http://schemas.microsoft.com/office/drawing/2014/main" id="{A930BF27-E190-F439-6B4C-92290B9587D7}"/>
                </a:ext>
              </a:extLst>
            </p:cNvPr>
            <p:cNvSpPr/>
            <p:nvPr/>
          </p:nvSpPr>
          <p:spPr>
            <a:xfrm>
              <a:off x="8350693" y="3452700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66" name="Freeform 135">
              <a:extLst>
                <a:ext uri="{FF2B5EF4-FFF2-40B4-BE49-F238E27FC236}">
                  <a16:creationId xmlns:a16="http://schemas.microsoft.com/office/drawing/2014/main" id="{BAF65BEA-B0A4-F6C5-9716-90ED39B625A6}"/>
                </a:ext>
              </a:extLst>
            </p:cNvPr>
            <p:cNvSpPr/>
            <p:nvPr/>
          </p:nvSpPr>
          <p:spPr>
            <a:xfrm>
              <a:off x="8566652" y="3452700"/>
              <a:ext cx="9513" cy="27432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67" name="Freeform 136">
              <a:extLst>
                <a:ext uri="{FF2B5EF4-FFF2-40B4-BE49-F238E27FC236}">
                  <a16:creationId xmlns:a16="http://schemas.microsoft.com/office/drawing/2014/main" id="{16A0FC02-C489-E4B3-8A2A-80D299DF357C}"/>
                </a:ext>
              </a:extLst>
            </p:cNvPr>
            <p:cNvSpPr/>
            <p:nvPr/>
          </p:nvSpPr>
          <p:spPr>
            <a:xfrm>
              <a:off x="5523245" y="1304472"/>
              <a:ext cx="3805" cy="9502"/>
            </a:xfrm>
            <a:custGeom>
              <a:avLst/>
              <a:gdLst>
                <a:gd name="connsiteX0" fmla="*/ 0 w 3805"/>
                <a:gd name="connsiteY0" fmla="*/ 0 h 9502"/>
                <a:gd name="connsiteX1" fmla="*/ 3805 w 3805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05" h="9502">
                  <a:moveTo>
                    <a:pt x="0" y="0"/>
                  </a:moveTo>
                  <a:lnTo>
                    <a:pt x="3805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68" name="Freeform 137">
              <a:extLst>
                <a:ext uri="{FF2B5EF4-FFF2-40B4-BE49-F238E27FC236}">
                  <a16:creationId xmlns:a16="http://schemas.microsoft.com/office/drawing/2014/main" id="{EA2F2700-B768-ADB1-A1BF-EE27DB557DEF}"/>
                </a:ext>
              </a:extLst>
            </p:cNvPr>
            <p:cNvSpPr/>
            <p:nvPr/>
          </p:nvSpPr>
          <p:spPr>
            <a:xfrm>
              <a:off x="5527050" y="1304472"/>
              <a:ext cx="23784" cy="9502"/>
            </a:xfrm>
            <a:custGeom>
              <a:avLst/>
              <a:gdLst>
                <a:gd name="connsiteX0" fmla="*/ 0 w 23784"/>
                <a:gd name="connsiteY0" fmla="*/ 0 h 9502"/>
                <a:gd name="connsiteX1" fmla="*/ 23784 w 23784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784" h="9502">
                  <a:moveTo>
                    <a:pt x="0" y="0"/>
                  </a:moveTo>
                  <a:lnTo>
                    <a:pt x="23784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69" name="Freeform 138">
              <a:extLst>
                <a:ext uri="{FF2B5EF4-FFF2-40B4-BE49-F238E27FC236}">
                  <a16:creationId xmlns:a16="http://schemas.microsoft.com/office/drawing/2014/main" id="{5480AC6A-4DD2-2334-D15F-FAC639AE07E4}"/>
                </a:ext>
              </a:extLst>
            </p:cNvPr>
            <p:cNvSpPr/>
            <p:nvPr/>
          </p:nvSpPr>
          <p:spPr>
            <a:xfrm>
              <a:off x="5567959" y="1417552"/>
              <a:ext cx="3805" cy="9502"/>
            </a:xfrm>
            <a:custGeom>
              <a:avLst/>
              <a:gdLst>
                <a:gd name="connsiteX0" fmla="*/ 0 w 3805"/>
                <a:gd name="connsiteY0" fmla="*/ 0 h 9502"/>
                <a:gd name="connsiteX1" fmla="*/ 3806 w 3805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05" h="9502">
                  <a:moveTo>
                    <a:pt x="0" y="0"/>
                  </a:moveTo>
                  <a:lnTo>
                    <a:pt x="3806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70" name="Freeform 139">
              <a:extLst>
                <a:ext uri="{FF2B5EF4-FFF2-40B4-BE49-F238E27FC236}">
                  <a16:creationId xmlns:a16="http://schemas.microsoft.com/office/drawing/2014/main" id="{C58AF39B-22B0-9916-D9D4-41094DB7E358}"/>
                </a:ext>
              </a:extLst>
            </p:cNvPr>
            <p:cNvSpPr/>
            <p:nvPr/>
          </p:nvSpPr>
          <p:spPr>
            <a:xfrm>
              <a:off x="5599354" y="1417552"/>
              <a:ext cx="2854" cy="9502"/>
            </a:xfrm>
            <a:custGeom>
              <a:avLst/>
              <a:gdLst>
                <a:gd name="connsiteX0" fmla="*/ 0 w 2854"/>
                <a:gd name="connsiteY0" fmla="*/ 0 h 9502"/>
                <a:gd name="connsiteX1" fmla="*/ 2854 w 2854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4" h="9502">
                  <a:moveTo>
                    <a:pt x="0" y="0"/>
                  </a:moveTo>
                  <a:lnTo>
                    <a:pt x="2854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71" name="Freeform 140">
              <a:extLst>
                <a:ext uri="{FF2B5EF4-FFF2-40B4-BE49-F238E27FC236}">
                  <a16:creationId xmlns:a16="http://schemas.microsoft.com/office/drawing/2014/main" id="{54771B26-8CE3-3B17-4841-6920AA5B9EB5}"/>
                </a:ext>
              </a:extLst>
            </p:cNvPr>
            <p:cNvSpPr/>
            <p:nvPr/>
          </p:nvSpPr>
          <p:spPr>
            <a:xfrm>
              <a:off x="5602208" y="1417552"/>
              <a:ext cx="6659" cy="9502"/>
            </a:xfrm>
            <a:custGeom>
              <a:avLst/>
              <a:gdLst>
                <a:gd name="connsiteX0" fmla="*/ 0 w 6659"/>
                <a:gd name="connsiteY0" fmla="*/ 0 h 9502"/>
                <a:gd name="connsiteX1" fmla="*/ 6660 w 6659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59" h="9502">
                  <a:moveTo>
                    <a:pt x="0" y="0"/>
                  </a:moveTo>
                  <a:lnTo>
                    <a:pt x="666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72" name="Freeform 141">
              <a:extLst>
                <a:ext uri="{FF2B5EF4-FFF2-40B4-BE49-F238E27FC236}">
                  <a16:creationId xmlns:a16="http://schemas.microsoft.com/office/drawing/2014/main" id="{9734D9A4-8383-DA7A-392B-1418465E0B5F}"/>
                </a:ext>
              </a:extLst>
            </p:cNvPr>
            <p:cNvSpPr/>
            <p:nvPr/>
          </p:nvSpPr>
          <p:spPr>
            <a:xfrm>
              <a:off x="5619332" y="1485970"/>
              <a:ext cx="9513" cy="19955"/>
            </a:xfrm>
            <a:custGeom>
              <a:avLst/>
              <a:gdLst>
                <a:gd name="connsiteX0" fmla="*/ 0 w 9513"/>
                <a:gd name="connsiteY0" fmla="*/ 0 h 19955"/>
                <a:gd name="connsiteX1" fmla="*/ 0 w 9513"/>
                <a:gd name="connsiteY1" fmla="*/ 19955 h 19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19955">
                  <a:moveTo>
                    <a:pt x="0" y="0"/>
                  </a:moveTo>
                  <a:lnTo>
                    <a:pt x="0" y="19955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73" name="Freeform 142">
              <a:extLst>
                <a:ext uri="{FF2B5EF4-FFF2-40B4-BE49-F238E27FC236}">
                  <a16:creationId xmlns:a16="http://schemas.microsoft.com/office/drawing/2014/main" id="{57F193CF-8060-4E33-92AD-B2CEFF73239B}"/>
                </a:ext>
              </a:extLst>
            </p:cNvPr>
            <p:cNvSpPr/>
            <p:nvPr/>
          </p:nvSpPr>
          <p:spPr>
            <a:xfrm>
              <a:off x="5619332" y="1454611"/>
              <a:ext cx="6935" cy="89323"/>
            </a:xfrm>
            <a:custGeom>
              <a:avLst/>
              <a:gdLst>
                <a:gd name="connsiteX0" fmla="*/ 0 w 6935"/>
                <a:gd name="connsiteY0" fmla="*/ 0 h 89323"/>
                <a:gd name="connsiteX1" fmla="*/ 0 w 6935"/>
                <a:gd name="connsiteY1" fmla="*/ 89323 h 89323"/>
                <a:gd name="connsiteX2" fmla="*/ 6660 w 6935"/>
                <a:gd name="connsiteY2" fmla="*/ 89323 h 89323"/>
                <a:gd name="connsiteX3" fmla="*/ 6660 w 6935"/>
                <a:gd name="connsiteY3" fmla="*/ 89323 h 8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35" h="89323">
                  <a:moveTo>
                    <a:pt x="0" y="0"/>
                  </a:moveTo>
                  <a:lnTo>
                    <a:pt x="0" y="89323"/>
                  </a:lnTo>
                  <a:cubicBezTo>
                    <a:pt x="0" y="89323"/>
                    <a:pt x="8562" y="89323"/>
                    <a:pt x="6660" y="89323"/>
                  </a:cubicBezTo>
                  <a:lnTo>
                    <a:pt x="6660" y="89323"/>
                  </a:lnTo>
                </a:path>
              </a:pathLst>
            </a:custGeom>
            <a:noFill/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74" name="Freeform 143">
              <a:extLst>
                <a:ext uri="{FF2B5EF4-FFF2-40B4-BE49-F238E27FC236}">
                  <a16:creationId xmlns:a16="http://schemas.microsoft.com/office/drawing/2014/main" id="{4666CFBA-E584-4BE0-BF8C-E1322973BA13}"/>
                </a:ext>
              </a:extLst>
            </p:cNvPr>
            <p:cNvSpPr/>
            <p:nvPr/>
          </p:nvSpPr>
          <p:spPr>
            <a:xfrm>
              <a:off x="5625992" y="1543935"/>
              <a:ext cx="9513" cy="44661"/>
            </a:xfrm>
            <a:custGeom>
              <a:avLst/>
              <a:gdLst>
                <a:gd name="connsiteX0" fmla="*/ 0 w 9513"/>
                <a:gd name="connsiteY0" fmla="*/ 44662 h 44661"/>
                <a:gd name="connsiteX1" fmla="*/ 0 w 9513"/>
                <a:gd name="connsiteY1" fmla="*/ 23756 h 44661"/>
                <a:gd name="connsiteX2" fmla="*/ 0 w 9513"/>
                <a:gd name="connsiteY2" fmla="*/ 0 h 44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13" h="44661">
                  <a:moveTo>
                    <a:pt x="0" y="44662"/>
                  </a:moveTo>
                  <a:lnTo>
                    <a:pt x="0" y="23756"/>
                  </a:lnTo>
                  <a:lnTo>
                    <a:pt x="0" y="0"/>
                  </a:lnTo>
                </a:path>
              </a:pathLst>
            </a:custGeom>
            <a:noFill/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75" name="Freeform 144">
              <a:extLst>
                <a:ext uri="{FF2B5EF4-FFF2-40B4-BE49-F238E27FC236}">
                  <a16:creationId xmlns:a16="http://schemas.microsoft.com/office/drawing/2014/main" id="{B4A8A2E6-A60E-0034-A9EB-3E3E78D76B4E}"/>
                </a:ext>
              </a:extLst>
            </p:cNvPr>
            <p:cNvSpPr/>
            <p:nvPr/>
          </p:nvSpPr>
          <p:spPr>
            <a:xfrm>
              <a:off x="5625992" y="1608552"/>
              <a:ext cx="17124" cy="9502"/>
            </a:xfrm>
            <a:custGeom>
              <a:avLst/>
              <a:gdLst>
                <a:gd name="connsiteX0" fmla="*/ 0 w 17124"/>
                <a:gd name="connsiteY0" fmla="*/ 0 h 9502"/>
                <a:gd name="connsiteX1" fmla="*/ 17125 w 17124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24" h="9502">
                  <a:moveTo>
                    <a:pt x="0" y="0"/>
                  </a:moveTo>
                  <a:lnTo>
                    <a:pt x="17125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76" name="Freeform 145">
              <a:extLst>
                <a:ext uri="{FF2B5EF4-FFF2-40B4-BE49-F238E27FC236}">
                  <a16:creationId xmlns:a16="http://schemas.microsoft.com/office/drawing/2014/main" id="{12EE9AA4-CD87-6BC5-412C-323C5E0B4709}"/>
                </a:ext>
              </a:extLst>
            </p:cNvPr>
            <p:cNvSpPr/>
            <p:nvPr/>
          </p:nvSpPr>
          <p:spPr>
            <a:xfrm>
              <a:off x="5643117" y="1608552"/>
              <a:ext cx="171245" cy="205253"/>
            </a:xfrm>
            <a:custGeom>
              <a:avLst/>
              <a:gdLst>
                <a:gd name="connsiteX0" fmla="*/ 0 w 171245"/>
                <a:gd name="connsiteY0" fmla="*/ 0 h 205253"/>
                <a:gd name="connsiteX1" fmla="*/ 0 w 171245"/>
                <a:gd name="connsiteY1" fmla="*/ 7602 h 205253"/>
                <a:gd name="connsiteX2" fmla="*/ 0 w 171245"/>
                <a:gd name="connsiteY2" fmla="*/ 31358 h 205253"/>
                <a:gd name="connsiteX3" fmla="*/ 0 w 171245"/>
                <a:gd name="connsiteY3" fmla="*/ 51313 h 205253"/>
                <a:gd name="connsiteX4" fmla="*/ 0 w 171245"/>
                <a:gd name="connsiteY4" fmla="*/ 68418 h 205253"/>
                <a:gd name="connsiteX5" fmla="*/ 3805 w 171245"/>
                <a:gd name="connsiteY5" fmla="*/ 68418 h 205253"/>
                <a:gd name="connsiteX6" fmla="*/ 31395 w 171245"/>
                <a:gd name="connsiteY6" fmla="*/ 68418 h 205253"/>
                <a:gd name="connsiteX7" fmla="*/ 58984 w 171245"/>
                <a:gd name="connsiteY7" fmla="*/ 68418 h 205253"/>
                <a:gd name="connsiteX8" fmla="*/ 65644 w 171245"/>
                <a:gd name="connsiteY8" fmla="*/ 68418 h 205253"/>
                <a:gd name="connsiteX9" fmla="*/ 65644 w 171245"/>
                <a:gd name="connsiteY9" fmla="*/ 85522 h 205253"/>
                <a:gd name="connsiteX10" fmla="*/ 65644 w 171245"/>
                <a:gd name="connsiteY10" fmla="*/ 106428 h 205253"/>
                <a:gd name="connsiteX11" fmla="*/ 65644 w 171245"/>
                <a:gd name="connsiteY11" fmla="*/ 126383 h 205253"/>
                <a:gd name="connsiteX12" fmla="*/ 76109 w 171245"/>
                <a:gd name="connsiteY12" fmla="*/ 126383 h 205253"/>
                <a:gd name="connsiteX13" fmla="*/ 76109 w 171245"/>
                <a:gd name="connsiteY13" fmla="*/ 140637 h 205253"/>
                <a:gd name="connsiteX14" fmla="*/ 76109 w 171245"/>
                <a:gd name="connsiteY14" fmla="*/ 160592 h 205253"/>
                <a:gd name="connsiteX15" fmla="*/ 76109 w 171245"/>
                <a:gd name="connsiteY15" fmla="*/ 185298 h 205253"/>
                <a:gd name="connsiteX16" fmla="*/ 76109 w 171245"/>
                <a:gd name="connsiteY16" fmla="*/ 205254 h 205253"/>
                <a:gd name="connsiteX17" fmla="*/ 157926 w 171245"/>
                <a:gd name="connsiteY17" fmla="*/ 205254 h 205253"/>
                <a:gd name="connsiteX18" fmla="*/ 171245 w 171245"/>
                <a:gd name="connsiteY18" fmla="*/ 205254 h 20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1245" h="205253">
                  <a:moveTo>
                    <a:pt x="0" y="0"/>
                  </a:moveTo>
                  <a:lnTo>
                    <a:pt x="0" y="7602"/>
                  </a:lnTo>
                  <a:lnTo>
                    <a:pt x="0" y="31358"/>
                  </a:lnTo>
                  <a:lnTo>
                    <a:pt x="0" y="51313"/>
                  </a:lnTo>
                  <a:lnTo>
                    <a:pt x="0" y="68418"/>
                  </a:lnTo>
                  <a:lnTo>
                    <a:pt x="3805" y="68418"/>
                  </a:lnTo>
                  <a:lnTo>
                    <a:pt x="31395" y="68418"/>
                  </a:lnTo>
                  <a:lnTo>
                    <a:pt x="58984" y="68418"/>
                  </a:lnTo>
                  <a:lnTo>
                    <a:pt x="65644" y="68418"/>
                  </a:lnTo>
                  <a:lnTo>
                    <a:pt x="65644" y="85522"/>
                  </a:lnTo>
                  <a:lnTo>
                    <a:pt x="65644" y="106428"/>
                  </a:lnTo>
                  <a:lnTo>
                    <a:pt x="65644" y="126383"/>
                  </a:lnTo>
                  <a:lnTo>
                    <a:pt x="76109" y="126383"/>
                  </a:lnTo>
                  <a:lnTo>
                    <a:pt x="76109" y="140637"/>
                  </a:lnTo>
                  <a:lnTo>
                    <a:pt x="76109" y="160592"/>
                  </a:lnTo>
                  <a:lnTo>
                    <a:pt x="76109" y="185298"/>
                  </a:lnTo>
                  <a:lnTo>
                    <a:pt x="76109" y="205254"/>
                  </a:lnTo>
                  <a:lnTo>
                    <a:pt x="157926" y="205254"/>
                  </a:lnTo>
                  <a:lnTo>
                    <a:pt x="171245" y="205254"/>
                  </a:lnTo>
                </a:path>
              </a:pathLst>
            </a:custGeom>
            <a:noFill/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77" name="Freeform 146">
              <a:extLst>
                <a:ext uri="{FF2B5EF4-FFF2-40B4-BE49-F238E27FC236}">
                  <a16:creationId xmlns:a16="http://schemas.microsoft.com/office/drawing/2014/main" id="{DBB92158-16E2-8B63-3C31-D2F8B3018AC1}"/>
                </a:ext>
              </a:extLst>
            </p:cNvPr>
            <p:cNvSpPr/>
            <p:nvPr/>
          </p:nvSpPr>
          <p:spPr>
            <a:xfrm>
              <a:off x="5745864" y="1813805"/>
              <a:ext cx="6659" cy="9502"/>
            </a:xfrm>
            <a:custGeom>
              <a:avLst/>
              <a:gdLst>
                <a:gd name="connsiteX0" fmla="*/ 0 w 6659"/>
                <a:gd name="connsiteY0" fmla="*/ 0 h 9502"/>
                <a:gd name="connsiteX1" fmla="*/ 6660 w 6659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59" h="9502">
                  <a:moveTo>
                    <a:pt x="0" y="0"/>
                  </a:moveTo>
                  <a:lnTo>
                    <a:pt x="666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78" name="Freeform 147">
              <a:extLst>
                <a:ext uri="{FF2B5EF4-FFF2-40B4-BE49-F238E27FC236}">
                  <a16:creationId xmlns:a16="http://schemas.microsoft.com/office/drawing/2014/main" id="{863D2F74-FD0D-DAC3-75B7-8DA3919B67DB}"/>
                </a:ext>
              </a:extLst>
            </p:cNvPr>
            <p:cNvSpPr/>
            <p:nvPr/>
          </p:nvSpPr>
          <p:spPr>
            <a:xfrm>
              <a:off x="5752523" y="1813805"/>
              <a:ext cx="20929" cy="9502"/>
            </a:xfrm>
            <a:custGeom>
              <a:avLst/>
              <a:gdLst>
                <a:gd name="connsiteX0" fmla="*/ 0 w 20929"/>
                <a:gd name="connsiteY0" fmla="*/ 0 h 9502"/>
                <a:gd name="connsiteX1" fmla="*/ 20930 w 20929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29" h="9502">
                  <a:moveTo>
                    <a:pt x="0" y="0"/>
                  </a:moveTo>
                  <a:lnTo>
                    <a:pt x="2093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79" name="Freeform 148">
              <a:extLst>
                <a:ext uri="{FF2B5EF4-FFF2-40B4-BE49-F238E27FC236}">
                  <a16:creationId xmlns:a16="http://schemas.microsoft.com/office/drawing/2014/main" id="{26D89095-BA68-8B0E-2621-FA19889BFBC4}"/>
                </a:ext>
              </a:extLst>
            </p:cNvPr>
            <p:cNvSpPr/>
            <p:nvPr/>
          </p:nvSpPr>
          <p:spPr>
            <a:xfrm>
              <a:off x="5818167" y="1886024"/>
              <a:ext cx="2854" cy="9502"/>
            </a:xfrm>
            <a:custGeom>
              <a:avLst/>
              <a:gdLst>
                <a:gd name="connsiteX0" fmla="*/ 0 w 2854"/>
                <a:gd name="connsiteY0" fmla="*/ 0 h 9502"/>
                <a:gd name="connsiteX1" fmla="*/ 2854 w 2854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4" h="9502">
                  <a:moveTo>
                    <a:pt x="0" y="0"/>
                  </a:moveTo>
                  <a:lnTo>
                    <a:pt x="2854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80" name="Freeform 149">
              <a:extLst>
                <a:ext uri="{FF2B5EF4-FFF2-40B4-BE49-F238E27FC236}">
                  <a16:creationId xmlns:a16="http://schemas.microsoft.com/office/drawing/2014/main" id="{7CFF5C2B-3334-9D2F-AD01-0E939FE9CC51}"/>
                </a:ext>
              </a:extLst>
            </p:cNvPr>
            <p:cNvSpPr/>
            <p:nvPr/>
          </p:nvSpPr>
          <p:spPr>
            <a:xfrm>
              <a:off x="5821021" y="1886024"/>
              <a:ext cx="3805" cy="9502"/>
            </a:xfrm>
            <a:custGeom>
              <a:avLst/>
              <a:gdLst>
                <a:gd name="connsiteX0" fmla="*/ 0 w 3805"/>
                <a:gd name="connsiteY0" fmla="*/ 0 h 9502"/>
                <a:gd name="connsiteX1" fmla="*/ 3805 w 3805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05" h="9502">
                  <a:moveTo>
                    <a:pt x="0" y="0"/>
                  </a:moveTo>
                  <a:lnTo>
                    <a:pt x="3805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81" name="Freeform 150">
              <a:extLst>
                <a:ext uri="{FF2B5EF4-FFF2-40B4-BE49-F238E27FC236}">
                  <a16:creationId xmlns:a16="http://schemas.microsoft.com/office/drawing/2014/main" id="{2ACA265F-4F54-8F70-4416-715F54047FAE}"/>
                </a:ext>
              </a:extLst>
            </p:cNvPr>
            <p:cNvSpPr/>
            <p:nvPr/>
          </p:nvSpPr>
          <p:spPr>
            <a:xfrm>
              <a:off x="5824827" y="1886024"/>
              <a:ext cx="188369" cy="423810"/>
            </a:xfrm>
            <a:custGeom>
              <a:avLst/>
              <a:gdLst>
                <a:gd name="connsiteX0" fmla="*/ 0 w 188369"/>
                <a:gd name="connsiteY0" fmla="*/ 0 h 423810"/>
                <a:gd name="connsiteX1" fmla="*/ 0 w 188369"/>
                <a:gd name="connsiteY1" fmla="*/ 17104 h 423810"/>
                <a:gd name="connsiteX2" fmla="*/ 0 w 188369"/>
                <a:gd name="connsiteY2" fmla="*/ 37060 h 423810"/>
                <a:gd name="connsiteX3" fmla="*/ 0 w 188369"/>
                <a:gd name="connsiteY3" fmla="*/ 57965 h 423810"/>
                <a:gd name="connsiteX4" fmla="*/ 0 w 188369"/>
                <a:gd name="connsiteY4" fmla="*/ 75070 h 423810"/>
                <a:gd name="connsiteX5" fmla="*/ 6660 w 188369"/>
                <a:gd name="connsiteY5" fmla="*/ 75070 h 423810"/>
                <a:gd name="connsiteX6" fmla="*/ 34249 w 188369"/>
                <a:gd name="connsiteY6" fmla="*/ 75070 h 423810"/>
                <a:gd name="connsiteX7" fmla="*/ 38054 w 188369"/>
                <a:gd name="connsiteY7" fmla="*/ 75070 h 423810"/>
                <a:gd name="connsiteX8" fmla="*/ 38054 w 188369"/>
                <a:gd name="connsiteY8" fmla="*/ 92174 h 423810"/>
                <a:gd name="connsiteX9" fmla="*/ 38054 w 188369"/>
                <a:gd name="connsiteY9" fmla="*/ 115930 h 423810"/>
                <a:gd name="connsiteX10" fmla="*/ 38054 w 188369"/>
                <a:gd name="connsiteY10" fmla="*/ 136836 h 423810"/>
                <a:gd name="connsiteX11" fmla="*/ 38054 w 188369"/>
                <a:gd name="connsiteY11" fmla="*/ 150139 h 423810"/>
                <a:gd name="connsiteX12" fmla="*/ 75158 w 188369"/>
                <a:gd name="connsiteY12" fmla="*/ 150139 h 423810"/>
                <a:gd name="connsiteX13" fmla="*/ 92282 w 188369"/>
                <a:gd name="connsiteY13" fmla="*/ 150139 h 423810"/>
                <a:gd name="connsiteX14" fmla="*/ 92282 w 188369"/>
                <a:gd name="connsiteY14" fmla="*/ 177696 h 423810"/>
                <a:gd name="connsiteX15" fmla="*/ 92282 w 188369"/>
                <a:gd name="connsiteY15" fmla="*/ 197652 h 423810"/>
                <a:gd name="connsiteX16" fmla="*/ 98942 w 188369"/>
                <a:gd name="connsiteY16" fmla="*/ 197652 h 423810"/>
                <a:gd name="connsiteX17" fmla="*/ 98942 w 188369"/>
                <a:gd name="connsiteY17" fmla="*/ 221408 h 423810"/>
                <a:gd name="connsiteX18" fmla="*/ 98942 w 188369"/>
                <a:gd name="connsiteY18" fmla="*/ 235662 h 423810"/>
                <a:gd name="connsiteX19" fmla="*/ 98942 w 188369"/>
                <a:gd name="connsiteY19" fmla="*/ 259418 h 423810"/>
                <a:gd name="connsiteX20" fmla="*/ 98942 w 188369"/>
                <a:gd name="connsiteY20" fmla="*/ 280323 h 423810"/>
                <a:gd name="connsiteX21" fmla="*/ 106553 w 188369"/>
                <a:gd name="connsiteY21" fmla="*/ 280323 h 423810"/>
                <a:gd name="connsiteX22" fmla="*/ 106553 w 188369"/>
                <a:gd name="connsiteY22" fmla="*/ 338288 h 423810"/>
                <a:gd name="connsiteX23" fmla="*/ 106553 w 188369"/>
                <a:gd name="connsiteY23" fmla="*/ 358244 h 423810"/>
                <a:gd name="connsiteX24" fmla="*/ 106553 w 188369"/>
                <a:gd name="connsiteY24" fmla="*/ 372497 h 423810"/>
                <a:gd name="connsiteX25" fmla="*/ 119872 w 188369"/>
                <a:gd name="connsiteY25" fmla="*/ 372497 h 423810"/>
                <a:gd name="connsiteX26" fmla="*/ 143656 w 188369"/>
                <a:gd name="connsiteY26" fmla="*/ 372497 h 423810"/>
                <a:gd name="connsiteX27" fmla="*/ 171245 w 188369"/>
                <a:gd name="connsiteY27" fmla="*/ 372497 h 423810"/>
                <a:gd name="connsiteX28" fmla="*/ 188370 w 188369"/>
                <a:gd name="connsiteY28" fmla="*/ 372497 h 423810"/>
                <a:gd name="connsiteX29" fmla="*/ 188370 w 188369"/>
                <a:gd name="connsiteY29" fmla="*/ 402905 h 423810"/>
                <a:gd name="connsiteX30" fmla="*/ 188370 w 188369"/>
                <a:gd name="connsiteY30" fmla="*/ 423811 h 42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88369" h="423810">
                  <a:moveTo>
                    <a:pt x="0" y="0"/>
                  </a:moveTo>
                  <a:lnTo>
                    <a:pt x="0" y="17104"/>
                  </a:lnTo>
                  <a:lnTo>
                    <a:pt x="0" y="37060"/>
                  </a:lnTo>
                  <a:lnTo>
                    <a:pt x="0" y="57965"/>
                  </a:lnTo>
                  <a:lnTo>
                    <a:pt x="0" y="75070"/>
                  </a:lnTo>
                  <a:lnTo>
                    <a:pt x="6660" y="75070"/>
                  </a:lnTo>
                  <a:lnTo>
                    <a:pt x="34249" y="75070"/>
                  </a:lnTo>
                  <a:lnTo>
                    <a:pt x="38054" y="75070"/>
                  </a:lnTo>
                  <a:lnTo>
                    <a:pt x="38054" y="92174"/>
                  </a:lnTo>
                  <a:lnTo>
                    <a:pt x="38054" y="115930"/>
                  </a:lnTo>
                  <a:lnTo>
                    <a:pt x="38054" y="136836"/>
                  </a:lnTo>
                  <a:lnTo>
                    <a:pt x="38054" y="150139"/>
                  </a:lnTo>
                  <a:lnTo>
                    <a:pt x="75158" y="150139"/>
                  </a:lnTo>
                  <a:lnTo>
                    <a:pt x="92282" y="150139"/>
                  </a:lnTo>
                  <a:lnTo>
                    <a:pt x="92282" y="177696"/>
                  </a:lnTo>
                  <a:lnTo>
                    <a:pt x="92282" y="197652"/>
                  </a:lnTo>
                  <a:lnTo>
                    <a:pt x="98942" y="197652"/>
                  </a:lnTo>
                  <a:lnTo>
                    <a:pt x="98942" y="221408"/>
                  </a:lnTo>
                  <a:lnTo>
                    <a:pt x="98942" y="235662"/>
                  </a:lnTo>
                  <a:lnTo>
                    <a:pt x="98942" y="259418"/>
                  </a:lnTo>
                  <a:lnTo>
                    <a:pt x="98942" y="280323"/>
                  </a:lnTo>
                  <a:lnTo>
                    <a:pt x="106553" y="280323"/>
                  </a:lnTo>
                  <a:lnTo>
                    <a:pt x="106553" y="338288"/>
                  </a:lnTo>
                  <a:lnTo>
                    <a:pt x="106553" y="358244"/>
                  </a:lnTo>
                  <a:lnTo>
                    <a:pt x="106553" y="372497"/>
                  </a:lnTo>
                  <a:lnTo>
                    <a:pt x="119872" y="372497"/>
                  </a:lnTo>
                  <a:lnTo>
                    <a:pt x="143656" y="372497"/>
                  </a:lnTo>
                  <a:lnTo>
                    <a:pt x="171245" y="372497"/>
                  </a:lnTo>
                  <a:lnTo>
                    <a:pt x="188370" y="372497"/>
                  </a:lnTo>
                  <a:lnTo>
                    <a:pt x="188370" y="402905"/>
                  </a:lnTo>
                  <a:lnTo>
                    <a:pt x="188370" y="423811"/>
                  </a:lnTo>
                </a:path>
              </a:pathLst>
            </a:custGeom>
            <a:noFill/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82" name="Freeform 151">
              <a:extLst>
                <a:ext uri="{FF2B5EF4-FFF2-40B4-BE49-F238E27FC236}">
                  <a16:creationId xmlns:a16="http://schemas.microsoft.com/office/drawing/2014/main" id="{81714159-1B7A-500D-352A-53AD2F369706}"/>
                </a:ext>
              </a:extLst>
            </p:cNvPr>
            <p:cNvSpPr/>
            <p:nvPr/>
          </p:nvSpPr>
          <p:spPr>
            <a:xfrm>
              <a:off x="6013196" y="2333591"/>
              <a:ext cx="13319" cy="9502"/>
            </a:xfrm>
            <a:custGeom>
              <a:avLst/>
              <a:gdLst>
                <a:gd name="connsiteX0" fmla="*/ 0 w 13319"/>
                <a:gd name="connsiteY0" fmla="*/ 0 h 9502"/>
                <a:gd name="connsiteX1" fmla="*/ 13319 w 13319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319" h="9502">
                  <a:moveTo>
                    <a:pt x="0" y="0"/>
                  </a:moveTo>
                  <a:lnTo>
                    <a:pt x="13319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83" name="Freeform 152">
              <a:extLst>
                <a:ext uri="{FF2B5EF4-FFF2-40B4-BE49-F238E27FC236}">
                  <a16:creationId xmlns:a16="http://schemas.microsoft.com/office/drawing/2014/main" id="{C57586D7-6ADA-587D-6F1F-5E65791B6862}"/>
                </a:ext>
              </a:extLst>
            </p:cNvPr>
            <p:cNvSpPr/>
            <p:nvPr/>
          </p:nvSpPr>
          <p:spPr>
            <a:xfrm>
              <a:off x="6026515" y="2333591"/>
              <a:ext cx="181710" cy="78870"/>
            </a:xfrm>
            <a:custGeom>
              <a:avLst/>
              <a:gdLst>
                <a:gd name="connsiteX0" fmla="*/ 0 w 181710"/>
                <a:gd name="connsiteY0" fmla="*/ 0 h 78870"/>
                <a:gd name="connsiteX1" fmla="*/ 0 w 181710"/>
                <a:gd name="connsiteY1" fmla="*/ 6652 h 78870"/>
                <a:gd name="connsiteX2" fmla="*/ 0 w 181710"/>
                <a:gd name="connsiteY2" fmla="*/ 30408 h 78870"/>
                <a:gd name="connsiteX3" fmla="*/ 0 w 181710"/>
                <a:gd name="connsiteY3" fmla="*/ 51313 h 78870"/>
                <a:gd name="connsiteX4" fmla="*/ 0 w 181710"/>
                <a:gd name="connsiteY4" fmla="*/ 78871 h 78870"/>
                <a:gd name="connsiteX5" fmla="*/ 20930 w 181710"/>
                <a:gd name="connsiteY5" fmla="*/ 78871 h 78870"/>
                <a:gd name="connsiteX6" fmla="*/ 44714 w 181710"/>
                <a:gd name="connsiteY6" fmla="*/ 78871 h 78870"/>
                <a:gd name="connsiteX7" fmla="*/ 72304 w 181710"/>
                <a:gd name="connsiteY7" fmla="*/ 78871 h 78870"/>
                <a:gd name="connsiteX8" fmla="*/ 82769 w 181710"/>
                <a:gd name="connsiteY8" fmla="*/ 78871 h 78870"/>
                <a:gd name="connsiteX9" fmla="*/ 134142 w 181710"/>
                <a:gd name="connsiteY9" fmla="*/ 78871 h 78870"/>
                <a:gd name="connsiteX10" fmla="*/ 154121 w 181710"/>
                <a:gd name="connsiteY10" fmla="*/ 78871 h 78870"/>
                <a:gd name="connsiteX11" fmla="*/ 181710 w 181710"/>
                <a:gd name="connsiteY11" fmla="*/ 78871 h 7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1710" h="78870">
                  <a:moveTo>
                    <a:pt x="0" y="0"/>
                  </a:moveTo>
                  <a:lnTo>
                    <a:pt x="0" y="6652"/>
                  </a:lnTo>
                  <a:lnTo>
                    <a:pt x="0" y="30408"/>
                  </a:lnTo>
                  <a:lnTo>
                    <a:pt x="0" y="51313"/>
                  </a:lnTo>
                  <a:lnTo>
                    <a:pt x="0" y="78871"/>
                  </a:lnTo>
                  <a:lnTo>
                    <a:pt x="20930" y="78871"/>
                  </a:lnTo>
                  <a:lnTo>
                    <a:pt x="44714" y="78871"/>
                  </a:lnTo>
                  <a:lnTo>
                    <a:pt x="72304" y="78871"/>
                  </a:lnTo>
                  <a:lnTo>
                    <a:pt x="82769" y="78871"/>
                  </a:lnTo>
                  <a:lnTo>
                    <a:pt x="134142" y="78871"/>
                  </a:lnTo>
                  <a:lnTo>
                    <a:pt x="154121" y="78871"/>
                  </a:lnTo>
                  <a:lnTo>
                    <a:pt x="181710" y="78871"/>
                  </a:lnTo>
                </a:path>
              </a:pathLst>
            </a:custGeom>
            <a:noFill/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84" name="Freeform 153">
              <a:extLst>
                <a:ext uri="{FF2B5EF4-FFF2-40B4-BE49-F238E27FC236}">
                  <a16:creationId xmlns:a16="http://schemas.microsoft.com/office/drawing/2014/main" id="{F50ED428-4253-4128-7F6C-F2A0F1F820C3}"/>
                </a:ext>
              </a:extLst>
            </p:cNvPr>
            <p:cNvSpPr/>
            <p:nvPr/>
          </p:nvSpPr>
          <p:spPr>
            <a:xfrm>
              <a:off x="6126408" y="2412462"/>
              <a:ext cx="9513" cy="9502"/>
            </a:xfrm>
            <a:custGeom>
              <a:avLst/>
              <a:gdLst>
                <a:gd name="connsiteX0" fmla="*/ 0 w 9513"/>
                <a:gd name="connsiteY0" fmla="*/ 0 h 9502"/>
                <a:gd name="connsiteX1" fmla="*/ 9514 w 951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9502">
                  <a:moveTo>
                    <a:pt x="0" y="0"/>
                  </a:moveTo>
                  <a:lnTo>
                    <a:pt x="9514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85" name="Freeform 154">
              <a:extLst>
                <a:ext uri="{FF2B5EF4-FFF2-40B4-BE49-F238E27FC236}">
                  <a16:creationId xmlns:a16="http://schemas.microsoft.com/office/drawing/2014/main" id="{35A9BC17-73A4-569D-E054-09D601852514}"/>
                </a:ext>
              </a:extLst>
            </p:cNvPr>
            <p:cNvSpPr/>
            <p:nvPr/>
          </p:nvSpPr>
          <p:spPr>
            <a:xfrm>
              <a:off x="6135922" y="2412462"/>
              <a:ext cx="17124" cy="9502"/>
            </a:xfrm>
            <a:custGeom>
              <a:avLst/>
              <a:gdLst>
                <a:gd name="connsiteX0" fmla="*/ 0 w 17124"/>
                <a:gd name="connsiteY0" fmla="*/ 0 h 9502"/>
                <a:gd name="connsiteX1" fmla="*/ 17124 w 17124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24" h="9502">
                  <a:moveTo>
                    <a:pt x="0" y="0"/>
                  </a:moveTo>
                  <a:lnTo>
                    <a:pt x="17124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86" name="Freeform 155">
              <a:extLst>
                <a:ext uri="{FF2B5EF4-FFF2-40B4-BE49-F238E27FC236}">
                  <a16:creationId xmlns:a16="http://schemas.microsoft.com/office/drawing/2014/main" id="{6DD80F92-B637-497B-A336-D2F1F644EF06}"/>
                </a:ext>
              </a:extLst>
            </p:cNvPr>
            <p:cNvSpPr/>
            <p:nvPr/>
          </p:nvSpPr>
          <p:spPr>
            <a:xfrm>
              <a:off x="6235815" y="2412462"/>
              <a:ext cx="27589" cy="9502"/>
            </a:xfrm>
            <a:custGeom>
              <a:avLst/>
              <a:gdLst>
                <a:gd name="connsiteX0" fmla="*/ 0 w 27589"/>
                <a:gd name="connsiteY0" fmla="*/ 0 h 9502"/>
                <a:gd name="connsiteX1" fmla="*/ 27590 w 27589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89" h="9502">
                  <a:moveTo>
                    <a:pt x="0" y="0"/>
                  </a:moveTo>
                  <a:lnTo>
                    <a:pt x="2759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87" name="Freeform 156">
              <a:extLst>
                <a:ext uri="{FF2B5EF4-FFF2-40B4-BE49-F238E27FC236}">
                  <a16:creationId xmlns:a16="http://schemas.microsoft.com/office/drawing/2014/main" id="{6DC1976F-09DB-A0D0-544F-3438A406FD99}"/>
                </a:ext>
              </a:extLst>
            </p:cNvPr>
            <p:cNvSpPr/>
            <p:nvPr/>
          </p:nvSpPr>
          <p:spPr>
            <a:xfrm>
              <a:off x="6266259" y="2412462"/>
              <a:ext cx="6659" cy="208104"/>
            </a:xfrm>
            <a:custGeom>
              <a:avLst/>
              <a:gdLst>
                <a:gd name="connsiteX0" fmla="*/ 0 w 6659"/>
                <a:gd name="connsiteY0" fmla="*/ 0 h 208104"/>
                <a:gd name="connsiteX1" fmla="*/ 0 w 6659"/>
                <a:gd name="connsiteY1" fmla="*/ 19955 h 208104"/>
                <a:gd name="connsiteX2" fmla="*/ 0 w 6659"/>
                <a:gd name="connsiteY2" fmla="*/ 40861 h 208104"/>
                <a:gd name="connsiteX3" fmla="*/ 0 w 6659"/>
                <a:gd name="connsiteY3" fmla="*/ 60816 h 208104"/>
                <a:gd name="connsiteX4" fmla="*/ 0 w 6659"/>
                <a:gd name="connsiteY4" fmla="*/ 84572 h 208104"/>
                <a:gd name="connsiteX5" fmla="*/ 6660 w 6659"/>
                <a:gd name="connsiteY5" fmla="*/ 84572 h 208104"/>
                <a:gd name="connsiteX6" fmla="*/ 6660 w 6659"/>
                <a:gd name="connsiteY6" fmla="*/ 105477 h 208104"/>
                <a:gd name="connsiteX7" fmla="*/ 6660 w 6659"/>
                <a:gd name="connsiteY7" fmla="*/ 122582 h 208104"/>
                <a:gd name="connsiteX8" fmla="*/ 6660 w 6659"/>
                <a:gd name="connsiteY8" fmla="*/ 143487 h 208104"/>
                <a:gd name="connsiteX9" fmla="*/ 6660 w 6659"/>
                <a:gd name="connsiteY9" fmla="*/ 163443 h 208104"/>
                <a:gd name="connsiteX10" fmla="*/ 6660 w 6659"/>
                <a:gd name="connsiteY10" fmla="*/ 184348 h 208104"/>
                <a:gd name="connsiteX11" fmla="*/ 6660 w 6659"/>
                <a:gd name="connsiteY11" fmla="*/ 208104 h 20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59" h="208104">
                  <a:moveTo>
                    <a:pt x="0" y="0"/>
                  </a:moveTo>
                  <a:lnTo>
                    <a:pt x="0" y="19955"/>
                  </a:lnTo>
                  <a:lnTo>
                    <a:pt x="0" y="40861"/>
                  </a:lnTo>
                  <a:lnTo>
                    <a:pt x="0" y="60816"/>
                  </a:lnTo>
                  <a:lnTo>
                    <a:pt x="0" y="84572"/>
                  </a:lnTo>
                  <a:lnTo>
                    <a:pt x="6660" y="84572"/>
                  </a:lnTo>
                  <a:lnTo>
                    <a:pt x="6660" y="105477"/>
                  </a:lnTo>
                  <a:lnTo>
                    <a:pt x="6660" y="122582"/>
                  </a:lnTo>
                  <a:lnTo>
                    <a:pt x="6660" y="143487"/>
                  </a:lnTo>
                  <a:lnTo>
                    <a:pt x="6660" y="163443"/>
                  </a:lnTo>
                  <a:lnTo>
                    <a:pt x="6660" y="184348"/>
                  </a:lnTo>
                  <a:lnTo>
                    <a:pt x="6660" y="208104"/>
                  </a:lnTo>
                </a:path>
              </a:pathLst>
            </a:custGeom>
            <a:noFill/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88" name="Freeform 157">
              <a:extLst>
                <a:ext uri="{FF2B5EF4-FFF2-40B4-BE49-F238E27FC236}">
                  <a16:creationId xmlns:a16="http://schemas.microsoft.com/office/drawing/2014/main" id="{FF0353EC-133F-67E2-AAC8-8037D1CD0305}"/>
                </a:ext>
              </a:extLst>
            </p:cNvPr>
            <p:cNvSpPr/>
            <p:nvPr/>
          </p:nvSpPr>
          <p:spPr>
            <a:xfrm>
              <a:off x="6296702" y="2620566"/>
              <a:ext cx="1537400" cy="263218"/>
            </a:xfrm>
            <a:custGeom>
              <a:avLst/>
              <a:gdLst>
                <a:gd name="connsiteX0" fmla="*/ 0 w 1537400"/>
                <a:gd name="connsiteY0" fmla="*/ 0 h 263218"/>
                <a:gd name="connsiteX1" fmla="*/ 27589 w 1537400"/>
                <a:gd name="connsiteY1" fmla="*/ 0 h 263218"/>
                <a:gd name="connsiteX2" fmla="*/ 55179 w 1537400"/>
                <a:gd name="connsiteY2" fmla="*/ 0 h 263218"/>
                <a:gd name="connsiteX3" fmla="*/ 82768 w 1537400"/>
                <a:gd name="connsiteY3" fmla="*/ 0 h 263218"/>
                <a:gd name="connsiteX4" fmla="*/ 110358 w 1537400"/>
                <a:gd name="connsiteY4" fmla="*/ 0 h 263218"/>
                <a:gd name="connsiteX5" fmla="*/ 136996 w 1537400"/>
                <a:gd name="connsiteY5" fmla="*/ 0 h 263218"/>
                <a:gd name="connsiteX6" fmla="*/ 161732 w 1537400"/>
                <a:gd name="connsiteY6" fmla="*/ 0 h 263218"/>
                <a:gd name="connsiteX7" fmla="*/ 188370 w 1537400"/>
                <a:gd name="connsiteY7" fmla="*/ 0 h 263218"/>
                <a:gd name="connsiteX8" fmla="*/ 226424 w 1537400"/>
                <a:gd name="connsiteY8" fmla="*/ 0 h 263218"/>
                <a:gd name="connsiteX9" fmla="*/ 226424 w 1537400"/>
                <a:gd name="connsiteY9" fmla="*/ 13303 h 263218"/>
                <a:gd name="connsiteX10" fmla="*/ 226424 w 1537400"/>
                <a:gd name="connsiteY10" fmla="*/ 37060 h 263218"/>
                <a:gd name="connsiteX11" fmla="*/ 226424 w 1537400"/>
                <a:gd name="connsiteY11" fmla="*/ 57965 h 263218"/>
                <a:gd name="connsiteX12" fmla="*/ 226424 w 1537400"/>
                <a:gd name="connsiteY12" fmla="*/ 78871 h 263218"/>
                <a:gd name="connsiteX13" fmla="*/ 226424 w 1537400"/>
                <a:gd name="connsiteY13" fmla="*/ 102627 h 263218"/>
                <a:gd name="connsiteX14" fmla="*/ 226424 w 1537400"/>
                <a:gd name="connsiteY14" fmla="*/ 119731 h 263218"/>
                <a:gd name="connsiteX15" fmla="*/ 229278 w 1537400"/>
                <a:gd name="connsiteY15" fmla="*/ 119731 h 263218"/>
                <a:gd name="connsiteX16" fmla="*/ 256868 w 1537400"/>
                <a:gd name="connsiteY16" fmla="*/ 119731 h 263218"/>
                <a:gd name="connsiteX17" fmla="*/ 284457 w 1537400"/>
                <a:gd name="connsiteY17" fmla="*/ 119731 h 263218"/>
                <a:gd name="connsiteX18" fmla="*/ 312047 w 1537400"/>
                <a:gd name="connsiteY18" fmla="*/ 119731 h 263218"/>
                <a:gd name="connsiteX19" fmla="*/ 335831 w 1537400"/>
                <a:gd name="connsiteY19" fmla="*/ 119731 h 263218"/>
                <a:gd name="connsiteX20" fmla="*/ 363420 w 1537400"/>
                <a:gd name="connsiteY20" fmla="*/ 119731 h 263218"/>
                <a:gd name="connsiteX21" fmla="*/ 391010 w 1537400"/>
                <a:gd name="connsiteY21" fmla="*/ 119731 h 263218"/>
                <a:gd name="connsiteX22" fmla="*/ 442383 w 1537400"/>
                <a:gd name="connsiteY22" fmla="*/ 119731 h 263218"/>
                <a:gd name="connsiteX23" fmla="*/ 445237 w 1537400"/>
                <a:gd name="connsiteY23" fmla="*/ 119731 h 263218"/>
                <a:gd name="connsiteX24" fmla="*/ 472827 w 1537400"/>
                <a:gd name="connsiteY24" fmla="*/ 119731 h 263218"/>
                <a:gd name="connsiteX25" fmla="*/ 500416 w 1537400"/>
                <a:gd name="connsiteY25" fmla="*/ 119731 h 263218"/>
                <a:gd name="connsiteX26" fmla="*/ 527055 w 1537400"/>
                <a:gd name="connsiteY26" fmla="*/ 119731 h 263218"/>
                <a:gd name="connsiteX27" fmla="*/ 554644 w 1537400"/>
                <a:gd name="connsiteY27" fmla="*/ 119731 h 263218"/>
                <a:gd name="connsiteX28" fmla="*/ 575574 w 1537400"/>
                <a:gd name="connsiteY28" fmla="*/ 119731 h 263218"/>
                <a:gd name="connsiteX29" fmla="*/ 575574 w 1537400"/>
                <a:gd name="connsiteY29" fmla="*/ 143488 h 263218"/>
                <a:gd name="connsiteX30" fmla="*/ 575574 w 1537400"/>
                <a:gd name="connsiteY30" fmla="*/ 167244 h 263218"/>
                <a:gd name="connsiteX31" fmla="*/ 575574 w 1537400"/>
                <a:gd name="connsiteY31" fmla="*/ 188149 h 263218"/>
                <a:gd name="connsiteX32" fmla="*/ 575574 w 1537400"/>
                <a:gd name="connsiteY32" fmla="*/ 208104 h 263218"/>
                <a:gd name="connsiteX33" fmla="*/ 575574 w 1537400"/>
                <a:gd name="connsiteY33" fmla="*/ 231861 h 263218"/>
                <a:gd name="connsiteX34" fmla="*/ 575574 w 1537400"/>
                <a:gd name="connsiteY34" fmla="*/ 252766 h 263218"/>
                <a:gd name="connsiteX35" fmla="*/ 575574 w 1537400"/>
                <a:gd name="connsiteY35" fmla="*/ 263219 h 263218"/>
                <a:gd name="connsiteX36" fmla="*/ 588893 w 1537400"/>
                <a:gd name="connsiteY36" fmla="*/ 263219 h 263218"/>
                <a:gd name="connsiteX37" fmla="*/ 616483 w 1537400"/>
                <a:gd name="connsiteY37" fmla="*/ 263219 h 263218"/>
                <a:gd name="connsiteX38" fmla="*/ 644072 w 1537400"/>
                <a:gd name="connsiteY38" fmla="*/ 263219 h 263218"/>
                <a:gd name="connsiteX39" fmla="*/ 671662 w 1537400"/>
                <a:gd name="connsiteY39" fmla="*/ 263219 h 263218"/>
                <a:gd name="connsiteX40" fmla="*/ 698300 w 1537400"/>
                <a:gd name="connsiteY40" fmla="*/ 263219 h 263218"/>
                <a:gd name="connsiteX41" fmla="*/ 725889 w 1537400"/>
                <a:gd name="connsiteY41" fmla="*/ 263219 h 263218"/>
                <a:gd name="connsiteX42" fmla="*/ 753479 w 1537400"/>
                <a:gd name="connsiteY42" fmla="*/ 263219 h 263218"/>
                <a:gd name="connsiteX43" fmla="*/ 781068 w 1537400"/>
                <a:gd name="connsiteY43" fmla="*/ 263219 h 263218"/>
                <a:gd name="connsiteX44" fmla="*/ 807706 w 1537400"/>
                <a:gd name="connsiteY44" fmla="*/ 263219 h 263218"/>
                <a:gd name="connsiteX45" fmla="*/ 832442 w 1537400"/>
                <a:gd name="connsiteY45" fmla="*/ 263219 h 263218"/>
                <a:gd name="connsiteX46" fmla="*/ 859080 w 1537400"/>
                <a:gd name="connsiteY46" fmla="*/ 263219 h 263218"/>
                <a:gd name="connsiteX47" fmla="*/ 886669 w 1537400"/>
                <a:gd name="connsiteY47" fmla="*/ 263219 h 263218"/>
                <a:gd name="connsiteX48" fmla="*/ 914259 w 1537400"/>
                <a:gd name="connsiteY48" fmla="*/ 263219 h 263218"/>
                <a:gd name="connsiteX49" fmla="*/ 941848 w 1537400"/>
                <a:gd name="connsiteY49" fmla="*/ 263219 h 263218"/>
                <a:gd name="connsiteX50" fmla="*/ 969438 w 1537400"/>
                <a:gd name="connsiteY50" fmla="*/ 263219 h 263218"/>
                <a:gd name="connsiteX51" fmla="*/ 996076 w 1537400"/>
                <a:gd name="connsiteY51" fmla="*/ 263219 h 263218"/>
                <a:gd name="connsiteX52" fmla="*/ 1023665 w 1537400"/>
                <a:gd name="connsiteY52" fmla="*/ 263219 h 263218"/>
                <a:gd name="connsiteX53" fmla="*/ 1051255 w 1537400"/>
                <a:gd name="connsiteY53" fmla="*/ 263219 h 263218"/>
                <a:gd name="connsiteX54" fmla="*/ 1078845 w 1537400"/>
                <a:gd name="connsiteY54" fmla="*/ 263219 h 263218"/>
                <a:gd name="connsiteX55" fmla="*/ 1102629 w 1537400"/>
                <a:gd name="connsiteY55" fmla="*/ 263219 h 263218"/>
                <a:gd name="connsiteX56" fmla="*/ 1130218 w 1537400"/>
                <a:gd name="connsiteY56" fmla="*/ 263219 h 263218"/>
                <a:gd name="connsiteX57" fmla="*/ 1156856 w 1537400"/>
                <a:gd name="connsiteY57" fmla="*/ 263219 h 263218"/>
                <a:gd name="connsiteX58" fmla="*/ 1184446 w 1537400"/>
                <a:gd name="connsiteY58" fmla="*/ 263219 h 263218"/>
                <a:gd name="connsiteX59" fmla="*/ 1212035 w 1537400"/>
                <a:gd name="connsiteY59" fmla="*/ 263219 h 263218"/>
                <a:gd name="connsiteX60" fmla="*/ 1239625 w 1537400"/>
                <a:gd name="connsiteY60" fmla="*/ 263219 h 263218"/>
                <a:gd name="connsiteX61" fmla="*/ 1266263 w 1537400"/>
                <a:gd name="connsiteY61" fmla="*/ 263219 h 263218"/>
                <a:gd name="connsiteX62" fmla="*/ 1293852 w 1537400"/>
                <a:gd name="connsiteY62" fmla="*/ 263219 h 263218"/>
                <a:gd name="connsiteX63" fmla="*/ 1321442 w 1537400"/>
                <a:gd name="connsiteY63" fmla="*/ 263219 h 263218"/>
                <a:gd name="connsiteX64" fmla="*/ 1349031 w 1537400"/>
                <a:gd name="connsiteY64" fmla="*/ 263219 h 263218"/>
                <a:gd name="connsiteX65" fmla="*/ 1376621 w 1537400"/>
                <a:gd name="connsiteY65" fmla="*/ 263219 h 263218"/>
                <a:gd name="connsiteX66" fmla="*/ 1400405 w 1537400"/>
                <a:gd name="connsiteY66" fmla="*/ 263219 h 263218"/>
                <a:gd name="connsiteX67" fmla="*/ 1427994 w 1537400"/>
                <a:gd name="connsiteY67" fmla="*/ 263219 h 263218"/>
                <a:gd name="connsiteX68" fmla="*/ 1454633 w 1537400"/>
                <a:gd name="connsiteY68" fmla="*/ 263219 h 263218"/>
                <a:gd name="connsiteX69" fmla="*/ 1482222 w 1537400"/>
                <a:gd name="connsiteY69" fmla="*/ 263219 h 263218"/>
                <a:gd name="connsiteX70" fmla="*/ 1486027 w 1537400"/>
                <a:gd name="connsiteY70" fmla="*/ 263219 h 263218"/>
                <a:gd name="connsiteX71" fmla="*/ 1537401 w 1537400"/>
                <a:gd name="connsiteY71" fmla="*/ 263219 h 26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1537400" h="263218">
                  <a:moveTo>
                    <a:pt x="0" y="0"/>
                  </a:moveTo>
                  <a:lnTo>
                    <a:pt x="27589" y="0"/>
                  </a:lnTo>
                  <a:lnTo>
                    <a:pt x="55179" y="0"/>
                  </a:lnTo>
                  <a:lnTo>
                    <a:pt x="82768" y="0"/>
                  </a:lnTo>
                  <a:lnTo>
                    <a:pt x="110358" y="0"/>
                  </a:lnTo>
                  <a:lnTo>
                    <a:pt x="136996" y="0"/>
                  </a:lnTo>
                  <a:lnTo>
                    <a:pt x="161732" y="0"/>
                  </a:lnTo>
                  <a:lnTo>
                    <a:pt x="188370" y="0"/>
                  </a:lnTo>
                  <a:lnTo>
                    <a:pt x="226424" y="0"/>
                  </a:lnTo>
                  <a:lnTo>
                    <a:pt x="226424" y="13303"/>
                  </a:lnTo>
                  <a:lnTo>
                    <a:pt x="226424" y="37060"/>
                  </a:lnTo>
                  <a:lnTo>
                    <a:pt x="226424" y="57965"/>
                  </a:lnTo>
                  <a:lnTo>
                    <a:pt x="226424" y="78871"/>
                  </a:lnTo>
                  <a:lnTo>
                    <a:pt x="226424" y="102627"/>
                  </a:lnTo>
                  <a:lnTo>
                    <a:pt x="226424" y="119731"/>
                  </a:lnTo>
                  <a:lnTo>
                    <a:pt x="229278" y="119731"/>
                  </a:lnTo>
                  <a:lnTo>
                    <a:pt x="256868" y="119731"/>
                  </a:lnTo>
                  <a:lnTo>
                    <a:pt x="284457" y="119731"/>
                  </a:lnTo>
                  <a:lnTo>
                    <a:pt x="312047" y="119731"/>
                  </a:lnTo>
                  <a:lnTo>
                    <a:pt x="335831" y="119731"/>
                  </a:lnTo>
                  <a:lnTo>
                    <a:pt x="363420" y="119731"/>
                  </a:lnTo>
                  <a:lnTo>
                    <a:pt x="391010" y="119731"/>
                  </a:lnTo>
                  <a:lnTo>
                    <a:pt x="442383" y="119731"/>
                  </a:lnTo>
                  <a:lnTo>
                    <a:pt x="445237" y="119731"/>
                  </a:lnTo>
                  <a:lnTo>
                    <a:pt x="472827" y="119731"/>
                  </a:lnTo>
                  <a:lnTo>
                    <a:pt x="500416" y="119731"/>
                  </a:lnTo>
                  <a:lnTo>
                    <a:pt x="527055" y="119731"/>
                  </a:lnTo>
                  <a:lnTo>
                    <a:pt x="554644" y="119731"/>
                  </a:lnTo>
                  <a:lnTo>
                    <a:pt x="575574" y="119731"/>
                  </a:lnTo>
                  <a:lnTo>
                    <a:pt x="575574" y="143488"/>
                  </a:lnTo>
                  <a:lnTo>
                    <a:pt x="575574" y="167244"/>
                  </a:lnTo>
                  <a:lnTo>
                    <a:pt x="575574" y="188149"/>
                  </a:lnTo>
                  <a:lnTo>
                    <a:pt x="575574" y="208104"/>
                  </a:lnTo>
                  <a:lnTo>
                    <a:pt x="575574" y="231861"/>
                  </a:lnTo>
                  <a:lnTo>
                    <a:pt x="575574" y="252766"/>
                  </a:lnTo>
                  <a:lnTo>
                    <a:pt x="575574" y="263219"/>
                  </a:lnTo>
                  <a:lnTo>
                    <a:pt x="588893" y="263219"/>
                  </a:lnTo>
                  <a:lnTo>
                    <a:pt x="616483" y="263219"/>
                  </a:lnTo>
                  <a:lnTo>
                    <a:pt x="644072" y="263219"/>
                  </a:lnTo>
                  <a:lnTo>
                    <a:pt x="671662" y="263219"/>
                  </a:lnTo>
                  <a:lnTo>
                    <a:pt x="698300" y="263219"/>
                  </a:lnTo>
                  <a:lnTo>
                    <a:pt x="725889" y="263219"/>
                  </a:lnTo>
                  <a:lnTo>
                    <a:pt x="753479" y="263219"/>
                  </a:lnTo>
                  <a:lnTo>
                    <a:pt x="781068" y="263219"/>
                  </a:lnTo>
                  <a:lnTo>
                    <a:pt x="807706" y="263219"/>
                  </a:lnTo>
                  <a:lnTo>
                    <a:pt x="832442" y="263219"/>
                  </a:lnTo>
                  <a:lnTo>
                    <a:pt x="859080" y="263219"/>
                  </a:lnTo>
                  <a:lnTo>
                    <a:pt x="886669" y="263219"/>
                  </a:lnTo>
                  <a:lnTo>
                    <a:pt x="914259" y="263219"/>
                  </a:lnTo>
                  <a:lnTo>
                    <a:pt x="941848" y="263219"/>
                  </a:lnTo>
                  <a:lnTo>
                    <a:pt x="969438" y="263219"/>
                  </a:lnTo>
                  <a:lnTo>
                    <a:pt x="996076" y="263219"/>
                  </a:lnTo>
                  <a:lnTo>
                    <a:pt x="1023665" y="263219"/>
                  </a:lnTo>
                  <a:lnTo>
                    <a:pt x="1051255" y="263219"/>
                  </a:lnTo>
                  <a:lnTo>
                    <a:pt x="1078845" y="263219"/>
                  </a:lnTo>
                  <a:lnTo>
                    <a:pt x="1102629" y="263219"/>
                  </a:lnTo>
                  <a:lnTo>
                    <a:pt x="1130218" y="263219"/>
                  </a:lnTo>
                  <a:lnTo>
                    <a:pt x="1156856" y="263219"/>
                  </a:lnTo>
                  <a:lnTo>
                    <a:pt x="1184446" y="263219"/>
                  </a:lnTo>
                  <a:lnTo>
                    <a:pt x="1212035" y="263219"/>
                  </a:lnTo>
                  <a:lnTo>
                    <a:pt x="1239625" y="263219"/>
                  </a:lnTo>
                  <a:lnTo>
                    <a:pt x="1266263" y="263219"/>
                  </a:lnTo>
                  <a:lnTo>
                    <a:pt x="1293852" y="263219"/>
                  </a:lnTo>
                  <a:lnTo>
                    <a:pt x="1321442" y="263219"/>
                  </a:lnTo>
                  <a:lnTo>
                    <a:pt x="1349031" y="263219"/>
                  </a:lnTo>
                  <a:lnTo>
                    <a:pt x="1376621" y="263219"/>
                  </a:lnTo>
                  <a:lnTo>
                    <a:pt x="1400405" y="263219"/>
                  </a:lnTo>
                  <a:lnTo>
                    <a:pt x="1427994" y="263219"/>
                  </a:lnTo>
                  <a:lnTo>
                    <a:pt x="1454633" y="263219"/>
                  </a:lnTo>
                  <a:lnTo>
                    <a:pt x="1482222" y="263219"/>
                  </a:lnTo>
                  <a:lnTo>
                    <a:pt x="1486027" y="263219"/>
                  </a:lnTo>
                  <a:lnTo>
                    <a:pt x="1537401" y="263219"/>
                  </a:lnTo>
                </a:path>
              </a:pathLst>
            </a:custGeom>
            <a:noFill/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89" name="Freeform 158">
              <a:extLst>
                <a:ext uri="{FF2B5EF4-FFF2-40B4-BE49-F238E27FC236}">
                  <a16:creationId xmlns:a16="http://schemas.microsoft.com/office/drawing/2014/main" id="{F9BC303B-0EBD-0A38-47BD-7196CD09550C}"/>
                </a:ext>
              </a:extLst>
            </p:cNvPr>
            <p:cNvSpPr/>
            <p:nvPr/>
          </p:nvSpPr>
          <p:spPr>
            <a:xfrm>
              <a:off x="6687712" y="2740297"/>
              <a:ext cx="26638" cy="9502"/>
            </a:xfrm>
            <a:custGeom>
              <a:avLst/>
              <a:gdLst>
                <a:gd name="connsiteX0" fmla="*/ 0 w 26638"/>
                <a:gd name="connsiteY0" fmla="*/ 0 h 9502"/>
                <a:gd name="connsiteX1" fmla="*/ 26638 w 26638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38" h="9502">
                  <a:moveTo>
                    <a:pt x="0" y="0"/>
                  </a:moveTo>
                  <a:lnTo>
                    <a:pt x="26638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90" name="Freeform 159">
              <a:extLst>
                <a:ext uri="{FF2B5EF4-FFF2-40B4-BE49-F238E27FC236}">
                  <a16:creationId xmlns:a16="http://schemas.microsoft.com/office/drawing/2014/main" id="{60B1B58A-0831-C30C-D015-0A3D1C55F572}"/>
                </a:ext>
              </a:extLst>
            </p:cNvPr>
            <p:cNvSpPr/>
            <p:nvPr/>
          </p:nvSpPr>
          <p:spPr>
            <a:xfrm>
              <a:off x="7806514" y="2883785"/>
              <a:ext cx="2854" cy="9502"/>
            </a:xfrm>
            <a:custGeom>
              <a:avLst/>
              <a:gdLst>
                <a:gd name="connsiteX0" fmla="*/ 0 w 2854"/>
                <a:gd name="connsiteY0" fmla="*/ 0 h 9502"/>
                <a:gd name="connsiteX1" fmla="*/ 2854 w 2854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4" h="9502">
                  <a:moveTo>
                    <a:pt x="0" y="0"/>
                  </a:moveTo>
                  <a:lnTo>
                    <a:pt x="2854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91" name="Freeform 160">
              <a:extLst>
                <a:ext uri="{FF2B5EF4-FFF2-40B4-BE49-F238E27FC236}">
                  <a16:creationId xmlns:a16="http://schemas.microsoft.com/office/drawing/2014/main" id="{692DF445-25F9-CB75-DAC1-0BC8638ED421}"/>
                </a:ext>
              </a:extLst>
            </p:cNvPr>
            <p:cNvSpPr/>
            <p:nvPr/>
          </p:nvSpPr>
          <p:spPr>
            <a:xfrm>
              <a:off x="7809368" y="2883785"/>
              <a:ext cx="239743" cy="9502"/>
            </a:xfrm>
            <a:custGeom>
              <a:avLst/>
              <a:gdLst>
                <a:gd name="connsiteX0" fmla="*/ 0 w 239743"/>
                <a:gd name="connsiteY0" fmla="*/ 0 h 9502"/>
                <a:gd name="connsiteX1" fmla="*/ 24735 w 239743"/>
                <a:gd name="connsiteY1" fmla="*/ 0 h 9502"/>
                <a:gd name="connsiteX2" fmla="*/ 51374 w 239743"/>
                <a:gd name="connsiteY2" fmla="*/ 0 h 9502"/>
                <a:gd name="connsiteX3" fmla="*/ 78963 w 239743"/>
                <a:gd name="connsiteY3" fmla="*/ 0 h 9502"/>
                <a:gd name="connsiteX4" fmla="*/ 89428 w 239743"/>
                <a:gd name="connsiteY4" fmla="*/ 0 h 9502"/>
                <a:gd name="connsiteX5" fmla="*/ 140802 w 239743"/>
                <a:gd name="connsiteY5" fmla="*/ 0 h 9502"/>
                <a:gd name="connsiteX6" fmla="*/ 157926 w 239743"/>
                <a:gd name="connsiteY6" fmla="*/ 0 h 9502"/>
                <a:gd name="connsiteX7" fmla="*/ 185516 w 239743"/>
                <a:gd name="connsiteY7" fmla="*/ 0 h 9502"/>
                <a:gd name="connsiteX8" fmla="*/ 213105 w 239743"/>
                <a:gd name="connsiteY8" fmla="*/ 0 h 9502"/>
                <a:gd name="connsiteX9" fmla="*/ 239743 w 239743"/>
                <a:gd name="connsiteY9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9743" h="9502">
                  <a:moveTo>
                    <a:pt x="0" y="0"/>
                  </a:moveTo>
                  <a:lnTo>
                    <a:pt x="24735" y="0"/>
                  </a:lnTo>
                  <a:lnTo>
                    <a:pt x="51374" y="0"/>
                  </a:lnTo>
                  <a:lnTo>
                    <a:pt x="78963" y="0"/>
                  </a:lnTo>
                  <a:lnTo>
                    <a:pt x="89428" y="0"/>
                  </a:lnTo>
                  <a:lnTo>
                    <a:pt x="140802" y="0"/>
                  </a:lnTo>
                  <a:lnTo>
                    <a:pt x="157926" y="0"/>
                  </a:lnTo>
                  <a:lnTo>
                    <a:pt x="185516" y="0"/>
                  </a:lnTo>
                  <a:lnTo>
                    <a:pt x="213105" y="0"/>
                  </a:lnTo>
                  <a:lnTo>
                    <a:pt x="239743" y="0"/>
                  </a:lnTo>
                </a:path>
              </a:pathLst>
            </a:custGeom>
            <a:noFill/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92" name="Freeform 161">
              <a:extLst>
                <a:ext uri="{FF2B5EF4-FFF2-40B4-BE49-F238E27FC236}">
                  <a16:creationId xmlns:a16="http://schemas.microsoft.com/office/drawing/2014/main" id="{7A324DAA-F01C-5D1C-FD88-A8626D76B0B9}"/>
                </a:ext>
              </a:extLst>
            </p:cNvPr>
            <p:cNvSpPr/>
            <p:nvPr/>
          </p:nvSpPr>
          <p:spPr>
            <a:xfrm>
              <a:off x="7915920" y="2883785"/>
              <a:ext cx="10464" cy="9502"/>
            </a:xfrm>
            <a:custGeom>
              <a:avLst/>
              <a:gdLst>
                <a:gd name="connsiteX0" fmla="*/ 0 w 10464"/>
                <a:gd name="connsiteY0" fmla="*/ 0 h 9502"/>
                <a:gd name="connsiteX1" fmla="*/ 10465 w 10464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464" h="9502">
                  <a:moveTo>
                    <a:pt x="0" y="0"/>
                  </a:moveTo>
                  <a:lnTo>
                    <a:pt x="10465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93" name="Freeform 162">
              <a:extLst>
                <a:ext uri="{FF2B5EF4-FFF2-40B4-BE49-F238E27FC236}">
                  <a16:creationId xmlns:a16="http://schemas.microsoft.com/office/drawing/2014/main" id="{E3405B29-68AB-BCB9-1AA7-4F0D849153F1}"/>
                </a:ext>
              </a:extLst>
            </p:cNvPr>
            <p:cNvSpPr/>
            <p:nvPr/>
          </p:nvSpPr>
          <p:spPr>
            <a:xfrm>
              <a:off x="7926385" y="2883785"/>
              <a:ext cx="17124" cy="9502"/>
            </a:xfrm>
            <a:custGeom>
              <a:avLst/>
              <a:gdLst>
                <a:gd name="connsiteX0" fmla="*/ 0 w 17124"/>
                <a:gd name="connsiteY0" fmla="*/ 0 h 9502"/>
                <a:gd name="connsiteX1" fmla="*/ 17124 w 17124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24" h="9502">
                  <a:moveTo>
                    <a:pt x="0" y="0"/>
                  </a:moveTo>
                  <a:lnTo>
                    <a:pt x="17124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94" name="Freeform 163">
              <a:extLst>
                <a:ext uri="{FF2B5EF4-FFF2-40B4-BE49-F238E27FC236}">
                  <a16:creationId xmlns:a16="http://schemas.microsoft.com/office/drawing/2014/main" id="{F58E0DB0-AE59-D88C-26FA-B7674084DBC7}"/>
                </a:ext>
              </a:extLst>
            </p:cNvPr>
            <p:cNvSpPr/>
            <p:nvPr/>
          </p:nvSpPr>
          <p:spPr>
            <a:xfrm>
              <a:off x="8076700" y="2883785"/>
              <a:ext cx="27589" cy="9502"/>
            </a:xfrm>
            <a:custGeom>
              <a:avLst/>
              <a:gdLst>
                <a:gd name="connsiteX0" fmla="*/ 0 w 27589"/>
                <a:gd name="connsiteY0" fmla="*/ 0 h 9502"/>
                <a:gd name="connsiteX1" fmla="*/ 27589 w 27589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89" h="9502">
                  <a:moveTo>
                    <a:pt x="0" y="0"/>
                  </a:moveTo>
                  <a:lnTo>
                    <a:pt x="27589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95" name="Freeform 164">
              <a:extLst>
                <a:ext uri="{FF2B5EF4-FFF2-40B4-BE49-F238E27FC236}">
                  <a16:creationId xmlns:a16="http://schemas.microsoft.com/office/drawing/2014/main" id="{4C85BAAC-9CE6-B153-081F-B641F4184E76}"/>
                </a:ext>
              </a:extLst>
            </p:cNvPr>
            <p:cNvSpPr/>
            <p:nvPr/>
          </p:nvSpPr>
          <p:spPr>
            <a:xfrm>
              <a:off x="5499461" y="1304472"/>
              <a:ext cx="68498" cy="113079"/>
            </a:xfrm>
            <a:custGeom>
              <a:avLst/>
              <a:gdLst>
                <a:gd name="connsiteX0" fmla="*/ 0 w 68498"/>
                <a:gd name="connsiteY0" fmla="*/ 0 h 113079"/>
                <a:gd name="connsiteX1" fmla="*/ 51373 w 68498"/>
                <a:gd name="connsiteY1" fmla="*/ 0 h 113079"/>
                <a:gd name="connsiteX2" fmla="*/ 58033 w 68498"/>
                <a:gd name="connsiteY2" fmla="*/ 0 h 113079"/>
                <a:gd name="connsiteX3" fmla="*/ 58033 w 68498"/>
                <a:gd name="connsiteY3" fmla="*/ 17104 h 113079"/>
                <a:gd name="connsiteX4" fmla="*/ 58033 w 68498"/>
                <a:gd name="connsiteY4" fmla="*/ 38010 h 113079"/>
                <a:gd name="connsiteX5" fmla="*/ 58033 w 68498"/>
                <a:gd name="connsiteY5" fmla="*/ 57965 h 113079"/>
                <a:gd name="connsiteX6" fmla="*/ 68498 w 68498"/>
                <a:gd name="connsiteY6" fmla="*/ 57965 h 113079"/>
                <a:gd name="connsiteX7" fmla="*/ 68498 w 68498"/>
                <a:gd name="connsiteY7" fmla="*/ 72219 h 113079"/>
                <a:gd name="connsiteX8" fmla="*/ 68498 w 68498"/>
                <a:gd name="connsiteY8" fmla="*/ 92174 h 113079"/>
                <a:gd name="connsiteX9" fmla="*/ 68498 w 68498"/>
                <a:gd name="connsiteY9" fmla="*/ 113080 h 11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498" h="113079">
                  <a:moveTo>
                    <a:pt x="0" y="0"/>
                  </a:moveTo>
                  <a:lnTo>
                    <a:pt x="51373" y="0"/>
                  </a:lnTo>
                  <a:lnTo>
                    <a:pt x="58033" y="0"/>
                  </a:lnTo>
                  <a:lnTo>
                    <a:pt x="58033" y="17104"/>
                  </a:lnTo>
                  <a:lnTo>
                    <a:pt x="58033" y="38010"/>
                  </a:lnTo>
                  <a:lnTo>
                    <a:pt x="58033" y="57965"/>
                  </a:lnTo>
                  <a:lnTo>
                    <a:pt x="68498" y="57965"/>
                  </a:lnTo>
                  <a:lnTo>
                    <a:pt x="68498" y="72219"/>
                  </a:lnTo>
                  <a:lnTo>
                    <a:pt x="68498" y="92174"/>
                  </a:lnTo>
                  <a:lnTo>
                    <a:pt x="68498" y="113080"/>
                  </a:lnTo>
                </a:path>
              </a:pathLst>
            </a:custGeom>
            <a:noFill/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96" name="Freeform 165">
              <a:extLst>
                <a:ext uri="{FF2B5EF4-FFF2-40B4-BE49-F238E27FC236}">
                  <a16:creationId xmlns:a16="http://schemas.microsoft.com/office/drawing/2014/main" id="{C79A6F5C-715A-3E05-DD20-64E4005CBE04}"/>
                </a:ext>
              </a:extLst>
            </p:cNvPr>
            <p:cNvSpPr/>
            <p:nvPr/>
          </p:nvSpPr>
          <p:spPr>
            <a:xfrm>
              <a:off x="5527050" y="1280716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97" name="Freeform 166">
              <a:extLst>
                <a:ext uri="{FF2B5EF4-FFF2-40B4-BE49-F238E27FC236}">
                  <a16:creationId xmlns:a16="http://schemas.microsoft.com/office/drawing/2014/main" id="{0DC6376E-DD18-9078-F8CC-9620BDD48FB9}"/>
                </a:ext>
              </a:extLst>
            </p:cNvPr>
            <p:cNvSpPr/>
            <p:nvPr/>
          </p:nvSpPr>
          <p:spPr>
            <a:xfrm>
              <a:off x="5554640" y="1417552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98" name="Freeform 167">
              <a:extLst>
                <a:ext uri="{FF2B5EF4-FFF2-40B4-BE49-F238E27FC236}">
                  <a16:creationId xmlns:a16="http://schemas.microsoft.com/office/drawing/2014/main" id="{409C2279-D982-C385-4557-F83066D27129}"/>
                </a:ext>
              </a:extLst>
            </p:cNvPr>
            <p:cNvSpPr/>
            <p:nvPr/>
          </p:nvSpPr>
          <p:spPr>
            <a:xfrm>
              <a:off x="5582229" y="1393796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199" name="Freeform 168">
              <a:extLst>
                <a:ext uri="{FF2B5EF4-FFF2-40B4-BE49-F238E27FC236}">
                  <a16:creationId xmlns:a16="http://schemas.microsoft.com/office/drawing/2014/main" id="{F9BB771C-2407-59F0-E8E8-352A3582208D}"/>
                </a:ext>
              </a:extLst>
            </p:cNvPr>
            <p:cNvSpPr/>
            <p:nvPr/>
          </p:nvSpPr>
          <p:spPr>
            <a:xfrm>
              <a:off x="5574618" y="1417552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00" name="Freeform 169">
              <a:extLst>
                <a:ext uri="{FF2B5EF4-FFF2-40B4-BE49-F238E27FC236}">
                  <a16:creationId xmlns:a16="http://schemas.microsoft.com/office/drawing/2014/main" id="{4E7F78ED-36EB-A8C8-90A1-B29D6A068608}"/>
                </a:ext>
              </a:extLst>
            </p:cNvPr>
            <p:cNvSpPr/>
            <p:nvPr/>
          </p:nvSpPr>
          <p:spPr>
            <a:xfrm>
              <a:off x="5602208" y="1393796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01" name="Freeform 170">
              <a:extLst>
                <a:ext uri="{FF2B5EF4-FFF2-40B4-BE49-F238E27FC236}">
                  <a16:creationId xmlns:a16="http://schemas.microsoft.com/office/drawing/2014/main" id="{7B2EF301-45A5-EEF0-1CBA-D4F367A89F17}"/>
                </a:ext>
              </a:extLst>
            </p:cNvPr>
            <p:cNvSpPr/>
            <p:nvPr/>
          </p:nvSpPr>
          <p:spPr>
            <a:xfrm>
              <a:off x="5582229" y="1479318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02" name="Freeform 171">
              <a:extLst>
                <a:ext uri="{FF2B5EF4-FFF2-40B4-BE49-F238E27FC236}">
                  <a16:creationId xmlns:a16="http://schemas.microsoft.com/office/drawing/2014/main" id="{BC278BDE-4F74-95A8-495A-2FE5E89ADB9C}"/>
                </a:ext>
              </a:extLst>
            </p:cNvPr>
            <p:cNvSpPr/>
            <p:nvPr/>
          </p:nvSpPr>
          <p:spPr>
            <a:xfrm>
              <a:off x="5608867" y="1454611"/>
              <a:ext cx="7610" cy="51313"/>
            </a:xfrm>
            <a:custGeom>
              <a:avLst/>
              <a:gdLst>
                <a:gd name="connsiteX0" fmla="*/ 0 w 7610"/>
                <a:gd name="connsiteY0" fmla="*/ 0 h 51313"/>
                <a:gd name="connsiteX1" fmla="*/ 0 w 7610"/>
                <a:gd name="connsiteY1" fmla="*/ 51313 h 51313"/>
                <a:gd name="connsiteX2" fmla="*/ 7611 w 7610"/>
                <a:gd name="connsiteY2" fmla="*/ 51313 h 51313"/>
                <a:gd name="connsiteX3" fmla="*/ 7611 w 7610"/>
                <a:gd name="connsiteY3" fmla="*/ 0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0" h="51313">
                  <a:moveTo>
                    <a:pt x="0" y="0"/>
                  </a:moveTo>
                  <a:lnTo>
                    <a:pt x="0" y="51313"/>
                  </a:lnTo>
                  <a:lnTo>
                    <a:pt x="7611" y="51313"/>
                  </a:lnTo>
                  <a:lnTo>
                    <a:pt x="7611" y="0"/>
                  </a:lnTo>
                </a:path>
              </a:pathLst>
            </a:custGeom>
            <a:noFill/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03" name="Freeform 172">
              <a:extLst>
                <a:ext uri="{FF2B5EF4-FFF2-40B4-BE49-F238E27FC236}">
                  <a16:creationId xmlns:a16="http://schemas.microsoft.com/office/drawing/2014/main" id="{F9D7858B-0BA9-4A44-E4A9-90773304BD93}"/>
                </a:ext>
              </a:extLst>
            </p:cNvPr>
            <p:cNvSpPr/>
            <p:nvPr/>
          </p:nvSpPr>
          <p:spPr>
            <a:xfrm>
              <a:off x="5588889" y="1479318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04" name="Freeform 173">
              <a:extLst>
                <a:ext uri="{FF2B5EF4-FFF2-40B4-BE49-F238E27FC236}">
                  <a16:creationId xmlns:a16="http://schemas.microsoft.com/office/drawing/2014/main" id="{CD68BCA4-6AFD-DDD9-F638-2DD023CB39ED}"/>
                </a:ext>
              </a:extLst>
            </p:cNvPr>
            <p:cNvSpPr/>
            <p:nvPr/>
          </p:nvSpPr>
          <p:spPr>
            <a:xfrm>
              <a:off x="5591743" y="1479318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05" name="Freeform 174">
              <a:extLst>
                <a:ext uri="{FF2B5EF4-FFF2-40B4-BE49-F238E27FC236}">
                  <a16:creationId xmlns:a16="http://schemas.microsoft.com/office/drawing/2014/main" id="{CEA2D7A8-D024-3352-7126-AF973F7994AA}"/>
                </a:ext>
              </a:extLst>
            </p:cNvPr>
            <p:cNvSpPr/>
            <p:nvPr/>
          </p:nvSpPr>
          <p:spPr>
            <a:xfrm>
              <a:off x="5599354" y="1608552"/>
              <a:ext cx="51373" cy="9502"/>
            </a:xfrm>
            <a:custGeom>
              <a:avLst/>
              <a:gdLst>
                <a:gd name="connsiteX0" fmla="*/ 51373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3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06" name="Freeform 175">
              <a:extLst>
                <a:ext uri="{FF2B5EF4-FFF2-40B4-BE49-F238E27FC236}">
                  <a16:creationId xmlns:a16="http://schemas.microsoft.com/office/drawing/2014/main" id="{8F4F55B4-8B7C-96B8-4D73-D7785FB600DB}"/>
                </a:ext>
              </a:extLst>
            </p:cNvPr>
            <p:cNvSpPr/>
            <p:nvPr/>
          </p:nvSpPr>
          <p:spPr>
            <a:xfrm>
              <a:off x="5625992" y="1584796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07" name="Freeform 176">
              <a:extLst>
                <a:ext uri="{FF2B5EF4-FFF2-40B4-BE49-F238E27FC236}">
                  <a16:creationId xmlns:a16="http://schemas.microsoft.com/office/drawing/2014/main" id="{BBBA12A3-845A-4087-8BBD-985548947B69}"/>
                </a:ext>
              </a:extLst>
            </p:cNvPr>
            <p:cNvSpPr/>
            <p:nvPr/>
          </p:nvSpPr>
          <p:spPr>
            <a:xfrm>
              <a:off x="5725885" y="1813805"/>
              <a:ext cx="88476" cy="55114"/>
            </a:xfrm>
            <a:custGeom>
              <a:avLst/>
              <a:gdLst>
                <a:gd name="connsiteX0" fmla="*/ 0 w 88476"/>
                <a:gd name="connsiteY0" fmla="*/ 0 h 55114"/>
                <a:gd name="connsiteX1" fmla="*/ 51373 w 88476"/>
                <a:gd name="connsiteY1" fmla="*/ 0 h 55114"/>
                <a:gd name="connsiteX2" fmla="*/ 88477 w 88476"/>
                <a:gd name="connsiteY2" fmla="*/ 0 h 55114"/>
                <a:gd name="connsiteX3" fmla="*/ 88477 w 88476"/>
                <a:gd name="connsiteY3" fmla="*/ 55114 h 55114"/>
                <a:gd name="connsiteX4" fmla="*/ 88477 w 88476"/>
                <a:gd name="connsiteY4" fmla="*/ 30408 h 55114"/>
                <a:gd name="connsiteX5" fmla="*/ 88477 w 88476"/>
                <a:gd name="connsiteY5" fmla="*/ 0 h 55114"/>
                <a:gd name="connsiteX6" fmla="*/ 88477 w 88476"/>
                <a:gd name="connsiteY6" fmla="*/ 10453 h 55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476" h="55114">
                  <a:moveTo>
                    <a:pt x="0" y="0"/>
                  </a:moveTo>
                  <a:lnTo>
                    <a:pt x="51373" y="0"/>
                  </a:lnTo>
                  <a:lnTo>
                    <a:pt x="88477" y="0"/>
                  </a:lnTo>
                  <a:lnTo>
                    <a:pt x="88477" y="55114"/>
                  </a:lnTo>
                  <a:lnTo>
                    <a:pt x="88477" y="30408"/>
                  </a:lnTo>
                  <a:lnTo>
                    <a:pt x="88477" y="0"/>
                  </a:lnTo>
                  <a:lnTo>
                    <a:pt x="88477" y="10453"/>
                  </a:lnTo>
                </a:path>
              </a:pathLst>
            </a:custGeom>
            <a:noFill/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08" name="Freeform 177">
              <a:extLst>
                <a:ext uri="{FF2B5EF4-FFF2-40B4-BE49-F238E27FC236}">
                  <a16:creationId xmlns:a16="http://schemas.microsoft.com/office/drawing/2014/main" id="{92A651E5-6D73-496C-6E38-A3EFDEBC8D23}"/>
                </a:ext>
              </a:extLst>
            </p:cNvPr>
            <p:cNvSpPr/>
            <p:nvPr/>
          </p:nvSpPr>
          <p:spPr>
            <a:xfrm>
              <a:off x="5752523" y="1790049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09" name="Freeform 178">
              <a:extLst>
                <a:ext uri="{FF2B5EF4-FFF2-40B4-BE49-F238E27FC236}">
                  <a16:creationId xmlns:a16="http://schemas.microsoft.com/office/drawing/2014/main" id="{6EF0B83D-5B3A-53D3-4B16-BC645CEF86E1}"/>
                </a:ext>
              </a:extLst>
            </p:cNvPr>
            <p:cNvSpPr/>
            <p:nvPr/>
          </p:nvSpPr>
          <p:spPr>
            <a:xfrm>
              <a:off x="5794383" y="1886024"/>
              <a:ext cx="51373" cy="9502"/>
            </a:xfrm>
            <a:custGeom>
              <a:avLst/>
              <a:gdLst>
                <a:gd name="connsiteX0" fmla="*/ 51373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3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10" name="Freeform 179">
              <a:extLst>
                <a:ext uri="{FF2B5EF4-FFF2-40B4-BE49-F238E27FC236}">
                  <a16:creationId xmlns:a16="http://schemas.microsoft.com/office/drawing/2014/main" id="{1857B6CE-12C8-FED3-2A40-951526779EF7}"/>
                </a:ext>
              </a:extLst>
            </p:cNvPr>
            <p:cNvSpPr/>
            <p:nvPr/>
          </p:nvSpPr>
          <p:spPr>
            <a:xfrm>
              <a:off x="5821021" y="1861318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11" name="Freeform 180">
              <a:extLst>
                <a:ext uri="{FF2B5EF4-FFF2-40B4-BE49-F238E27FC236}">
                  <a16:creationId xmlns:a16="http://schemas.microsoft.com/office/drawing/2014/main" id="{B373CCCD-DA78-5409-D2E5-8B62A13A04BA}"/>
                </a:ext>
              </a:extLst>
            </p:cNvPr>
            <p:cNvSpPr/>
            <p:nvPr/>
          </p:nvSpPr>
          <p:spPr>
            <a:xfrm>
              <a:off x="5985607" y="2333591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12" name="Freeform 181">
              <a:extLst>
                <a:ext uri="{FF2B5EF4-FFF2-40B4-BE49-F238E27FC236}">
                  <a16:creationId xmlns:a16="http://schemas.microsoft.com/office/drawing/2014/main" id="{D054CE2F-5AA7-19CB-B775-755BAAB5E636}"/>
                </a:ext>
              </a:extLst>
            </p:cNvPr>
            <p:cNvSpPr/>
            <p:nvPr/>
          </p:nvSpPr>
          <p:spPr>
            <a:xfrm>
              <a:off x="6013196" y="2309835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13" name="Freeform 182">
              <a:extLst>
                <a:ext uri="{FF2B5EF4-FFF2-40B4-BE49-F238E27FC236}">
                  <a16:creationId xmlns:a16="http://schemas.microsoft.com/office/drawing/2014/main" id="{D8D433E8-B96A-EB8F-10E1-3CA179A083AE}"/>
                </a:ext>
              </a:extLst>
            </p:cNvPr>
            <p:cNvSpPr/>
            <p:nvPr/>
          </p:nvSpPr>
          <p:spPr>
            <a:xfrm>
              <a:off x="6135922" y="2387755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14" name="Freeform 183">
              <a:extLst>
                <a:ext uri="{FF2B5EF4-FFF2-40B4-BE49-F238E27FC236}">
                  <a16:creationId xmlns:a16="http://schemas.microsoft.com/office/drawing/2014/main" id="{69220CA4-4B27-118A-0C70-5DDC55FF0B56}"/>
                </a:ext>
              </a:extLst>
            </p:cNvPr>
            <p:cNvSpPr/>
            <p:nvPr/>
          </p:nvSpPr>
          <p:spPr>
            <a:xfrm>
              <a:off x="6191101" y="2412462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15" name="Freeform 184">
              <a:extLst>
                <a:ext uri="{FF2B5EF4-FFF2-40B4-BE49-F238E27FC236}">
                  <a16:creationId xmlns:a16="http://schemas.microsoft.com/office/drawing/2014/main" id="{08E521D6-7CEA-B116-15C7-983E97E7F314}"/>
                </a:ext>
              </a:extLst>
            </p:cNvPr>
            <p:cNvSpPr/>
            <p:nvPr/>
          </p:nvSpPr>
          <p:spPr>
            <a:xfrm>
              <a:off x="6218690" y="2387755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16" name="Freeform 185">
              <a:extLst>
                <a:ext uri="{FF2B5EF4-FFF2-40B4-BE49-F238E27FC236}">
                  <a16:creationId xmlns:a16="http://schemas.microsoft.com/office/drawing/2014/main" id="{3C9FC776-4E0F-6B32-1480-50CFB36C482C}"/>
                </a:ext>
              </a:extLst>
            </p:cNvPr>
            <p:cNvSpPr/>
            <p:nvPr/>
          </p:nvSpPr>
          <p:spPr>
            <a:xfrm>
              <a:off x="6235815" y="2412462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17" name="Freeform 186">
              <a:extLst>
                <a:ext uri="{FF2B5EF4-FFF2-40B4-BE49-F238E27FC236}">
                  <a16:creationId xmlns:a16="http://schemas.microsoft.com/office/drawing/2014/main" id="{1BFBBBEF-2181-974A-BDD6-0ACB74A1A023}"/>
                </a:ext>
              </a:extLst>
            </p:cNvPr>
            <p:cNvSpPr/>
            <p:nvPr/>
          </p:nvSpPr>
          <p:spPr>
            <a:xfrm>
              <a:off x="6263404" y="2387755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18" name="Freeform 187">
              <a:extLst>
                <a:ext uri="{FF2B5EF4-FFF2-40B4-BE49-F238E27FC236}">
                  <a16:creationId xmlns:a16="http://schemas.microsoft.com/office/drawing/2014/main" id="{16C915DC-2A66-83D1-507D-F41BD593E6C0}"/>
                </a:ext>
              </a:extLst>
            </p:cNvPr>
            <p:cNvSpPr/>
            <p:nvPr/>
          </p:nvSpPr>
          <p:spPr>
            <a:xfrm>
              <a:off x="6259599" y="2620566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19" name="Freeform 188">
              <a:extLst>
                <a:ext uri="{FF2B5EF4-FFF2-40B4-BE49-F238E27FC236}">
                  <a16:creationId xmlns:a16="http://schemas.microsoft.com/office/drawing/2014/main" id="{A69C78A1-8BB4-861E-76EC-7E266B7080C2}"/>
                </a:ext>
              </a:extLst>
            </p:cNvPr>
            <p:cNvSpPr/>
            <p:nvPr/>
          </p:nvSpPr>
          <p:spPr>
            <a:xfrm>
              <a:off x="6287189" y="2596810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20" name="Freeform 189">
              <a:extLst>
                <a:ext uri="{FF2B5EF4-FFF2-40B4-BE49-F238E27FC236}">
                  <a16:creationId xmlns:a16="http://schemas.microsoft.com/office/drawing/2014/main" id="{3526D181-405C-9305-0545-D85472C91607}"/>
                </a:ext>
              </a:extLst>
            </p:cNvPr>
            <p:cNvSpPr/>
            <p:nvPr/>
          </p:nvSpPr>
          <p:spPr>
            <a:xfrm>
              <a:off x="6714350" y="2716541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21" name="Freeform 190">
              <a:extLst>
                <a:ext uri="{FF2B5EF4-FFF2-40B4-BE49-F238E27FC236}">
                  <a16:creationId xmlns:a16="http://schemas.microsoft.com/office/drawing/2014/main" id="{098C83D1-62A7-1AF7-9AFC-FDB8A5D481E0}"/>
                </a:ext>
              </a:extLst>
            </p:cNvPr>
            <p:cNvSpPr/>
            <p:nvPr/>
          </p:nvSpPr>
          <p:spPr>
            <a:xfrm>
              <a:off x="7809368" y="2860029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22" name="Freeform 191">
              <a:extLst>
                <a:ext uri="{FF2B5EF4-FFF2-40B4-BE49-F238E27FC236}">
                  <a16:creationId xmlns:a16="http://schemas.microsoft.com/office/drawing/2014/main" id="{9A5256C2-789F-74E9-E266-0DA216F2AD4C}"/>
                </a:ext>
              </a:extLst>
            </p:cNvPr>
            <p:cNvSpPr/>
            <p:nvPr/>
          </p:nvSpPr>
          <p:spPr>
            <a:xfrm>
              <a:off x="7926385" y="2860029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23" name="Freeform 192">
              <a:extLst>
                <a:ext uri="{FF2B5EF4-FFF2-40B4-BE49-F238E27FC236}">
                  <a16:creationId xmlns:a16="http://schemas.microsoft.com/office/drawing/2014/main" id="{023DB37F-2D64-F2EC-AF2E-4E5230271140}"/>
                </a:ext>
              </a:extLst>
            </p:cNvPr>
            <p:cNvSpPr/>
            <p:nvPr/>
          </p:nvSpPr>
          <p:spPr>
            <a:xfrm>
              <a:off x="8042451" y="2883785"/>
              <a:ext cx="51373" cy="9502"/>
            </a:xfrm>
            <a:custGeom>
              <a:avLst/>
              <a:gdLst>
                <a:gd name="connsiteX0" fmla="*/ 51374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4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24" name="Freeform 193">
              <a:extLst>
                <a:ext uri="{FF2B5EF4-FFF2-40B4-BE49-F238E27FC236}">
                  <a16:creationId xmlns:a16="http://schemas.microsoft.com/office/drawing/2014/main" id="{31139CDC-6FFE-A292-4B00-32D37D9B753F}"/>
                </a:ext>
              </a:extLst>
            </p:cNvPr>
            <p:cNvSpPr/>
            <p:nvPr/>
          </p:nvSpPr>
          <p:spPr>
            <a:xfrm>
              <a:off x="8070041" y="2860029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25" name="Freeform 194">
              <a:extLst>
                <a:ext uri="{FF2B5EF4-FFF2-40B4-BE49-F238E27FC236}">
                  <a16:creationId xmlns:a16="http://schemas.microsoft.com/office/drawing/2014/main" id="{D851110D-32E4-7EDD-984E-47B492BDBE0F}"/>
                </a:ext>
              </a:extLst>
            </p:cNvPr>
            <p:cNvSpPr/>
            <p:nvPr/>
          </p:nvSpPr>
          <p:spPr>
            <a:xfrm>
              <a:off x="8087165" y="2883785"/>
              <a:ext cx="51373" cy="9502"/>
            </a:xfrm>
            <a:custGeom>
              <a:avLst/>
              <a:gdLst>
                <a:gd name="connsiteX0" fmla="*/ 51373 w 51373"/>
                <a:gd name="connsiteY0" fmla="*/ 0 h 9502"/>
                <a:gd name="connsiteX1" fmla="*/ 0 w 51373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373" h="9502">
                  <a:moveTo>
                    <a:pt x="51373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26" name="Freeform 195">
              <a:extLst>
                <a:ext uri="{FF2B5EF4-FFF2-40B4-BE49-F238E27FC236}">
                  <a16:creationId xmlns:a16="http://schemas.microsoft.com/office/drawing/2014/main" id="{615E14EB-BAEC-C409-86F3-93ACF55F141F}"/>
                </a:ext>
              </a:extLst>
            </p:cNvPr>
            <p:cNvSpPr/>
            <p:nvPr/>
          </p:nvSpPr>
          <p:spPr>
            <a:xfrm>
              <a:off x="8114755" y="2860029"/>
              <a:ext cx="9513" cy="51313"/>
            </a:xfrm>
            <a:custGeom>
              <a:avLst/>
              <a:gdLst>
                <a:gd name="connsiteX0" fmla="*/ 0 w 9513"/>
                <a:gd name="connsiteY0" fmla="*/ 0 h 51313"/>
                <a:gd name="connsiteX1" fmla="*/ 0 w 9513"/>
                <a:gd name="connsiteY1" fmla="*/ 51313 h 51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1313">
                  <a:moveTo>
                    <a:pt x="0" y="0"/>
                  </a:moveTo>
                  <a:lnTo>
                    <a:pt x="0" y="51313"/>
                  </a:lnTo>
                </a:path>
              </a:pathLst>
            </a:custGeom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27" name="Freeform 196">
              <a:extLst>
                <a:ext uri="{FF2B5EF4-FFF2-40B4-BE49-F238E27FC236}">
                  <a16:creationId xmlns:a16="http://schemas.microsoft.com/office/drawing/2014/main" id="{D89525F5-737D-EAB3-7037-F5BCADC8A50F}"/>
                </a:ext>
              </a:extLst>
            </p:cNvPr>
            <p:cNvSpPr/>
            <p:nvPr/>
          </p:nvSpPr>
          <p:spPr>
            <a:xfrm>
              <a:off x="5497525" y="3449849"/>
              <a:ext cx="3183257" cy="9502"/>
            </a:xfrm>
            <a:custGeom>
              <a:avLst/>
              <a:gdLst>
                <a:gd name="connsiteX0" fmla="*/ 3183257 w 3183257"/>
                <a:gd name="connsiteY0" fmla="*/ 0 h 9502"/>
                <a:gd name="connsiteX1" fmla="*/ 0 w 3183257"/>
                <a:gd name="connsiteY1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83257" h="9502">
                  <a:moveTo>
                    <a:pt x="3183257" y="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29" name="Freeform 198">
              <a:extLst>
                <a:ext uri="{FF2B5EF4-FFF2-40B4-BE49-F238E27FC236}">
                  <a16:creationId xmlns:a16="http://schemas.microsoft.com/office/drawing/2014/main" id="{DD3D1378-5731-D09A-DDBF-FBDB09E11CBA}"/>
                </a:ext>
              </a:extLst>
            </p:cNvPr>
            <p:cNvSpPr/>
            <p:nvPr/>
          </p:nvSpPr>
          <p:spPr>
            <a:xfrm>
              <a:off x="5567959" y="1417552"/>
              <a:ext cx="40908" cy="54164"/>
            </a:xfrm>
            <a:custGeom>
              <a:avLst/>
              <a:gdLst>
                <a:gd name="connsiteX0" fmla="*/ 0 w 40908"/>
                <a:gd name="connsiteY0" fmla="*/ 0 h 54164"/>
                <a:gd name="connsiteX1" fmla="*/ 40909 w 40908"/>
                <a:gd name="connsiteY1" fmla="*/ 0 h 54164"/>
                <a:gd name="connsiteX2" fmla="*/ 40909 w 40908"/>
                <a:gd name="connsiteY2" fmla="*/ 34209 h 54164"/>
                <a:gd name="connsiteX3" fmla="*/ 40909 w 40908"/>
                <a:gd name="connsiteY3" fmla="*/ 54164 h 54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08" h="54164">
                  <a:moveTo>
                    <a:pt x="0" y="0"/>
                  </a:moveTo>
                  <a:lnTo>
                    <a:pt x="40909" y="0"/>
                  </a:lnTo>
                  <a:lnTo>
                    <a:pt x="40909" y="34209"/>
                  </a:lnTo>
                  <a:lnTo>
                    <a:pt x="40909" y="54164"/>
                  </a:lnTo>
                </a:path>
              </a:pathLst>
            </a:custGeom>
            <a:noFill/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30" name="Freeform 199">
              <a:extLst>
                <a:ext uri="{FF2B5EF4-FFF2-40B4-BE49-F238E27FC236}">
                  <a16:creationId xmlns:a16="http://schemas.microsoft.com/office/drawing/2014/main" id="{4E441BDC-9818-4EA2-9292-82C43928737E}"/>
                </a:ext>
              </a:extLst>
            </p:cNvPr>
            <p:cNvSpPr/>
            <p:nvPr/>
          </p:nvSpPr>
          <p:spPr>
            <a:xfrm>
              <a:off x="5814362" y="1868920"/>
              <a:ext cx="6659" cy="9502"/>
            </a:xfrm>
            <a:custGeom>
              <a:avLst/>
              <a:gdLst>
                <a:gd name="connsiteX0" fmla="*/ 0 w 6659"/>
                <a:gd name="connsiteY0" fmla="*/ 0 h 9502"/>
                <a:gd name="connsiteX1" fmla="*/ 6660 w 6659"/>
                <a:gd name="connsiteY1" fmla="*/ 0 h 9502"/>
                <a:gd name="connsiteX2" fmla="*/ 0 w 6659"/>
                <a:gd name="connsiteY2" fmla="*/ 0 h 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59" h="9502">
                  <a:moveTo>
                    <a:pt x="0" y="0"/>
                  </a:moveTo>
                  <a:lnTo>
                    <a:pt x="666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31" name="Freeform 200">
              <a:extLst>
                <a:ext uri="{FF2B5EF4-FFF2-40B4-BE49-F238E27FC236}">
                  <a16:creationId xmlns:a16="http://schemas.microsoft.com/office/drawing/2014/main" id="{600881F5-E1B1-EC6A-8AB9-7743514B358E}"/>
                </a:ext>
              </a:extLst>
            </p:cNvPr>
            <p:cNvSpPr/>
            <p:nvPr/>
          </p:nvSpPr>
          <p:spPr>
            <a:xfrm>
              <a:off x="5814362" y="1813805"/>
              <a:ext cx="6659" cy="55114"/>
            </a:xfrm>
            <a:custGeom>
              <a:avLst/>
              <a:gdLst>
                <a:gd name="connsiteX0" fmla="*/ 0 w 6659"/>
                <a:gd name="connsiteY0" fmla="*/ 0 h 55114"/>
                <a:gd name="connsiteX1" fmla="*/ 0 w 6659"/>
                <a:gd name="connsiteY1" fmla="*/ 55114 h 55114"/>
                <a:gd name="connsiteX2" fmla="*/ 6660 w 6659"/>
                <a:gd name="connsiteY2" fmla="*/ 55114 h 55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59" h="55114">
                  <a:moveTo>
                    <a:pt x="0" y="0"/>
                  </a:moveTo>
                  <a:lnTo>
                    <a:pt x="0" y="55114"/>
                  </a:lnTo>
                  <a:lnTo>
                    <a:pt x="6660" y="55114"/>
                  </a:lnTo>
                </a:path>
              </a:pathLst>
            </a:custGeom>
            <a:noFill/>
            <a:ln w="12700" cap="flat">
              <a:solidFill>
                <a:srgbClr val="009FE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Franklin Gothic Book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6DC4F362-491D-D46E-EF02-84833D353F43}"/>
                </a:ext>
              </a:extLst>
            </p:cNvPr>
            <p:cNvSpPr txBox="1"/>
            <p:nvPr/>
          </p:nvSpPr>
          <p:spPr>
            <a:xfrm>
              <a:off x="5235235" y="1220501"/>
              <a:ext cx="326051" cy="196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100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2EB50909-E3FD-08E2-DCAA-20E6AE94E88D}"/>
                </a:ext>
              </a:extLst>
            </p:cNvPr>
            <p:cNvSpPr txBox="1"/>
            <p:nvPr/>
          </p:nvSpPr>
          <p:spPr>
            <a:xfrm>
              <a:off x="5297753" y="1437235"/>
              <a:ext cx="263534" cy="196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90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F5B09382-8420-F258-B1BD-9F872408E6DE}"/>
                </a:ext>
              </a:extLst>
            </p:cNvPr>
            <p:cNvSpPr txBox="1"/>
            <p:nvPr/>
          </p:nvSpPr>
          <p:spPr>
            <a:xfrm>
              <a:off x="5297753" y="1647860"/>
              <a:ext cx="263534" cy="196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80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BC5A7AE5-28C7-5A28-4EA4-67C999090600}"/>
                </a:ext>
              </a:extLst>
            </p:cNvPr>
            <p:cNvSpPr txBox="1"/>
            <p:nvPr/>
          </p:nvSpPr>
          <p:spPr>
            <a:xfrm>
              <a:off x="5297753" y="1864853"/>
              <a:ext cx="263534" cy="196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70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0D963EF6-85DA-0604-CD5C-CBC2C29826EA}"/>
                </a:ext>
              </a:extLst>
            </p:cNvPr>
            <p:cNvSpPr txBox="1"/>
            <p:nvPr/>
          </p:nvSpPr>
          <p:spPr>
            <a:xfrm>
              <a:off x="5297753" y="2087542"/>
              <a:ext cx="263534" cy="196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60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7BBCC848-9F9A-18F1-63FC-ECF58EFEF5FF}"/>
                </a:ext>
              </a:extLst>
            </p:cNvPr>
            <p:cNvSpPr txBox="1"/>
            <p:nvPr/>
          </p:nvSpPr>
          <p:spPr>
            <a:xfrm>
              <a:off x="5225937" y="2285446"/>
              <a:ext cx="335348" cy="19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50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7AE569FB-C119-F302-DB65-46A3E4488E1A}"/>
                </a:ext>
              </a:extLst>
            </p:cNvPr>
            <p:cNvSpPr txBox="1"/>
            <p:nvPr/>
          </p:nvSpPr>
          <p:spPr>
            <a:xfrm>
              <a:off x="5225937" y="2509259"/>
              <a:ext cx="335348" cy="19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40</a:t>
              </a: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B5F213E1-6E02-7EE6-46C0-66A75E2BC1D3}"/>
                </a:ext>
              </a:extLst>
            </p:cNvPr>
            <p:cNvSpPr txBox="1"/>
            <p:nvPr/>
          </p:nvSpPr>
          <p:spPr>
            <a:xfrm>
              <a:off x="5225937" y="2725109"/>
              <a:ext cx="335348" cy="19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30</a:t>
              </a: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98017352-6813-778E-D5AE-4DA95323308C}"/>
                </a:ext>
              </a:extLst>
            </p:cNvPr>
            <p:cNvSpPr txBox="1"/>
            <p:nvPr/>
          </p:nvSpPr>
          <p:spPr>
            <a:xfrm>
              <a:off x="5225937" y="2944032"/>
              <a:ext cx="335348" cy="19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20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07DF17F6-B733-C860-033B-F9DAD331E0AD}"/>
                </a:ext>
              </a:extLst>
            </p:cNvPr>
            <p:cNvSpPr txBox="1"/>
            <p:nvPr/>
          </p:nvSpPr>
          <p:spPr>
            <a:xfrm>
              <a:off x="5225937" y="3163257"/>
              <a:ext cx="335348" cy="19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10</a:t>
              </a: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CC1763F7-99BB-6CE9-29E0-5E4A72D7AE9B}"/>
                </a:ext>
              </a:extLst>
            </p:cNvPr>
            <p:cNvSpPr txBox="1"/>
            <p:nvPr/>
          </p:nvSpPr>
          <p:spPr>
            <a:xfrm>
              <a:off x="5225937" y="3362512"/>
              <a:ext cx="335348" cy="196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>
                  <a:latin typeface="Franklin Gothic Book"/>
                </a:rPr>
                <a:t>0</a:t>
              </a: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2EBDC993-916A-45E8-9E80-FE143151BCCB}"/>
                </a:ext>
              </a:extLst>
            </p:cNvPr>
            <p:cNvSpPr txBox="1"/>
            <p:nvPr/>
          </p:nvSpPr>
          <p:spPr>
            <a:xfrm rot="16200000">
              <a:off x="4474007" y="2187035"/>
              <a:ext cx="146304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Franklin Gothic Book"/>
                </a:rPr>
                <a:t>Progression-free survival, %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6A7E16E8-1711-55ED-2668-404E0B127BE5}"/>
                </a:ext>
              </a:extLst>
            </p:cNvPr>
            <p:cNvSpPr txBox="1"/>
            <p:nvPr/>
          </p:nvSpPr>
          <p:spPr>
            <a:xfrm>
              <a:off x="5359583" y="3461981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0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39</a:t>
              </a: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CB064020-5AB6-241F-A855-D4CF10E8C6F7}"/>
                </a:ext>
              </a:extLst>
            </p:cNvPr>
            <p:cNvSpPr txBox="1"/>
            <p:nvPr/>
          </p:nvSpPr>
          <p:spPr>
            <a:xfrm>
              <a:off x="5582161" y="3461981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4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24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FFB31BEE-E1F0-2B56-A3B3-81F4BA1B50B4}"/>
                </a:ext>
              </a:extLst>
            </p:cNvPr>
            <p:cNvSpPr txBox="1"/>
            <p:nvPr/>
          </p:nvSpPr>
          <p:spPr>
            <a:xfrm>
              <a:off x="5799423" y="3461981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8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16</a:t>
              </a: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CE5D96ED-7712-C759-CFEA-634FB1255DFA}"/>
                </a:ext>
              </a:extLst>
            </p:cNvPr>
            <p:cNvSpPr txBox="1"/>
            <p:nvPr/>
          </p:nvSpPr>
          <p:spPr>
            <a:xfrm>
              <a:off x="6016682" y="3461981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12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12</a:t>
              </a: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FDC6CD76-91D7-E0DE-9486-96673FC422C8}"/>
                </a:ext>
              </a:extLst>
            </p:cNvPr>
            <p:cNvSpPr txBox="1"/>
            <p:nvPr/>
          </p:nvSpPr>
          <p:spPr>
            <a:xfrm>
              <a:off x="6233943" y="3461981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16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7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A013A7C7-DAE1-3264-30AA-0A76ADD4D363}"/>
                </a:ext>
              </a:extLst>
            </p:cNvPr>
            <p:cNvSpPr txBox="1"/>
            <p:nvPr/>
          </p:nvSpPr>
          <p:spPr>
            <a:xfrm>
              <a:off x="6456521" y="3461981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20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6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CBEB5A9E-425F-FF15-B620-2CABB8F2329D}"/>
                </a:ext>
              </a:extLst>
            </p:cNvPr>
            <p:cNvSpPr txBox="1"/>
            <p:nvPr/>
          </p:nvSpPr>
          <p:spPr>
            <a:xfrm>
              <a:off x="6663149" y="3461981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24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5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72707733-A9C8-4EAF-9C18-CB004F04D2EB}"/>
                </a:ext>
              </a:extLst>
            </p:cNvPr>
            <p:cNvSpPr txBox="1"/>
            <p:nvPr/>
          </p:nvSpPr>
          <p:spPr>
            <a:xfrm>
              <a:off x="6885725" y="3461981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28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4</a:t>
              </a: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C63A0078-5C4C-2C63-E1FD-126D83725C2F}"/>
                </a:ext>
              </a:extLst>
            </p:cNvPr>
            <p:cNvSpPr txBox="1"/>
            <p:nvPr/>
          </p:nvSpPr>
          <p:spPr>
            <a:xfrm>
              <a:off x="7102986" y="3461981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32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4</a:t>
              </a: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5951F5E5-38EF-1088-5E77-EBCE24FBD7C5}"/>
                </a:ext>
              </a:extLst>
            </p:cNvPr>
            <p:cNvSpPr txBox="1"/>
            <p:nvPr/>
          </p:nvSpPr>
          <p:spPr>
            <a:xfrm>
              <a:off x="7320247" y="3461981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36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4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481CCA2B-1E3B-45D9-C6C7-17C49FCA424B}"/>
                </a:ext>
              </a:extLst>
            </p:cNvPr>
            <p:cNvSpPr txBox="1"/>
            <p:nvPr/>
          </p:nvSpPr>
          <p:spPr>
            <a:xfrm>
              <a:off x="7537509" y="3461981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40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4</a:t>
              </a: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8F392F7D-87BA-B053-0510-D66AEDA6C3C2}"/>
                </a:ext>
              </a:extLst>
            </p:cNvPr>
            <p:cNvSpPr txBox="1"/>
            <p:nvPr/>
          </p:nvSpPr>
          <p:spPr>
            <a:xfrm>
              <a:off x="7749455" y="3461981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44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3</a:t>
              </a: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7D6E144F-621C-BE8B-E02A-BE1B515DC449}"/>
                </a:ext>
              </a:extLst>
            </p:cNvPr>
            <p:cNvSpPr txBox="1"/>
            <p:nvPr/>
          </p:nvSpPr>
          <p:spPr>
            <a:xfrm>
              <a:off x="7972030" y="3461981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48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0</a:t>
              </a: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37F48681-E6C4-570C-C57E-CBCFE1763E71}"/>
                </a:ext>
              </a:extLst>
            </p:cNvPr>
            <p:cNvSpPr txBox="1"/>
            <p:nvPr/>
          </p:nvSpPr>
          <p:spPr>
            <a:xfrm>
              <a:off x="8189291" y="3461981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52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0</a:t>
              </a: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82C0226C-4BA8-475A-5025-DC71C2DB9EE0}"/>
                </a:ext>
              </a:extLst>
            </p:cNvPr>
            <p:cNvSpPr txBox="1"/>
            <p:nvPr/>
          </p:nvSpPr>
          <p:spPr>
            <a:xfrm>
              <a:off x="8404238" y="3461981"/>
              <a:ext cx="33534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Franklin Gothic Book"/>
                </a:rPr>
                <a:t>56</a:t>
              </a: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endParaRPr lang="en-US" sz="1100" dirty="0">
                <a:latin typeface="Franklin Gothic Book"/>
              </a:endParaRPr>
            </a:p>
            <a:p>
              <a:pPr algn="ctr"/>
              <a:r>
                <a:rPr lang="en-US" sz="1100" dirty="0">
                  <a:latin typeface="Franklin Gothic Book"/>
                </a:rPr>
                <a:t>0</a:t>
              </a: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47C6179A-BE40-2A32-32E7-20A61A11E762}"/>
                </a:ext>
              </a:extLst>
            </p:cNvPr>
            <p:cNvSpPr txBox="1"/>
            <p:nvPr/>
          </p:nvSpPr>
          <p:spPr>
            <a:xfrm>
              <a:off x="6480905" y="3599901"/>
              <a:ext cx="1324616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Franklin Gothic Book"/>
                </a:rPr>
                <a:t>Months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493FA877-7713-16E8-4217-E92976149896}"/>
                </a:ext>
              </a:extLst>
            </p:cNvPr>
            <p:cNvSpPr txBox="1"/>
            <p:nvPr/>
          </p:nvSpPr>
          <p:spPr>
            <a:xfrm>
              <a:off x="4728588" y="3645377"/>
              <a:ext cx="132461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Franklin Gothic Book"/>
                </a:rPr>
                <a:t>No. at risk</a:t>
              </a:r>
            </a:p>
            <a:p>
              <a:r>
                <a:rPr lang="en-US" sz="1100" dirty="0">
                  <a:latin typeface="Franklin Gothic Book"/>
                </a:rPr>
                <a:t>Previously treated</a:t>
              </a:r>
            </a:p>
          </p:txBody>
        </p:sp>
      </p:grpSp>
      <p:sp>
        <p:nvSpPr>
          <p:cNvPr id="7" name="Freeform 202">
            <a:extLst>
              <a:ext uri="{FF2B5EF4-FFF2-40B4-BE49-F238E27FC236}">
                <a16:creationId xmlns:a16="http://schemas.microsoft.com/office/drawing/2014/main" id="{DA0C10D6-DB70-F3B3-F37A-41A4D6F5165A}"/>
              </a:ext>
            </a:extLst>
          </p:cNvPr>
          <p:cNvSpPr/>
          <p:nvPr/>
        </p:nvSpPr>
        <p:spPr>
          <a:xfrm rot="5400000">
            <a:off x="1394297" y="3853762"/>
            <a:ext cx="1950720" cy="12669"/>
          </a:xfrm>
          <a:custGeom>
            <a:avLst/>
            <a:gdLst>
              <a:gd name="connsiteX0" fmla="*/ 0 w 3182305"/>
              <a:gd name="connsiteY0" fmla="*/ 0 h 9502"/>
              <a:gd name="connsiteX1" fmla="*/ 3182306 w 3182305"/>
              <a:gd name="connsiteY1" fmla="*/ 0 h 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82305" h="9502">
                <a:moveTo>
                  <a:pt x="0" y="0"/>
                </a:moveTo>
                <a:lnTo>
                  <a:pt x="3182306" y="0"/>
                </a:lnTo>
              </a:path>
            </a:pathLst>
          </a:custGeom>
          <a:ln w="12700" cap="flat">
            <a:solidFill>
              <a:srgbClr val="808080"/>
            </a:solidFill>
            <a:custDash>
              <a:ds d="0" sp="0"/>
              <a:ds d="82500" sp="82500"/>
            </a:custDash>
            <a:miter/>
          </a:ln>
        </p:spPr>
        <p:txBody>
          <a:bodyPr rtlCol="0" anchor="ctr"/>
          <a:lstStyle/>
          <a:p>
            <a:endParaRPr lang="en-US" sz="4000">
              <a:latin typeface="Franklin Gothic Book"/>
            </a:endParaRPr>
          </a:p>
        </p:txBody>
      </p:sp>
      <p:sp>
        <p:nvSpPr>
          <p:cNvPr id="10" name="Freeform 202">
            <a:extLst>
              <a:ext uri="{FF2B5EF4-FFF2-40B4-BE49-F238E27FC236}">
                <a16:creationId xmlns:a16="http://schemas.microsoft.com/office/drawing/2014/main" id="{1BB1D838-0C78-E8D4-8AC4-D7C9A23EDDE6}"/>
              </a:ext>
            </a:extLst>
          </p:cNvPr>
          <p:cNvSpPr/>
          <p:nvPr/>
        </p:nvSpPr>
        <p:spPr>
          <a:xfrm rot="5400000">
            <a:off x="3503887" y="4195495"/>
            <a:ext cx="1219200" cy="12669"/>
          </a:xfrm>
          <a:custGeom>
            <a:avLst/>
            <a:gdLst>
              <a:gd name="connsiteX0" fmla="*/ 0 w 3182305"/>
              <a:gd name="connsiteY0" fmla="*/ 0 h 9502"/>
              <a:gd name="connsiteX1" fmla="*/ 3182306 w 3182305"/>
              <a:gd name="connsiteY1" fmla="*/ 0 h 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82305" h="9502">
                <a:moveTo>
                  <a:pt x="0" y="0"/>
                </a:moveTo>
                <a:lnTo>
                  <a:pt x="3182306" y="0"/>
                </a:lnTo>
              </a:path>
            </a:pathLst>
          </a:custGeom>
          <a:ln w="12700" cap="flat">
            <a:solidFill>
              <a:srgbClr val="808080"/>
            </a:solidFill>
            <a:custDash>
              <a:ds d="0" sp="0"/>
              <a:ds d="82500" sp="82500"/>
            </a:custDash>
            <a:miter/>
          </a:ln>
        </p:spPr>
        <p:txBody>
          <a:bodyPr rtlCol="0" anchor="ctr"/>
          <a:lstStyle/>
          <a:p>
            <a:endParaRPr lang="en-US" sz="4000">
              <a:latin typeface="Franklin Gothic Book"/>
            </a:endParaRPr>
          </a:p>
        </p:txBody>
      </p:sp>
      <p:sp>
        <p:nvSpPr>
          <p:cNvPr id="24" name="Freeform 202">
            <a:extLst>
              <a:ext uri="{FF2B5EF4-FFF2-40B4-BE49-F238E27FC236}">
                <a16:creationId xmlns:a16="http://schemas.microsoft.com/office/drawing/2014/main" id="{6ACC6FF9-3477-A10F-417C-768874FC03A2}"/>
              </a:ext>
            </a:extLst>
          </p:cNvPr>
          <p:cNvSpPr/>
          <p:nvPr/>
        </p:nvSpPr>
        <p:spPr>
          <a:xfrm rot="5400000">
            <a:off x="2449085" y="4032951"/>
            <a:ext cx="1584960" cy="12669"/>
          </a:xfrm>
          <a:custGeom>
            <a:avLst/>
            <a:gdLst>
              <a:gd name="connsiteX0" fmla="*/ 0 w 3182305"/>
              <a:gd name="connsiteY0" fmla="*/ 0 h 9502"/>
              <a:gd name="connsiteX1" fmla="*/ 3182306 w 3182305"/>
              <a:gd name="connsiteY1" fmla="*/ 0 h 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82305" h="9502">
                <a:moveTo>
                  <a:pt x="0" y="0"/>
                </a:moveTo>
                <a:lnTo>
                  <a:pt x="3182306" y="0"/>
                </a:lnTo>
              </a:path>
            </a:pathLst>
          </a:custGeom>
          <a:ln w="12700" cap="flat">
            <a:solidFill>
              <a:srgbClr val="808080"/>
            </a:solidFill>
            <a:custDash>
              <a:ds d="0" sp="0"/>
              <a:ds d="82500" sp="82500"/>
            </a:custDash>
            <a:miter/>
          </a:ln>
        </p:spPr>
        <p:txBody>
          <a:bodyPr rtlCol="0" anchor="ctr"/>
          <a:lstStyle/>
          <a:p>
            <a:endParaRPr lang="en-US" sz="4000">
              <a:latin typeface="Franklin Gothic Book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B8EF84-B73A-46B4-CD05-CAA11359EB8D}"/>
              </a:ext>
            </a:extLst>
          </p:cNvPr>
          <p:cNvSpPr txBox="1"/>
          <p:nvPr/>
        </p:nvSpPr>
        <p:spPr>
          <a:xfrm>
            <a:off x="2131208" y="2637011"/>
            <a:ext cx="487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Franklin Gothic Book"/>
              </a:rPr>
              <a:t>68%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26727A-1C68-350B-46CC-3D8D8CCCA488}"/>
              </a:ext>
            </a:extLst>
          </p:cNvPr>
          <p:cNvSpPr txBox="1"/>
          <p:nvPr/>
        </p:nvSpPr>
        <p:spPr>
          <a:xfrm>
            <a:off x="3039553" y="2999438"/>
            <a:ext cx="487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Franklin Gothic Book"/>
              </a:rPr>
              <a:t>56%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F499EE-401E-3D30-1D78-F5A1F2B65FDF}"/>
              </a:ext>
            </a:extLst>
          </p:cNvPr>
          <p:cNvSpPr txBox="1"/>
          <p:nvPr/>
        </p:nvSpPr>
        <p:spPr>
          <a:xfrm>
            <a:off x="3875108" y="3352766"/>
            <a:ext cx="487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Franklin Gothic Book"/>
              </a:rPr>
              <a:t>43%</a:t>
            </a:r>
          </a:p>
        </p:txBody>
      </p:sp>
      <p:sp>
        <p:nvSpPr>
          <p:cNvPr id="31" name="Freeform 202">
            <a:extLst>
              <a:ext uri="{FF2B5EF4-FFF2-40B4-BE49-F238E27FC236}">
                <a16:creationId xmlns:a16="http://schemas.microsoft.com/office/drawing/2014/main" id="{32CECD78-CFF4-AEB4-821F-4EF98544DAB5}"/>
              </a:ext>
            </a:extLst>
          </p:cNvPr>
          <p:cNvSpPr/>
          <p:nvPr/>
        </p:nvSpPr>
        <p:spPr>
          <a:xfrm rot="5400000">
            <a:off x="7531060" y="4114743"/>
            <a:ext cx="1402080" cy="12669"/>
          </a:xfrm>
          <a:custGeom>
            <a:avLst/>
            <a:gdLst>
              <a:gd name="connsiteX0" fmla="*/ 0 w 3182305"/>
              <a:gd name="connsiteY0" fmla="*/ 0 h 9502"/>
              <a:gd name="connsiteX1" fmla="*/ 3182306 w 3182305"/>
              <a:gd name="connsiteY1" fmla="*/ 0 h 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82305" h="9502">
                <a:moveTo>
                  <a:pt x="0" y="0"/>
                </a:moveTo>
                <a:lnTo>
                  <a:pt x="3182306" y="0"/>
                </a:lnTo>
              </a:path>
            </a:pathLst>
          </a:custGeom>
          <a:ln w="12700" cap="flat">
            <a:solidFill>
              <a:srgbClr val="808080"/>
            </a:solidFill>
            <a:custDash>
              <a:ds d="0" sp="0"/>
              <a:ds d="82500" sp="82500"/>
            </a:custDash>
            <a:miter/>
          </a:ln>
        </p:spPr>
        <p:txBody>
          <a:bodyPr rtlCol="0" anchor="ctr"/>
          <a:lstStyle/>
          <a:p>
            <a:endParaRPr lang="en-US" sz="4000">
              <a:latin typeface="Franklin Gothic Book"/>
            </a:endParaRPr>
          </a:p>
        </p:txBody>
      </p:sp>
      <p:sp>
        <p:nvSpPr>
          <p:cNvPr id="32" name="Freeform 202">
            <a:extLst>
              <a:ext uri="{FF2B5EF4-FFF2-40B4-BE49-F238E27FC236}">
                <a16:creationId xmlns:a16="http://schemas.microsoft.com/office/drawing/2014/main" id="{B52C25C0-24AE-9025-0D9E-CB3FA5C85FAC}"/>
              </a:ext>
            </a:extLst>
          </p:cNvPr>
          <p:cNvSpPr/>
          <p:nvPr/>
        </p:nvSpPr>
        <p:spPr>
          <a:xfrm rot="5400000">
            <a:off x="9610169" y="4414167"/>
            <a:ext cx="731520" cy="12669"/>
          </a:xfrm>
          <a:custGeom>
            <a:avLst/>
            <a:gdLst>
              <a:gd name="connsiteX0" fmla="*/ 0 w 3182305"/>
              <a:gd name="connsiteY0" fmla="*/ 0 h 9502"/>
              <a:gd name="connsiteX1" fmla="*/ 3182306 w 3182305"/>
              <a:gd name="connsiteY1" fmla="*/ 0 h 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82305" h="9502">
                <a:moveTo>
                  <a:pt x="0" y="0"/>
                </a:moveTo>
                <a:lnTo>
                  <a:pt x="3182306" y="0"/>
                </a:lnTo>
              </a:path>
            </a:pathLst>
          </a:custGeom>
          <a:ln w="12700" cap="flat">
            <a:solidFill>
              <a:srgbClr val="808080"/>
            </a:solidFill>
            <a:custDash>
              <a:ds d="0" sp="0"/>
              <a:ds d="82500" sp="82500"/>
            </a:custDash>
            <a:miter/>
          </a:ln>
        </p:spPr>
        <p:txBody>
          <a:bodyPr rtlCol="0" anchor="ctr"/>
          <a:lstStyle/>
          <a:p>
            <a:endParaRPr lang="en-US" sz="4000">
              <a:latin typeface="Franklin Gothic Book"/>
            </a:endParaRPr>
          </a:p>
        </p:txBody>
      </p:sp>
      <p:sp>
        <p:nvSpPr>
          <p:cNvPr id="33" name="Freeform 202">
            <a:extLst>
              <a:ext uri="{FF2B5EF4-FFF2-40B4-BE49-F238E27FC236}">
                <a16:creationId xmlns:a16="http://schemas.microsoft.com/office/drawing/2014/main" id="{9D69300D-EEDA-B360-8B52-6CD1D7FE4767}"/>
              </a:ext>
            </a:extLst>
          </p:cNvPr>
          <p:cNvSpPr/>
          <p:nvPr/>
        </p:nvSpPr>
        <p:spPr>
          <a:xfrm rot="5400000">
            <a:off x="8611779" y="4336242"/>
            <a:ext cx="975360" cy="12669"/>
          </a:xfrm>
          <a:custGeom>
            <a:avLst/>
            <a:gdLst>
              <a:gd name="connsiteX0" fmla="*/ 0 w 3182305"/>
              <a:gd name="connsiteY0" fmla="*/ 0 h 9502"/>
              <a:gd name="connsiteX1" fmla="*/ 3182306 w 3182305"/>
              <a:gd name="connsiteY1" fmla="*/ 0 h 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82305" h="9502">
                <a:moveTo>
                  <a:pt x="0" y="0"/>
                </a:moveTo>
                <a:lnTo>
                  <a:pt x="3182306" y="0"/>
                </a:lnTo>
              </a:path>
            </a:pathLst>
          </a:custGeom>
          <a:ln w="12700" cap="flat">
            <a:solidFill>
              <a:srgbClr val="808080"/>
            </a:solidFill>
            <a:custDash>
              <a:ds d="0" sp="0"/>
              <a:ds d="82500" sp="82500"/>
            </a:custDash>
            <a:miter/>
          </a:ln>
        </p:spPr>
        <p:txBody>
          <a:bodyPr rtlCol="0" anchor="ctr"/>
          <a:lstStyle/>
          <a:p>
            <a:endParaRPr lang="en-US" sz="4000">
              <a:latin typeface="Franklin Gothic Book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AA5927D-9DAB-A903-23E7-0FEFDB7499BD}"/>
              </a:ext>
            </a:extLst>
          </p:cNvPr>
          <p:cNvSpPr txBox="1"/>
          <p:nvPr/>
        </p:nvSpPr>
        <p:spPr>
          <a:xfrm>
            <a:off x="7993651" y="3176862"/>
            <a:ext cx="487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Franklin Gothic Book"/>
              </a:rPr>
              <a:t>48%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F130F3E-9201-8A4D-59FA-DFF7A5DF1A58}"/>
              </a:ext>
            </a:extLst>
          </p:cNvPr>
          <p:cNvSpPr txBox="1"/>
          <p:nvPr/>
        </p:nvSpPr>
        <p:spPr>
          <a:xfrm>
            <a:off x="8870151" y="3612078"/>
            <a:ext cx="487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Franklin Gothic Book"/>
              </a:rPr>
              <a:t>33%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A65FFCD-9F3C-1754-FEB2-818F0BF2FB4D}"/>
              </a:ext>
            </a:extLst>
          </p:cNvPr>
          <p:cNvSpPr txBox="1"/>
          <p:nvPr/>
        </p:nvSpPr>
        <p:spPr>
          <a:xfrm>
            <a:off x="9737551" y="3810729"/>
            <a:ext cx="487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Franklin Gothic Book"/>
              </a:rPr>
              <a:t>27%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A0A8CA12-9DA3-9191-7204-6884D59C35F3}"/>
              </a:ext>
            </a:extLst>
          </p:cNvPr>
          <p:cNvSpPr txBox="1"/>
          <p:nvPr/>
        </p:nvSpPr>
        <p:spPr>
          <a:xfrm>
            <a:off x="2743200" y="6217920"/>
            <a:ext cx="9174480" cy="548640"/>
          </a:xfrm>
          <a:prstGeom prst="rect">
            <a:avLst/>
          </a:prstGeom>
          <a:noFill/>
        </p:spPr>
        <p:txBody>
          <a:bodyPr wrap="square" lIns="45720" rIns="45720" rtlCol="0" anchor="b">
            <a:noAutofit/>
          </a:bodyPr>
          <a:lstStyle/>
          <a:p>
            <a:pPr algn="r"/>
            <a:r>
              <a:rPr sz="1400" spc="0">
                <a:solidFill>
                  <a:srgbClr val="404040"/>
                </a:solidFill>
                <a:latin typeface="Franklin Gothic Book"/>
              </a:rPr>
              <a:t>Riely et al, JTO 2025</a:t>
            </a:r>
          </a:p>
        </p:txBody>
      </p:sp>
    </p:spTree>
    <p:extLst>
      <p:ext uri="{BB962C8B-B14F-4D97-AF65-F5344CB8AC3E}">
        <p14:creationId xmlns:p14="http://schemas.microsoft.com/office/powerpoint/2010/main" val="2590703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5A7BE9B3-DAA8-4FDE-A31B-557EC3C0C3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4692745"/>
              </p:ext>
            </p:extLst>
          </p:nvPr>
        </p:nvGraphicFramePr>
        <p:xfrm>
          <a:off x="1422366" y="1901797"/>
          <a:ext cx="6745683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63EFB745-9A06-84CA-EFBD-36A595479DF6}"/>
              </a:ext>
            </a:extLst>
          </p:cNvPr>
          <p:cNvSpPr txBox="1"/>
          <p:nvPr/>
        </p:nvSpPr>
        <p:spPr>
          <a:xfrm>
            <a:off x="8449895" y="2614309"/>
            <a:ext cx="33472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</a:pPr>
            <a:r>
              <a:rPr lang="en-US" sz="2000" dirty="0">
                <a:latin typeface="Franklin Gothic Book"/>
              </a:rPr>
              <a:t>All treatment-related events of pyrexia were grade 1 or 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66872-8514-5461-2E0F-65A285283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0" dirty="0" err="1">
                <a:solidFill>
                  <a:srgbClr val="005A8E"/>
                </a:solidFill>
                <a:latin typeface="Franklin Gothic Medium"/>
                <a:cs typeface="Franklin Gothic Medium"/>
              </a:rPr>
              <a:t>Encorafenib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 + </a:t>
            </a:r>
            <a:r>
              <a:rPr lang="en-US" sz="2800" b="0" dirty="0" err="1">
                <a:solidFill>
                  <a:srgbClr val="005A8E"/>
                </a:solidFill>
                <a:latin typeface="Franklin Gothic Medium"/>
                <a:cs typeface="Franklin Gothic Medium"/>
              </a:rPr>
              <a:t>Binimetinib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 toxicities include nausea, diarrhea, but pyrexia is much less common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9FE381-FF0D-16C6-EEF9-40A497E0D4C0}"/>
              </a:ext>
            </a:extLst>
          </p:cNvPr>
          <p:cNvSpPr txBox="1"/>
          <p:nvPr/>
        </p:nvSpPr>
        <p:spPr>
          <a:xfrm>
            <a:off x="2743200" y="6217920"/>
            <a:ext cx="9174480" cy="548640"/>
          </a:xfrm>
          <a:prstGeom prst="rect">
            <a:avLst/>
          </a:prstGeom>
          <a:noFill/>
        </p:spPr>
        <p:txBody>
          <a:bodyPr wrap="square" lIns="45720" rIns="45720" rtlCol="0" anchor="b">
            <a:noAutofit/>
          </a:bodyPr>
          <a:lstStyle/>
          <a:p>
            <a:pPr algn="r"/>
            <a:r>
              <a:rPr sz="1400" spc="0">
                <a:solidFill>
                  <a:srgbClr val="404040"/>
                </a:solidFill>
                <a:latin typeface="Franklin Gothic Book"/>
              </a:rPr>
              <a:t>Riely et al, JTO 2025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8F11EB-EB2F-A896-5D41-C1C8ED985F89}"/>
              </a:ext>
            </a:extLst>
          </p:cNvPr>
          <p:cNvSpPr txBox="1"/>
          <p:nvPr/>
        </p:nvSpPr>
        <p:spPr>
          <a:xfrm>
            <a:off x="4298003" y="6448493"/>
            <a:ext cx="1053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Franklin Gothic Book"/>
              </a:rPr>
              <a:t>Patients, 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D5B796-DF9F-3309-9B77-0A5CE5C02537}"/>
              </a:ext>
            </a:extLst>
          </p:cNvPr>
          <p:cNvSpPr txBox="1"/>
          <p:nvPr/>
        </p:nvSpPr>
        <p:spPr>
          <a:xfrm>
            <a:off x="931372" y="2187101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latin typeface="Franklin Gothic Book"/>
              </a:rPr>
              <a:t>Nausea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B1BA7D-7DBE-C162-E9A0-52A24D25F9F7}"/>
              </a:ext>
            </a:extLst>
          </p:cNvPr>
          <p:cNvSpPr txBox="1"/>
          <p:nvPr/>
        </p:nvSpPr>
        <p:spPr>
          <a:xfrm>
            <a:off x="900915" y="2552941"/>
            <a:ext cx="724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Franklin Gothic Book"/>
              </a:rPr>
              <a:t>Diarrhea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CEE619-DB36-8010-30F6-ACE840AA0D46}"/>
              </a:ext>
            </a:extLst>
          </p:cNvPr>
          <p:cNvSpPr txBox="1"/>
          <p:nvPr/>
        </p:nvSpPr>
        <p:spPr>
          <a:xfrm>
            <a:off x="941695" y="2918781"/>
            <a:ext cx="639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latin typeface="Franklin Gothic Book"/>
              </a:rPr>
              <a:t>Fatigue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FDD4C7-06CD-CEC1-42B2-740D4B642082}"/>
              </a:ext>
            </a:extLst>
          </p:cNvPr>
          <p:cNvSpPr txBox="1"/>
          <p:nvPr/>
        </p:nvSpPr>
        <p:spPr>
          <a:xfrm>
            <a:off x="836859" y="3284621"/>
            <a:ext cx="744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latin typeface="Franklin Gothic Book"/>
              </a:rPr>
              <a:t>Vomiting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D8CF5E-4F53-9E59-E0D0-1EE492269D6A}"/>
              </a:ext>
            </a:extLst>
          </p:cNvPr>
          <p:cNvSpPr txBox="1"/>
          <p:nvPr/>
        </p:nvSpPr>
        <p:spPr>
          <a:xfrm>
            <a:off x="524658" y="3650461"/>
            <a:ext cx="10562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latin typeface="Franklin Gothic Book"/>
              </a:rPr>
              <a:t>Vision blurred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9B8FF4-A466-28D0-394F-B3762D2F088A}"/>
              </a:ext>
            </a:extLst>
          </p:cNvPr>
          <p:cNvSpPr txBox="1"/>
          <p:nvPr/>
        </p:nvSpPr>
        <p:spPr>
          <a:xfrm>
            <a:off x="542355" y="4016301"/>
            <a:ext cx="10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latin typeface="Franklin Gothic Book"/>
              </a:rPr>
              <a:t>ALT increased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E8A0B3-4452-C6F5-25D0-1767B137E4A8}"/>
              </a:ext>
            </a:extLst>
          </p:cNvPr>
          <p:cNvSpPr txBox="1"/>
          <p:nvPr/>
        </p:nvSpPr>
        <p:spPr>
          <a:xfrm>
            <a:off x="525684" y="4382141"/>
            <a:ext cx="1055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latin typeface="Franklin Gothic Book"/>
              </a:rPr>
              <a:t>AST increased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EBD051-31DA-829B-CFF5-AEC067E9DDC2}"/>
              </a:ext>
            </a:extLst>
          </p:cNvPr>
          <p:cNvSpPr txBox="1"/>
          <p:nvPr/>
        </p:nvSpPr>
        <p:spPr>
          <a:xfrm>
            <a:off x="632753" y="5113821"/>
            <a:ext cx="975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Franklin Gothic Book"/>
              </a:rPr>
              <a:t>Constipation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3EDA2F-8976-8CE5-C31D-F682984142C7}"/>
              </a:ext>
            </a:extLst>
          </p:cNvPr>
          <p:cNvSpPr txBox="1"/>
          <p:nvPr/>
        </p:nvSpPr>
        <p:spPr>
          <a:xfrm>
            <a:off x="916945" y="4747981"/>
            <a:ext cx="6639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latin typeface="Franklin Gothic Book"/>
              </a:rPr>
              <a:t>Anemia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8C0CFA-6A25-6B57-4B7A-0DEC3B9AD3E9}"/>
              </a:ext>
            </a:extLst>
          </p:cNvPr>
          <p:cNvSpPr txBox="1"/>
          <p:nvPr/>
        </p:nvSpPr>
        <p:spPr>
          <a:xfrm>
            <a:off x="902517" y="5464272"/>
            <a:ext cx="678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latin typeface="Franklin Gothic Book"/>
              </a:rPr>
              <a:t>Pruritus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7C8B4F-CDD7-7E4A-8545-21480884868F}"/>
              </a:ext>
            </a:extLst>
          </p:cNvPr>
          <p:cNvSpPr txBox="1"/>
          <p:nvPr/>
        </p:nvSpPr>
        <p:spPr>
          <a:xfrm>
            <a:off x="4693943" y="626824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Franklin Gothic Book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6206F8-1689-A04E-7508-62969FCBA0E6}"/>
              </a:ext>
            </a:extLst>
          </p:cNvPr>
          <p:cNvSpPr txBox="1"/>
          <p:nvPr/>
        </p:nvSpPr>
        <p:spPr>
          <a:xfrm>
            <a:off x="2686857" y="6268246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Franklin Gothic Book"/>
              </a:rPr>
              <a:t>40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FBD053-7C5D-5C3E-DE09-26E861957BD5}"/>
              </a:ext>
            </a:extLst>
          </p:cNvPr>
          <p:cNvSpPr txBox="1"/>
          <p:nvPr/>
        </p:nvSpPr>
        <p:spPr>
          <a:xfrm>
            <a:off x="3687669" y="6268246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Franklin Gothic Book"/>
              </a:rPr>
              <a:t>20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5EA930-965B-8CF8-E5EC-841E561730D1}"/>
              </a:ext>
            </a:extLst>
          </p:cNvPr>
          <p:cNvSpPr txBox="1"/>
          <p:nvPr/>
        </p:nvSpPr>
        <p:spPr>
          <a:xfrm>
            <a:off x="5610747" y="6268246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Franklin Gothic Book"/>
              </a:rPr>
              <a:t>20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25BD35-ADA2-D48B-F56B-62CE1A9908AE}"/>
              </a:ext>
            </a:extLst>
          </p:cNvPr>
          <p:cNvSpPr txBox="1"/>
          <p:nvPr/>
        </p:nvSpPr>
        <p:spPr>
          <a:xfrm>
            <a:off x="6611559" y="6268246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Franklin Gothic Book"/>
              </a:rPr>
              <a:t>40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976BF1-D615-7E52-C266-220CAE820937}"/>
              </a:ext>
            </a:extLst>
          </p:cNvPr>
          <p:cNvSpPr txBox="1"/>
          <p:nvPr/>
        </p:nvSpPr>
        <p:spPr>
          <a:xfrm>
            <a:off x="7612372" y="6268246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Franklin Gothic Book"/>
              </a:rPr>
              <a:t>60</a:t>
            </a: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4BE68466-F4BB-0D8C-1D23-776B94929FCD}"/>
              </a:ext>
            </a:extLst>
          </p:cNvPr>
          <p:cNvGrpSpPr/>
          <p:nvPr/>
        </p:nvGrpSpPr>
        <p:grpSpPr>
          <a:xfrm>
            <a:off x="6735156" y="4635678"/>
            <a:ext cx="1246360" cy="1434662"/>
            <a:chOff x="6685001" y="3804255"/>
            <a:chExt cx="1246360" cy="1434662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4BAC625-764E-0401-2359-0A12DFA291E3}"/>
                </a:ext>
              </a:extLst>
            </p:cNvPr>
            <p:cNvSpPr/>
            <p:nvPr/>
          </p:nvSpPr>
          <p:spPr>
            <a:xfrm>
              <a:off x="6706289" y="3804255"/>
              <a:ext cx="1225072" cy="14346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Franklin Gothic Book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311D4F24-5FFA-F8E6-D392-DF3A1086EBEF}"/>
                </a:ext>
              </a:extLst>
            </p:cNvPr>
            <p:cNvSpPr/>
            <p:nvPr/>
          </p:nvSpPr>
          <p:spPr>
            <a:xfrm>
              <a:off x="7578328" y="3903997"/>
              <a:ext cx="274320" cy="27432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Franklin Gothic Book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D9E374E-3D90-3915-8105-05E460B3C939}"/>
                </a:ext>
              </a:extLst>
            </p:cNvPr>
            <p:cNvSpPr/>
            <p:nvPr/>
          </p:nvSpPr>
          <p:spPr>
            <a:xfrm>
              <a:off x="7578328" y="4371459"/>
              <a:ext cx="274320" cy="274320"/>
            </a:xfrm>
            <a:prstGeom prst="rect">
              <a:avLst/>
            </a:prstGeom>
            <a:solidFill>
              <a:srgbClr val="0071A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Franklin Gothic Book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4F5BCCC-1167-FB88-D00F-585B5F433E94}"/>
                </a:ext>
              </a:extLst>
            </p:cNvPr>
            <p:cNvSpPr/>
            <p:nvPr/>
          </p:nvSpPr>
          <p:spPr>
            <a:xfrm>
              <a:off x="7578328" y="4836324"/>
              <a:ext cx="274320" cy="274320"/>
            </a:xfrm>
            <a:prstGeom prst="rect">
              <a:avLst/>
            </a:prstGeom>
            <a:solidFill>
              <a:srgbClr val="0034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Franklin Gothic Book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39A3C25-0F1D-F1D6-0480-B57888E67468}"/>
                </a:ext>
              </a:extLst>
            </p:cNvPr>
            <p:cNvSpPr txBox="1"/>
            <p:nvPr/>
          </p:nvSpPr>
          <p:spPr>
            <a:xfrm>
              <a:off x="6822859" y="3893560"/>
              <a:ext cx="676852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r"/>
              <a:r>
                <a:rPr lang="en-US" sz="1200" dirty="0">
                  <a:latin typeface="Franklin Gothic Book"/>
                </a:rPr>
                <a:t>Grade 1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50334BF4-C95F-5D7D-03E2-EA78DFA895EA}"/>
                </a:ext>
              </a:extLst>
            </p:cNvPr>
            <p:cNvSpPr txBox="1"/>
            <p:nvPr/>
          </p:nvSpPr>
          <p:spPr>
            <a:xfrm>
              <a:off x="6822859" y="4370120"/>
              <a:ext cx="676852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r"/>
              <a:r>
                <a:rPr lang="en-US" sz="1200" dirty="0">
                  <a:latin typeface="Franklin Gothic Book"/>
                </a:rPr>
                <a:t>Grade 2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7CDB87B-0335-A538-0E9D-2EF1FA2E3CC1}"/>
                </a:ext>
              </a:extLst>
            </p:cNvPr>
            <p:cNvSpPr txBox="1"/>
            <p:nvPr/>
          </p:nvSpPr>
          <p:spPr>
            <a:xfrm>
              <a:off x="6685001" y="4858288"/>
              <a:ext cx="814710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r"/>
              <a:r>
                <a:rPr lang="en-US" sz="1200" dirty="0">
                  <a:latin typeface="Franklin Gothic Book"/>
                </a:rPr>
                <a:t>Grade 3/4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5EE4B15-1C7E-E1E4-D86C-C8AA871DCE1E}"/>
              </a:ext>
            </a:extLst>
          </p:cNvPr>
          <p:cNvSpPr txBox="1"/>
          <p:nvPr/>
        </p:nvSpPr>
        <p:spPr>
          <a:xfrm>
            <a:off x="4816800" y="1934606"/>
            <a:ext cx="2973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Franklin Gothic Book"/>
              </a:rPr>
              <a:t>Previously treated (n=39)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18FB78-D692-5F36-C91B-7628C9571956}"/>
              </a:ext>
            </a:extLst>
          </p:cNvPr>
          <p:cNvSpPr txBox="1"/>
          <p:nvPr/>
        </p:nvSpPr>
        <p:spPr>
          <a:xfrm>
            <a:off x="1686045" y="6268246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Franklin Gothic Book"/>
              </a:rPr>
              <a:t>60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7A3412-FFAC-D1A4-0C5A-C80D84C9E085}"/>
              </a:ext>
            </a:extLst>
          </p:cNvPr>
          <p:cNvSpPr txBox="1"/>
          <p:nvPr/>
        </p:nvSpPr>
        <p:spPr>
          <a:xfrm>
            <a:off x="849747" y="5830111"/>
            <a:ext cx="7311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latin typeface="Franklin Gothic Book"/>
              </a:rPr>
              <a:t>Asthenia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93F6955-B3BE-FC81-F6CE-F1BABE8C8875}"/>
              </a:ext>
            </a:extLst>
          </p:cNvPr>
          <p:cNvCxnSpPr>
            <a:cxnSpLocks/>
          </p:cNvCxnSpPr>
          <p:nvPr/>
        </p:nvCxnSpPr>
        <p:spPr>
          <a:xfrm flipH="1">
            <a:off x="4803152" y="2051074"/>
            <a:ext cx="14930" cy="41222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665A885-8F52-A8F5-196F-624A8800D552}"/>
              </a:ext>
            </a:extLst>
          </p:cNvPr>
          <p:cNvSpPr txBox="1"/>
          <p:nvPr/>
        </p:nvSpPr>
        <p:spPr>
          <a:xfrm>
            <a:off x="2572637" y="2612957"/>
            <a:ext cx="22442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1000" b="1" dirty="0">
                <a:latin typeface="Franklin Gothic Book"/>
              </a:rPr>
              <a:t>41%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29B5077-A93D-D5FE-E737-689D935EDEE6}"/>
              </a:ext>
            </a:extLst>
          </p:cNvPr>
          <p:cNvSpPr txBox="1"/>
          <p:nvPr/>
        </p:nvSpPr>
        <p:spPr>
          <a:xfrm>
            <a:off x="4362609" y="5891666"/>
            <a:ext cx="158697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000" b="1" dirty="0">
                <a:latin typeface="Franklin Gothic Book"/>
              </a:rPr>
              <a:t>5%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419E4F6-0E4F-7EAC-1735-B7F74A8A313C}"/>
              </a:ext>
            </a:extLst>
          </p:cNvPr>
          <p:cNvSpPr txBox="1"/>
          <p:nvPr/>
        </p:nvSpPr>
        <p:spPr>
          <a:xfrm>
            <a:off x="3051192" y="2977258"/>
            <a:ext cx="22442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1000" b="1" dirty="0">
                <a:latin typeface="Franklin Gothic Book"/>
              </a:rPr>
              <a:t>31%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DD87AD0-3F83-D96E-D279-E9E2496EC9A1}"/>
              </a:ext>
            </a:extLst>
          </p:cNvPr>
          <p:cNvSpPr txBox="1"/>
          <p:nvPr/>
        </p:nvSpPr>
        <p:spPr>
          <a:xfrm>
            <a:off x="3051192" y="3341559"/>
            <a:ext cx="22442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1000" b="1" dirty="0">
                <a:latin typeface="Franklin Gothic Book"/>
              </a:rPr>
              <a:t>31%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1408B44-2DDC-C9EC-C752-786A5D9AEDAB}"/>
              </a:ext>
            </a:extLst>
          </p:cNvPr>
          <p:cNvSpPr txBox="1"/>
          <p:nvPr/>
        </p:nvSpPr>
        <p:spPr>
          <a:xfrm>
            <a:off x="3551597" y="3705860"/>
            <a:ext cx="22442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1000" b="1" dirty="0">
                <a:latin typeface="Franklin Gothic Book"/>
              </a:rPr>
              <a:t>20%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933AD1-26D2-CAB5-F8D9-18EF711ECBA8}"/>
              </a:ext>
            </a:extLst>
          </p:cNvPr>
          <p:cNvSpPr txBox="1"/>
          <p:nvPr/>
        </p:nvSpPr>
        <p:spPr>
          <a:xfrm>
            <a:off x="6875855" y="2248656"/>
            <a:ext cx="485315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000" b="1" dirty="0">
                <a:latin typeface="Franklin Gothic Book"/>
              </a:rPr>
              <a:t>41%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931C61D-84DF-D4F7-8C96-1F8EE88B2EF9}"/>
              </a:ext>
            </a:extLst>
          </p:cNvPr>
          <p:cNvSpPr txBox="1"/>
          <p:nvPr/>
        </p:nvSpPr>
        <p:spPr>
          <a:xfrm>
            <a:off x="7261870" y="2612723"/>
            <a:ext cx="22442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latin typeface="Franklin Gothic Book"/>
              </a:rPr>
              <a:t>49%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F626F98-3E6F-AC57-E4FB-31706E376D25}"/>
              </a:ext>
            </a:extLst>
          </p:cNvPr>
          <p:cNvSpPr txBox="1"/>
          <p:nvPr/>
        </p:nvSpPr>
        <p:spPr>
          <a:xfrm>
            <a:off x="6511220" y="2976790"/>
            <a:ext cx="22442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latin typeface="Franklin Gothic Book"/>
              </a:rPr>
              <a:t>33%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FC2BAB7-8398-5858-60E9-556F7FBB68EC}"/>
              </a:ext>
            </a:extLst>
          </p:cNvPr>
          <p:cNvSpPr txBox="1"/>
          <p:nvPr/>
        </p:nvSpPr>
        <p:spPr>
          <a:xfrm>
            <a:off x="5495476" y="5162752"/>
            <a:ext cx="22442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latin typeface="Franklin Gothic Book"/>
              </a:rPr>
              <a:t>13%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FFC8D3A-1E6A-1E25-2AF2-91AE29F3EBE5}"/>
              </a:ext>
            </a:extLst>
          </p:cNvPr>
          <p:cNvSpPr txBox="1"/>
          <p:nvPr/>
        </p:nvSpPr>
        <p:spPr>
          <a:xfrm>
            <a:off x="5611964" y="3704924"/>
            <a:ext cx="22442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latin typeface="Franklin Gothic Book"/>
              </a:rPr>
              <a:t>15%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88C6DEA-0C3E-3540-5DBE-CCE5CB994B37}"/>
              </a:ext>
            </a:extLst>
          </p:cNvPr>
          <p:cNvSpPr txBox="1"/>
          <p:nvPr/>
        </p:nvSpPr>
        <p:spPr>
          <a:xfrm>
            <a:off x="5113961" y="4068991"/>
            <a:ext cx="158698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latin typeface="Franklin Gothic Book"/>
              </a:rPr>
              <a:t>5%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5140127-C1CF-FB76-6522-1720AEAB5927}"/>
              </a:ext>
            </a:extLst>
          </p:cNvPr>
          <p:cNvSpPr txBox="1"/>
          <p:nvPr/>
        </p:nvSpPr>
        <p:spPr>
          <a:xfrm>
            <a:off x="5113961" y="4433058"/>
            <a:ext cx="158698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latin typeface="Franklin Gothic Book"/>
              </a:rPr>
              <a:t>5%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1DBE6D8-3091-A752-B40B-E1E99187B65E}"/>
              </a:ext>
            </a:extLst>
          </p:cNvPr>
          <p:cNvSpPr txBox="1"/>
          <p:nvPr/>
        </p:nvSpPr>
        <p:spPr>
          <a:xfrm>
            <a:off x="6241192" y="3340857"/>
            <a:ext cx="22442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latin typeface="Franklin Gothic Book"/>
              </a:rPr>
              <a:t>28%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E66DC36-55D4-E563-AFC4-A08B5370C142}"/>
              </a:ext>
            </a:extLst>
          </p:cNvPr>
          <p:cNvSpPr txBox="1"/>
          <p:nvPr/>
        </p:nvSpPr>
        <p:spPr>
          <a:xfrm>
            <a:off x="5755906" y="5890886"/>
            <a:ext cx="224420" cy="15544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latin typeface="Franklin Gothic Book"/>
              </a:rPr>
              <a:t>18%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C3B5853-0E34-5DEA-4CC8-E59F844B0209}"/>
              </a:ext>
            </a:extLst>
          </p:cNvPr>
          <p:cNvSpPr txBox="1"/>
          <p:nvPr/>
        </p:nvSpPr>
        <p:spPr>
          <a:xfrm>
            <a:off x="5616601" y="5526819"/>
            <a:ext cx="22442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latin typeface="Franklin Gothic Book"/>
              </a:rPr>
              <a:t>15%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E05398F-6679-2D2C-E056-3C6D6D002EEE}"/>
              </a:ext>
            </a:extLst>
          </p:cNvPr>
          <p:cNvSpPr txBox="1"/>
          <p:nvPr/>
        </p:nvSpPr>
        <p:spPr>
          <a:xfrm>
            <a:off x="5746328" y="4797125"/>
            <a:ext cx="224420" cy="15544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b="1" dirty="0">
                <a:latin typeface="Franklin Gothic Book"/>
              </a:rPr>
              <a:t>18%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A74E889-8CA2-9260-EAA6-F3D4974FCF06}"/>
              </a:ext>
            </a:extLst>
          </p:cNvPr>
          <p:cNvSpPr txBox="1"/>
          <p:nvPr/>
        </p:nvSpPr>
        <p:spPr>
          <a:xfrm>
            <a:off x="3721741" y="4798763"/>
            <a:ext cx="22442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1000" b="1" dirty="0">
                <a:latin typeface="Franklin Gothic Book"/>
              </a:rPr>
              <a:t>17%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C73E4BC-BF37-84CF-95DA-5369A73CA855}"/>
              </a:ext>
            </a:extLst>
          </p:cNvPr>
          <p:cNvSpPr txBox="1"/>
          <p:nvPr/>
        </p:nvSpPr>
        <p:spPr>
          <a:xfrm>
            <a:off x="3645631" y="4070161"/>
            <a:ext cx="22442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1000" b="1" dirty="0">
                <a:latin typeface="Franklin Gothic Book"/>
              </a:rPr>
              <a:t>19%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6948C06-1CCB-5FA8-0918-1059B8ED1F6A}"/>
              </a:ext>
            </a:extLst>
          </p:cNvPr>
          <p:cNvSpPr txBox="1"/>
          <p:nvPr/>
        </p:nvSpPr>
        <p:spPr>
          <a:xfrm>
            <a:off x="3645631" y="4434462"/>
            <a:ext cx="22442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1000" b="1" dirty="0">
                <a:latin typeface="Franklin Gothic Book"/>
              </a:rPr>
              <a:t>19%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EC6C476-9A7E-8A0D-8BFD-088D89DEBEC6}"/>
              </a:ext>
            </a:extLst>
          </p:cNvPr>
          <p:cNvSpPr txBox="1"/>
          <p:nvPr/>
        </p:nvSpPr>
        <p:spPr>
          <a:xfrm>
            <a:off x="3804947" y="5163064"/>
            <a:ext cx="22442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1000" b="1" dirty="0">
                <a:latin typeface="Franklin Gothic Book"/>
              </a:rPr>
              <a:t>15%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9BB560-12E2-3DE6-7930-E67EE0D84E43}"/>
              </a:ext>
            </a:extLst>
          </p:cNvPr>
          <p:cNvSpPr txBox="1"/>
          <p:nvPr/>
        </p:nvSpPr>
        <p:spPr>
          <a:xfrm>
            <a:off x="1625617" y="2248656"/>
            <a:ext cx="22442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1000" b="1" dirty="0">
                <a:latin typeface="Franklin Gothic Book"/>
              </a:rPr>
              <a:t>59%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5C949A3-75E9-710C-485F-895801760AF2}"/>
              </a:ext>
            </a:extLst>
          </p:cNvPr>
          <p:cNvSpPr txBox="1"/>
          <p:nvPr/>
        </p:nvSpPr>
        <p:spPr>
          <a:xfrm>
            <a:off x="4063854" y="5527365"/>
            <a:ext cx="22442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1000" b="1" dirty="0">
                <a:latin typeface="Franklin Gothic Book"/>
              </a:rPr>
              <a:t>10%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1AA5948-0242-08FF-DC48-38598FD8A458}"/>
              </a:ext>
            </a:extLst>
          </p:cNvPr>
          <p:cNvSpPr txBox="1"/>
          <p:nvPr/>
        </p:nvSpPr>
        <p:spPr>
          <a:xfrm>
            <a:off x="1824637" y="1934606"/>
            <a:ext cx="3003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Franklin Gothic Book"/>
              </a:rPr>
              <a:t>Treatment naive (n=59)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FB7F6B-6968-0FB9-D18E-EAA328020019}"/>
              </a:ext>
            </a:extLst>
          </p:cNvPr>
          <p:cNvGraphicFramePr>
            <a:graphicFrameLocks noGrp="1"/>
          </p:cNvGraphicFramePr>
          <p:nvPr/>
        </p:nvGraphicFramePr>
        <p:xfrm>
          <a:off x="8597785" y="3357847"/>
          <a:ext cx="2848251" cy="1570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251">
                  <a:extLst>
                    <a:ext uri="{9D8B030D-6E8A-4147-A177-3AD203B41FA5}">
                      <a16:colId xmlns:a16="http://schemas.microsoft.com/office/drawing/2014/main" val="414460261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33001721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27593686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FF0000"/>
                        </a:solidFill>
                        <a:latin typeface="Franklin Gothic Book"/>
                      </a:endParaRPr>
                    </a:p>
                  </a:txBody>
                  <a:tcPr marL="45720" marR="4572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latin typeface="Franklin Gothic Book"/>
                        </a:defRPr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Franklin Gothic Book"/>
                        </a:rPr>
                        <a:t>Grade 1</a:t>
                      </a:r>
                    </a:p>
                  </a:txBody>
                  <a:tcPr marL="45720" marR="4572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latin typeface="Franklin Gothic Book"/>
                        </a:defRPr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Franklin Gothic Book"/>
                        </a:rPr>
                        <a:t>Grade 2</a:t>
                      </a:r>
                    </a:p>
                  </a:txBody>
                  <a:tcPr marL="45720" marR="4572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199539"/>
                  </a:ext>
                </a:extLst>
              </a:tr>
              <a:tr h="379562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Franklin Gothic Book"/>
                        </a:rPr>
                        <a:t>Treatment naive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Franklin Gothic Book"/>
                        </a:rPr>
                        <a:t>10%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Franklin Gothic Book"/>
                        </a:rPr>
                        <a:t>2%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808890"/>
                  </a:ext>
                </a:extLst>
              </a:tr>
              <a:tr h="655608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Franklin Gothic Book"/>
                        </a:rPr>
                        <a:t>Previously treated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Franklin Gothic Book"/>
                        </a:rPr>
                        <a:t>3%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latin typeface="Franklin Gothic Book"/>
                        </a:defRPr>
                      </a:pPr>
                      <a:r>
                        <a:rPr lang="en-US" sz="1600" dirty="0">
                          <a:latin typeface="Franklin Gothic Book"/>
                        </a:rPr>
                        <a:t>0%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94959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91FA5E2-62CA-3287-D7DD-1317DED25EEF}"/>
              </a:ext>
            </a:extLst>
          </p:cNvPr>
          <p:cNvSpPr txBox="1"/>
          <p:nvPr/>
        </p:nvSpPr>
        <p:spPr>
          <a:xfrm>
            <a:off x="2027805" y="1299832"/>
            <a:ext cx="4202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u="sng" dirty="0">
                <a:latin typeface="Franklin Gothic Book"/>
              </a:rPr>
              <a:t>most common TRAEs (≥15%) by treatment line</a:t>
            </a:r>
          </a:p>
        </p:txBody>
      </p:sp>
    </p:spTree>
    <p:extLst>
      <p:ext uri="{BB962C8B-B14F-4D97-AF65-F5344CB8AC3E}">
        <p14:creationId xmlns:p14="http://schemas.microsoft.com/office/powerpoint/2010/main" val="509288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F1B0BED-831E-C023-9DB6-2C8BA2EBE96C}"/>
              </a:ext>
            </a:extLst>
          </p:cNvPr>
          <p:cNvSpPr txBox="1"/>
          <p:nvPr/>
        </p:nvSpPr>
        <p:spPr>
          <a:xfrm>
            <a:off x="5692112" y="2948041"/>
            <a:ext cx="394660" cy="5232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800" dirty="0">
                <a:latin typeface="Franklin Gothic Book"/>
              </a:rPr>
              <a:t>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A1F41-339E-564C-D0C1-FA1FAF2D2DFD}"/>
              </a:ext>
            </a:extLst>
          </p:cNvPr>
          <p:cNvSpPr txBox="1"/>
          <p:nvPr/>
        </p:nvSpPr>
        <p:spPr>
          <a:xfrm>
            <a:off x="9261220" y="2948041"/>
            <a:ext cx="394660" cy="5232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800" dirty="0">
                <a:latin typeface="Franklin Gothic Book"/>
              </a:rPr>
              <a:t>+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95686D-502E-F189-0858-31669B137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For patients with metastatic BRAF V600E: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DD960-FA91-F2D1-B28F-CEF0EED75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7" y="1427967"/>
            <a:ext cx="11394276" cy="387798"/>
          </a:xfrm>
        </p:spPr>
        <p:txBody>
          <a:bodyPr/>
          <a:lstStyle/>
          <a:p>
            <a:pPr algn="ctr"/>
            <a:r>
              <a:rPr lang="en-US" sz="2800" spc="0" dirty="0">
                <a:latin typeface="Franklin Gothic Book"/>
              </a:rPr>
              <a:t>Standard initial therapy is with combination of BRAF and MEK inhibitors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215D10-715A-42A4-5FDF-40E7090EB0FF}"/>
              </a:ext>
            </a:extLst>
          </p:cNvPr>
          <p:cNvSpPr txBox="1"/>
          <p:nvPr/>
        </p:nvSpPr>
        <p:spPr>
          <a:xfrm>
            <a:off x="5010407" y="2409753"/>
            <a:ext cx="2139503" cy="584775"/>
          </a:xfrm>
          <a:prstGeom prst="rect">
            <a:avLst/>
          </a:prstGeom>
          <a:solidFill>
            <a:srgbClr val="F88D2A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  <a:latin typeface="Franklin Gothic Book"/>
              </a:rPr>
              <a:t>Dabrafenib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486E19-1B75-160B-4711-AA3B6357758B}"/>
              </a:ext>
            </a:extLst>
          </p:cNvPr>
          <p:cNvSpPr txBox="1"/>
          <p:nvPr/>
        </p:nvSpPr>
        <p:spPr>
          <a:xfrm>
            <a:off x="5010407" y="3424773"/>
            <a:ext cx="2139503" cy="584775"/>
          </a:xfrm>
          <a:prstGeom prst="rect">
            <a:avLst/>
          </a:prstGeom>
          <a:solidFill>
            <a:srgbClr val="FFC000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  <a:latin typeface="Franklin Gothic Book"/>
              </a:rPr>
              <a:t>Trametinib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B68503-122E-6AF4-52CD-4DCE09553C49}"/>
              </a:ext>
            </a:extLst>
          </p:cNvPr>
          <p:cNvSpPr txBox="1"/>
          <p:nvPr/>
        </p:nvSpPr>
        <p:spPr>
          <a:xfrm>
            <a:off x="8329120" y="3449762"/>
            <a:ext cx="2258861" cy="58477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3200" dirty="0" err="1">
                <a:solidFill>
                  <a:schemeClr val="bg1"/>
                </a:solidFill>
                <a:latin typeface="Franklin Gothic Book"/>
              </a:rPr>
              <a:t>Binimetinib</a:t>
            </a:r>
            <a:endParaRPr lang="en-US" sz="3200" dirty="0">
              <a:solidFill>
                <a:schemeClr val="bg1"/>
              </a:solidFill>
              <a:latin typeface="Franklin Gothic Book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27D561-A0C9-B233-365D-B7D76DFEE168}"/>
              </a:ext>
            </a:extLst>
          </p:cNvPr>
          <p:cNvSpPr txBox="1"/>
          <p:nvPr/>
        </p:nvSpPr>
        <p:spPr>
          <a:xfrm>
            <a:off x="8314507" y="2409752"/>
            <a:ext cx="2273474" cy="58477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3200" dirty="0" err="1">
                <a:solidFill>
                  <a:schemeClr val="bg1"/>
                </a:solidFill>
                <a:latin typeface="Franklin Gothic Book"/>
              </a:rPr>
              <a:t>Encorafenib</a:t>
            </a:r>
            <a:endParaRPr lang="en-US" sz="3200" dirty="0">
              <a:solidFill>
                <a:schemeClr val="bg1"/>
              </a:solidFill>
              <a:latin typeface="Franklin Gothic Boo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52D2D-E73C-799F-F648-F251D2E64C58}"/>
              </a:ext>
            </a:extLst>
          </p:cNvPr>
          <p:cNvSpPr txBox="1"/>
          <p:nvPr/>
        </p:nvSpPr>
        <p:spPr>
          <a:xfrm>
            <a:off x="7417058" y="2836867"/>
            <a:ext cx="630301" cy="5232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800" dirty="0">
                <a:latin typeface="Franklin Gothic Book"/>
              </a:rPr>
              <a:t>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0DC16C-AC57-B6B6-5F80-921169D0392E}"/>
              </a:ext>
            </a:extLst>
          </p:cNvPr>
          <p:cNvSpPr txBox="1"/>
          <p:nvPr/>
        </p:nvSpPr>
        <p:spPr>
          <a:xfrm>
            <a:off x="2418624" y="2409752"/>
            <a:ext cx="2320828" cy="5232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800" dirty="0">
                <a:latin typeface="Franklin Gothic Book"/>
              </a:rPr>
              <a:t>BRAF inhibitor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040713-C2BE-CAAE-537E-E68D0F276A8F}"/>
              </a:ext>
            </a:extLst>
          </p:cNvPr>
          <p:cNvSpPr txBox="1"/>
          <p:nvPr/>
        </p:nvSpPr>
        <p:spPr>
          <a:xfrm>
            <a:off x="2390652" y="3418883"/>
            <a:ext cx="2348799" cy="5232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latin typeface="Franklin Gothic Book"/>
              </a:rPr>
              <a:t>MEK inhibitor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558982-30AB-3301-024A-58A73AE1C84B}"/>
              </a:ext>
            </a:extLst>
          </p:cNvPr>
          <p:cNvSpPr txBox="1"/>
          <p:nvPr/>
        </p:nvSpPr>
        <p:spPr>
          <a:xfrm>
            <a:off x="2016691" y="5046304"/>
            <a:ext cx="80290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i="1" dirty="0">
                <a:solidFill>
                  <a:srgbClr val="194560"/>
                </a:solidFill>
                <a:latin typeface="Franklin Gothic Book"/>
              </a:rPr>
              <a:t>Note: no randomized data comparing to each other or with immunotherapy +/- chemotherapy</a:t>
            </a:r>
          </a:p>
        </p:txBody>
      </p:sp>
    </p:spTree>
    <p:extLst>
      <p:ext uri="{BB962C8B-B14F-4D97-AF65-F5344CB8AC3E}">
        <p14:creationId xmlns:p14="http://schemas.microsoft.com/office/powerpoint/2010/main" val="14109971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70799-854E-9B98-0EFA-4DAC64530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In retrospective data, some controversy about best 1</a:t>
            </a:r>
            <a:r>
              <a:rPr lang="en-US" sz="2800" b="0" baseline="3000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st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 line approach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4B171-241B-AE6B-B1D4-6B483314E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217920"/>
            <a:ext cx="9174480" cy="548640"/>
          </a:xfrm>
        </p:spPr>
        <p:txBody>
          <a:bodyPr wrap="square" lIns="45720" rIns="45720" anchor="b">
            <a:noAutofit/>
          </a:bodyPr>
          <a:lstStyle/>
          <a:p>
            <a:pPr algn="r"/>
            <a:r>
              <a:rPr sz="1400" spc="0">
                <a:solidFill>
                  <a:srgbClr val="404040"/>
                </a:solidFill>
                <a:latin typeface="Franklin Gothic Book"/>
              </a:rPr>
              <a:t>Di Federico et al, Lancet Oncol 2025, Wiesweg et al, JTO 2025</a:t>
            </a:r>
          </a:p>
        </p:txBody>
      </p:sp>
      <p:pic>
        <p:nvPicPr>
          <p:cNvPr id="8" name="Picture 7" descr="A graph of cancer patients&#10;&#10;AI-generated content may be incorrect.">
            <a:extLst>
              <a:ext uri="{FF2B5EF4-FFF2-40B4-BE49-F238E27FC236}">
                <a16:creationId xmlns:a16="http://schemas.microsoft.com/office/drawing/2014/main" id="{7C564463-D794-600E-10E1-E63F377535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02" b="24868"/>
          <a:stretch>
            <a:fillRect/>
          </a:stretch>
        </p:blipFill>
        <p:spPr>
          <a:xfrm>
            <a:off x="154149" y="1697285"/>
            <a:ext cx="4885377" cy="393442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A4D00E5-EC19-B6AA-20F2-A77670132574}"/>
              </a:ext>
            </a:extLst>
          </p:cNvPr>
          <p:cNvGrpSpPr/>
          <p:nvPr/>
        </p:nvGrpSpPr>
        <p:grpSpPr>
          <a:xfrm>
            <a:off x="5239264" y="1697284"/>
            <a:ext cx="6952736" cy="4155131"/>
            <a:chOff x="5239264" y="1697284"/>
            <a:chExt cx="6952736" cy="415513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EA583A7-EE62-8592-C689-E2946F862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39264" y="1697284"/>
              <a:ext cx="6952736" cy="4155131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566B20-3618-3AAD-5992-1E783923A688}"/>
                </a:ext>
              </a:extLst>
            </p:cNvPr>
            <p:cNvSpPr/>
            <p:nvPr/>
          </p:nvSpPr>
          <p:spPr>
            <a:xfrm>
              <a:off x="5357308" y="1697284"/>
              <a:ext cx="339157" cy="3877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36000" rtlCol="0" anchor="ctr"/>
            <a:lstStyle/>
            <a:p>
              <a:pPr algn="ctr"/>
              <a:endParaRPr lang="en-US" dirty="0">
                <a:latin typeface="Franklin Gothic Book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3980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35" y="228600"/>
            <a:ext cx="11577988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dirty="0">
                <a:solidFill>
                  <a:srgbClr val="005A8E"/>
                </a:solidFill>
                <a:cs typeface="Franklin Gothic Medium"/>
              </a:rPr>
              <a:t>There were b</a:t>
            </a:r>
            <a:r>
              <a:rPr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aseline </a:t>
            </a:r>
            <a:r>
              <a:rPr lang="en-US" sz="2800" dirty="0">
                <a:solidFill>
                  <a:srgbClr val="005A8E"/>
                </a:solidFill>
                <a:cs typeface="Franklin Gothic Medium"/>
              </a:rPr>
              <a:t>i</a:t>
            </a:r>
            <a:r>
              <a:rPr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mbalance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s</a:t>
            </a:r>
            <a:r>
              <a:rPr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 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that associated with different treatments</a:t>
            </a:r>
            <a:endParaRPr sz="2800" b="0" dirty="0">
              <a:solidFill>
                <a:srgbClr val="005A8E"/>
              </a:solidFill>
              <a:latin typeface="Franklin Gothic Medium"/>
              <a:cs typeface="Franklin Gothic Medium"/>
            </a:endParaRPr>
          </a:p>
          <a:p>
            <a:pPr algn="l">
              <a:lnSpc>
                <a:spcPct val="90000"/>
              </a:lnSpc>
            </a:pPr>
            <a:r>
              <a:rPr sz="1800" b="0" dirty="0">
                <a:solidFill>
                  <a:srgbClr val="005A8E"/>
                </a:solidFill>
                <a:latin typeface="Franklin Gothic Book"/>
                <a:cs typeface="Franklin Gothic Book"/>
              </a:rPr>
              <a:t>FRONT-BRAF, IO ± chemotherapy (n=88) vs BRAF + MEK inhibitors (n=196)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167883"/>
            <a:ext cx="11399520" cy="746760"/>
          </a:xfrm>
          <a:prstGeom prst="rect">
            <a:avLst/>
          </a:prstGeom>
          <a:solidFill>
            <a:srgbClr val="F2F2F2"/>
          </a:solidFill>
        </p:spPr>
        <p:txBody>
          <a:bodyPr wrap="square" lIns="170688" tIns="170688" rIns="170688" bIns="170688" anchor="ctr"/>
          <a:lstStyle/>
          <a:p>
            <a:pPr algn="l"/>
            <a:r>
              <a:rPr sz="2400" dirty="0">
                <a:solidFill>
                  <a:srgbClr val="00457C"/>
                </a:solidFill>
                <a:latin typeface="Franklin Gothic Book"/>
                <a:cs typeface="Franklin Gothic Medium"/>
              </a:rPr>
              <a:t>IO </a:t>
            </a:r>
            <a:r>
              <a:rPr lang="en-US" sz="2400" dirty="0">
                <a:solidFill>
                  <a:srgbClr val="00457C"/>
                </a:solidFill>
                <a:latin typeface="Franklin Gothic Book"/>
                <a:cs typeface="Franklin Gothic Medium"/>
              </a:rPr>
              <a:t>group</a:t>
            </a:r>
            <a:r>
              <a:rPr sz="2400" dirty="0">
                <a:solidFill>
                  <a:srgbClr val="00457C"/>
                </a:solidFill>
                <a:latin typeface="Franklin Gothic Book"/>
                <a:cs typeface="Franklin Gothic Medium"/>
              </a:rPr>
              <a:t> had more smokers and higher PD-L1 expression</a:t>
            </a:r>
          </a:p>
        </p:txBody>
      </p:sp>
      <p:pic>
        <p:nvPicPr>
          <p:cNvPr id="4" name="Picture 3" descr="im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59631"/>
            <a:ext cx="11399520" cy="35546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6217920"/>
            <a:ext cx="9174480" cy="548640"/>
          </a:xfrm>
          <a:prstGeom prst="rect">
            <a:avLst/>
          </a:prstGeom>
          <a:noFill/>
        </p:spPr>
        <p:txBody>
          <a:bodyPr wrap="square" lIns="45720" tIns="24384" rIns="45720" bIns="24384" anchor="b">
            <a:noAutofit/>
          </a:bodyPr>
          <a:lstStyle/>
          <a:p>
            <a:pPr algn="r"/>
            <a:r>
              <a:rPr sz="1400" spc="0">
                <a:solidFill>
                  <a:srgbClr val="404040"/>
                </a:solidFill>
                <a:latin typeface="Franklin Gothic Book"/>
              </a:rPr>
              <a:t>Di Federico et al, Lancet Oncol 2025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0B44F-5672-2DED-99DD-64C444EB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9A668-1B13-58BE-869A-D45F57FB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In never smokers, PD-L1 negative, targeted therapy seems more effective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D66C2-304B-94A5-F46B-32BC47A5F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217920"/>
            <a:ext cx="9174480" cy="548640"/>
          </a:xfrm>
        </p:spPr>
        <p:txBody>
          <a:bodyPr wrap="square" lIns="45720" rIns="45720" anchor="b">
            <a:noAutofit/>
          </a:bodyPr>
          <a:lstStyle/>
          <a:p>
            <a:pPr algn="r"/>
            <a:r>
              <a:rPr sz="1400" spc="0">
                <a:solidFill>
                  <a:srgbClr val="404040"/>
                </a:solidFill>
                <a:latin typeface="Franklin Gothic Book"/>
              </a:rPr>
              <a:t>Di Federico et al, Lancet Oncol 2025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F2358D3-3ECC-C0E7-EB95-348A7D00F911}"/>
              </a:ext>
            </a:extLst>
          </p:cNvPr>
          <p:cNvGrpSpPr/>
          <p:nvPr/>
        </p:nvGrpSpPr>
        <p:grpSpPr>
          <a:xfrm>
            <a:off x="2125362" y="1280160"/>
            <a:ext cx="8796631" cy="5139810"/>
            <a:chOff x="2125362" y="1280160"/>
            <a:chExt cx="8796631" cy="513981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143F9EF-6D87-37BD-99CC-BA2768959841}"/>
                </a:ext>
              </a:extLst>
            </p:cNvPr>
            <p:cNvGrpSpPr/>
            <p:nvPr/>
          </p:nvGrpSpPr>
          <p:grpSpPr>
            <a:xfrm>
              <a:off x="2125362" y="1280160"/>
              <a:ext cx="8796631" cy="5139810"/>
              <a:chOff x="1356503" y="972646"/>
              <a:chExt cx="9478993" cy="5649975"/>
            </a:xfrm>
          </p:grpSpPr>
          <p:pic>
            <p:nvPicPr>
              <p:cNvPr id="12" name="Picture 11" descr="A graph of a patient's survival&#10;&#10;AI-generated content may be incorrect.">
                <a:extLst>
                  <a:ext uri="{FF2B5EF4-FFF2-40B4-BE49-F238E27FC236}">
                    <a16:creationId xmlns:a16="http://schemas.microsoft.com/office/drawing/2014/main" id="{FEF366C6-0A37-8259-A18C-EB9B90D0F2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b="40787"/>
              <a:stretch>
                <a:fillRect/>
              </a:stretch>
            </p:blipFill>
            <p:spPr>
              <a:xfrm>
                <a:off x="1356503" y="972646"/>
                <a:ext cx="9478993" cy="4513754"/>
              </a:xfrm>
              <a:prstGeom prst="rect">
                <a:avLst/>
              </a:prstGeom>
            </p:spPr>
          </p:pic>
          <p:pic>
            <p:nvPicPr>
              <p:cNvPr id="3" name="Picture 2" descr="A graph of a patient's survival&#10;&#10;AI-generated content may be incorrect.">
                <a:extLst>
                  <a:ext uri="{FF2B5EF4-FFF2-40B4-BE49-F238E27FC236}">
                    <a16:creationId xmlns:a16="http://schemas.microsoft.com/office/drawing/2014/main" id="{1E148E69-8543-2409-9F77-43942F3087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t="85095"/>
              <a:stretch>
                <a:fillRect/>
              </a:stretch>
            </p:blipFill>
            <p:spPr>
              <a:xfrm>
                <a:off x="1356503" y="5486453"/>
                <a:ext cx="9478993" cy="1136168"/>
              </a:xfrm>
              <a:prstGeom prst="rect">
                <a:avLst/>
              </a:prstGeom>
            </p:spPr>
          </p:pic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D8B133-F21F-DDD1-7ABE-E346BF690198}"/>
                </a:ext>
              </a:extLst>
            </p:cNvPr>
            <p:cNvSpPr/>
            <p:nvPr/>
          </p:nvSpPr>
          <p:spPr>
            <a:xfrm>
              <a:off x="2194560" y="1280160"/>
              <a:ext cx="259882" cy="356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36000"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55016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FACCE8-B81B-677A-3D59-92F46B9D1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4BAF6F-5E22-D85A-E548-B9D47DED5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There are many types of BRAF mutations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850BBE8-7743-5535-D1D3-4EB6E84C0F7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04801" y="1551759"/>
          <a:ext cx="6291261" cy="3600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087">
                  <a:extLst>
                    <a:ext uri="{9D8B030D-6E8A-4147-A177-3AD203B41FA5}">
                      <a16:colId xmlns:a16="http://schemas.microsoft.com/office/drawing/2014/main" val="1984404817"/>
                    </a:ext>
                  </a:extLst>
                </a:gridCol>
                <a:gridCol w="2097087">
                  <a:extLst>
                    <a:ext uri="{9D8B030D-6E8A-4147-A177-3AD203B41FA5}">
                      <a16:colId xmlns:a16="http://schemas.microsoft.com/office/drawing/2014/main" val="3893794475"/>
                    </a:ext>
                  </a:extLst>
                </a:gridCol>
                <a:gridCol w="2097087">
                  <a:extLst>
                    <a:ext uri="{9D8B030D-6E8A-4147-A177-3AD203B41FA5}">
                      <a16:colId xmlns:a16="http://schemas.microsoft.com/office/drawing/2014/main" val="3652807849"/>
                    </a:ext>
                  </a:extLst>
                </a:gridCol>
              </a:tblGrid>
              <a:tr h="286320">
                <a:tc>
                  <a:txBody>
                    <a:bodyPr/>
                    <a:lstStyle/>
                    <a:p>
                      <a:endParaRPr lang="en-US" sz="1800" dirty="0">
                        <a:latin typeface="Franklin Gothic Book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Franklin Gothic Book"/>
                        </a:rPr>
                        <a:t>Category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Franklin Gothic Book"/>
                        </a:rPr>
                        <a:t>examples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080263595"/>
                  </a:ext>
                </a:extLst>
              </a:tr>
              <a:tr h="1129593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/>
                        </a:rPr>
                        <a:t>Class 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Franklin Gothic Book"/>
                        </a:rPr>
                        <a:t>Ras independent, signal as active monomers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Franklin Gothic Book"/>
                        </a:rPr>
                        <a:t>V600 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583010953"/>
                  </a:ext>
                </a:extLst>
              </a:tr>
              <a:tr h="917794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/>
                        </a:rPr>
                        <a:t>Class 2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Franklin Gothic Book"/>
                        </a:rPr>
                        <a:t>Ras independent, constitutively active dimers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Franklin Gothic Book"/>
                        </a:rPr>
                        <a:t>K601, L597, G469, G464, fusions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751483422"/>
                  </a:ext>
                </a:extLst>
              </a:tr>
              <a:tr h="1129593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Franklin Gothic Book"/>
                        </a:rPr>
                        <a:t>Class 3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Franklin Gothic Book"/>
                        </a:rPr>
                        <a:t>Ras dependent, impaired/dead kinase activity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Franklin Gothic Book"/>
                        </a:rPr>
                        <a:t>D287, V459, G466, S467, D594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53071472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C191BA07-0EF2-0ECA-3B5D-E0149F7FE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23" y="1483173"/>
            <a:ext cx="5125277" cy="39778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D8583B-2508-ADB5-27E2-2BBF0F4E9EA0}"/>
              </a:ext>
            </a:extLst>
          </p:cNvPr>
          <p:cNvSpPr txBox="1"/>
          <p:nvPr/>
        </p:nvSpPr>
        <p:spPr>
          <a:xfrm>
            <a:off x="2743200" y="6217920"/>
            <a:ext cx="9174480" cy="548640"/>
          </a:xfrm>
          <a:prstGeom prst="rect">
            <a:avLst/>
          </a:prstGeom>
          <a:noFill/>
        </p:spPr>
        <p:txBody>
          <a:bodyPr wrap="square" lIns="45720" rIns="45720" anchor="b">
            <a:noAutofit/>
          </a:bodyPr>
          <a:lstStyle/>
          <a:p>
            <a:pPr algn="r"/>
            <a:r>
              <a:rPr sz="1400" spc="0">
                <a:solidFill>
                  <a:srgbClr val="404040"/>
                </a:solidFill>
                <a:latin typeface="Franklin Gothic Book"/>
              </a:rPr>
              <a:t>Yao et al, Nature 2017, Dagogo-Jack et al, Clin Cancer Res 2019</a:t>
            </a:r>
          </a:p>
        </p:txBody>
      </p:sp>
    </p:spTree>
    <p:extLst>
      <p:ext uri="{BB962C8B-B14F-4D97-AF65-F5344CB8AC3E}">
        <p14:creationId xmlns:p14="http://schemas.microsoft.com/office/powerpoint/2010/main" val="1355549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88" y="146304"/>
            <a:ext cx="11399520" cy="1243584"/>
          </a:xfrm>
        </p:spPr>
        <p:txBody>
          <a:bodyPr vert="horz" wrap="square" lIns="60960" tIns="0" rIns="60960" bIns="0" rtlCol="0" anchor="t" anchorCtr="0">
            <a:noAutofit/>
          </a:bodyPr>
          <a:lstStyle/>
          <a:p>
            <a:pPr algn="l"/>
            <a:r>
              <a:rPr lang="en-US" sz="2800" dirty="0">
                <a:solidFill>
                  <a:srgbClr val="005A8E"/>
                </a:solidFill>
                <a:cs typeface="Franklin Gothic Medium"/>
              </a:rPr>
              <a:t>Clinical Experience with </a:t>
            </a:r>
            <a:r>
              <a:rPr sz="2800" dirty="0">
                <a:solidFill>
                  <a:srgbClr val="005A8E"/>
                </a:solidFill>
                <a:cs typeface="Franklin Gothic Medium"/>
              </a:rPr>
              <a:t>MAPK Inhibition in Class II/III BRAF Mutations</a:t>
            </a:r>
          </a:p>
          <a:p>
            <a:pPr algn="l"/>
            <a:r>
              <a:rPr sz="2400" dirty="0">
                <a:solidFill>
                  <a:srgbClr val="005A8E"/>
                </a:solidFill>
                <a:latin typeface="Franklin Gothic Book"/>
                <a:cs typeface="Franklin Gothic Book"/>
              </a:rPr>
              <a:t>Objective response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27008" y="2456688"/>
            <a:ext cx="3048000" cy="1889760"/>
          </a:xfrm>
          <a:prstGeom prst="rect">
            <a:avLst/>
          </a:prstGeom>
          <a:solidFill>
            <a:srgbClr val="F2F2F2"/>
          </a:solidFill>
        </p:spPr>
        <p:txBody>
          <a:bodyPr wrap="square" lIns="170688" tIns="170688" rIns="170688" bIns="170688" anchor="ctr"/>
          <a:lstStyle/>
          <a:p>
            <a:pPr algn="l"/>
            <a:r>
              <a:rPr sz="2400">
                <a:solidFill>
                  <a:srgbClr val="00457C"/>
                </a:solidFill>
                <a:latin typeface="Franklin Gothic Medium"/>
                <a:cs typeface="Franklin Gothic Medium"/>
              </a:rPr>
              <a:t>Response rates of 0% to 14% in class II/III, compared with 63% for V600E</a:t>
            </a:r>
          </a:p>
        </p:txBody>
      </p:sp>
      <p:pic>
        <p:nvPicPr>
          <p:cNvPr id="4" name="Picture 3" descr="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9" y="1559536"/>
            <a:ext cx="8107679" cy="43302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16480" y="6156960"/>
            <a:ext cx="9558528" cy="365760"/>
          </a:xfrm>
          <a:prstGeom prst="rect">
            <a:avLst/>
          </a:prstGeom>
          <a:noFill/>
        </p:spPr>
        <p:txBody>
          <a:bodyPr wrap="square" lIns="24384" tIns="24384" rIns="24384" bIns="24384" anchor="t"/>
          <a:lstStyle/>
          <a:p>
            <a:pPr algn="r"/>
            <a:r>
              <a:rPr sz="1333">
                <a:solidFill>
                  <a:srgbClr val="404040"/>
                </a:solidFill>
                <a:latin typeface="Franklin Gothic Book"/>
                <a:cs typeface="Franklin Gothic Book"/>
              </a:rPr>
              <a:t>Planchard et al, Lancet Oncol 2016; Rose et al, medRxiv 2024; Johnson et al, Clin Cancer Res 2020; Kropf-Sanchen et al, ESMO Open 2025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1ABE1-021A-7C96-77BD-3574FCFB4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What are mechanisms of resistance to RAF/MEK inhibition?</a:t>
            </a:r>
          </a:p>
          <a:p>
            <a:pPr algn="l">
              <a:lnSpc>
                <a:spcPct val="90000"/>
              </a:lnSpc>
            </a:pPr>
            <a:r>
              <a:rPr lang="en-US" sz="2000" b="0" dirty="0">
                <a:solidFill>
                  <a:srgbClr val="005A8E"/>
                </a:solidFill>
                <a:latin typeface="Franklin Gothic Book"/>
                <a:cs typeface="Franklin Gothic Book"/>
              </a:rPr>
              <a:t>(data from melanoma)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E2E90-2818-F2C6-DDCC-5D8875D12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217920"/>
            <a:ext cx="9174480" cy="548640"/>
          </a:xfrm>
        </p:spPr>
        <p:txBody>
          <a:bodyPr wrap="square" lIns="45720" rIns="45720" anchor="b">
            <a:noAutofit/>
          </a:bodyPr>
          <a:lstStyle/>
          <a:p>
            <a:pPr algn="r"/>
            <a:r>
              <a:rPr sz="1400" spc="0">
                <a:solidFill>
                  <a:srgbClr val="404040"/>
                </a:solidFill>
                <a:latin typeface="Franklin Gothic Book"/>
              </a:rPr>
              <a:t>Johnson et al, Eur J Cancer 2015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F8872E8-2162-E07D-9B87-A7CAB0A451A0}"/>
              </a:ext>
            </a:extLst>
          </p:cNvPr>
          <p:cNvGrpSpPr/>
          <p:nvPr/>
        </p:nvGrpSpPr>
        <p:grpSpPr>
          <a:xfrm>
            <a:off x="2998763" y="1511167"/>
            <a:ext cx="4970955" cy="4512652"/>
            <a:chOff x="4096043" y="1750175"/>
            <a:chExt cx="4499751" cy="432176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28C900E-A2AA-CC00-4BF5-50EBFDB41C04}"/>
                </a:ext>
              </a:extLst>
            </p:cNvPr>
            <p:cNvGrpSpPr/>
            <p:nvPr/>
          </p:nvGrpSpPr>
          <p:grpSpPr>
            <a:xfrm>
              <a:off x="4096043" y="1750175"/>
              <a:ext cx="4499751" cy="4321769"/>
              <a:chOff x="3336325" y="1653922"/>
              <a:chExt cx="4499751" cy="4321769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668AA160-359F-33DC-0F70-C6BFDEA252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3336325" y="1653922"/>
                <a:ext cx="4499751" cy="4280917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7325D08-87E3-F1D3-C38E-D50F1A96E3E4}"/>
                  </a:ext>
                </a:extLst>
              </p:cNvPr>
              <p:cNvSpPr/>
              <p:nvPr/>
            </p:nvSpPr>
            <p:spPr>
              <a:xfrm>
                <a:off x="3402101" y="5619556"/>
                <a:ext cx="259882" cy="3561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 bIns="36000"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A4F856B-8D3B-930F-A77D-98E0B835BFE1}"/>
                </a:ext>
              </a:extLst>
            </p:cNvPr>
            <p:cNvSpPr/>
            <p:nvPr/>
          </p:nvSpPr>
          <p:spPr>
            <a:xfrm>
              <a:off x="4167125" y="2213809"/>
              <a:ext cx="259882" cy="356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36000"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867930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0">
                <a:solidFill>
                  <a:srgbClr val="005A8E"/>
                </a:solidFill>
                <a:latin typeface="Franklin Gothic Medium"/>
                <a:cs typeface="Franklin Gothic Medium"/>
              </a:rPr>
              <a:t>New Drugs for BRAF-Mutant Cancers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544934"/>
              </p:ext>
            </p:extLst>
          </p:nvPr>
        </p:nvGraphicFramePr>
        <p:xfrm>
          <a:off x="564375" y="908304"/>
          <a:ext cx="11155678" cy="472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Franklin Gothic Book"/>
                          <a:cs typeface="Franklin Gothic Medium"/>
                        </a:rPr>
                        <a:t>Approach</a:t>
                      </a:r>
                    </a:p>
                  </a:txBody>
                  <a:tcPr marL="97536" marR="97536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Franklin Gothic Book"/>
                          <a:cs typeface="Franklin Gothic Medium"/>
                        </a:rPr>
                        <a:t>Agents</a:t>
                      </a:r>
                    </a:p>
                  </a:txBody>
                  <a:tcPr marL="97536" marR="97536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FFFFFF"/>
                          </a:solidFill>
                          <a:latin typeface="Franklin Gothic Book"/>
                          <a:cs typeface="Franklin Gothic Medium"/>
                        </a:rPr>
                        <a:t>Rationale</a:t>
                      </a:r>
                    </a:p>
                  </a:txBody>
                  <a:tcPr marL="97536" marR="97536" marT="60960" marB="609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Franklin Gothic Book"/>
                          <a:cs typeface="Franklin Gothic Medium"/>
                        </a:rPr>
                        <a:t>Paradox-breaker RAF</a:t>
                      </a:r>
                    </a:p>
                  </a:txBody>
                  <a:tcPr marL="97536" marR="97536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Plixorafenib (FORE8394)</a:t>
                      </a:r>
                    </a:p>
                  </a:txBody>
                  <a:tcPr marL="97536" marR="97536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Monomers and dimers, no </a:t>
                      </a:r>
                      <a:r>
                        <a:rPr sz="1800" b="0" dirty="0" err="1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MEKi</a:t>
                      </a:r>
                      <a:r>
                        <a:rPr sz="1800" b="0" dirty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. </a:t>
                      </a:r>
                    </a:p>
                  </a:txBody>
                  <a:tcPr marL="97536" marR="97536" marT="60960" marB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Franklin Gothic Book"/>
                          <a:cs typeface="Franklin Gothic Medium"/>
                        </a:rPr>
                        <a:t>RAF dimer inhibitors ± MEK</a:t>
                      </a:r>
                    </a:p>
                  </a:txBody>
                  <a:tcPr marL="97536" marR="97536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Claturafenib (PF-07799933) + polfurmetinib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Brimarafenib (BGB-3245) + mirdametinib</a:t>
                      </a:r>
                    </a:p>
                  </a:txBody>
                  <a:tcPr marL="97536" marR="97536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brain-penetrant, pan-mutant BRAF, spares WT ERK.</a:t>
                      </a:r>
                    </a:p>
                  </a:txBody>
                  <a:tcPr marL="97536" marR="97536" marT="60960" marB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04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Franklin Gothic Book"/>
                          <a:cs typeface="Franklin Gothic Medium"/>
                        </a:rPr>
                        <a:t>Pan-RAF inhibitors ± MEK</a:t>
                      </a:r>
                    </a:p>
                  </a:txBody>
                  <a:tcPr marL="97536" marR="97536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Exarafenib (KIN-2787) + binimetinib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Naporafenib + trametinib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Belvarafenib + cobimetinib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S241656 (BDTX-4933)</a:t>
                      </a:r>
                    </a:p>
                  </a:txBody>
                  <a:tcPr marL="97536" marR="97536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Class II/III and RAS-driven dimers</a:t>
                      </a:r>
                    </a:p>
                  </a:txBody>
                  <a:tcPr marL="97536" marR="97536" marT="60960" marB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Franklin Gothic Book"/>
                          <a:cs typeface="Franklin Gothic Medium"/>
                        </a:rPr>
                        <a:t>More potent MEK partner</a:t>
                      </a:r>
                    </a:p>
                  </a:txBody>
                  <a:tcPr marL="97536" marR="97536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Tunlametinib (HL-085) + vemurafenib</a:t>
                      </a:r>
                    </a:p>
                  </a:txBody>
                  <a:tcPr marL="97536" marR="97536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V600 NSCLC, ORR 60.6%, </a:t>
                      </a:r>
                      <a:r>
                        <a:rPr sz="1800" b="0" dirty="0" err="1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mPFS</a:t>
                      </a:r>
                      <a:r>
                        <a:rPr sz="1800" b="0" dirty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 10.5 months</a:t>
                      </a:r>
                    </a:p>
                  </a:txBody>
                  <a:tcPr marL="97536" marR="97536" marT="60960" marB="609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Franklin Gothic Book"/>
                          <a:cs typeface="Franklin Gothic Medium"/>
                        </a:rPr>
                        <a:t>Upstream feedback blockade</a:t>
                      </a:r>
                    </a:p>
                  </a:txBody>
                  <a:tcPr marL="97536" marR="97536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SHP2 inhibitors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RAS(ON) inhibitors</a:t>
                      </a:r>
                    </a:p>
                  </a:txBody>
                  <a:tcPr marL="97536" marR="97536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Blocks ERK reactivation. </a:t>
                      </a:r>
                    </a:p>
                  </a:txBody>
                  <a:tcPr marL="97536" marR="97536" marT="60960" marB="609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1245" y="5766816"/>
            <a:ext cx="11155680" cy="365760"/>
          </a:xfrm>
          <a:prstGeom prst="rect">
            <a:avLst/>
          </a:prstGeom>
          <a:noFill/>
        </p:spPr>
        <p:txBody>
          <a:bodyPr wrap="square" lIns="97536" tIns="97536" rIns="97536" bIns="97536" anchor="t"/>
          <a:lstStyle/>
          <a:p>
            <a:pPr algn="l"/>
            <a:r>
              <a:rPr sz="1600" dirty="0">
                <a:solidFill>
                  <a:srgbClr val="404040"/>
                </a:solidFill>
                <a:latin typeface="Franklin Gothic Book"/>
                <a:cs typeface="Franklin Gothic Book"/>
              </a:rPr>
              <a:t>No published efficacy data yet in BRAF-mutant NSCLC</a:t>
            </a:r>
            <a:r>
              <a:rPr lang="en-US" sz="1600" dirty="0">
                <a:solidFill>
                  <a:srgbClr val="404040"/>
                </a:solidFill>
                <a:latin typeface="Franklin Gothic Book"/>
                <a:cs typeface="Franklin Gothic Book"/>
              </a:rPr>
              <a:t> for most</a:t>
            </a:r>
            <a:endParaRPr sz="1600" dirty="0">
              <a:solidFill>
                <a:srgbClr val="404040"/>
              </a:solidFill>
              <a:latin typeface="Franklin Gothic Book"/>
              <a:cs typeface="Franklin Gothic Book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0" y="6217920"/>
            <a:ext cx="9174480" cy="548640"/>
          </a:xfrm>
          <a:prstGeom prst="rect">
            <a:avLst/>
          </a:prstGeom>
          <a:noFill/>
        </p:spPr>
        <p:txBody>
          <a:bodyPr wrap="square" lIns="45720" tIns="24384" rIns="45720" bIns="24384" anchor="b">
            <a:noAutofit/>
          </a:bodyPr>
          <a:lstStyle/>
          <a:p>
            <a:pPr algn="r"/>
            <a:r>
              <a:rPr sz="1400" spc="0" dirty="0">
                <a:solidFill>
                  <a:srgbClr val="404040"/>
                </a:solidFill>
                <a:latin typeface="Franklin Gothic Book"/>
              </a:rPr>
              <a:t>Spira et al, JCO Oncol Adv 2026, Schram et al, AACR 2023, de Braud et al, JCO 2023, Shi et al, Exp </a:t>
            </a:r>
            <a:r>
              <a:rPr sz="1400" spc="0" dirty="0" err="1">
                <a:solidFill>
                  <a:srgbClr val="404040"/>
                </a:solidFill>
                <a:latin typeface="Franklin Gothic Book"/>
              </a:rPr>
              <a:t>Hematol</a:t>
            </a:r>
            <a:r>
              <a:rPr sz="1400" spc="0" dirty="0">
                <a:solidFill>
                  <a:srgbClr val="404040"/>
                </a:solidFill>
                <a:latin typeface="Franklin Gothic Book"/>
              </a:rPr>
              <a:t> Oncol 2024, NCT05786924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B01AEC-EE1A-E2D9-207D-3E20F670A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228600"/>
            <a:ext cx="11394276" cy="914400"/>
          </a:xfrm>
        </p:spPr>
        <p:txBody>
          <a:bodyPr vert="horz" wrap="square" lIns="91440" tIns="45720" rIns="91440" bIns="4572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Conclusions</a:t>
            </a:r>
          </a:p>
        </p:txBody>
      </p:sp>
      <p:sp>
        <p:nvSpPr>
          <p:cNvPr id="10" name="Conclusions Text"/>
          <p:cNvSpPr txBox="1"/>
          <p:nvPr/>
        </p:nvSpPr>
        <p:spPr>
          <a:xfrm>
            <a:off x="563387" y="1371600"/>
            <a:ext cx="11065226" cy="4937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1800"/>
              </a:spcAft>
              <a:buNone/>
            </a:pPr>
            <a:r>
              <a:rPr lang="en-US" sz="2200" b="0" dirty="0">
                <a:solidFill>
                  <a:srgbClr val="262626"/>
                </a:solidFill>
                <a:latin typeface="Franklin Gothic Book"/>
                <a:cs typeface="Franklin Gothic Book"/>
              </a:rPr>
              <a:t>BRAF V600E mutations (class I) define a subset of NSCLC that responds to combined BRAF and MEK inhibition.</a:t>
            </a:r>
          </a:p>
          <a:p>
            <a:pPr algn="l">
              <a:lnSpc>
                <a:spcPct val="95000"/>
              </a:lnSpc>
              <a:spcAft>
                <a:spcPts val="1800"/>
              </a:spcAft>
              <a:buNone/>
            </a:pPr>
            <a:r>
              <a:rPr lang="en-US" sz="2200" b="0" dirty="0">
                <a:solidFill>
                  <a:srgbClr val="262626"/>
                </a:solidFill>
                <a:latin typeface="Franklin Gothic Book"/>
                <a:cs typeface="Franklin Gothic Book"/>
              </a:rPr>
              <a:t>Dabrafenib + trametinib </a:t>
            </a:r>
            <a:r>
              <a:rPr lang="en-US" sz="2200" dirty="0">
                <a:solidFill>
                  <a:srgbClr val="262626"/>
                </a:solidFill>
                <a:latin typeface="Franklin Gothic Book"/>
                <a:cs typeface="Franklin Gothic Book"/>
              </a:rPr>
              <a:t>or</a:t>
            </a:r>
            <a:r>
              <a:rPr lang="en-US" sz="2200" b="0" dirty="0">
                <a:solidFill>
                  <a:srgbClr val="262626"/>
                </a:solidFill>
                <a:latin typeface="Franklin Gothic Book"/>
                <a:cs typeface="Franklin Gothic Book"/>
              </a:rPr>
              <a:t> encorafenib + binimetinib are both standard options. In treatment-naive patients, encorafenib + binimetinib gave an ORR of 75% and a median PFS of 30.2 months.</a:t>
            </a:r>
          </a:p>
          <a:p>
            <a:pPr algn="l">
              <a:lnSpc>
                <a:spcPct val="95000"/>
              </a:lnSpc>
              <a:spcAft>
                <a:spcPts val="1800"/>
              </a:spcAft>
              <a:buNone/>
            </a:pPr>
            <a:r>
              <a:rPr lang="en-US" sz="2200" b="0" dirty="0">
                <a:solidFill>
                  <a:srgbClr val="262626"/>
                </a:solidFill>
                <a:latin typeface="Franklin Gothic Book"/>
                <a:cs typeface="Franklin Gothic Book"/>
              </a:rPr>
              <a:t>Toxicity profiles differ for targeted therapies. Pyrexia is the main issue with dabrafenib + trametinib, while GI toxicity is more common with encorafenib + binimetinib.</a:t>
            </a:r>
          </a:p>
          <a:p>
            <a:pPr algn="l">
              <a:lnSpc>
                <a:spcPct val="95000"/>
              </a:lnSpc>
              <a:spcAft>
                <a:spcPts val="18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Franklin Gothic Book"/>
                <a:cs typeface="Franklin Gothic Book"/>
              </a:rPr>
              <a:t>In absence of randomized data, r</a:t>
            </a:r>
            <a:r>
              <a:rPr lang="en-US" sz="2200" b="0" dirty="0">
                <a:solidFill>
                  <a:srgbClr val="262626"/>
                </a:solidFill>
                <a:latin typeface="Franklin Gothic Book"/>
                <a:cs typeface="Franklin Gothic Book"/>
              </a:rPr>
              <a:t>etrospective data favor targeted therapy in never smokers and in PD-L1 negative tumors. Others may benefit from IO+/- chemotherapy</a:t>
            </a:r>
          </a:p>
          <a:p>
            <a:pPr algn="l">
              <a:lnSpc>
                <a:spcPct val="95000"/>
              </a:lnSpc>
              <a:spcAft>
                <a:spcPts val="1800"/>
              </a:spcAft>
              <a:buNone/>
            </a:pPr>
            <a:r>
              <a:rPr lang="en-US" sz="2200" b="0" dirty="0">
                <a:solidFill>
                  <a:srgbClr val="262626"/>
                </a:solidFill>
                <a:latin typeface="Franklin Gothic Book"/>
                <a:cs typeface="Franklin Gothic Book"/>
              </a:rPr>
              <a:t>Class 2 and 3 BRAF mutations and acquired resistance are a challenge. New RAF inhibitors are in early trials.</a:t>
            </a:r>
          </a:p>
        </p:txBody>
      </p:sp>
    </p:spTree>
    <p:extLst>
      <p:ext uri="{BB962C8B-B14F-4D97-AF65-F5344CB8AC3E}">
        <p14:creationId xmlns:p14="http://schemas.microsoft.com/office/powerpoint/2010/main" val="6739527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VG / Nexus Global Group">
  <a:themeElements>
    <a:clrScheme name="Custom 57">
      <a:dk1>
        <a:srgbClr val="404040"/>
      </a:dk1>
      <a:lt1>
        <a:srgbClr val="FFFFFF"/>
      </a:lt1>
      <a:dk2>
        <a:srgbClr val="091C29"/>
      </a:dk2>
      <a:lt2>
        <a:srgbClr val="6F7271"/>
      </a:lt2>
      <a:accent1>
        <a:srgbClr val="1691C6"/>
      </a:accent1>
      <a:accent2>
        <a:srgbClr val="0099B0"/>
      </a:accent2>
      <a:accent3>
        <a:srgbClr val="006299"/>
      </a:accent3>
      <a:accent4>
        <a:srgbClr val="00B2E3"/>
      </a:accent4>
      <a:accent5>
        <a:srgbClr val="655DC6"/>
      </a:accent5>
      <a:accent6>
        <a:srgbClr val="313131"/>
      </a:accent6>
      <a:hlink>
        <a:srgbClr val="0191B6"/>
      </a:hlink>
      <a:folHlink>
        <a:srgbClr val="80808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tIns="36000" bIns="36000"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 name="VG Red">
      <a:srgbClr val="EA0029"/>
    </a:custClr>
    <a:custClr name="VG Orange">
      <a:srgbClr val="F88D2A"/>
    </a:custClr>
    <a:custClr name="CS Teal">
      <a:srgbClr val="0099B0"/>
    </a:custClr>
    <a:custClr name="CS Purple">
      <a:srgbClr val="715091"/>
    </a:custClr>
    <a:custClr name="CS Aqua">
      <a:srgbClr val="10CFC9"/>
    </a:custClr>
    <a:custClr name="CS Tan">
      <a:srgbClr val="CA8342"/>
    </a:custClr>
    <a:custClr name="SCS Blue">
      <a:srgbClr val="3D6BB2"/>
    </a:custClr>
    <a:custClr name="60% SCS Blue">
      <a:srgbClr val="8BA7D1"/>
    </a:custClr>
    <a:custClr name="SCS/I Black">
      <a:srgbClr val="231F20"/>
    </a:custClr>
    <a:custClr name="BL D Grey">
      <a:srgbClr val="58595B"/>
    </a:custClr>
    <a:custClr name="NGG Teal">
      <a:srgbClr val="009FC2"/>
    </a:custClr>
    <a:custClr name="NGG D Red">
      <a:srgbClr val="BF1E2D"/>
    </a:custClr>
    <a:custClr name="NGG D Teal">
      <a:srgbClr val="00758D"/>
    </a:custClr>
    <a:custClr name="NGGS Teal">
      <a:srgbClr val="008DA8"/>
    </a:custClr>
    <a:custClr name="NGGS Aqua">
      <a:srgbClr val="00BED6"/>
    </a:custClr>
    <a:custClr name="T9 L Grey">
      <a:srgbClr val="BCBEC0"/>
    </a:custClr>
    <a:custClr name="T9 Red">
      <a:srgbClr val="EE4137"/>
    </a:custClr>
    <a:custClr name="BC Green">
      <a:srgbClr val="AFBC21"/>
    </a:custClr>
    <a:custClr name="BC Orange">
      <a:srgbClr val="F7941D"/>
    </a:custClr>
    <a:custClr name="BL Green">
      <a:srgbClr val="B7D433"/>
    </a:custClr>
    <a:custClr name="10% CS Purple(50%)/CS Teal">
      <a:srgbClr val="ECF1F6"/>
    </a:custClr>
    <a:custClr name="20% CS Purple(50%)/CS Teal">
      <a:srgbClr val="D7E3EC"/>
    </a:custClr>
    <a:custClr name="40% CS Purple(50%)/CS Teal">
      <a:srgbClr val="B0C7D9"/>
    </a:custClr>
    <a:custClr name="60% CS Purple(50%)/CS Teal">
      <a:srgbClr val="88ACC7"/>
    </a:custClr>
    <a:custClr name="80% CS Purple(50%)/CS Teal">
      <a:srgbClr val="6190B4"/>
    </a:custClr>
    <a:custClr name="CS Purple(50%)/CS Teal">
      <a:srgbClr val="3974A1"/>
    </a:custClr>
    <a:custClr name="10% VG Bright Blue">
      <a:srgbClr val="F0EFF9"/>
    </a:custClr>
    <a:custClr name="20% VG Bright Blue">
      <a:srgbClr val="E0DFF4"/>
    </a:custClr>
    <a:custClr name="40% VG Bright Blue">
      <a:srgbClr val="C1BEE8"/>
    </a:custClr>
    <a:custClr name="60% VG Bright Blue">
      <a:srgbClr val="A39EDD"/>
    </a:custClr>
    <a:custClr name="10% CS Teal">
      <a:srgbClr val="E6F5F7"/>
    </a:custClr>
    <a:custClr name="20% CS Teal">
      <a:srgbClr val="CCEBEF"/>
    </a:custClr>
    <a:custClr name="40% CS Teal">
      <a:srgbClr val="99D6DF"/>
    </a:custClr>
    <a:custClr name="60% CS Teal">
      <a:srgbClr val="66C2D0"/>
    </a:custClr>
    <a:custClr name="80% CS Teal">
      <a:srgbClr val="33ADC0"/>
    </a:custClr>
    <a:custClr name="10% VG S Blue/Nexus GG Teal">
      <a:srgbClr val="E6F6F9"/>
    </a:custClr>
    <a:custClr name="20% VG S Blue/Nexus GG Teal">
      <a:srgbClr val="CCECF3"/>
    </a:custClr>
    <a:custClr name="40% VG S Blue/Nexus GG Teal">
      <a:srgbClr val="99D9E7"/>
    </a:custClr>
    <a:custClr name="60% VG S Blue/Nexus GG Teal">
      <a:srgbClr val="66C5DA"/>
    </a:custClr>
    <a:custClr name="80% VG S Blue/Nexus GG Teal">
      <a:srgbClr val="33B2CE"/>
    </a:custClr>
    <a:custClr name="10% CS Purple/CS Teal">
      <a:srgbClr val="EEF0F5"/>
    </a:custClr>
    <a:custClr name="20% CS Purple/CS Teal">
      <a:srgbClr val="DDE0EB"/>
    </a:custClr>
    <a:custClr name="40% CS Purple/CS Teal">
      <a:srgbClr val="BBC0D6"/>
    </a:custClr>
    <a:custClr name="60% CS Purple/CS Teal">
      <a:srgbClr val="99A1C2"/>
    </a:custClr>
    <a:custClr name="80% CS Purple/CS Teal">
      <a:srgbClr val="7781AD"/>
    </a:custClr>
    <a:custClr name="10% VG Grey">
      <a:srgbClr val="F1F1F1"/>
    </a:custClr>
    <a:custClr name="20% VG Grey">
      <a:srgbClr val="E2E3E3"/>
    </a:custClr>
    <a:custClr name="40% VG Grey">
      <a:srgbClr val="C5C7C6"/>
    </a:custClr>
    <a:custClr name="60% VG Grey">
      <a:srgbClr val="A9AAAA"/>
    </a:custClr>
    <a:custClr name="80% VG Grey">
      <a:srgbClr val="8C8E8D"/>
    </a:custClr>
  </a:custClrLst>
  <a:extLst>
    <a:ext uri="{05A4C25C-085E-4340-85A3-A5531E510DB2}">
      <thm15:themeFamily xmlns:thm15="http://schemas.microsoft.com/office/thememl/2012/main" name="Office Theme" id="{DD9DEFA5-A863-4856-97B2-FC8487888A7C}" vid="{8328A468-BF6D-41E5-9A90-410DDDDF5C44}"/>
    </a:ext>
  </a:extLst>
</a:theme>
</file>

<file path=ppt/theme/theme2.xml><?xml version="1.0" encoding="utf-8"?>
<a:theme xmlns:a="http://schemas.openxmlformats.org/drawingml/2006/main" name="1_VG / Nexus Global Group">
  <a:themeElements>
    <a:clrScheme name="Custom 57">
      <a:dk1>
        <a:srgbClr val="404040"/>
      </a:dk1>
      <a:lt1>
        <a:srgbClr val="FFFFFF"/>
      </a:lt1>
      <a:dk2>
        <a:srgbClr val="091C29"/>
      </a:dk2>
      <a:lt2>
        <a:srgbClr val="6F7271"/>
      </a:lt2>
      <a:accent1>
        <a:srgbClr val="1691C6"/>
      </a:accent1>
      <a:accent2>
        <a:srgbClr val="0099B0"/>
      </a:accent2>
      <a:accent3>
        <a:srgbClr val="006299"/>
      </a:accent3>
      <a:accent4>
        <a:srgbClr val="00B2E3"/>
      </a:accent4>
      <a:accent5>
        <a:srgbClr val="655DC6"/>
      </a:accent5>
      <a:accent6>
        <a:srgbClr val="313131"/>
      </a:accent6>
      <a:hlink>
        <a:srgbClr val="0191B6"/>
      </a:hlink>
      <a:folHlink>
        <a:srgbClr val="80808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tIns="36000" bIns="36000"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 name="VG Red">
      <a:srgbClr val="EA0029"/>
    </a:custClr>
    <a:custClr name="VG Orange">
      <a:srgbClr val="F88D2A"/>
    </a:custClr>
    <a:custClr name="CS Teal">
      <a:srgbClr val="0099B0"/>
    </a:custClr>
    <a:custClr name="CS Purple">
      <a:srgbClr val="715091"/>
    </a:custClr>
    <a:custClr name="CS Aqua">
      <a:srgbClr val="10CFC9"/>
    </a:custClr>
    <a:custClr name="CS Tan">
      <a:srgbClr val="CA8342"/>
    </a:custClr>
    <a:custClr name="SCS Blue">
      <a:srgbClr val="3D6BB2"/>
    </a:custClr>
    <a:custClr name="60% SCS Blue">
      <a:srgbClr val="8BA7D1"/>
    </a:custClr>
    <a:custClr name="SCS/I Black">
      <a:srgbClr val="231F20"/>
    </a:custClr>
    <a:custClr name="BL D Grey">
      <a:srgbClr val="58595B"/>
    </a:custClr>
    <a:custClr name="NGG Teal">
      <a:srgbClr val="009FC2"/>
    </a:custClr>
    <a:custClr name="NGG D Red">
      <a:srgbClr val="BF1E2D"/>
    </a:custClr>
    <a:custClr name="NGG D Teal">
      <a:srgbClr val="00758D"/>
    </a:custClr>
    <a:custClr name="NGGS Teal">
      <a:srgbClr val="008DA8"/>
    </a:custClr>
    <a:custClr name="NGGS Aqua">
      <a:srgbClr val="00BED6"/>
    </a:custClr>
    <a:custClr name="T9 L Grey">
      <a:srgbClr val="BCBEC0"/>
    </a:custClr>
    <a:custClr name="T9 Red">
      <a:srgbClr val="EE4137"/>
    </a:custClr>
    <a:custClr name="BC Green">
      <a:srgbClr val="AFBC21"/>
    </a:custClr>
    <a:custClr name="BC Orange">
      <a:srgbClr val="F7941D"/>
    </a:custClr>
    <a:custClr name="BL Green">
      <a:srgbClr val="B7D433"/>
    </a:custClr>
    <a:custClr name="10% CS Purple(50%)/CS Teal">
      <a:srgbClr val="ECF1F6"/>
    </a:custClr>
    <a:custClr name="20% CS Purple(50%)/CS Teal">
      <a:srgbClr val="D7E3EC"/>
    </a:custClr>
    <a:custClr name="40% CS Purple(50%)/CS Teal">
      <a:srgbClr val="B0C7D9"/>
    </a:custClr>
    <a:custClr name="60% CS Purple(50%)/CS Teal">
      <a:srgbClr val="88ACC7"/>
    </a:custClr>
    <a:custClr name="80% CS Purple(50%)/CS Teal">
      <a:srgbClr val="6190B4"/>
    </a:custClr>
    <a:custClr name="CS Purple(50%)/CS Teal">
      <a:srgbClr val="3974A1"/>
    </a:custClr>
    <a:custClr name="10% VG Bright Blue">
      <a:srgbClr val="F0EFF9"/>
    </a:custClr>
    <a:custClr name="20% VG Bright Blue">
      <a:srgbClr val="E0DFF4"/>
    </a:custClr>
    <a:custClr name="40% VG Bright Blue">
      <a:srgbClr val="C1BEE8"/>
    </a:custClr>
    <a:custClr name="60% VG Bright Blue">
      <a:srgbClr val="A39EDD"/>
    </a:custClr>
    <a:custClr name="10% CS Teal">
      <a:srgbClr val="E6F5F7"/>
    </a:custClr>
    <a:custClr name="20% CS Teal">
      <a:srgbClr val="CCEBEF"/>
    </a:custClr>
    <a:custClr name="40% CS Teal">
      <a:srgbClr val="99D6DF"/>
    </a:custClr>
    <a:custClr name="60% CS Teal">
      <a:srgbClr val="66C2D0"/>
    </a:custClr>
    <a:custClr name="80% CS Teal">
      <a:srgbClr val="33ADC0"/>
    </a:custClr>
    <a:custClr name="10% VG S Blue/Nexus GG Teal">
      <a:srgbClr val="E6F6F9"/>
    </a:custClr>
    <a:custClr name="20% VG S Blue/Nexus GG Teal">
      <a:srgbClr val="CCECF3"/>
    </a:custClr>
    <a:custClr name="40% VG S Blue/Nexus GG Teal">
      <a:srgbClr val="99D9E7"/>
    </a:custClr>
    <a:custClr name="60% VG S Blue/Nexus GG Teal">
      <a:srgbClr val="66C5DA"/>
    </a:custClr>
    <a:custClr name="80% VG S Blue/Nexus GG Teal">
      <a:srgbClr val="33B2CE"/>
    </a:custClr>
    <a:custClr name="10% CS Purple/CS Teal">
      <a:srgbClr val="EEF0F5"/>
    </a:custClr>
    <a:custClr name="20% CS Purple/CS Teal">
      <a:srgbClr val="DDE0EB"/>
    </a:custClr>
    <a:custClr name="40% CS Purple/CS Teal">
      <a:srgbClr val="BBC0D6"/>
    </a:custClr>
    <a:custClr name="60% CS Purple/CS Teal">
      <a:srgbClr val="99A1C2"/>
    </a:custClr>
    <a:custClr name="80% CS Purple/CS Teal">
      <a:srgbClr val="7781AD"/>
    </a:custClr>
    <a:custClr name="10% VG Grey">
      <a:srgbClr val="F1F1F1"/>
    </a:custClr>
    <a:custClr name="20% VG Grey">
      <a:srgbClr val="E2E3E3"/>
    </a:custClr>
    <a:custClr name="40% VG Grey">
      <a:srgbClr val="C5C7C6"/>
    </a:custClr>
    <a:custClr name="60% VG Grey">
      <a:srgbClr val="A9AAAA"/>
    </a:custClr>
    <a:custClr name="80% VG Grey">
      <a:srgbClr val="8C8E8D"/>
    </a:custClr>
  </a:custClrLst>
  <a:extLst>
    <a:ext uri="{05A4C25C-085E-4340-85A3-A5531E510DB2}">
      <thm15:themeFamily xmlns:thm15="http://schemas.microsoft.com/office/thememl/2012/main" name="Office Theme" id="{DD9DEFA5-A863-4856-97B2-FC8487888A7C}" vid="{8328A468-BF6D-41E5-9A90-410DDDDF5C44}"/>
    </a:ext>
  </a:extLst>
</a:theme>
</file>

<file path=ppt/theme/theme3.xml><?xml version="1.0" encoding="utf-8"?>
<a:theme xmlns:a="http://schemas.openxmlformats.org/drawingml/2006/main" name="Slide Template 4">
  <a:themeElements>
    <a:clrScheme name="MSK Color Palette">
      <a:dk1>
        <a:sysClr val="windowText" lastClr="000000"/>
      </a:dk1>
      <a:lt1>
        <a:sysClr val="window" lastClr="FFFFFF"/>
      </a:lt1>
      <a:dk2>
        <a:srgbClr val="737373"/>
      </a:dk2>
      <a:lt2>
        <a:srgbClr val="B3B3A6"/>
      </a:lt2>
      <a:accent1>
        <a:srgbClr val="2986E2"/>
      </a:accent1>
      <a:accent2>
        <a:srgbClr val="F26529"/>
      </a:accent2>
      <a:accent3>
        <a:srgbClr val="FFF5BC"/>
      </a:accent3>
      <a:accent4>
        <a:srgbClr val="737373"/>
      </a:accent4>
      <a:accent5>
        <a:srgbClr val="B3B3A6"/>
      </a:accent5>
      <a:accent6>
        <a:srgbClr val="2875B4"/>
      </a:accent6>
      <a:hlink>
        <a:srgbClr val="00BDF2"/>
      </a:hlink>
      <a:folHlink>
        <a:srgbClr val="9BDCFF"/>
      </a:folHlink>
    </a:clrScheme>
    <a:fontScheme name="Module">
      <a:majorFont>
        <a:latin typeface="Franklin Gothic Medium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sz="2000" dirty="0" smtClean="0">
            <a:latin typeface="Bierstadt" panose="020B0004020202020204" pitchFamily="34" charset="0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Vaniam Group">
      <a:dk1>
        <a:srgbClr val="404040"/>
      </a:dk1>
      <a:lt1>
        <a:sysClr val="window" lastClr="FFFFFF"/>
      </a:lt1>
      <a:dk2>
        <a:srgbClr val="009FC2"/>
      </a:dk2>
      <a:lt2>
        <a:srgbClr val="6F7271"/>
      </a:lt2>
      <a:accent1>
        <a:srgbClr val="49B5C7"/>
      </a:accent1>
      <a:accent2>
        <a:srgbClr val="0099B0"/>
      </a:accent2>
      <a:accent3>
        <a:srgbClr val="556299"/>
      </a:accent3>
      <a:accent4>
        <a:srgbClr val="00B2E3"/>
      </a:accent4>
      <a:accent5>
        <a:srgbClr val="655DC6"/>
      </a:accent5>
      <a:accent6>
        <a:srgbClr val="76BC21"/>
      </a:accent6>
      <a:hlink>
        <a:srgbClr val="0191B6"/>
      </a:hlink>
      <a:folHlink>
        <a:srgbClr val="80808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Vaniam Group">
      <a:dk1>
        <a:srgbClr val="404040"/>
      </a:dk1>
      <a:lt1>
        <a:sysClr val="window" lastClr="FFFFFF"/>
      </a:lt1>
      <a:dk2>
        <a:srgbClr val="009FC2"/>
      </a:dk2>
      <a:lt2>
        <a:srgbClr val="6F7271"/>
      </a:lt2>
      <a:accent1>
        <a:srgbClr val="49B5C7"/>
      </a:accent1>
      <a:accent2>
        <a:srgbClr val="0099B0"/>
      </a:accent2>
      <a:accent3>
        <a:srgbClr val="556299"/>
      </a:accent3>
      <a:accent4>
        <a:srgbClr val="00B2E3"/>
      </a:accent4>
      <a:accent5>
        <a:srgbClr val="655DC6"/>
      </a:accent5>
      <a:accent6>
        <a:srgbClr val="76BC21"/>
      </a:accent6>
      <a:hlink>
        <a:srgbClr val="0191B6"/>
      </a:hlink>
      <a:folHlink>
        <a:srgbClr val="80808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20150</TotalTime>
  <Words>1616</Words>
  <Application>Microsoft Office PowerPoint</Application>
  <PresentationFormat>Widescreen</PresentationFormat>
  <Paragraphs>426</Paragraphs>
  <Slides>30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30</vt:i4>
      </vt:variant>
    </vt:vector>
  </HeadingPairs>
  <TitlesOfParts>
    <vt:vector size="45" baseType="lpstr">
      <vt:lpstr>MS PGothic</vt:lpstr>
      <vt:lpstr>Aptos</vt:lpstr>
      <vt:lpstr>Arial</vt:lpstr>
      <vt:lpstr>Arial Narrow</vt:lpstr>
      <vt:lpstr>Calibri</vt:lpstr>
      <vt:lpstr>Franklin Gothic Book</vt:lpstr>
      <vt:lpstr>Franklin Gothic Medium</vt:lpstr>
      <vt:lpstr>HGｺﾞｼｯｸM</vt:lpstr>
      <vt:lpstr>Imago</vt:lpstr>
      <vt:lpstr>Noto Sans Symbols</vt:lpstr>
      <vt:lpstr>Wingdings</vt:lpstr>
      <vt:lpstr>VG / Nexus Global Group</vt:lpstr>
      <vt:lpstr>1_VG / Nexus Global Group</vt:lpstr>
      <vt:lpstr>Slide Template 4</vt:lpstr>
      <vt:lpstr>Office Theme</vt:lpstr>
      <vt:lpstr>AbracadaBRAF:  Treatment of BRAF Mutated Lung Cancer</vt:lpstr>
      <vt:lpstr>Disclosures</vt:lpstr>
      <vt:lpstr>Lung cancer molecular subtypes with indicated agents</vt:lpstr>
      <vt:lpstr>When were BRAF mutations first described in NSCLC?</vt:lpstr>
      <vt:lpstr>Oncogenic drivers first described in NSCLC</vt:lpstr>
      <vt:lpstr>Oncogenic drivers first described in NSCLC</vt:lpstr>
      <vt:lpstr>Oncogenic drivers first described in NSCLC</vt:lpstr>
      <vt:lpstr>2002 – First description of BRAF mutations as oncogenic</vt:lpstr>
      <vt:lpstr>In 2002 – BRAF mutations in NSCLC…but trials came much later</vt:lpstr>
      <vt:lpstr>There are many types of BRAF mutations</vt:lpstr>
      <vt:lpstr>Targeting BRAF V600E first demonstrated in patients with melanoma </vt:lpstr>
      <vt:lpstr>Vemurafenib in BRAF V600 NSCLC VE-BASKET NSCLC cohort, n = 62</vt:lpstr>
      <vt:lpstr>Dabrafenib in BRAF V600E NSCLC Previously treated cohort, n = 78</vt:lpstr>
      <vt:lpstr>Would it be better to target BRAF by inhibiting both BRAF and MEK?</vt:lpstr>
      <vt:lpstr>In melanoma, combined BRAF and MEK inhibition is better than BRAF inhibition alone</vt:lpstr>
      <vt:lpstr>Dabrafenib (BRAF inhibitor) + Trametinib (MEK inhibitor) have efficacy in patients with metastatic BRAF V600E NSCLC</vt:lpstr>
      <vt:lpstr>Dabrafenib (BRAF inhibitor) + Trametinib (MEK inhibitor) toxicities include pyrexia, nausea, diarrhea</vt:lpstr>
      <vt:lpstr>Encorafenib + Binimetinib in BRAF V600E-mutant metastatic NSCLC: A single-arm, open-label, multicenter, phase 2 study</vt:lpstr>
      <vt:lpstr>Encorafenib plus binimetinib has efficacy in patients with BRAF V600E-mutant metastatic NSCLC </vt:lpstr>
      <vt:lpstr>Encorafenib + Binimetinib Updated Progression-free survival</vt:lpstr>
      <vt:lpstr>Encorafenib + Binimetinib toxicities include nausea, diarrhea, but pyrexia is much less common</vt:lpstr>
      <vt:lpstr>For patients with metastatic BRAF V600E: </vt:lpstr>
      <vt:lpstr>In retrospective data, some controversy about best 1st line approach</vt:lpstr>
      <vt:lpstr>There were baseline imbalances that associated with different treatments FRONT-BRAF, IO ± chemotherapy (n=88) vs BRAF + MEK inhibitors (n=196)</vt:lpstr>
      <vt:lpstr>In never smokers, PD-L1 negative, targeted therapy seems more effective  </vt:lpstr>
      <vt:lpstr>There are many types of BRAF mutations</vt:lpstr>
      <vt:lpstr>Clinical Experience with MAPK Inhibition in Class II/III BRAF Mutations Objective response rate</vt:lpstr>
      <vt:lpstr>What are mechanisms of resistance to RAF/MEK inhibition? (data from melanoma)</vt:lpstr>
      <vt:lpstr>New Drugs for BRAF-Mutant Cancers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Riely, Gregory</dc:creator>
  <cp:lastModifiedBy>Riely, Gregory</cp:lastModifiedBy>
  <cp:revision>328</cp:revision>
  <dcterms:created xsi:type="dcterms:W3CDTF">2026-09-28T15:29:22Z</dcterms:created>
  <dcterms:modified xsi:type="dcterms:W3CDTF">2026-09-28T19:43:06Z</dcterms:modified>
</cp:coreProperties>
</file>